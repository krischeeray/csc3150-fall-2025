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</p:sldMasterIdLst>
  <p:notesMasterIdLst>
    <p:notesMasterId r:id="rId35"/>
  </p:notesMasterIdLst>
  <p:sldIdLst>
    <p:sldId id="256" r:id="rId2"/>
    <p:sldId id="361" r:id="rId3"/>
    <p:sldId id="362" r:id="rId4"/>
    <p:sldId id="327" r:id="rId5"/>
    <p:sldId id="363" r:id="rId6"/>
    <p:sldId id="326" r:id="rId7"/>
    <p:sldId id="330" r:id="rId8"/>
    <p:sldId id="328" r:id="rId9"/>
    <p:sldId id="346" r:id="rId10"/>
    <p:sldId id="332" r:id="rId11"/>
    <p:sldId id="334" r:id="rId12"/>
    <p:sldId id="347" r:id="rId13"/>
    <p:sldId id="335" r:id="rId14"/>
    <p:sldId id="364" r:id="rId15"/>
    <p:sldId id="336" r:id="rId16"/>
    <p:sldId id="349" r:id="rId17"/>
    <p:sldId id="348" r:id="rId18"/>
    <p:sldId id="338" r:id="rId19"/>
    <p:sldId id="365" r:id="rId20"/>
    <p:sldId id="368" r:id="rId21"/>
    <p:sldId id="345" r:id="rId22"/>
    <p:sldId id="339" r:id="rId23"/>
    <p:sldId id="341" r:id="rId24"/>
    <p:sldId id="366" r:id="rId25"/>
    <p:sldId id="367" r:id="rId26"/>
    <p:sldId id="342" r:id="rId27"/>
    <p:sldId id="280" r:id="rId28"/>
    <p:sldId id="343" r:id="rId29"/>
    <p:sldId id="351" r:id="rId30"/>
    <p:sldId id="352" r:id="rId31"/>
    <p:sldId id="354" r:id="rId32"/>
    <p:sldId id="355" r:id="rId33"/>
    <p:sldId id="26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1" autoAdjust="0"/>
    <p:restoredTop sz="96331" autoAdjust="0"/>
  </p:normalViewPr>
  <p:slideViewPr>
    <p:cSldViewPr snapToGrid="0">
      <p:cViewPr varScale="1">
        <p:scale>
          <a:sx n="85" d="100"/>
          <a:sy n="85" d="100"/>
        </p:scale>
        <p:origin x="30" y="2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EE233-8A5A-41F0-8F05-99CF4A9C03D6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6A34D3-8633-4A83-AF72-E96410C427A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>
                <a:solidFill>
                  <a:srgbClr val="273239"/>
                </a:solidFill>
                <a:effectLst/>
              </a:rPr>
              <a:t>. The scope of this variable must be </a:t>
            </a:r>
            <a:r>
              <a:rPr lang="en-US" altLang="zh-CN" b="1" i="0">
                <a:solidFill>
                  <a:srgbClr val="273239"/>
                </a:solidFill>
                <a:effectLst/>
              </a:rPr>
              <a:t>global</a:t>
            </a:r>
            <a:r>
              <a:rPr lang="en-US" altLang="zh-CN" b="0" i="0">
                <a:solidFill>
                  <a:srgbClr val="273239"/>
                </a:solidFill>
                <a:effectLst/>
              </a:rPr>
              <a:t> so that any thread waiting to join this thread may read the return status.</a:t>
            </a:r>
            <a:endParaRPr lang="en-US" altLang="zh-TW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6A34D3-8633-4A83-AF72-E96410C427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99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A5F7-867B-4768-BD66-C4704B77F906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9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4795-956A-43C4-A2D0-0826829E5569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94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3E60-DD34-44AE-B176-A9477092ED14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1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4850E-5EA6-420D-8FD7-7AFC4E9A98F2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3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7531D-178B-477C-8903-ACA0FBB3E178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F67F-A140-4358-BAC3-CA73E68E9966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98F75-EE09-4F61-9EC5-48C8EF879004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6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E49D-6026-4695-9CC8-917F4E9F904D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5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2952-8992-44B7-A187-9EE3E90E974A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68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D0ACC-D32C-46F8-9B51-720F8B660F5B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722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2C8C-E219-488E-AED2-8B29685C6D04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8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2596D-332C-4FBE-857D-346A6EE02AA7}" type="datetime1">
              <a:rPr lang="en-US" altLang="zh-CN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D613F-765A-481C-9DCB-23F6EA0B0A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6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POSIX_Thread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ultithreading-c-2/" TargetMode="External"/><Relationship Id="rId2" Type="http://schemas.openxmlformats.org/officeDocument/2006/relationships/hyperlink" Target="https://www.javatpoint.com/process-vs-threa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s.unibo.it/~ghini/didattica/sistop/pthreads_tutorial/POSIX_Threads_Programming.htm" TargetMode="External"/><Relationship Id="rId4" Type="http://schemas.openxmlformats.org/officeDocument/2006/relationships/hyperlink" Target="https://www.geeksforgeeks.org/condition-wait-signal-multi-threading/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7458" y="1140293"/>
            <a:ext cx="9144000" cy="2387600"/>
          </a:xfrm>
        </p:spPr>
        <p:txBody>
          <a:bodyPr>
            <a:noAutofit/>
          </a:bodyPr>
          <a:lstStyle/>
          <a:p>
            <a:r>
              <a:rPr lang="en-US" altLang="zh-TW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Operating System (CSC </a:t>
            </a:r>
            <a:r>
              <a:rPr lang="en-US" altLang="zh-CN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3150</a:t>
            </a:r>
            <a:r>
              <a:rPr lang="en-US" altLang="zh-TW" sz="36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)</a:t>
            </a:r>
            <a:b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</a:br>
            <a:br>
              <a:rPr lang="en-US" altLang="zh-TW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</a:br>
            <a:r>
              <a:rPr lang="en-US" altLang="zh-TW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Tutorial 4</a:t>
            </a:r>
            <a:r>
              <a:rPr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PMingLiU" panose="02020500000000000000" pitchFamily="18" charset="-120"/>
              </a:rPr>
              <a:t> 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16302" y="4237635"/>
            <a:ext cx="5778921" cy="896557"/>
          </a:xfrm>
        </p:spPr>
        <p:txBody>
          <a:bodyPr>
            <a:normAutofit fontScale="97500"/>
          </a:bodyPr>
          <a:lstStyle/>
          <a:p>
            <a:pPr>
              <a:lnSpc>
                <a:spcPct val="80000"/>
              </a:lnSpc>
              <a:defRPr/>
            </a:pPr>
            <a:r>
              <a:rPr lang="en-US" altLang="zh-CN" sz="3200" dirty="0">
                <a:ea typeface="PMingLiU" panose="02020500000000000000" pitchFamily="18" charset="-120"/>
              </a:rPr>
              <a:t>Liangsen Wang:</a:t>
            </a:r>
            <a:r>
              <a:rPr lang="en-US" altLang="zh-TW" sz="3200" dirty="0">
                <a:ea typeface="PMingLiU" panose="02020500000000000000" pitchFamily="18" charset="-120"/>
              </a:rPr>
              <a:t> </a:t>
            </a:r>
            <a:r>
              <a:rPr lang="en-US" altLang="zh-CN" sz="3200" dirty="0">
                <a:ea typeface="PMingLiU" panose="02020500000000000000" pitchFamily="18" charset="-120"/>
              </a:rPr>
              <a:t>224040364@link.cuhk.edu.cn</a:t>
            </a:r>
            <a:endParaRPr lang="en-US" altLang="zh-TW" sz="3200" dirty="0">
              <a:ea typeface="PMingLiU" panose="02020500000000000000" pitchFamily="18" charset="-12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838894" y="833896"/>
            <a:ext cx="1235648" cy="103491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38F7E2-CDDA-458E-B5F7-A2B8465F4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Target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this tutorial, we will practice </a:t>
            </a:r>
            <a:r>
              <a:rPr lang="en-US" altLang="zh-CN" b="1" dirty="0" err="1"/>
              <a:t>P</a:t>
            </a:r>
            <a:r>
              <a:rPr lang="en-US" b="1" dirty="0" err="1"/>
              <a:t>thread</a:t>
            </a:r>
            <a:r>
              <a:rPr lang="en-US" dirty="0"/>
              <a:t> programming using c/</a:t>
            </a:r>
            <a:r>
              <a:rPr lang="en-US" dirty="0" err="1"/>
              <a:t>c++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Process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  Thread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Pthread</a:t>
            </a:r>
            <a:r>
              <a:rPr lang="en-US" dirty="0">
                <a:solidFill>
                  <a:srgbClr val="C00000"/>
                </a:solidFill>
              </a:rPr>
              <a:t> creation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Pthread</a:t>
            </a:r>
            <a:r>
              <a:rPr lang="en-US" dirty="0">
                <a:solidFill>
                  <a:srgbClr val="C00000"/>
                </a:solidFill>
              </a:rPr>
              <a:t> termination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Pthread</a:t>
            </a:r>
            <a:r>
              <a:rPr lang="en-US" dirty="0">
                <a:solidFill>
                  <a:srgbClr val="C00000"/>
                </a:solidFill>
              </a:rPr>
              <a:t> join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 err="1">
                <a:solidFill>
                  <a:srgbClr val="C00000"/>
                </a:solidFill>
              </a:rPr>
              <a:t>Pthread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mutex</a:t>
            </a:r>
            <a:endParaRPr lang="en-US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</a:t>
            </a:r>
            <a:r>
              <a:rPr lang="en-US" dirty="0" err="1"/>
              <a:t>Pthread</a:t>
            </a:r>
            <a:r>
              <a:rPr lang="en-US" dirty="0"/>
              <a:t> conditional value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078F78-2CE8-0A89-96EC-37675D1C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2</a:t>
            </a:fld>
            <a:endParaRPr lang="en-US"/>
          </a:p>
        </p:txBody>
      </p:sp>
      <p:sp>
        <p:nvSpPr>
          <p:cNvPr id="6" name="右大括号 5">
            <a:extLst>
              <a:ext uri="{FF2B5EF4-FFF2-40B4-BE49-F238E27FC236}">
                <a16:creationId xmlns:a16="http://schemas.microsoft.com/office/drawing/2014/main" id="{CC5785E2-D76D-885D-9EF7-B9A17BA6561A}"/>
              </a:ext>
            </a:extLst>
          </p:cNvPr>
          <p:cNvSpPr/>
          <p:nvPr/>
        </p:nvSpPr>
        <p:spPr>
          <a:xfrm>
            <a:off x="4072467" y="2607733"/>
            <a:ext cx="1701800" cy="2531534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400" b="1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1CC987-6FD0-1D9C-09C7-6D51895D697F}"/>
              </a:ext>
            </a:extLst>
          </p:cNvPr>
          <p:cNvSpPr txBox="1"/>
          <p:nvPr/>
        </p:nvSpPr>
        <p:spPr>
          <a:xfrm>
            <a:off x="6163733" y="3673445"/>
            <a:ext cx="16578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2</a:t>
            </a:r>
            <a:endParaRPr lang="zh-CN" altLang="en-US" sz="20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5662B36-BA74-6F19-3D25-54316CA2A532}"/>
              </a:ext>
            </a:extLst>
          </p:cNvPr>
          <p:cNvSpPr txBox="1"/>
          <p:nvPr/>
        </p:nvSpPr>
        <p:spPr>
          <a:xfrm>
            <a:off x="313439" y="581932"/>
            <a:ext cx="6742326" cy="1188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i="0" dirty="0">
                <a:solidFill>
                  <a:srgbClr val="610B38"/>
                </a:solidFill>
                <a:effectLst/>
              </a:rPr>
              <a:t>What is Process?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zh-CN" sz="2400" dirty="0"/>
              <a:t>A process is </a:t>
            </a:r>
            <a:r>
              <a:rPr lang="en-US" altLang="zh-CN" sz="2400" b="1" dirty="0"/>
              <a:t>an instance of a program </a:t>
            </a:r>
            <a:r>
              <a:rPr lang="en-US" altLang="zh-CN" sz="2400" dirty="0"/>
              <a:t>that is being executed. 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4801C9D-E731-E03E-4BDB-14308C7B7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559" y="1244731"/>
            <a:ext cx="4000500" cy="4953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B00EF7A-618E-0772-1C67-F1AB6B19B720}"/>
              </a:ext>
            </a:extLst>
          </p:cNvPr>
          <p:cNvSpPr txBox="1"/>
          <p:nvPr/>
        </p:nvSpPr>
        <p:spPr>
          <a:xfrm>
            <a:off x="313439" y="2460152"/>
            <a:ext cx="7020613" cy="271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80000"/>
              </a:lnSpc>
              <a:spcBef>
                <a:spcPts val="1000"/>
              </a:spcBef>
            </a:pPr>
            <a:r>
              <a:rPr lang="en-US" altLang="zh-CN" sz="1900" b="1" dirty="0"/>
              <a:t>Features of Process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zh-CN" sz="1900" dirty="0"/>
              <a:t>Each time we create a process, we need to make a separate system call for each process to the OS. The</a:t>
            </a:r>
            <a:r>
              <a:rPr lang="en-US" altLang="zh-CN" sz="1900" b="1" dirty="0"/>
              <a:t> fork() </a:t>
            </a:r>
            <a:r>
              <a:rPr lang="en-US" altLang="zh-CN" sz="1900" dirty="0"/>
              <a:t>function creates the process.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zh-CN" sz="1900" b="1" dirty="0"/>
              <a:t>Each process exists within its own address or memory space</a:t>
            </a:r>
            <a:r>
              <a:rPr lang="en-US" altLang="zh-CN" sz="1900" dirty="0"/>
              <a:t>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zh-CN" sz="1900" dirty="0"/>
              <a:t>Each process </a:t>
            </a:r>
            <a:r>
              <a:rPr lang="en-US" altLang="zh-CN" sz="1900" b="1" dirty="0"/>
              <a:t>is independent and treated as an isolated process by the OS.</a:t>
            </a:r>
          </a:p>
          <a:p>
            <a:pPr marL="228600" indent="-228600" defTabSz="914400">
              <a:lnSpc>
                <a:spcPct val="80000"/>
              </a:lnSpc>
              <a:spcBef>
                <a:spcPts val="1000"/>
              </a:spcBef>
              <a:buFont typeface="Wingdings" panose="05000000000000000000" pitchFamily="2" charset="2"/>
              <a:buChar char="§"/>
            </a:pPr>
            <a:r>
              <a:rPr lang="en-US" altLang="zh-CN" sz="1900" dirty="0"/>
              <a:t>Processes need IPC (Inter-process Communication) in order to communicate with each other.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9D00F4-AB7A-9BA7-4A32-C106D99E4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3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97582" y="308447"/>
            <a:ext cx="10515599" cy="839720"/>
          </a:xfrm>
        </p:spPr>
        <p:txBody>
          <a:bodyPr>
            <a:noAutofit/>
          </a:bodyPr>
          <a:lstStyle/>
          <a:p>
            <a:pPr fontAlgn="base"/>
            <a:r>
              <a:rPr lang="en-US" altLang="zh-CN" sz="1800" b="1" i="0">
                <a:solidFill>
                  <a:srgbClr val="273239"/>
                </a:solidFill>
                <a:effectLst/>
                <a:latin typeface="+mn-lt"/>
              </a:rPr>
              <a:t>What is a thread? </a:t>
            </a:r>
            <a:br>
              <a:rPr lang="en-US" altLang="zh-CN" sz="1800" i="0">
                <a:solidFill>
                  <a:srgbClr val="273239"/>
                </a:solidFill>
                <a:effectLst/>
                <a:latin typeface="+mn-lt"/>
              </a:rPr>
            </a:br>
            <a:r>
              <a:rPr lang="en-US" altLang="zh-CN" sz="1800" b="1" i="0">
                <a:solidFill>
                  <a:srgbClr val="273239"/>
                </a:solidFill>
                <a:effectLst/>
                <a:latin typeface="+mn-lt"/>
              </a:rPr>
              <a:t>A thread is a single sequence stream within a process</a:t>
            </a:r>
            <a:r>
              <a:rPr lang="en-US" altLang="zh-CN" sz="1800" i="0">
                <a:solidFill>
                  <a:srgbClr val="273239"/>
                </a:solidFill>
                <a:effectLst/>
                <a:latin typeface="+mn-lt"/>
              </a:rPr>
              <a:t>. Because threads have some of the properties of processes, they are sometimes called </a:t>
            </a:r>
            <a:r>
              <a:rPr lang="en-US" altLang="zh-CN" sz="1800" i="1">
                <a:solidFill>
                  <a:srgbClr val="273239"/>
                </a:solidFill>
                <a:effectLst/>
                <a:latin typeface="+mn-lt"/>
              </a:rPr>
              <a:t>lightweight processes</a:t>
            </a:r>
            <a:r>
              <a:rPr lang="en-US" altLang="zh-CN" sz="1800" i="0">
                <a:solidFill>
                  <a:srgbClr val="273239"/>
                </a:solidFill>
                <a:effectLst/>
                <a:latin typeface="+mn-lt"/>
              </a:rPr>
              <a:t>. </a:t>
            </a:r>
            <a:br>
              <a:rPr lang="en-US" altLang="zh-CN" sz="1800" i="0">
                <a:solidFill>
                  <a:srgbClr val="273239"/>
                </a:solidFill>
                <a:effectLst/>
                <a:latin typeface="+mn-lt"/>
              </a:rPr>
            </a:br>
            <a:endParaRPr lang="zh-TW" altLang="en-US" sz="18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4139" y="1078363"/>
            <a:ext cx="10515600" cy="2781341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sz="1900" dirty="0"/>
              <a:t> </a:t>
            </a:r>
            <a:r>
              <a:rPr lang="en-US" altLang="zh-CN" sz="1900" dirty="0"/>
              <a:t>Threads are not independent from each other unlike processes. As a result, </a:t>
            </a:r>
            <a:r>
              <a:rPr lang="en-US" altLang="zh-CN" sz="1900" b="1" dirty="0"/>
              <a:t>threads shares with other threads their code section, data section and OS resources like open files and signals</a:t>
            </a:r>
            <a:r>
              <a:rPr lang="en-US" altLang="zh-CN" sz="1900" dirty="0"/>
              <a:t>. But, like processes, a thread has its own </a:t>
            </a:r>
            <a:r>
              <a:rPr lang="en-US" altLang="zh-CN" sz="1900" dirty="0">
                <a:solidFill>
                  <a:srgbClr val="C00000"/>
                </a:solidFill>
              </a:rPr>
              <a:t>program counter (PC), a register set, and a stack space</a:t>
            </a:r>
            <a:r>
              <a:rPr lang="en-US" altLang="zh-CN" sz="1900" dirty="0"/>
              <a:t>. 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dirty="0"/>
              <a:t>  </a:t>
            </a:r>
            <a:r>
              <a:rPr lang="en-US" sz="1900" dirty="0"/>
              <a:t>Threads use and exist within these process resources. They are able to be scheduled by the operating system and run as independent entities within a process.</a:t>
            </a:r>
            <a:endParaRPr lang="en-US" altLang="zh-TW" sz="1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dirty="0"/>
              <a:t>  </a:t>
            </a:r>
            <a:r>
              <a:rPr lang="en-US" altLang="zh-TW" sz="1900" b="1" dirty="0"/>
              <a:t>A process can have multiple threads</a:t>
            </a:r>
            <a:r>
              <a:rPr lang="en-US" altLang="zh-TW" sz="1900" dirty="0"/>
              <a:t>, all of which share the resources within a process and all of which execute within the same address space.</a:t>
            </a:r>
            <a:endParaRPr lang="en-US" altLang="zh-TW" sz="2000" dirty="0"/>
          </a:p>
          <a:p>
            <a:pPr>
              <a:buFont typeface="Wingdings" panose="05000000000000000000" pitchFamily="2" charset="2"/>
              <a:buChar char="§"/>
            </a:pP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9CFB0E-D1F9-4F1A-167D-BCB6C8588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06" y="3137831"/>
            <a:ext cx="7323841" cy="37201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FC99364-98D7-C715-6564-2FF45B7DDAF3}"/>
              </a:ext>
            </a:extLst>
          </p:cNvPr>
          <p:cNvSpPr txBox="1"/>
          <p:nvPr/>
        </p:nvSpPr>
        <p:spPr>
          <a:xfrm>
            <a:off x="426956" y="-28280"/>
            <a:ext cx="1045196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zh-CN" sz="2400" b="1" i="0">
                <a:solidFill>
                  <a:srgbClr val="273239"/>
                </a:solidFill>
                <a:effectLst/>
              </a:rPr>
              <a:t>Why Multithreading?</a:t>
            </a:r>
            <a:r>
              <a:rPr lang="en-US" altLang="zh-CN" sz="2400" b="0" i="0">
                <a:solidFill>
                  <a:srgbClr val="273239"/>
                </a:solidFill>
                <a:effectLst/>
              </a:rPr>
              <a:t> </a:t>
            </a:r>
          </a:p>
          <a:p>
            <a:pPr algn="l" fontAlgn="base"/>
            <a:r>
              <a:rPr lang="en-US" altLang="zh-CN" sz="2400" b="0" i="0">
                <a:solidFill>
                  <a:srgbClr val="273239"/>
                </a:solidFill>
                <a:effectLst/>
              </a:rPr>
              <a:t>Threads are popular way to improve application through parallelism. For example, in a browser, multiple tabs can be different threads. </a:t>
            </a:r>
          </a:p>
          <a:p>
            <a:pPr algn="l" fontAlgn="base"/>
            <a:r>
              <a:rPr lang="en-US" altLang="zh-CN" sz="2400" b="0" i="0">
                <a:solidFill>
                  <a:srgbClr val="273239"/>
                </a:solidFill>
                <a:effectLst/>
              </a:rPr>
              <a:t>Threads operate faster than processes due to following reasons: </a:t>
            </a:r>
          </a:p>
          <a:p>
            <a:pPr algn="l" fontAlgn="base"/>
            <a:r>
              <a:rPr lang="en-US" altLang="zh-CN" sz="2400" b="0" i="0">
                <a:solidFill>
                  <a:srgbClr val="273239"/>
                </a:solidFill>
                <a:effectLst/>
              </a:rPr>
              <a:t>1) Thread creation is much faster. </a:t>
            </a:r>
          </a:p>
          <a:p>
            <a:pPr algn="l" fontAlgn="base"/>
            <a:r>
              <a:rPr lang="en-US" altLang="zh-CN" sz="2400" b="0" i="0">
                <a:solidFill>
                  <a:srgbClr val="273239"/>
                </a:solidFill>
                <a:effectLst/>
              </a:rPr>
              <a:t>2) Context switching between threads is much faster. </a:t>
            </a:r>
          </a:p>
          <a:p>
            <a:pPr algn="l" fontAlgn="base"/>
            <a:r>
              <a:rPr lang="en-US" altLang="zh-CN" sz="2400" b="0" i="0">
                <a:solidFill>
                  <a:srgbClr val="273239"/>
                </a:solidFill>
                <a:effectLst/>
              </a:rPr>
              <a:t>3) Threads can be terminated easily </a:t>
            </a:r>
          </a:p>
          <a:p>
            <a:pPr algn="l" fontAlgn="base"/>
            <a:r>
              <a:rPr lang="en-US" altLang="zh-CN" sz="2400" b="0" i="0">
                <a:solidFill>
                  <a:srgbClr val="273239"/>
                </a:solidFill>
                <a:effectLst/>
              </a:rPr>
              <a:t>4) Communication between threads is faster.</a:t>
            </a:r>
          </a:p>
          <a:p>
            <a:pPr algn="l" fontAlgn="base"/>
            <a:endParaRPr lang="en-US" altLang="zh-CN" b="0" i="0">
              <a:solidFill>
                <a:srgbClr val="273239"/>
              </a:solidFill>
              <a:effectLst/>
              <a:latin typeface="urw-din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EB73668-8E68-9F16-012D-50EB340A6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33" y="3110846"/>
            <a:ext cx="7581987" cy="36240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6E6ECA-6079-876B-36C5-14DF6BB7C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0976" y="636191"/>
            <a:ext cx="10515600" cy="1325563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altLang="zh-CN" sz="2700" b="1" i="0">
                <a:solidFill>
                  <a:srgbClr val="273239"/>
                </a:solidFill>
                <a:effectLst/>
                <a:latin typeface="+mn-lt"/>
              </a:rPr>
              <a:t>Can we write multithreading programs in C?</a:t>
            </a:r>
            <a:br>
              <a:rPr lang="en-US" altLang="zh-CN" sz="2000" b="1" i="0">
                <a:solidFill>
                  <a:srgbClr val="273239"/>
                </a:solidFill>
                <a:effectLst/>
                <a:latin typeface="+mn-lt"/>
              </a:rPr>
            </a:br>
            <a:r>
              <a:rPr lang="en-US" altLang="zh-CN" sz="2000" b="0" i="0">
                <a:solidFill>
                  <a:srgbClr val="273239"/>
                </a:solidFill>
                <a:effectLst/>
                <a:latin typeface="+mn-lt"/>
              </a:rPr>
              <a:t> </a:t>
            </a:r>
            <a:br>
              <a:rPr lang="en-US" altLang="zh-CN" sz="2000" b="0" i="0">
                <a:solidFill>
                  <a:srgbClr val="273239"/>
                </a:solidFill>
                <a:effectLst/>
                <a:latin typeface="+mn-lt"/>
              </a:rPr>
            </a:br>
            <a:r>
              <a:rPr lang="en-US" altLang="zh-CN" sz="2000" b="0" i="0">
                <a:solidFill>
                  <a:srgbClr val="273239"/>
                </a:solidFill>
                <a:effectLst/>
                <a:latin typeface="+mn-lt"/>
              </a:rPr>
              <a:t>Unlike Java, multithreading is not supported by the C language standard. </a:t>
            </a:r>
            <a:r>
              <a:rPr lang="en-US" altLang="zh-CN" sz="2000" b="0" i="0" u="sng">
                <a:solidFill>
                  <a:srgbClr val="273239"/>
                </a:solidFill>
                <a:effectLst/>
                <a:latin typeface="+mn-lt"/>
                <a:hlinkClick r:id="rId2"/>
              </a:rPr>
              <a:t>POSIX Threads (or Pthreads)</a:t>
            </a:r>
            <a:r>
              <a:rPr lang="en-US" altLang="zh-CN" sz="2000" b="0" i="0">
                <a:solidFill>
                  <a:srgbClr val="273239"/>
                </a:solidFill>
                <a:effectLst/>
                <a:latin typeface="+mn-lt"/>
              </a:rPr>
              <a:t> is a POSIX standard for threads. Implementation of pthread is available with gcc compiler. </a:t>
            </a:r>
            <a:br>
              <a:rPr lang="en-US" altLang="zh-CN" sz="2000" b="0" i="0">
                <a:solidFill>
                  <a:srgbClr val="273239"/>
                </a:solidFill>
                <a:effectLst/>
                <a:latin typeface="+mn-lt"/>
              </a:rPr>
            </a:br>
            <a:endParaRPr lang="zh-TW" altLang="en-US" sz="20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40976" y="187047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dirty="0"/>
              <a:t>  </a:t>
            </a:r>
            <a:r>
              <a:rPr lang="en-US" sz="2400" dirty="0"/>
              <a:t>To the software developer, the concept of a "procedure" that runs independently from its main program may best describe a thread.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dirty="0"/>
              <a:t>  </a:t>
            </a:r>
            <a:r>
              <a:rPr lang="en-US" altLang="zh-TW" sz="1900" dirty="0" err="1"/>
              <a:t>Pthread</a:t>
            </a:r>
            <a:r>
              <a:rPr lang="en-US" altLang="zh-TW" sz="1900" dirty="0"/>
              <a:t>: POSIX Thread, </a:t>
            </a:r>
            <a:r>
              <a:rPr lang="en-US" dirty="0"/>
              <a:t>a standard-based thread API for C.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dirty="0"/>
              <a:t>  other options: </a:t>
            </a:r>
            <a:r>
              <a:rPr lang="en-US" dirty="0" err="1"/>
              <a:t>openMP</a:t>
            </a:r>
            <a:r>
              <a:rPr lang="en-US" dirty="0"/>
              <a:t>, std::thread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20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dirty="0"/>
              <a:t>  When compiling </a:t>
            </a:r>
            <a:r>
              <a:rPr lang="en-US" altLang="zh-TW" dirty="0" err="1"/>
              <a:t>Pthread</a:t>
            </a:r>
            <a:r>
              <a:rPr lang="en-US" altLang="zh-TW" dirty="0"/>
              <a:t> in </a:t>
            </a:r>
            <a:r>
              <a:rPr lang="en-US" altLang="zh-TW" dirty="0" err="1"/>
              <a:t>gcc</a:t>
            </a:r>
            <a:r>
              <a:rPr lang="en-US" altLang="zh-TW" dirty="0"/>
              <a:t>/g++, should add option “-</a:t>
            </a:r>
            <a:r>
              <a:rPr lang="en-US" altLang="zh-TW" dirty="0" err="1"/>
              <a:t>lpthread</a:t>
            </a:r>
            <a:r>
              <a:rPr lang="en-US" altLang="zh-TW" dirty="0"/>
              <a:t>”.</a:t>
            </a:r>
          </a:p>
          <a:p>
            <a:pPr lvl="1"/>
            <a:r>
              <a:rPr lang="en-US" altLang="zh-TW" sz="1900" dirty="0"/>
              <a:t>Compile: </a:t>
            </a:r>
            <a:r>
              <a:rPr lang="en-US" altLang="zh-TW" sz="1900" dirty="0" err="1">
                <a:solidFill>
                  <a:srgbClr val="FF0000"/>
                </a:solidFill>
              </a:rPr>
              <a:t>gcc</a:t>
            </a:r>
            <a:r>
              <a:rPr lang="en-US" altLang="zh-TW" sz="1900" dirty="0">
                <a:solidFill>
                  <a:srgbClr val="FF0000"/>
                </a:solidFill>
              </a:rPr>
              <a:t> </a:t>
            </a:r>
            <a:r>
              <a:rPr lang="en-US" altLang="zh-TW" sz="1900" dirty="0" err="1">
                <a:solidFill>
                  <a:srgbClr val="FF0000"/>
                </a:solidFill>
              </a:rPr>
              <a:t>test.c</a:t>
            </a:r>
            <a:r>
              <a:rPr lang="en-US" altLang="zh-TW" sz="1900" dirty="0">
                <a:solidFill>
                  <a:srgbClr val="FF0000"/>
                </a:solidFill>
              </a:rPr>
              <a:t> –</a:t>
            </a:r>
            <a:r>
              <a:rPr lang="en-US" altLang="zh-TW" sz="1900" dirty="0" err="1">
                <a:solidFill>
                  <a:srgbClr val="FF0000"/>
                </a:solidFill>
              </a:rPr>
              <a:t>lpthread</a:t>
            </a:r>
            <a:r>
              <a:rPr lang="en-US" altLang="zh-TW" sz="1900" dirty="0">
                <a:solidFill>
                  <a:srgbClr val="FF0000"/>
                </a:solidFill>
              </a:rPr>
              <a:t> </a:t>
            </a:r>
            <a:r>
              <a:rPr lang="en-US" altLang="zh-TW" sz="1900" dirty="0"/>
              <a:t>or </a:t>
            </a:r>
            <a:r>
              <a:rPr lang="en-US" altLang="zh-TW" sz="1900" dirty="0">
                <a:solidFill>
                  <a:srgbClr val="FF0000"/>
                </a:solidFill>
              </a:rPr>
              <a:t>g++ test.cpp -</a:t>
            </a:r>
            <a:r>
              <a:rPr lang="en-US" altLang="zh-TW" sz="1900" dirty="0" err="1">
                <a:solidFill>
                  <a:srgbClr val="FF0000"/>
                </a:solidFill>
              </a:rPr>
              <a:t>lpthread</a:t>
            </a:r>
            <a:r>
              <a:rPr lang="en-US" altLang="zh-TW" sz="1900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en-US" altLang="zh-TW" sz="1900" dirty="0"/>
              <a:t>Execution: </a:t>
            </a:r>
            <a:r>
              <a:rPr lang="en-US" altLang="zh-TW" sz="1900" dirty="0">
                <a:solidFill>
                  <a:srgbClr val="FF0000"/>
                </a:solidFill>
              </a:rPr>
              <a:t>./</a:t>
            </a:r>
            <a:r>
              <a:rPr lang="en-US" altLang="zh-TW" sz="1900" dirty="0" err="1">
                <a:solidFill>
                  <a:srgbClr val="FF0000"/>
                </a:solidFill>
              </a:rPr>
              <a:t>a.out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0" indent="0">
              <a:lnSpc>
                <a:spcPct val="80000"/>
              </a:lnSpc>
              <a:buNone/>
            </a:pP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27802"/>
            <a:ext cx="10515600" cy="1325563"/>
          </a:xfrm>
        </p:spPr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creation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+mj-lt"/>
              </a:rPr>
              <a:t>  </a:t>
            </a:r>
            <a:r>
              <a:rPr lang="en-US" altLang="zh-TW" b="1" dirty="0">
                <a:latin typeface="+mj-lt"/>
              </a:rPr>
              <a:t> </a:t>
            </a:r>
            <a:r>
              <a:rPr lang="en-US" altLang="zh-TW" b="1" dirty="0" err="1">
                <a:latin typeface="+mj-lt"/>
              </a:rPr>
              <a:t>pthread_create</a:t>
            </a:r>
            <a:r>
              <a:rPr lang="en-US" altLang="zh-TW" b="1" dirty="0">
                <a:latin typeface="+mj-lt"/>
              </a:rPr>
              <a:t>:</a:t>
            </a:r>
          </a:p>
          <a:p>
            <a:pPr lvl="1"/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int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pthread_create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(	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pthread_t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 *thread, </a:t>
            </a:r>
          </a:p>
          <a:p>
            <a:pPr marL="201295" lvl="1" indent="0">
              <a:buNone/>
            </a:pP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			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const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pthread_attr_t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 *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attr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,</a:t>
            </a:r>
          </a:p>
          <a:p>
            <a:pPr marL="201295" lvl="1" indent="0">
              <a:buNone/>
            </a:pP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			void *(*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start_routine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) (void *),</a:t>
            </a:r>
          </a:p>
          <a:p>
            <a:pPr marL="201295" lvl="1" indent="0">
              <a:buNone/>
            </a:pP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			void *</a:t>
            </a:r>
            <a:r>
              <a:rPr lang="en-US" altLang="zh-TW" b="1" dirty="0" err="1">
                <a:solidFill>
                  <a:srgbClr val="C00000"/>
                </a:solidFill>
                <a:latin typeface="+mj-lt"/>
              </a:rPr>
              <a:t>arg</a:t>
            </a:r>
            <a:r>
              <a:rPr lang="en-US" altLang="zh-TW" b="1" dirty="0">
                <a:solidFill>
                  <a:srgbClr val="C00000"/>
                </a:solidFill>
                <a:latin typeface="+mj-lt"/>
              </a:rPr>
              <a:t>);</a:t>
            </a:r>
          </a:p>
          <a:p>
            <a:pPr marL="201295" lvl="1" indent="0">
              <a:buNone/>
            </a:pPr>
            <a:endParaRPr lang="en-US" altLang="zh-TW" sz="1900" b="1" dirty="0">
              <a:latin typeface="+mj-lt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000" b="1" dirty="0">
                <a:latin typeface="+mj-lt"/>
              </a:rPr>
              <a:t> </a:t>
            </a:r>
            <a:r>
              <a:rPr lang="en-US" altLang="zh-CN" sz="2000" b="1" i="0" dirty="0">
                <a:solidFill>
                  <a:srgbClr val="273239"/>
                </a:solidFill>
                <a:effectLst/>
                <a:latin typeface="+mj-lt"/>
              </a:rPr>
              <a:t>thread: pointer to an unsigned integer value that returns the thread id of the thread created.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b="1" dirty="0">
                <a:latin typeface="+mj-lt"/>
              </a:rPr>
              <a:t>  The </a:t>
            </a:r>
            <a:r>
              <a:rPr lang="en-US" altLang="zh-TW" sz="1900" b="1" dirty="0" err="1">
                <a:latin typeface="+mj-lt"/>
              </a:rPr>
              <a:t>attr</a:t>
            </a:r>
            <a:r>
              <a:rPr lang="en-US" altLang="zh-TW" sz="1900" b="1" dirty="0">
                <a:latin typeface="+mj-lt"/>
              </a:rPr>
              <a:t> parameter is used to set thread attributes. You can specify a thread attributes object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1900" b="1" dirty="0">
                <a:latin typeface="+mj-lt"/>
              </a:rPr>
              <a:t>      like scheduling policy, detached state, etc.  </a:t>
            </a:r>
            <a:r>
              <a:rPr lang="en-US" altLang="zh-TW" sz="1900" b="1" dirty="0">
                <a:solidFill>
                  <a:srgbClr val="C00000"/>
                </a:solidFill>
                <a:latin typeface="+mj-lt"/>
              </a:rPr>
              <a:t>Set NULL by default.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900" b="1" dirty="0">
              <a:latin typeface="+mj-lt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b="1" dirty="0">
                <a:latin typeface="+mj-lt"/>
              </a:rPr>
              <a:t>  The </a:t>
            </a:r>
            <a:r>
              <a:rPr lang="en-US" altLang="zh-TW" sz="1900" b="1" dirty="0" err="1">
                <a:latin typeface="+mj-lt"/>
              </a:rPr>
              <a:t>start_routine</a:t>
            </a:r>
            <a:r>
              <a:rPr lang="en-US" altLang="zh-TW" sz="1900" b="1" dirty="0">
                <a:latin typeface="+mj-lt"/>
              </a:rPr>
              <a:t> is the C </a:t>
            </a:r>
            <a:r>
              <a:rPr lang="en-US" altLang="zh-TW" sz="1900" b="1" dirty="0">
                <a:solidFill>
                  <a:srgbClr val="C00000"/>
                </a:solidFill>
                <a:latin typeface="+mj-lt"/>
              </a:rPr>
              <a:t>function</a:t>
            </a:r>
            <a:r>
              <a:rPr lang="en-US" altLang="zh-TW" sz="1900" b="1" dirty="0">
                <a:latin typeface="+mj-lt"/>
              </a:rPr>
              <a:t> that the thread will execute once it is created.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b="1" dirty="0" err="1">
                <a:latin typeface="+mj-lt"/>
              </a:rPr>
              <a:t>arg</a:t>
            </a:r>
            <a:r>
              <a:rPr lang="en-US" altLang="zh-TW" sz="1900" b="1" dirty="0">
                <a:latin typeface="+mj-lt"/>
              </a:rPr>
              <a:t>: pointer to void that contains the </a:t>
            </a:r>
            <a:r>
              <a:rPr lang="en-US" altLang="zh-TW" sz="1900" b="1" dirty="0">
                <a:solidFill>
                  <a:srgbClr val="C00000"/>
                </a:solidFill>
                <a:latin typeface="+mj-lt"/>
              </a:rPr>
              <a:t>arguments</a:t>
            </a:r>
            <a:r>
              <a:rPr lang="en-US" altLang="zh-TW" sz="1900" b="1" dirty="0">
                <a:latin typeface="+mj-lt"/>
              </a:rPr>
              <a:t> to the function</a:t>
            </a:r>
            <a:endParaRPr lang="zh-TW" altLang="en-US" sz="1900" b="1" dirty="0">
              <a:latin typeface="+mj-l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48F960-1CBD-10EA-D9DB-8EBF4BE1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127" y="1512513"/>
            <a:ext cx="3238500" cy="2219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004"/>
          </a:xfrm>
        </p:spPr>
        <p:txBody>
          <a:bodyPr>
            <a:normAutofit/>
          </a:bodyPr>
          <a:lstStyle/>
          <a:p>
            <a:r>
              <a:rPr lang="en-US" altLang="zh-CN" sz="4000" err="1">
                <a:latin typeface="+mn-lt"/>
              </a:rPr>
              <a:t>Pthread</a:t>
            </a:r>
            <a:r>
              <a:rPr lang="en-US" altLang="zh-CN" sz="4000">
                <a:latin typeface="+mn-lt"/>
              </a:rPr>
              <a:t> creation</a:t>
            </a:r>
            <a:endParaRPr lang="zh-TW" altLang="en-US" sz="40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1659" y="162840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2400" dirty="0"/>
              <a:t>  Return value</a:t>
            </a:r>
          </a:p>
          <a:p>
            <a:pPr lvl="1"/>
            <a:r>
              <a:rPr lang="en-US" altLang="zh-TW" dirty="0"/>
              <a:t>On success, </a:t>
            </a:r>
            <a:r>
              <a:rPr lang="en-US" altLang="zh-TW" dirty="0" err="1">
                <a:solidFill>
                  <a:srgbClr val="C00000"/>
                </a:solidFill>
              </a:rPr>
              <a:t>pthread_create</a:t>
            </a:r>
            <a:r>
              <a:rPr lang="en-US" altLang="zh-TW" dirty="0">
                <a:solidFill>
                  <a:srgbClr val="C00000"/>
                </a:solidFill>
              </a:rPr>
              <a:t>() returns 0</a:t>
            </a:r>
            <a:r>
              <a:rPr lang="en-US" altLang="zh-TW" dirty="0"/>
              <a:t>; </a:t>
            </a:r>
          </a:p>
          <a:p>
            <a:pPr lvl="1"/>
            <a:r>
              <a:rPr lang="en-US" altLang="zh-TW" dirty="0"/>
              <a:t>On error, it returns an error number, and the contents of *thread are undefined.</a:t>
            </a:r>
          </a:p>
          <a:p>
            <a:pPr marL="201295" lvl="1" indent="0">
              <a:buNone/>
            </a:pPr>
            <a:endParaRPr lang="en-US" altLang="zh-TW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</a:t>
            </a:r>
            <a:r>
              <a:rPr lang="en-US" altLang="zh-TW" sz="2400" dirty="0" err="1"/>
              <a:t>Pthread</a:t>
            </a:r>
            <a:r>
              <a:rPr lang="en-US" altLang="zh-TW" sz="2400" dirty="0"/>
              <a:t> is declared with type: </a:t>
            </a:r>
          </a:p>
          <a:p>
            <a:pPr lvl="1"/>
            <a:r>
              <a:rPr lang="en-US" altLang="zh-TW" dirty="0" err="1">
                <a:solidFill>
                  <a:srgbClr val="C00000"/>
                </a:solidFill>
              </a:rPr>
              <a:t>pthread_t</a:t>
            </a:r>
            <a:r>
              <a:rPr lang="en-US" altLang="zh-TW" dirty="0">
                <a:solidFill>
                  <a:srgbClr val="C00000"/>
                </a:solidFill>
              </a:rPr>
              <a:t> </a:t>
            </a:r>
            <a:r>
              <a:rPr lang="en-US" altLang="zh-TW" dirty="0"/>
              <a:t>(defined in “</a:t>
            </a:r>
            <a:r>
              <a:rPr lang="en-US" dirty="0"/>
              <a:t>sys/</a:t>
            </a:r>
            <a:r>
              <a:rPr lang="en-US" dirty="0" err="1"/>
              <a:t>types.h</a:t>
            </a:r>
            <a:r>
              <a:rPr lang="en-US" altLang="zh-TW" dirty="0"/>
              <a:t>”)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B1993F-3F1A-E177-F93C-B8D64AD82B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40" y="3861584"/>
            <a:ext cx="5918115" cy="22661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60400" y="-16351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600" b="1" err="1"/>
              <a:t>Pthread</a:t>
            </a:r>
            <a:r>
              <a:rPr lang="en-US" altLang="zh-CN" sz="3600" b="1"/>
              <a:t> creation</a:t>
            </a:r>
            <a:endParaRPr lang="zh-TW" altLang="en-US" sz="36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21" y="1481404"/>
            <a:ext cx="11506757" cy="458945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30989AB-1550-D0A3-F56F-1C1FA6BF9A94}"/>
              </a:ext>
            </a:extLst>
          </p:cNvPr>
          <p:cNvSpPr txBox="1"/>
          <p:nvPr/>
        </p:nvSpPr>
        <p:spPr>
          <a:xfrm>
            <a:off x="601133" y="787138"/>
            <a:ext cx="9418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The execution order of created threads depends on the task scheduling of the operating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It might seems like out of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3359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err="1">
                <a:latin typeface="+mn-lt"/>
              </a:rPr>
              <a:t>Pthread</a:t>
            </a:r>
            <a:r>
              <a:rPr lang="en-US" altLang="zh-CN" sz="2800">
                <a:latin typeface="+mn-lt"/>
              </a:rPr>
              <a:t> termination</a:t>
            </a:r>
            <a:endParaRPr lang="zh-TW" altLang="en-US" sz="28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8262" y="1344858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 </a:t>
            </a:r>
            <a:r>
              <a:rPr lang="en-US" altLang="zh-TW" sz="2400" dirty="0"/>
              <a:t> </a:t>
            </a:r>
            <a:r>
              <a:rPr lang="en-US" altLang="zh-TW" sz="2400" dirty="0" err="1"/>
              <a:t>pthread_exit</a:t>
            </a:r>
            <a:r>
              <a:rPr lang="en-US" altLang="zh-TW" sz="2400" dirty="0"/>
              <a:t>: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void </a:t>
            </a:r>
            <a:r>
              <a:rPr lang="en-US" altLang="zh-TW" dirty="0" err="1">
                <a:solidFill>
                  <a:srgbClr val="C00000"/>
                </a:solidFill>
              </a:rPr>
              <a:t>pthread_exit</a:t>
            </a:r>
            <a:r>
              <a:rPr lang="en-US" altLang="zh-TW" dirty="0">
                <a:solidFill>
                  <a:srgbClr val="C00000"/>
                </a:solidFill>
              </a:rPr>
              <a:t>(void *</a:t>
            </a:r>
            <a:r>
              <a:rPr lang="en-US" altLang="zh-TW" dirty="0" err="1">
                <a:solidFill>
                  <a:srgbClr val="C00000"/>
                </a:solidFill>
              </a:rPr>
              <a:t>retval</a:t>
            </a:r>
            <a:r>
              <a:rPr lang="en-US" altLang="zh-TW" dirty="0">
                <a:solidFill>
                  <a:srgbClr val="C00000"/>
                </a:solidFill>
              </a:rPr>
              <a:t>);</a:t>
            </a:r>
          </a:p>
          <a:p>
            <a:pPr marL="457200" lvl="1" indent="0">
              <a:buNone/>
            </a:pPr>
            <a:r>
              <a:rPr lang="en-US" altLang="zh-CN" b="1" i="0" dirty="0">
                <a:solidFill>
                  <a:srgbClr val="273239"/>
                </a:solidFill>
                <a:effectLst/>
              </a:rPr>
              <a:t>Parameters:</a:t>
            </a:r>
            <a:r>
              <a:rPr lang="en-US" altLang="zh-CN" b="0" i="0" dirty="0">
                <a:solidFill>
                  <a:srgbClr val="273239"/>
                </a:solidFill>
                <a:effectLst/>
              </a:rPr>
              <a:t> This method accepts a mandatory parameter </a:t>
            </a:r>
            <a:r>
              <a:rPr lang="en-US" altLang="zh-CN" i="0" dirty="0" err="1">
                <a:solidFill>
                  <a:srgbClr val="C00000"/>
                </a:solidFill>
                <a:effectLst/>
              </a:rPr>
              <a:t>retval</a:t>
            </a:r>
            <a:r>
              <a:rPr lang="en-US" altLang="zh-CN" b="0" i="0" dirty="0">
                <a:solidFill>
                  <a:srgbClr val="273239"/>
                </a:solidFill>
                <a:effectLst/>
              </a:rPr>
              <a:t> which is the pointer to an integer that stores the return status of the thread terminated</a:t>
            </a:r>
            <a:r>
              <a:rPr lang="en-US" altLang="zh-CN" dirty="0">
                <a:solidFill>
                  <a:srgbClr val="273239"/>
                </a:solidFill>
              </a:rPr>
              <a:t>.</a:t>
            </a:r>
            <a:r>
              <a:rPr lang="en-US" altLang="zh-TW" sz="2400" dirty="0"/>
              <a:t>  This function is used to </a:t>
            </a:r>
            <a:r>
              <a:rPr lang="en-US" altLang="zh-TW" sz="2400" dirty="0">
                <a:solidFill>
                  <a:srgbClr val="C00000"/>
                </a:solidFill>
              </a:rPr>
              <a:t>explicitly exit a thread</a:t>
            </a:r>
            <a:r>
              <a:rPr lang="en-US" altLang="zh-TW" sz="2400" dirty="0"/>
              <a:t>. Typically, the </a:t>
            </a:r>
            <a:r>
              <a:rPr lang="en-US" altLang="zh-TW" sz="2400" dirty="0" err="1"/>
              <a:t>pthread_exit</a:t>
            </a:r>
            <a:r>
              <a:rPr lang="en-US" altLang="zh-TW" sz="2400" dirty="0"/>
              <a:t>() function is called after a thread has completed its work.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If main() finishes before the </a:t>
            </a:r>
            <a:r>
              <a:rPr lang="en-US" altLang="zh-TW" sz="2400" b="1" dirty="0"/>
              <a:t>threads it has created, and exits with </a:t>
            </a:r>
            <a:r>
              <a:rPr lang="en-US" altLang="zh-TW" sz="2400" b="1" dirty="0" err="1"/>
              <a:t>pthread_exit</a:t>
            </a:r>
            <a:r>
              <a:rPr lang="en-US" altLang="zh-TW" sz="2400" b="1" dirty="0"/>
              <a:t>(), </a:t>
            </a:r>
            <a:r>
              <a:rPr lang="en-US" altLang="zh-TW" sz="2400" dirty="0"/>
              <a:t>the other threads will </a:t>
            </a:r>
            <a:r>
              <a:rPr lang="en-US" altLang="zh-TW" sz="2400" dirty="0">
                <a:solidFill>
                  <a:srgbClr val="C00000"/>
                </a:solidFill>
              </a:rPr>
              <a:t>continue</a:t>
            </a:r>
            <a:r>
              <a:rPr lang="en-US" altLang="zh-TW" sz="2400" dirty="0"/>
              <a:t> to execute. Otherwise, they will </a:t>
            </a:r>
            <a:r>
              <a:rPr lang="en-US" altLang="zh-TW" sz="2400" b="1" dirty="0"/>
              <a:t>be automatically terminated </a:t>
            </a:r>
            <a:r>
              <a:rPr lang="en-US" altLang="zh-TW" sz="2400" dirty="0"/>
              <a:t>when main() finishes.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zh-TW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Recommendation: </a:t>
            </a:r>
            <a:r>
              <a:rPr lang="en-US" altLang="zh-TW" sz="2400" dirty="0">
                <a:solidFill>
                  <a:srgbClr val="C00000"/>
                </a:solidFill>
              </a:rPr>
              <a:t>Use </a:t>
            </a:r>
            <a:r>
              <a:rPr lang="en-US" altLang="zh-TW" sz="2400" dirty="0" err="1">
                <a:solidFill>
                  <a:srgbClr val="C00000"/>
                </a:solidFill>
              </a:rPr>
              <a:t>pthread_exit</a:t>
            </a:r>
            <a:r>
              <a:rPr lang="en-US" altLang="zh-TW" sz="2400" dirty="0">
                <a:solidFill>
                  <a:srgbClr val="C00000"/>
                </a:solidFill>
              </a:rPr>
              <a:t>() to exit from all threads...especially main().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C92F60-F5B3-B2F0-1827-8E47B7684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290" y="136524"/>
            <a:ext cx="4676921" cy="17908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88894" y="204869"/>
            <a:ext cx="10564906" cy="655743"/>
          </a:xfrm>
        </p:spPr>
        <p:txBody>
          <a:bodyPr>
            <a:normAutofit/>
          </a:bodyPr>
          <a:lstStyle/>
          <a:p>
            <a:r>
              <a:rPr lang="en-US" altLang="zh-CN" sz="2400" dirty="0" err="1">
                <a:latin typeface="+mn-lt"/>
              </a:rPr>
              <a:t>Pthread</a:t>
            </a:r>
            <a:r>
              <a:rPr lang="en-US" altLang="zh-CN" sz="2400" dirty="0">
                <a:latin typeface="+mn-lt"/>
              </a:rPr>
              <a:t> termination </a:t>
            </a:r>
            <a:r>
              <a:rPr lang="en-US" altLang="zh-CN" sz="2400">
                <a:latin typeface="+mn-lt"/>
              </a:rPr>
              <a:t>– main thread without </a:t>
            </a:r>
            <a:r>
              <a:rPr lang="en-US" altLang="zh-TW" sz="2400">
                <a:solidFill>
                  <a:srgbClr val="C00000"/>
                </a:solidFill>
                <a:latin typeface="+mn-lt"/>
              </a:rPr>
              <a:t>pthread_exit() </a:t>
            </a:r>
            <a:endParaRPr lang="zh-TW" altLang="en-US" sz="2400" dirty="0">
              <a:latin typeface="+mn-l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15" y="1441042"/>
            <a:ext cx="11431053" cy="46969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C83BAE7-32A5-EBED-6565-57D0A2036DFE}"/>
              </a:ext>
            </a:extLst>
          </p:cNvPr>
          <p:cNvSpPr txBox="1"/>
          <p:nvPr/>
        </p:nvSpPr>
        <p:spPr>
          <a:xfrm>
            <a:off x="599720" y="755822"/>
            <a:ext cx="10803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/>
              <a:t>Other threads would </a:t>
            </a:r>
            <a:r>
              <a:rPr lang="en-US" altLang="zh-TW" sz="1800" b="1"/>
              <a:t>be automatically terminated </a:t>
            </a:r>
            <a:r>
              <a:rPr lang="en-US" altLang="zh-TW" sz="1800"/>
              <a:t>when main() finishes. </a:t>
            </a:r>
            <a:r>
              <a:rPr lang="en-US" altLang="zh-CN" sz="1800"/>
              <a:t>Therefore, they might not have finished their work.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2473" y="493915"/>
            <a:ext cx="11353800" cy="677608"/>
          </a:xfrm>
        </p:spPr>
        <p:txBody>
          <a:bodyPr>
            <a:normAutofit/>
          </a:bodyPr>
          <a:lstStyle/>
          <a:p>
            <a:r>
              <a:rPr lang="en-US" altLang="zh-CN" sz="2000" dirty="0" err="1">
                <a:latin typeface="+mn-lt"/>
              </a:rPr>
              <a:t>Pthread</a:t>
            </a:r>
            <a:r>
              <a:rPr lang="en-US" altLang="zh-CN" sz="2000" dirty="0">
                <a:latin typeface="+mn-lt"/>
              </a:rPr>
              <a:t> termination – </a:t>
            </a:r>
            <a:r>
              <a:rPr lang="en-US" altLang="zh-CN" sz="2000">
                <a:latin typeface="+mn-lt"/>
              </a:rPr>
              <a:t>main with </a:t>
            </a:r>
            <a:r>
              <a:rPr lang="en-US" altLang="zh-TW" sz="2000">
                <a:solidFill>
                  <a:srgbClr val="C00000"/>
                </a:solidFill>
                <a:latin typeface="+mn-lt"/>
              </a:rPr>
              <a:t>pthread_exit(). </a:t>
            </a:r>
            <a:br>
              <a:rPr lang="en-US" altLang="zh-TW" sz="2000">
                <a:solidFill>
                  <a:srgbClr val="C00000"/>
                </a:solidFill>
                <a:latin typeface="+mn-lt"/>
              </a:rPr>
            </a:br>
            <a:r>
              <a:rPr lang="en-US" altLang="zh-TW" sz="2000">
                <a:latin typeface="+mn-lt"/>
              </a:rPr>
              <a:t>T</a:t>
            </a:r>
            <a:r>
              <a:rPr lang="en-US" altLang="zh-TW" sz="2000"/>
              <a:t>he other threads will </a:t>
            </a:r>
            <a:r>
              <a:rPr lang="en-US" altLang="zh-TW" sz="2000">
                <a:solidFill>
                  <a:srgbClr val="FF0000"/>
                </a:solidFill>
              </a:rPr>
              <a:t>continue</a:t>
            </a:r>
            <a:r>
              <a:rPr lang="en-US" altLang="zh-TW" sz="2000"/>
              <a:t> to execute.</a:t>
            </a:r>
            <a:endParaRPr lang="zh-TW" altLang="en-US" sz="2000" dirty="0">
              <a:latin typeface="+mn-lt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67" y="1690688"/>
            <a:ext cx="11059213" cy="43049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join -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48046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 </a:t>
            </a:r>
            <a:r>
              <a:rPr lang="en-US" altLang="zh-TW" sz="2400" dirty="0"/>
              <a:t> </a:t>
            </a:r>
            <a:r>
              <a:rPr lang="en-US" altLang="zh-TW" sz="2400" dirty="0" err="1"/>
              <a:t>pthread_join</a:t>
            </a:r>
            <a:r>
              <a:rPr lang="en-US" altLang="zh-TW" sz="2400" dirty="0"/>
              <a:t>: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int </a:t>
            </a:r>
            <a:r>
              <a:rPr lang="en-US" altLang="zh-TW" dirty="0" err="1">
                <a:solidFill>
                  <a:srgbClr val="C00000"/>
                </a:solidFill>
              </a:rPr>
              <a:t>pthread_join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en-US" altLang="zh-TW" dirty="0" err="1">
                <a:solidFill>
                  <a:srgbClr val="C00000"/>
                </a:solidFill>
              </a:rPr>
              <a:t>pthread_t</a:t>
            </a:r>
            <a:r>
              <a:rPr lang="en-US" altLang="zh-TW" dirty="0">
                <a:solidFill>
                  <a:srgbClr val="C00000"/>
                </a:solidFill>
              </a:rPr>
              <a:t> thread, void *</a:t>
            </a:r>
            <a:r>
              <a:rPr lang="en-US" altLang="zh-TW" dirty="0" err="1">
                <a:solidFill>
                  <a:srgbClr val="C00000"/>
                </a:solidFill>
              </a:rPr>
              <a:t>retval</a:t>
            </a:r>
            <a:r>
              <a:rPr lang="en-US" altLang="zh-TW" dirty="0">
                <a:solidFill>
                  <a:srgbClr val="C00000"/>
                </a:solidFill>
              </a:rPr>
              <a:t>);</a:t>
            </a:r>
          </a:p>
          <a:p>
            <a:pPr marL="201295" lvl="1" indent="0">
              <a:buNone/>
            </a:pPr>
            <a:endParaRPr lang="en-US" altLang="zh-TW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"Joining" is one way to accomplish </a:t>
            </a:r>
            <a:r>
              <a:rPr lang="en-US" altLang="zh-TW" sz="2400" b="1" i="1" dirty="0"/>
              <a:t>synchronization</a:t>
            </a:r>
            <a:r>
              <a:rPr lang="en-US" altLang="zh-TW" sz="2400" dirty="0"/>
              <a:t> between threads.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The </a:t>
            </a:r>
            <a:r>
              <a:rPr lang="en-US" altLang="zh-TW" sz="2400" dirty="0" err="1"/>
              <a:t>pthread_join</a:t>
            </a:r>
            <a:r>
              <a:rPr lang="en-US" altLang="zh-TW" sz="2400" dirty="0"/>
              <a:t>() function </a:t>
            </a:r>
            <a:r>
              <a:rPr lang="en-US" altLang="zh-TW" sz="2400" dirty="0">
                <a:solidFill>
                  <a:srgbClr val="C00000"/>
                </a:solidFill>
              </a:rPr>
              <a:t>blocks the calling thread </a:t>
            </a:r>
            <a:r>
              <a:rPr lang="en-US" altLang="zh-TW" sz="2400" dirty="0"/>
              <a:t>until the </a:t>
            </a:r>
            <a:r>
              <a:rPr lang="en-US" altLang="zh-TW" sz="2400" b="1" dirty="0"/>
              <a:t>specified  thread terminates</a:t>
            </a:r>
            <a:r>
              <a:rPr lang="en-US" altLang="zh-TW" sz="2400" dirty="0"/>
              <a:t>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zh-TW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The programmer is able to obtain the target thread's termination return status if specified through </a:t>
            </a:r>
            <a:r>
              <a:rPr lang="en-US" altLang="zh-TW" sz="2400" dirty="0" err="1"/>
              <a:t>pthread_exit</a:t>
            </a:r>
            <a:r>
              <a:rPr lang="en-US" altLang="zh-TW" sz="2400" dirty="0"/>
              <a:t>(), in the status parameter.</a:t>
            </a:r>
          </a:p>
          <a:p>
            <a:pPr marL="0" indent="0">
              <a:lnSpc>
                <a:spcPct val="80000"/>
              </a:lnSpc>
              <a:buNone/>
            </a:pPr>
            <a:endParaRPr lang="en-US" altLang="zh-TW" sz="24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E40158-CDF6-AAF1-8A65-15EDF154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14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D6DD0A6-072F-0AEB-73D2-4D3ABA856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1" y="1910043"/>
            <a:ext cx="9324975" cy="31813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2C372B6-9457-D144-CF7A-1F8204ABA871}"/>
              </a:ext>
            </a:extLst>
          </p:cNvPr>
          <p:cNvSpPr txBox="1"/>
          <p:nvPr/>
        </p:nvSpPr>
        <p:spPr>
          <a:xfrm>
            <a:off x="1353669" y="855694"/>
            <a:ext cx="93249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>
                <a:solidFill>
                  <a:srgbClr val="000000"/>
                </a:solidFill>
                <a:effectLst/>
              </a:rPr>
              <a:t>"Joining" is one way to accomplish synchronization between threads.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963518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join -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2400" dirty="0"/>
              <a:t>  Return value</a:t>
            </a:r>
          </a:p>
          <a:p>
            <a:pPr lvl="1"/>
            <a:r>
              <a:rPr lang="en-US" altLang="zh-TW" dirty="0"/>
              <a:t>On success, </a:t>
            </a:r>
            <a:r>
              <a:rPr lang="en-US" altLang="zh-TW" dirty="0" err="1"/>
              <a:t>pthread_join</a:t>
            </a:r>
            <a:r>
              <a:rPr lang="en-US" altLang="zh-TW" dirty="0"/>
              <a:t>() returns </a:t>
            </a:r>
            <a:r>
              <a:rPr lang="en-US" altLang="zh-TW" b="1" dirty="0"/>
              <a:t>0</a:t>
            </a:r>
            <a:r>
              <a:rPr lang="en-US" altLang="zh-TW" dirty="0"/>
              <a:t>;</a:t>
            </a:r>
          </a:p>
          <a:p>
            <a:pPr lvl="1"/>
            <a:r>
              <a:rPr lang="en-US" altLang="zh-TW" dirty="0"/>
              <a:t>On error, it returns an </a:t>
            </a:r>
            <a:r>
              <a:rPr lang="en-US" altLang="zh-TW" b="1" dirty="0"/>
              <a:t>error number</a:t>
            </a:r>
            <a:r>
              <a:rPr lang="en-US" altLang="zh-TW" dirty="0"/>
              <a:t>.</a:t>
            </a:r>
          </a:p>
          <a:p>
            <a:pPr marL="201295" lvl="1" indent="0">
              <a:buNone/>
            </a:pPr>
            <a:endParaRPr lang="en-US" altLang="zh-TW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It is impossible to join a detached thread.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When a thread is created, one of its attributes defines whether it is joinable or detached. Detached means it can never be joined. (</a:t>
            </a:r>
            <a:r>
              <a:rPr lang="en-US" altLang="zh-TW" sz="2400" dirty="0">
                <a:solidFill>
                  <a:srgbClr val="0070C0"/>
                </a:solidFill>
              </a:rPr>
              <a:t>PTHREAD_CREATE_DETACHED</a:t>
            </a:r>
            <a:r>
              <a:rPr lang="en-US" altLang="zh-TW" sz="2400" dirty="0"/>
              <a:t> or </a:t>
            </a:r>
            <a:r>
              <a:rPr lang="en-US" altLang="zh-TW" sz="2400" dirty="0">
                <a:solidFill>
                  <a:srgbClr val="0070C0"/>
                </a:solidFill>
              </a:rPr>
              <a:t>PTHREAD_CREATE_JOINABLE</a:t>
            </a:r>
            <a:r>
              <a:rPr lang="en-US" altLang="zh-TW" sz="2400" dirty="0"/>
              <a:t>)</a:t>
            </a:r>
            <a:endParaRPr lang="zh-TW" altLang="en-US" sz="24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-21373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 err="1"/>
              <a:t>Pthread</a:t>
            </a:r>
            <a:r>
              <a:rPr lang="en-US" altLang="zh-CN" sz="2800" b="1" dirty="0"/>
              <a:t> </a:t>
            </a:r>
            <a:r>
              <a:rPr lang="en-US" altLang="zh-CN" sz="2800" b="1"/>
              <a:t>join –  without calling pthread_join().</a:t>
            </a:r>
            <a:endParaRPr lang="zh-TW" altLang="en-US" sz="28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16</a:t>
            </a:fld>
            <a:endParaRPr lang="zh-TW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633" y="1071021"/>
            <a:ext cx="9525122" cy="54994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1768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 err="1"/>
              <a:t>Pthread</a:t>
            </a:r>
            <a:r>
              <a:rPr lang="en-US" altLang="zh-CN" sz="2400" b="1" dirty="0"/>
              <a:t> </a:t>
            </a:r>
            <a:r>
              <a:rPr lang="en-US" altLang="zh-CN" sz="2400" b="1"/>
              <a:t>join – synchronization  with calling pthread_join().</a:t>
            </a:r>
            <a:endParaRPr lang="zh-TW" altLang="en-US" sz="24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17</a:t>
            </a:fld>
            <a:endParaRPr lang="zh-TW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11" y="992498"/>
            <a:ext cx="9757528" cy="567459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C4AB90C-BB34-50D4-C4C9-4BABE882A904}"/>
              </a:ext>
            </a:extLst>
          </p:cNvPr>
          <p:cNvSpPr txBox="1"/>
          <p:nvPr/>
        </p:nvSpPr>
        <p:spPr>
          <a:xfrm>
            <a:off x="3478306" y="6171684"/>
            <a:ext cx="7487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The main thread would stop and wait for ptid1 and ptid2 to finish at line 38. </a:t>
            </a:r>
            <a:endParaRPr lang="zh-CN" altLang="en-US" b="1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2A37912-44A9-E3EA-2D34-8289DD8CEC8F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3146612" y="5782235"/>
            <a:ext cx="331694" cy="5741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mutex – flag for privacy/security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dirty="0"/>
              <a:t>  </a:t>
            </a:r>
            <a:r>
              <a:rPr lang="en-US" altLang="zh-TW" dirty="0"/>
              <a:t> </a:t>
            </a:r>
            <a:r>
              <a:rPr lang="en-US" altLang="zh-TW" dirty="0" err="1"/>
              <a:t>Mutex</a:t>
            </a:r>
            <a:r>
              <a:rPr lang="en-US" altLang="zh-TW" dirty="0"/>
              <a:t> is an abbreviation for "</a:t>
            </a:r>
            <a:r>
              <a:rPr lang="en-US" altLang="zh-TW" dirty="0">
                <a:solidFill>
                  <a:srgbClr val="C00000"/>
                </a:solidFill>
              </a:rPr>
              <a:t>mutual exclusion</a:t>
            </a:r>
            <a:r>
              <a:rPr lang="en-US" altLang="zh-TW" dirty="0"/>
              <a:t>". </a:t>
            </a:r>
            <a:r>
              <a:rPr lang="en-US" altLang="zh-TW" dirty="0" err="1"/>
              <a:t>Mutex</a:t>
            </a:r>
            <a:r>
              <a:rPr lang="en-US" altLang="zh-TW" dirty="0"/>
              <a:t> variables are one of the primary means of implementing </a:t>
            </a:r>
            <a:r>
              <a:rPr lang="en-US" altLang="zh-TW" dirty="0">
                <a:solidFill>
                  <a:srgbClr val="C00000"/>
                </a:solidFill>
              </a:rPr>
              <a:t>thread synchronization and for protecting shared data when multiple writes occur</a:t>
            </a:r>
            <a:r>
              <a:rPr lang="en-US" altLang="zh-TW" dirty="0"/>
              <a:t>.</a:t>
            </a:r>
          </a:p>
          <a:p>
            <a:pPr marL="0" indent="0">
              <a:buNone/>
            </a:pPr>
            <a:endParaRPr lang="en-US" altLang="zh-TW" sz="19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b="1" dirty="0"/>
              <a:t>  A </a:t>
            </a:r>
            <a:r>
              <a:rPr lang="en-US" altLang="zh-TW" b="1" dirty="0" err="1"/>
              <a:t>mutex</a:t>
            </a:r>
            <a:r>
              <a:rPr lang="en-US" altLang="zh-TW" b="1" dirty="0"/>
              <a:t> variable acts like a "lock" protecting access to a shared data resource.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1900" dirty="0"/>
          </a:p>
          <a:p>
            <a:pPr marL="0" indent="0">
              <a:lnSpc>
                <a:spcPct val="80000"/>
              </a:lnSpc>
              <a:buNone/>
            </a:pP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5DD82-0504-7F4F-4723-B97A1E362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19</a:t>
            </a:fld>
            <a:endParaRPr lang="en-US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417BF3D2-7243-008D-0FD3-47DC34918C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03" y="1413781"/>
            <a:ext cx="11056414" cy="478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B9A0084-12AF-341F-E9F5-921EAFA0F896}"/>
              </a:ext>
            </a:extLst>
          </p:cNvPr>
          <p:cNvSpPr txBox="1"/>
          <p:nvPr/>
        </p:nvSpPr>
        <p:spPr>
          <a:xfrm>
            <a:off x="1129553" y="663388"/>
            <a:ext cx="9932894" cy="319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b="1"/>
              <a:t>A mutex variable acts like a "lock" protecting access to a shared data resource. </a:t>
            </a:r>
            <a:endParaRPr lang="en-US" altLang="zh-TW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1BA9C0-1AA7-ACF8-5866-C7166201377D}"/>
              </a:ext>
            </a:extLst>
          </p:cNvPr>
          <p:cNvSpPr txBox="1"/>
          <p:nvPr/>
        </p:nvSpPr>
        <p:spPr>
          <a:xfrm>
            <a:off x="6525280" y="2079812"/>
            <a:ext cx="156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(e.g, char* str)</a:t>
            </a:r>
            <a:endParaRPr lang="zh-CN" altLang="en-US" b="1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8B165B-7267-8546-4580-CBF4F7AD248E}"/>
              </a:ext>
            </a:extLst>
          </p:cNvPr>
          <p:cNvSpPr txBox="1"/>
          <p:nvPr/>
        </p:nvSpPr>
        <p:spPr>
          <a:xfrm>
            <a:off x="6525280" y="3619530"/>
            <a:ext cx="156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(e.g, char* str)</a:t>
            </a:r>
            <a:endParaRPr lang="zh-CN" altLang="en-US" b="1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2F82AD-5BDD-9666-C905-4D36672FAD2E}"/>
              </a:ext>
            </a:extLst>
          </p:cNvPr>
          <p:cNvSpPr txBox="1"/>
          <p:nvPr/>
        </p:nvSpPr>
        <p:spPr>
          <a:xfrm>
            <a:off x="6525280" y="4846865"/>
            <a:ext cx="156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(e.g, char* str)</a:t>
            </a:r>
            <a:endParaRPr lang="zh-CN" altLang="en-US" b="1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9DE434-64E0-4E47-057C-627B5A5DEBF5}"/>
              </a:ext>
            </a:extLst>
          </p:cNvPr>
          <p:cNvSpPr txBox="1"/>
          <p:nvPr/>
        </p:nvSpPr>
        <p:spPr>
          <a:xfrm>
            <a:off x="6525280" y="5845540"/>
            <a:ext cx="1566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(e.g, char* str)</a:t>
            </a:r>
            <a:endParaRPr lang="zh-CN" altLang="en-US" b="1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AE208D-6865-6053-B0B5-8A4B56357DD6}"/>
              </a:ext>
            </a:extLst>
          </p:cNvPr>
          <p:cNvSpPr txBox="1"/>
          <p:nvPr/>
        </p:nvSpPr>
        <p:spPr>
          <a:xfrm>
            <a:off x="995082" y="2994212"/>
            <a:ext cx="1993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str.append(“word”)</a:t>
            </a:r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5B2529-FFBD-D3C5-59F8-41ED0E721948}"/>
              </a:ext>
            </a:extLst>
          </p:cNvPr>
          <p:cNvSpPr txBox="1"/>
          <p:nvPr/>
        </p:nvSpPr>
        <p:spPr>
          <a:xfrm>
            <a:off x="8812305" y="5216197"/>
            <a:ext cx="2027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str.append(“hello”)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089762-188B-47AA-BCCB-E0E1B1AF57C4}"/>
              </a:ext>
            </a:extLst>
          </p:cNvPr>
          <p:cNvSpPr txBox="1"/>
          <p:nvPr/>
        </p:nvSpPr>
        <p:spPr>
          <a:xfrm>
            <a:off x="6418905" y="1733408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Beginning, str=“”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04805B-2A18-E4BA-E92C-5CF292BFCA82}"/>
              </a:ext>
            </a:extLst>
          </p:cNvPr>
          <p:cNvSpPr txBox="1"/>
          <p:nvPr/>
        </p:nvSpPr>
        <p:spPr>
          <a:xfrm>
            <a:off x="6121868" y="6347077"/>
            <a:ext cx="2489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Finally, str=“world hello”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6CE9DC-2AC6-70A8-DF26-09FC5F846E18}"/>
              </a:ext>
            </a:extLst>
          </p:cNvPr>
          <p:cNvSpPr txBox="1"/>
          <p:nvPr/>
        </p:nvSpPr>
        <p:spPr>
          <a:xfrm>
            <a:off x="1298856" y="3269513"/>
            <a:ext cx="127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str=“world”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3481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B5AB52-96BD-02CF-C3BC-AF072F28E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267" y="855133"/>
            <a:ext cx="10659533" cy="5321830"/>
          </a:xfrm>
        </p:spPr>
        <p:txBody>
          <a:bodyPr>
            <a:normAutofit fontScale="70000" lnSpcReduction="20000"/>
          </a:bodyPr>
          <a:lstStyle/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31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Mutex is a lock that we set before using a shared resource and release after using it.</a:t>
            </a:r>
          </a:p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altLang="zh-CN" sz="310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31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lock is set, no other thread can access the locked region of code.</a:t>
            </a:r>
          </a:p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altLang="zh-CN" sz="310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31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we see that even if thread B is scheduled while thread A was not done accessing the shared resource. </a:t>
            </a:r>
            <a:r>
              <a:rPr lang="en-US" altLang="zh-CN" sz="310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code is locked by thread A using mutexes then thread B cannot even access that region of code.</a:t>
            </a:r>
          </a:p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endParaRPr lang="en-US" altLang="zh-CN" sz="3100" i="0" dirty="0">
              <a:solidFill>
                <a:srgbClr val="273239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altLang="zh-CN" sz="3100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this ensures synchronized access of shared resources in the code.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C28CB2-8472-848A-ACC0-1906ACF4B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20</a:t>
            </a:fld>
            <a:endParaRPr 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CDA285-6F56-E153-96BD-D48E0B7855A1}"/>
              </a:ext>
            </a:extLst>
          </p:cNvPr>
          <p:cNvSpPr txBox="1"/>
          <p:nvPr/>
        </p:nvSpPr>
        <p:spPr>
          <a:xfrm>
            <a:off x="4614333" y="306414"/>
            <a:ext cx="1324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30030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360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200" dirty="0" err="1"/>
              <a:t>Pthread</a:t>
            </a:r>
            <a:r>
              <a:rPr lang="en-US" altLang="zh-CN" sz="3200" dirty="0"/>
              <a:t> mutex - flag</a:t>
            </a:r>
            <a:endParaRPr lang="zh-TW" altLang="en-US" sz="32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9583" y="1253331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2200" dirty="0"/>
              <a:t>  </a:t>
            </a:r>
            <a:r>
              <a:rPr lang="en-US" altLang="zh-TW" sz="2200" dirty="0" err="1"/>
              <a:t>Mutex</a:t>
            </a:r>
            <a:r>
              <a:rPr lang="en-US" altLang="zh-TW" sz="2200" dirty="0"/>
              <a:t> should be declared with type: </a:t>
            </a:r>
          </a:p>
          <a:p>
            <a:pPr lvl="1"/>
            <a:r>
              <a:rPr lang="en-US" altLang="zh-TW" sz="2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2200" dirty="0">
                <a:solidFill>
                  <a:srgbClr val="C00000"/>
                </a:solidFill>
              </a:rPr>
              <a:t> </a:t>
            </a:r>
            <a:r>
              <a:rPr lang="en-US" altLang="zh-TW" sz="2200" dirty="0">
                <a:solidFill>
                  <a:schemeClr val="tx1"/>
                </a:solidFill>
              </a:rPr>
              <a:t>(</a:t>
            </a:r>
            <a:r>
              <a:rPr lang="en-US" altLang="zh-TW" sz="2200" dirty="0"/>
              <a:t>defined in “</a:t>
            </a:r>
            <a:r>
              <a:rPr lang="en-US" sz="2200" dirty="0"/>
              <a:t>sys/</a:t>
            </a:r>
            <a:r>
              <a:rPr lang="en-US" sz="2200" dirty="0" err="1"/>
              <a:t>types.h</a:t>
            </a:r>
            <a:r>
              <a:rPr lang="en-US" altLang="zh-TW" sz="2200" dirty="0"/>
              <a:t>”)</a:t>
            </a:r>
            <a:endParaRPr lang="en-US" altLang="zh-TW" sz="2200" dirty="0">
              <a:solidFill>
                <a:srgbClr val="FF0000"/>
              </a:solidFill>
            </a:endParaRPr>
          </a:p>
          <a:p>
            <a:pPr marL="201295" lvl="1" indent="0">
              <a:buNone/>
            </a:pPr>
            <a:endParaRPr lang="en-US" altLang="zh-TW" sz="22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altLang="zh-TW" sz="2200" dirty="0"/>
              <a:t>  </a:t>
            </a:r>
            <a:r>
              <a:rPr lang="en-US" altLang="zh-TW" sz="2200" dirty="0" err="1"/>
              <a:t>Mutex</a:t>
            </a:r>
            <a:r>
              <a:rPr lang="en-US" altLang="zh-TW" sz="2200" dirty="0"/>
              <a:t> should be initialized before it is used: </a:t>
            </a:r>
          </a:p>
          <a:p>
            <a:pPr lvl="1"/>
            <a:r>
              <a:rPr lang="en-US" altLang="zh-TW" sz="2200" dirty="0" err="1">
                <a:solidFill>
                  <a:srgbClr val="C00000"/>
                </a:solidFill>
              </a:rPr>
              <a:t>int</a:t>
            </a:r>
            <a:r>
              <a:rPr lang="en-US" altLang="zh-TW" sz="2200" dirty="0">
                <a:solidFill>
                  <a:srgbClr val="C00000"/>
                </a:solidFill>
              </a:rPr>
              <a:t> </a:t>
            </a:r>
            <a:r>
              <a:rPr lang="en-US" altLang="zh-TW" sz="2200" dirty="0" err="1">
                <a:solidFill>
                  <a:srgbClr val="C00000"/>
                </a:solidFill>
              </a:rPr>
              <a:t>pthread_mutex_init</a:t>
            </a:r>
            <a:r>
              <a:rPr lang="en-US" altLang="zh-TW" sz="2200" dirty="0">
                <a:solidFill>
                  <a:srgbClr val="C00000"/>
                </a:solidFill>
              </a:rPr>
              <a:t>(	</a:t>
            </a:r>
            <a:r>
              <a:rPr lang="en-US" altLang="zh-TW" sz="2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2200" dirty="0">
                <a:solidFill>
                  <a:srgbClr val="C00000"/>
                </a:solidFill>
              </a:rPr>
              <a:t> *</a:t>
            </a:r>
            <a:r>
              <a:rPr lang="en-US" altLang="zh-TW" sz="2200" dirty="0" err="1">
                <a:solidFill>
                  <a:srgbClr val="C00000"/>
                </a:solidFill>
              </a:rPr>
              <a:t>mutex</a:t>
            </a:r>
            <a:r>
              <a:rPr lang="en-US" altLang="zh-TW" sz="2200" dirty="0">
                <a:solidFill>
                  <a:srgbClr val="C00000"/>
                </a:solidFill>
              </a:rPr>
              <a:t>, </a:t>
            </a:r>
          </a:p>
          <a:p>
            <a:pPr marL="201295" lvl="1" indent="0">
              <a:buNone/>
            </a:pPr>
            <a:r>
              <a:rPr lang="en-US" altLang="zh-TW" sz="2200" dirty="0">
                <a:solidFill>
                  <a:srgbClr val="C00000"/>
                </a:solidFill>
              </a:rPr>
              <a:t>			</a:t>
            </a:r>
            <a:r>
              <a:rPr lang="en-US" altLang="zh-TW" sz="2200" dirty="0" err="1">
                <a:solidFill>
                  <a:srgbClr val="C00000"/>
                </a:solidFill>
              </a:rPr>
              <a:t>const</a:t>
            </a:r>
            <a:r>
              <a:rPr lang="en-US" altLang="zh-TW" sz="2200" dirty="0">
                <a:solidFill>
                  <a:srgbClr val="C00000"/>
                </a:solidFill>
              </a:rPr>
              <a:t> </a:t>
            </a:r>
            <a:r>
              <a:rPr lang="en-US" altLang="zh-TW" sz="2200" dirty="0" err="1">
                <a:solidFill>
                  <a:srgbClr val="C00000"/>
                </a:solidFill>
              </a:rPr>
              <a:t>pthread_mutexattr_t</a:t>
            </a:r>
            <a:r>
              <a:rPr lang="en-US" altLang="zh-TW" sz="2200" dirty="0">
                <a:solidFill>
                  <a:srgbClr val="C00000"/>
                </a:solidFill>
              </a:rPr>
              <a:t> *</a:t>
            </a:r>
            <a:r>
              <a:rPr lang="en-US" altLang="zh-TW" sz="2200" dirty="0" err="1">
                <a:solidFill>
                  <a:srgbClr val="C00000"/>
                </a:solidFill>
              </a:rPr>
              <a:t>attr</a:t>
            </a:r>
            <a:r>
              <a:rPr lang="en-US" altLang="zh-TW" sz="2200" dirty="0">
                <a:solidFill>
                  <a:srgbClr val="C00000"/>
                </a:solidFill>
              </a:rPr>
              <a:t>);</a:t>
            </a:r>
          </a:p>
          <a:p>
            <a:pPr lvl="1"/>
            <a:r>
              <a:rPr lang="en-US" sz="2200" dirty="0"/>
              <a:t>It initializes the </a:t>
            </a:r>
            <a:r>
              <a:rPr lang="en-US" sz="2200" dirty="0">
                <a:solidFill>
                  <a:srgbClr val="C00000"/>
                </a:solidFill>
              </a:rPr>
              <a:t>mutex</a:t>
            </a:r>
            <a:r>
              <a:rPr lang="en-US" sz="2200" dirty="0"/>
              <a:t> referenced by </a:t>
            </a:r>
            <a:r>
              <a:rPr lang="en-US" sz="2200" i="1" dirty="0"/>
              <a:t>mutex</a:t>
            </a:r>
            <a:r>
              <a:rPr lang="en-US" sz="2200" dirty="0"/>
              <a:t> with attributes specified by </a:t>
            </a:r>
            <a:r>
              <a:rPr lang="en-US" sz="2200" i="1" dirty="0" err="1">
                <a:solidFill>
                  <a:srgbClr val="C00000"/>
                </a:solidFill>
              </a:rPr>
              <a:t>attr</a:t>
            </a:r>
            <a:r>
              <a:rPr lang="en-US" sz="2200" dirty="0"/>
              <a:t>. </a:t>
            </a:r>
          </a:p>
          <a:p>
            <a:pPr lvl="1"/>
            <a:r>
              <a:rPr lang="en-US" sz="2200" dirty="0"/>
              <a:t>If </a:t>
            </a:r>
            <a:r>
              <a:rPr lang="en-US" sz="2200" i="1" dirty="0" err="1">
                <a:solidFill>
                  <a:srgbClr val="C00000"/>
                </a:solidFill>
              </a:rPr>
              <a:t>attr</a:t>
            </a:r>
            <a:r>
              <a:rPr lang="en-US" sz="2200" dirty="0"/>
              <a:t> is NULL, the default </a:t>
            </a:r>
            <a:r>
              <a:rPr lang="en-US" sz="2200" dirty="0" err="1"/>
              <a:t>mutex</a:t>
            </a:r>
            <a:r>
              <a:rPr lang="en-US" sz="2200" dirty="0"/>
              <a:t> attributes are used; the effect is the same as passing the address of a default </a:t>
            </a:r>
            <a:r>
              <a:rPr lang="en-US" sz="2200" dirty="0" err="1"/>
              <a:t>mutex</a:t>
            </a:r>
            <a:r>
              <a:rPr lang="en-US" sz="2200" dirty="0"/>
              <a:t> attributes object. </a:t>
            </a:r>
          </a:p>
          <a:p>
            <a:pPr lvl="1"/>
            <a:r>
              <a:rPr lang="en-US" sz="2200" dirty="0"/>
              <a:t>Upon successful </a:t>
            </a:r>
            <a:r>
              <a:rPr lang="en-US" sz="2200" dirty="0" err="1"/>
              <a:t>initialisation</a:t>
            </a:r>
            <a:r>
              <a:rPr lang="en-US" sz="2200" dirty="0"/>
              <a:t>, the state of the </a:t>
            </a:r>
            <a:r>
              <a:rPr lang="en-US" sz="2200" dirty="0" err="1"/>
              <a:t>mutex</a:t>
            </a:r>
            <a:r>
              <a:rPr lang="en-US" sz="2200" dirty="0"/>
              <a:t> becomes </a:t>
            </a:r>
            <a:r>
              <a:rPr lang="en-US" sz="2200" dirty="0" err="1"/>
              <a:t>initialised</a:t>
            </a:r>
            <a:r>
              <a:rPr lang="en-US" sz="2200" dirty="0"/>
              <a:t> and unlocked.</a:t>
            </a:r>
          </a:p>
          <a:p>
            <a:pPr lvl="1"/>
            <a:endParaRPr lang="en-US" sz="2200" dirty="0"/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altLang="zh-TW" sz="2200" dirty="0"/>
              <a:t> </a:t>
            </a:r>
            <a:r>
              <a:rPr lang="en-US" altLang="zh-TW" sz="2200" dirty="0" err="1"/>
              <a:t>Mutex</a:t>
            </a:r>
            <a:r>
              <a:rPr lang="en-US" altLang="zh-TW" sz="2200" dirty="0"/>
              <a:t> should be free if it is no longer used: </a:t>
            </a:r>
          </a:p>
          <a:p>
            <a:pPr lvl="1"/>
            <a:r>
              <a:rPr lang="en-US" altLang="zh-TW" sz="2200" dirty="0" err="1">
                <a:solidFill>
                  <a:srgbClr val="C00000"/>
                </a:solidFill>
              </a:rPr>
              <a:t>int</a:t>
            </a:r>
            <a:r>
              <a:rPr lang="en-US" altLang="zh-TW" sz="2200" dirty="0">
                <a:solidFill>
                  <a:srgbClr val="C00000"/>
                </a:solidFill>
              </a:rPr>
              <a:t> </a:t>
            </a:r>
            <a:r>
              <a:rPr lang="en-US" altLang="zh-TW" sz="2200" dirty="0" err="1">
                <a:solidFill>
                  <a:srgbClr val="C00000"/>
                </a:solidFill>
              </a:rPr>
              <a:t>pthread_mutex_destroy</a:t>
            </a:r>
            <a:r>
              <a:rPr lang="en-US" altLang="zh-TW" sz="2200" dirty="0">
                <a:solidFill>
                  <a:srgbClr val="C00000"/>
                </a:solidFill>
              </a:rPr>
              <a:t>(</a:t>
            </a:r>
            <a:r>
              <a:rPr lang="en-US" altLang="zh-TW" sz="2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2200" dirty="0">
                <a:solidFill>
                  <a:srgbClr val="C00000"/>
                </a:solidFill>
              </a:rPr>
              <a:t> *);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mutex - flag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3200" dirty="0"/>
              <a:t>  </a:t>
            </a:r>
            <a:r>
              <a:rPr lang="en-US" altLang="zh-TW" sz="3200" dirty="0" err="1"/>
              <a:t>Pthread</a:t>
            </a:r>
            <a:r>
              <a:rPr lang="en-US" altLang="zh-TW" sz="3200" dirty="0"/>
              <a:t> </a:t>
            </a:r>
            <a:r>
              <a:rPr lang="en-US" altLang="zh-TW" sz="3200" dirty="0" err="1"/>
              <a:t>mutex</a:t>
            </a:r>
            <a:r>
              <a:rPr lang="en-US" altLang="zh-TW" sz="3200" dirty="0"/>
              <a:t> lock routines:</a:t>
            </a:r>
          </a:p>
          <a:p>
            <a:pPr lvl="1"/>
            <a:r>
              <a:rPr lang="en-US" altLang="zh-TW" sz="3200" dirty="0" err="1">
                <a:solidFill>
                  <a:srgbClr val="C00000"/>
                </a:solidFill>
              </a:rPr>
              <a:t>int</a:t>
            </a:r>
            <a:r>
              <a:rPr lang="en-US" altLang="zh-TW" sz="3200" dirty="0">
                <a:solidFill>
                  <a:srgbClr val="C00000"/>
                </a:solidFill>
              </a:rPr>
              <a:t> 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pthread_mutex_lock</a:t>
            </a:r>
            <a:r>
              <a:rPr lang="en-US" altLang="zh-TW" sz="3200" dirty="0">
                <a:solidFill>
                  <a:srgbClr val="C00000"/>
                </a:solidFill>
              </a:rPr>
              <a:t>(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3200" dirty="0">
                <a:solidFill>
                  <a:srgbClr val="C00000"/>
                </a:solidFill>
              </a:rPr>
              <a:t> *</a:t>
            </a:r>
            <a:r>
              <a:rPr lang="en-US" altLang="zh-TW" sz="3200" dirty="0" err="1">
                <a:solidFill>
                  <a:srgbClr val="C00000"/>
                </a:solidFill>
              </a:rPr>
              <a:t>mutex</a:t>
            </a:r>
            <a:r>
              <a:rPr lang="en-US" altLang="zh-TW" sz="3200" dirty="0">
                <a:solidFill>
                  <a:srgbClr val="C00000"/>
                </a:solidFill>
              </a:rPr>
              <a:t>);</a:t>
            </a:r>
          </a:p>
          <a:p>
            <a:pPr lvl="1"/>
            <a:r>
              <a:rPr lang="en-US" altLang="zh-TW" sz="3200" dirty="0" err="1">
                <a:solidFill>
                  <a:srgbClr val="C00000"/>
                </a:solidFill>
              </a:rPr>
              <a:t>int</a:t>
            </a:r>
            <a:r>
              <a:rPr lang="en-US" altLang="zh-TW" sz="3200" dirty="0">
                <a:solidFill>
                  <a:srgbClr val="C00000"/>
                </a:solidFill>
              </a:rPr>
              <a:t> 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pthread_mutex_trylock</a:t>
            </a:r>
            <a:r>
              <a:rPr lang="en-US" altLang="zh-TW" sz="3200" dirty="0">
                <a:solidFill>
                  <a:srgbClr val="C00000"/>
                </a:solidFill>
              </a:rPr>
              <a:t>(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3200" dirty="0">
                <a:solidFill>
                  <a:srgbClr val="C00000"/>
                </a:solidFill>
              </a:rPr>
              <a:t> *</a:t>
            </a:r>
            <a:r>
              <a:rPr lang="en-US" altLang="zh-TW" sz="3200" dirty="0" err="1">
                <a:solidFill>
                  <a:srgbClr val="C00000"/>
                </a:solidFill>
              </a:rPr>
              <a:t>mutex</a:t>
            </a:r>
            <a:r>
              <a:rPr lang="en-US" altLang="zh-TW" sz="3200" dirty="0">
                <a:solidFill>
                  <a:srgbClr val="C00000"/>
                </a:solidFill>
              </a:rPr>
              <a:t>);</a:t>
            </a:r>
          </a:p>
          <a:p>
            <a:pPr lvl="1"/>
            <a:r>
              <a:rPr lang="en-US" altLang="zh-TW" sz="3200" dirty="0" err="1">
                <a:solidFill>
                  <a:srgbClr val="C00000"/>
                </a:solidFill>
              </a:rPr>
              <a:t>int</a:t>
            </a:r>
            <a:r>
              <a:rPr lang="en-US" altLang="zh-TW" sz="3200" dirty="0">
                <a:solidFill>
                  <a:srgbClr val="C00000"/>
                </a:solidFill>
              </a:rPr>
              <a:t> 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pthread_mutex_unlock</a:t>
            </a:r>
            <a:r>
              <a:rPr lang="en-US" altLang="zh-TW" sz="3200" dirty="0">
                <a:solidFill>
                  <a:srgbClr val="C00000"/>
                </a:solidFill>
              </a:rPr>
              <a:t>(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3200" dirty="0">
                <a:solidFill>
                  <a:srgbClr val="C00000"/>
                </a:solidFill>
              </a:rPr>
              <a:t> *</a:t>
            </a:r>
            <a:r>
              <a:rPr lang="en-US" altLang="zh-TW" sz="3200" dirty="0" err="1">
                <a:solidFill>
                  <a:srgbClr val="C00000"/>
                </a:solidFill>
              </a:rPr>
              <a:t>mutex</a:t>
            </a:r>
            <a:r>
              <a:rPr lang="en-US" altLang="zh-TW" sz="3200" dirty="0">
                <a:solidFill>
                  <a:srgbClr val="C00000"/>
                </a:solidFill>
              </a:rPr>
              <a:t>);</a:t>
            </a:r>
          </a:p>
          <a:p>
            <a:pPr marL="201295" lvl="1" indent="0">
              <a:buNone/>
            </a:pPr>
            <a:endParaRPr lang="en-US" altLang="zh-TW" sz="3200" dirty="0">
              <a:solidFill>
                <a:srgbClr val="FF0000"/>
              </a:solidFill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43392"/>
            <a:ext cx="10515600" cy="1325563"/>
          </a:xfrm>
        </p:spPr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mutex - flag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9897" y="1007797"/>
            <a:ext cx="10803903" cy="496836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pthread_mutex_lock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routine is used by a thread </a:t>
            </a:r>
            <a:r>
              <a:rPr lang="en-US" altLang="zh-TW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acquire a lock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specified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variable.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mutex is already locked by another thread, this call will block the calling thread until the mutex is unlocked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pthread_mutex_trylock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 to lock a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if the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already locked, the routine will return immediately with a "busy" error code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routine may be useful in preventing deadlock conditions, as in a priority-inversion situation.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pthread_mutex_unlock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unlock a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called by the owning thread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Calling this routine is required after a thread has completed its use of protected data if other threads are to acquire the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their work with the protected data. An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be returned if:</a:t>
            </a:r>
          </a:p>
          <a:p>
            <a:pPr lvl="1">
              <a:lnSpc>
                <a:spcPct val="160000"/>
              </a:lnSpc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already unlocked</a:t>
            </a:r>
          </a:p>
          <a:p>
            <a:pPr lvl="1">
              <a:lnSpc>
                <a:spcPct val="160000"/>
              </a:lnSpc>
            </a:pP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zh-TW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owned by another thread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B0C40-BB98-A833-AF96-A324A501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24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445DA2D-ACA5-D0CA-7F8B-BE5A95941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87" y="936001"/>
            <a:ext cx="6388469" cy="53573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552C75-C6DA-6BBA-5ECC-95A4FA544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423" y="3752698"/>
            <a:ext cx="3749365" cy="264436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6D9B89C-4B51-4DB4-E4FE-B53901A7E657}"/>
              </a:ext>
            </a:extLst>
          </p:cNvPr>
          <p:cNvSpPr txBox="1"/>
          <p:nvPr/>
        </p:nvSpPr>
        <p:spPr>
          <a:xfrm>
            <a:off x="7097651" y="394144"/>
            <a:ext cx="431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Line 20 consume more time (e.g. 3 seconds)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FE980A-C12A-9AFD-3FC6-A1098DE33FCD}"/>
              </a:ext>
            </a:extLst>
          </p:cNvPr>
          <p:cNvSpPr txBox="1"/>
          <p:nvPr/>
        </p:nvSpPr>
        <p:spPr>
          <a:xfrm>
            <a:off x="7206795" y="1166041"/>
            <a:ext cx="235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Thread 1 (execute first)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06D9D6-0AA2-A5EE-B09D-CB411CAA5335}"/>
              </a:ext>
            </a:extLst>
          </p:cNvPr>
          <p:cNvSpPr txBox="1"/>
          <p:nvPr/>
        </p:nvSpPr>
        <p:spPr>
          <a:xfrm>
            <a:off x="9923929" y="110682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Thread 2</a:t>
            </a: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1520C1D-EC30-A0A4-29CE-EEEC35211722}"/>
              </a:ext>
            </a:extLst>
          </p:cNvPr>
          <p:cNvCxnSpPr/>
          <p:nvPr/>
        </p:nvCxnSpPr>
        <p:spPr>
          <a:xfrm>
            <a:off x="7459181" y="1619019"/>
            <a:ext cx="0" cy="175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837417E-4FB3-951D-BC19-A7C3EC32BB11}"/>
              </a:ext>
            </a:extLst>
          </p:cNvPr>
          <p:cNvSpPr txBox="1"/>
          <p:nvPr/>
        </p:nvSpPr>
        <p:spPr>
          <a:xfrm>
            <a:off x="7760075" y="1721404"/>
            <a:ext cx="19366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/>
              <a:t>Line 17: counter=1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259558-F81A-61A1-0983-7C3DA95E6A8A}"/>
              </a:ext>
            </a:extLst>
          </p:cNvPr>
          <p:cNvSpPr txBox="1"/>
          <p:nvPr/>
        </p:nvSpPr>
        <p:spPr>
          <a:xfrm>
            <a:off x="10194225" y="1689533"/>
            <a:ext cx="19366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/>
              <a:t>Line 17: counter=2</a:t>
            </a:r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BFC890F-2DF5-DFF6-87A8-9140CB67DDF7}"/>
              </a:ext>
            </a:extLst>
          </p:cNvPr>
          <p:cNvCxnSpPr/>
          <p:nvPr/>
        </p:nvCxnSpPr>
        <p:spPr>
          <a:xfrm>
            <a:off x="9996889" y="1551221"/>
            <a:ext cx="0" cy="175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7951392-0AD6-763C-094E-AECF209116D0}"/>
              </a:ext>
            </a:extLst>
          </p:cNvPr>
          <p:cNvSpPr txBox="1"/>
          <p:nvPr/>
        </p:nvSpPr>
        <p:spPr>
          <a:xfrm>
            <a:off x="7695840" y="2340908"/>
            <a:ext cx="2045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Line 20: much time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8650BD-9A51-5100-9942-5224E02DCC23}"/>
              </a:ext>
            </a:extLst>
          </p:cNvPr>
          <p:cNvSpPr txBox="1"/>
          <p:nvPr/>
        </p:nvSpPr>
        <p:spPr>
          <a:xfrm>
            <a:off x="10189565" y="2381625"/>
            <a:ext cx="207530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Line 20: much time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3F4375-9DA2-1835-FC01-27F8F9FFC233}"/>
              </a:ext>
            </a:extLst>
          </p:cNvPr>
          <p:cNvSpPr txBox="1"/>
          <p:nvPr/>
        </p:nvSpPr>
        <p:spPr>
          <a:xfrm>
            <a:off x="7413476" y="174508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A</a:t>
            </a:r>
            <a:endParaRPr lang="zh-CN" altLang="en-US" b="1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D682C5E-2844-4B3A-79FA-D02BB610484A}"/>
              </a:ext>
            </a:extLst>
          </p:cNvPr>
          <p:cNvSpPr txBox="1"/>
          <p:nvPr/>
        </p:nvSpPr>
        <p:spPr>
          <a:xfrm>
            <a:off x="7413476" y="238162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B</a:t>
            </a:r>
            <a:endParaRPr lang="zh-CN" altLang="en-US" b="1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DFF4FA6-A301-B66E-0BF4-41540E726B57}"/>
              </a:ext>
            </a:extLst>
          </p:cNvPr>
          <p:cNvSpPr txBox="1"/>
          <p:nvPr/>
        </p:nvSpPr>
        <p:spPr>
          <a:xfrm>
            <a:off x="9923929" y="17450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C</a:t>
            </a:r>
            <a:endParaRPr lang="zh-CN" altLang="en-US" b="1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00AB59-34DB-F3DC-0EE2-57E8E2BF4EC5}"/>
              </a:ext>
            </a:extLst>
          </p:cNvPr>
          <p:cNvSpPr txBox="1"/>
          <p:nvPr/>
        </p:nvSpPr>
        <p:spPr>
          <a:xfrm>
            <a:off x="9978296" y="2429763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D</a:t>
            </a:r>
            <a:endParaRPr lang="zh-CN" altLang="en-US" b="1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7C9160-CE1C-B000-48BE-563CA536FFDD}"/>
              </a:ext>
            </a:extLst>
          </p:cNvPr>
          <p:cNvSpPr txBox="1"/>
          <p:nvPr/>
        </p:nvSpPr>
        <p:spPr>
          <a:xfrm>
            <a:off x="7695840" y="3011417"/>
            <a:ext cx="2045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Line 22: </a:t>
            </a:r>
            <a:r>
              <a:rPr lang="en-US" altLang="zh-CN" dirty="0" err="1">
                <a:solidFill>
                  <a:srgbClr val="C00000"/>
                </a:solidFill>
              </a:rPr>
              <a:t>J“Job</a:t>
            </a:r>
            <a:r>
              <a:rPr lang="en-US" altLang="zh-CN">
                <a:solidFill>
                  <a:srgbClr val="C00000"/>
                </a:solidFill>
              </a:rPr>
              <a:t> 1”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108AA2-F6EA-6FB8-B19D-BEA948504A0D}"/>
              </a:ext>
            </a:extLst>
          </p:cNvPr>
          <p:cNvSpPr txBox="1"/>
          <p:nvPr/>
        </p:nvSpPr>
        <p:spPr>
          <a:xfrm>
            <a:off x="10139636" y="2986378"/>
            <a:ext cx="2045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Line 22: </a:t>
            </a:r>
            <a:r>
              <a:rPr lang="en-US" altLang="zh-CN" dirty="0" err="1">
                <a:solidFill>
                  <a:srgbClr val="C00000"/>
                </a:solidFill>
              </a:rPr>
              <a:t>J“Job</a:t>
            </a:r>
            <a:r>
              <a:rPr lang="en-US" altLang="zh-CN" dirty="0">
                <a:solidFill>
                  <a:srgbClr val="C00000"/>
                </a:solidFill>
              </a:rPr>
              <a:t> 2”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29AB875-7360-1BEA-92DA-181EA2E8CFA4}"/>
              </a:ext>
            </a:extLst>
          </p:cNvPr>
          <p:cNvSpPr txBox="1"/>
          <p:nvPr/>
        </p:nvSpPr>
        <p:spPr>
          <a:xfrm>
            <a:off x="7380473" y="298637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E</a:t>
            </a:r>
            <a:endParaRPr lang="zh-CN" altLang="en-US" b="1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03F996-054C-E1BD-118F-B1EB1E2EC851}"/>
              </a:ext>
            </a:extLst>
          </p:cNvPr>
          <p:cNvSpPr txBox="1"/>
          <p:nvPr/>
        </p:nvSpPr>
        <p:spPr>
          <a:xfrm>
            <a:off x="9918038" y="298637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F</a:t>
            </a:r>
            <a:endParaRPr lang="zh-CN" altLang="en-US" b="1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904134-8EA0-95A4-3BD2-6D534B39C2F6}"/>
              </a:ext>
            </a:extLst>
          </p:cNvPr>
          <p:cNvSpPr txBox="1"/>
          <p:nvPr/>
        </p:nvSpPr>
        <p:spPr>
          <a:xfrm>
            <a:off x="7097651" y="745910"/>
            <a:ext cx="2859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Execution Order: A B C D E F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116BD61-2BB0-6199-9311-1078F544AC94}"/>
              </a:ext>
            </a:extLst>
          </p:cNvPr>
          <p:cNvSpPr txBox="1"/>
          <p:nvPr/>
        </p:nvSpPr>
        <p:spPr>
          <a:xfrm>
            <a:off x="7707993" y="3414633"/>
            <a:ext cx="25785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It’s not what we want!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5ADEBE-51C5-2038-AE39-63B910A431E4}"/>
              </a:ext>
            </a:extLst>
          </p:cNvPr>
          <p:cNvSpPr txBox="1"/>
          <p:nvPr/>
        </p:nvSpPr>
        <p:spPr>
          <a:xfrm>
            <a:off x="278505" y="433725"/>
            <a:ext cx="6756721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Suppose we have two jobs to update a shared variable called counter.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22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B0C40-BB98-A833-AF96-A324A501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25</a:t>
            </a:fld>
            <a:endParaRPr 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6D9B89C-4B51-4DB4-E4FE-B53901A7E657}"/>
              </a:ext>
            </a:extLst>
          </p:cNvPr>
          <p:cNvSpPr txBox="1"/>
          <p:nvPr/>
        </p:nvSpPr>
        <p:spPr>
          <a:xfrm>
            <a:off x="6862245" y="295839"/>
            <a:ext cx="4259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Line 20 consume more time (e.g. 3seconds)</a:t>
            </a:r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EFE980A-C12A-9AFD-3FC6-A1098DE33FCD}"/>
              </a:ext>
            </a:extLst>
          </p:cNvPr>
          <p:cNvSpPr txBox="1"/>
          <p:nvPr/>
        </p:nvSpPr>
        <p:spPr>
          <a:xfrm>
            <a:off x="7206795" y="1166041"/>
            <a:ext cx="2354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Thread 1 (execute first)</a:t>
            </a:r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906D9D6-0AA2-A5EE-B09D-CB411CAA5335}"/>
              </a:ext>
            </a:extLst>
          </p:cNvPr>
          <p:cNvSpPr txBox="1"/>
          <p:nvPr/>
        </p:nvSpPr>
        <p:spPr>
          <a:xfrm>
            <a:off x="9923929" y="1106827"/>
            <a:ext cx="10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Thread 2</a:t>
            </a:r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1520C1D-EC30-A0A4-29CE-EEEC35211722}"/>
              </a:ext>
            </a:extLst>
          </p:cNvPr>
          <p:cNvCxnSpPr/>
          <p:nvPr/>
        </p:nvCxnSpPr>
        <p:spPr>
          <a:xfrm>
            <a:off x="7459181" y="1619019"/>
            <a:ext cx="0" cy="175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837417E-4FB3-951D-BC19-A7C3EC32BB11}"/>
              </a:ext>
            </a:extLst>
          </p:cNvPr>
          <p:cNvSpPr txBox="1"/>
          <p:nvPr/>
        </p:nvSpPr>
        <p:spPr>
          <a:xfrm>
            <a:off x="7760075" y="1721404"/>
            <a:ext cx="19366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/>
              <a:t>Line 17: counter=1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B259558-F81A-61A1-0983-7C3DA95E6A8A}"/>
              </a:ext>
            </a:extLst>
          </p:cNvPr>
          <p:cNvSpPr txBox="1"/>
          <p:nvPr/>
        </p:nvSpPr>
        <p:spPr>
          <a:xfrm>
            <a:off x="10194225" y="1689533"/>
            <a:ext cx="19366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/>
              <a:t>Line 17: counter=2</a:t>
            </a:r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BFC890F-2DF5-DFF6-87A8-9140CB67DDF7}"/>
              </a:ext>
            </a:extLst>
          </p:cNvPr>
          <p:cNvCxnSpPr/>
          <p:nvPr/>
        </p:nvCxnSpPr>
        <p:spPr>
          <a:xfrm>
            <a:off x="9996889" y="1551221"/>
            <a:ext cx="0" cy="1757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7951392-0AD6-763C-094E-AECF209116D0}"/>
              </a:ext>
            </a:extLst>
          </p:cNvPr>
          <p:cNvSpPr txBox="1"/>
          <p:nvPr/>
        </p:nvSpPr>
        <p:spPr>
          <a:xfrm>
            <a:off x="7695840" y="2340908"/>
            <a:ext cx="2045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Line 20: much time</a:t>
            </a:r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8650BD-9A51-5100-9942-5224E02DCC23}"/>
              </a:ext>
            </a:extLst>
          </p:cNvPr>
          <p:cNvSpPr txBox="1"/>
          <p:nvPr/>
        </p:nvSpPr>
        <p:spPr>
          <a:xfrm>
            <a:off x="10189565" y="2381625"/>
            <a:ext cx="207530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 Line 20: much time</a:t>
            </a:r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3F4375-9DA2-1835-FC01-27F8F9FFC233}"/>
              </a:ext>
            </a:extLst>
          </p:cNvPr>
          <p:cNvSpPr txBox="1"/>
          <p:nvPr/>
        </p:nvSpPr>
        <p:spPr>
          <a:xfrm>
            <a:off x="7413476" y="174508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A</a:t>
            </a:r>
            <a:endParaRPr lang="zh-CN" altLang="en-US" b="1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D682C5E-2844-4B3A-79FA-D02BB610484A}"/>
              </a:ext>
            </a:extLst>
          </p:cNvPr>
          <p:cNvSpPr txBox="1"/>
          <p:nvPr/>
        </p:nvSpPr>
        <p:spPr>
          <a:xfrm>
            <a:off x="7413476" y="238162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B</a:t>
            </a:r>
            <a:endParaRPr lang="zh-CN" altLang="en-US" b="1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DFF4FA6-A301-B66E-0BF4-41540E726B57}"/>
              </a:ext>
            </a:extLst>
          </p:cNvPr>
          <p:cNvSpPr txBox="1"/>
          <p:nvPr/>
        </p:nvSpPr>
        <p:spPr>
          <a:xfrm>
            <a:off x="9923929" y="174508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C</a:t>
            </a:r>
            <a:endParaRPr lang="zh-CN" altLang="en-US" b="1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900AB59-34DB-F3DC-0EE2-57E8E2BF4EC5}"/>
              </a:ext>
            </a:extLst>
          </p:cNvPr>
          <p:cNvSpPr txBox="1"/>
          <p:nvPr/>
        </p:nvSpPr>
        <p:spPr>
          <a:xfrm>
            <a:off x="9978296" y="2429763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D</a:t>
            </a:r>
            <a:endParaRPr lang="zh-CN" altLang="en-US" b="1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67C9160-CE1C-B000-48BE-563CA536FFDD}"/>
              </a:ext>
            </a:extLst>
          </p:cNvPr>
          <p:cNvSpPr txBox="1"/>
          <p:nvPr/>
        </p:nvSpPr>
        <p:spPr>
          <a:xfrm>
            <a:off x="7695840" y="3011417"/>
            <a:ext cx="2045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 Line 22: J“Job 1”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7108AA2-F6EA-6FB8-B19D-BEA948504A0D}"/>
              </a:ext>
            </a:extLst>
          </p:cNvPr>
          <p:cNvSpPr txBox="1"/>
          <p:nvPr/>
        </p:nvSpPr>
        <p:spPr>
          <a:xfrm>
            <a:off x="10139636" y="2986378"/>
            <a:ext cx="2045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 Line 22: J“Job 2”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29AB875-7360-1BEA-92DA-181EA2E8CFA4}"/>
              </a:ext>
            </a:extLst>
          </p:cNvPr>
          <p:cNvSpPr txBox="1"/>
          <p:nvPr/>
        </p:nvSpPr>
        <p:spPr>
          <a:xfrm>
            <a:off x="7380473" y="298637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E</a:t>
            </a:r>
            <a:endParaRPr lang="zh-CN" altLang="en-US" b="1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03F996-054C-E1BD-118F-B1EB1E2EC851}"/>
              </a:ext>
            </a:extLst>
          </p:cNvPr>
          <p:cNvSpPr txBox="1"/>
          <p:nvPr/>
        </p:nvSpPr>
        <p:spPr>
          <a:xfrm>
            <a:off x="9918038" y="298637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F</a:t>
            </a:r>
            <a:endParaRPr lang="zh-CN" altLang="en-US" b="1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904134-8EA0-95A4-3BD2-6D534B39C2F6}"/>
              </a:ext>
            </a:extLst>
          </p:cNvPr>
          <p:cNvSpPr txBox="1"/>
          <p:nvPr/>
        </p:nvSpPr>
        <p:spPr>
          <a:xfrm>
            <a:off x="6862245" y="655922"/>
            <a:ext cx="42960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/>
              <a:t>Execution Order: A B C D E F (impossible)</a:t>
            </a:r>
          </a:p>
          <a:p>
            <a:r>
              <a:rPr lang="en-US" altLang="zh-CN" b="1"/>
              <a:t>Execution Order: A B E C D F  or  C D F A B E</a:t>
            </a:r>
            <a:endParaRPr lang="zh-CN" altLang="en-US" b="1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53F4856-7798-0E3B-1D5B-F3362AFB3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39" y="3446772"/>
            <a:ext cx="4420976" cy="30977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319B07E-0B0D-4859-D010-A4054AF6F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795" y="3995011"/>
            <a:ext cx="3260191" cy="2142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7BB97AFF-D871-93CE-B689-33FD54CE2C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23" y="313503"/>
            <a:ext cx="4755292" cy="307874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FA9194D-5BFA-BEBE-5B71-6A9C56D6F67C}"/>
              </a:ext>
            </a:extLst>
          </p:cNvPr>
          <p:cNvSpPr txBox="1"/>
          <p:nvPr/>
        </p:nvSpPr>
        <p:spPr>
          <a:xfrm>
            <a:off x="513231" y="6488668"/>
            <a:ext cx="104243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/>
              <a:t>https://www.geeksforgeeks.org/mutex-lock-for-linux-thread-synchronization/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F45B39B-7EC3-0416-E684-F00A769C50DE}"/>
              </a:ext>
            </a:extLst>
          </p:cNvPr>
          <p:cNvSpPr txBox="1"/>
          <p:nvPr/>
        </p:nvSpPr>
        <p:spPr>
          <a:xfrm>
            <a:off x="7707993" y="3414633"/>
            <a:ext cx="139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>
                <a:solidFill>
                  <a:srgbClr val="C00000"/>
                </a:solidFill>
              </a:rPr>
              <a:t>It’s correct!</a:t>
            </a:r>
            <a:endParaRPr lang="zh-CN" altLang="en-US" sz="20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13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condition -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8906" y="1610473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solidFill>
                  <a:srgbClr val="C00000"/>
                </a:solidFill>
              </a:rPr>
              <a:t>  </a:t>
            </a:r>
            <a:r>
              <a:rPr lang="en-US" sz="2400" b="1" dirty="0">
                <a:solidFill>
                  <a:srgbClr val="C00000"/>
                </a:solidFill>
              </a:rPr>
              <a:t>Condition variables </a:t>
            </a:r>
            <a:r>
              <a:rPr lang="en-US" sz="2400" dirty="0"/>
              <a:t>provide yet another way for </a:t>
            </a:r>
            <a:r>
              <a:rPr lang="en-US" dirty="0"/>
              <a:t>threads</a:t>
            </a:r>
            <a:r>
              <a:rPr lang="en-US" sz="2400" dirty="0"/>
              <a:t> to synchronize. 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 While </a:t>
            </a:r>
            <a:r>
              <a:rPr lang="en-US" sz="2400" b="1" dirty="0" err="1"/>
              <a:t>mutexs</a:t>
            </a:r>
            <a:r>
              <a:rPr lang="en-US" sz="2400" dirty="0"/>
              <a:t> implement synchronization by controlling thread access to data, condition variables allow threads </a:t>
            </a:r>
            <a:r>
              <a:rPr lang="en-US" sz="2400" b="1" dirty="0"/>
              <a:t>to synchronize based upon the actual value of data.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  A condition variable is always </a:t>
            </a:r>
            <a:r>
              <a:rPr lang="en-US" sz="2400" b="1" dirty="0"/>
              <a:t>used in conjunction with a </a:t>
            </a:r>
            <a:r>
              <a:rPr lang="en-US" sz="2400" b="1" dirty="0" err="1"/>
              <a:t>mutex</a:t>
            </a:r>
            <a:r>
              <a:rPr lang="en-US" sz="2400" b="1" dirty="0"/>
              <a:t> lock</a:t>
            </a:r>
            <a:r>
              <a:rPr lang="en-US" sz="2400" dirty="0"/>
              <a:t>.  </a:t>
            </a:r>
            <a:r>
              <a:rPr lang="en-US" altLang="zh-TW" sz="3600" dirty="0"/>
              <a:t> </a:t>
            </a:r>
            <a:endParaRPr lang="zh-TW" altLang="en-US" sz="3600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TW"/>
              <a:t>https://www.baeldung.com/cs/async-vs-multi-threading </a:t>
            </a:r>
          </a:p>
          <a:p>
            <a:pPr lvl="1"/>
            <a:r>
              <a:rPr lang="en-US" altLang="zh-TW">
                <a:hlinkClick r:id="rId2"/>
              </a:rPr>
              <a:t>https://www.javatpoint.com/process-vs-thread</a:t>
            </a:r>
            <a:endParaRPr lang="en-US" altLang="zh-TW"/>
          </a:p>
          <a:p>
            <a:pPr lvl="1"/>
            <a:r>
              <a:rPr lang="en-US" altLang="zh-TW">
                <a:hlinkClick r:id="rId3"/>
              </a:rPr>
              <a:t>https://www.geeksforgeeks.org/multithreading-c-2/</a:t>
            </a:r>
            <a:endParaRPr lang="en-US" altLang="zh-TW"/>
          </a:p>
          <a:p>
            <a:pPr lvl="1"/>
            <a:r>
              <a:rPr lang="en-US" altLang="zh-TW">
                <a:hlinkClick r:id="rId4"/>
              </a:rPr>
              <a:t>https://www.geeksforgeeks.org/condition-wait-signal-multi-threading/</a:t>
            </a:r>
            <a:endParaRPr lang="en-US" altLang="zh-TW"/>
          </a:p>
          <a:p>
            <a:pPr lvl="1"/>
            <a:r>
              <a:rPr lang="en-US" altLang="zh-TW">
                <a:hlinkClick r:id="rId5"/>
              </a:rPr>
              <a:t>http://www.cs.unibo.it/~ghini/didattica/sistop/pthreads_tutorial/POSIX_Threads_Programming.htm</a:t>
            </a:r>
            <a:endParaRPr lang="en-US" altLang="zh-TW"/>
          </a:p>
          <a:p>
            <a:pPr lvl="1"/>
            <a:r>
              <a:rPr lang="zh-CN" altLang="en-US"/>
              <a:t>https://www.geeksforgeeks.org/mutex-lock-for-linux-thread-synchronization/</a:t>
            </a:r>
          </a:p>
          <a:p>
            <a:pPr lvl="1"/>
            <a:endParaRPr lang="en-US" altLang="zh-TW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marL="201295" lvl="1" indent="0">
              <a:buNone/>
            </a:pPr>
            <a:endParaRPr lang="en-US" altLang="zh-TW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7518" y="320675"/>
            <a:ext cx="10515600" cy="1325563"/>
          </a:xfrm>
        </p:spPr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condition -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2400" dirty="0"/>
              <a:t>  Condition variables must be declared with type: </a:t>
            </a:r>
            <a:r>
              <a:rPr lang="en-US" altLang="zh-TW" sz="2400" dirty="0" err="1"/>
              <a:t>pthread_cond_t</a:t>
            </a:r>
            <a:endParaRPr lang="en-US" altLang="zh-TW" sz="2400" dirty="0"/>
          </a:p>
          <a:p>
            <a:pPr lvl="1"/>
            <a:r>
              <a:rPr lang="en-US" altLang="zh-TW" sz="1900" dirty="0" err="1">
                <a:solidFill>
                  <a:srgbClr val="FF0000"/>
                </a:solidFill>
              </a:rPr>
              <a:t>pthread_cond_t</a:t>
            </a:r>
            <a:r>
              <a:rPr lang="en-US" altLang="zh-TW" sz="1900" dirty="0"/>
              <a:t> </a:t>
            </a:r>
            <a:r>
              <a:rPr lang="en-US" altLang="zh-TW" sz="1900" dirty="0">
                <a:solidFill>
                  <a:schemeClr val="tx1"/>
                </a:solidFill>
              </a:rPr>
              <a:t>(</a:t>
            </a:r>
            <a:r>
              <a:rPr lang="en-US" altLang="zh-TW" sz="1900" dirty="0"/>
              <a:t>defined in “</a:t>
            </a:r>
            <a:r>
              <a:rPr lang="en-US" sz="2000" dirty="0"/>
              <a:t>sys/</a:t>
            </a:r>
            <a:r>
              <a:rPr lang="en-US" sz="2000" dirty="0" err="1"/>
              <a:t>types.h</a:t>
            </a:r>
            <a:r>
              <a:rPr lang="en-US" altLang="zh-TW" sz="1900" dirty="0"/>
              <a:t>”)</a:t>
            </a:r>
            <a:endParaRPr lang="en-US" altLang="zh-TW" sz="1900" dirty="0">
              <a:solidFill>
                <a:srgbClr val="FF0000"/>
              </a:solidFill>
            </a:endParaRPr>
          </a:p>
          <a:p>
            <a:pPr marL="201295" lvl="1" indent="0">
              <a:buNone/>
            </a:pPr>
            <a:endParaRPr lang="en-US" altLang="zh-TW" sz="1900" dirty="0">
              <a:solidFill>
                <a:schemeClr val="tx1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dirty="0"/>
              <a:t>  </a:t>
            </a:r>
            <a:r>
              <a:rPr lang="en-US" altLang="zh-TW" dirty="0"/>
              <a:t>Condition variables must be initialized before it is used:</a:t>
            </a:r>
          </a:p>
          <a:p>
            <a:pPr lvl="1"/>
            <a:r>
              <a:rPr lang="en-US" altLang="zh-TW" sz="1900" dirty="0" err="1">
                <a:solidFill>
                  <a:srgbClr val="FF0000"/>
                </a:solidFill>
              </a:rPr>
              <a:t>int</a:t>
            </a:r>
            <a:r>
              <a:rPr lang="en-US" altLang="zh-TW" sz="1900" dirty="0">
                <a:solidFill>
                  <a:srgbClr val="FF0000"/>
                </a:solidFill>
              </a:rPr>
              <a:t> </a:t>
            </a:r>
            <a:r>
              <a:rPr lang="en-US" altLang="zh-TW" sz="1900" dirty="0" err="1">
                <a:solidFill>
                  <a:srgbClr val="FF0000"/>
                </a:solidFill>
              </a:rPr>
              <a:t>pthread_cond_init</a:t>
            </a:r>
            <a:r>
              <a:rPr lang="en-US" altLang="zh-TW" sz="1900" dirty="0">
                <a:solidFill>
                  <a:srgbClr val="FF0000"/>
                </a:solidFill>
              </a:rPr>
              <a:t>(</a:t>
            </a:r>
            <a:r>
              <a:rPr lang="en-US" altLang="zh-TW" sz="1900" dirty="0" err="1">
                <a:solidFill>
                  <a:srgbClr val="FF0000"/>
                </a:solidFill>
              </a:rPr>
              <a:t>pthread_cond_t</a:t>
            </a:r>
            <a:r>
              <a:rPr lang="en-US" altLang="zh-TW" sz="1900" dirty="0">
                <a:solidFill>
                  <a:srgbClr val="FF0000"/>
                </a:solidFill>
              </a:rPr>
              <a:t> *, </a:t>
            </a:r>
            <a:r>
              <a:rPr lang="en-US" altLang="zh-TW" sz="1900" dirty="0" err="1">
                <a:solidFill>
                  <a:srgbClr val="FF0000"/>
                </a:solidFill>
              </a:rPr>
              <a:t>const</a:t>
            </a:r>
            <a:r>
              <a:rPr lang="en-US" altLang="zh-TW" sz="1900" dirty="0">
                <a:solidFill>
                  <a:srgbClr val="FF0000"/>
                </a:solidFill>
              </a:rPr>
              <a:t> </a:t>
            </a:r>
            <a:r>
              <a:rPr lang="en-US" altLang="zh-TW" sz="1900" dirty="0" err="1">
                <a:solidFill>
                  <a:srgbClr val="FF0000"/>
                </a:solidFill>
              </a:rPr>
              <a:t>pthread_condattr_t</a:t>
            </a:r>
            <a:r>
              <a:rPr lang="en-US" altLang="zh-TW" sz="1900" dirty="0">
                <a:solidFill>
                  <a:srgbClr val="FF0000"/>
                </a:solidFill>
              </a:rPr>
              <a:t> *);</a:t>
            </a:r>
          </a:p>
          <a:p>
            <a:pPr marL="201295" lvl="1" indent="0">
              <a:buNone/>
            </a:pPr>
            <a:endParaRPr lang="en-US" altLang="zh-TW" sz="19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1900" dirty="0"/>
              <a:t>  </a:t>
            </a:r>
            <a:r>
              <a:rPr lang="en-US" altLang="zh-TW" dirty="0"/>
              <a:t>Condition variables should be freed if it is no longer used:</a:t>
            </a:r>
          </a:p>
          <a:p>
            <a:pPr lvl="1"/>
            <a:r>
              <a:rPr lang="en-US" altLang="zh-TW" sz="1900" dirty="0" err="1">
                <a:solidFill>
                  <a:srgbClr val="FF0000"/>
                </a:solidFill>
              </a:rPr>
              <a:t>int</a:t>
            </a:r>
            <a:r>
              <a:rPr lang="en-US" altLang="zh-TW" sz="1900" dirty="0">
                <a:solidFill>
                  <a:srgbClr val="FF0000"/>
                </a:solidFill>
              </a:rPr>
              <a:t> </a:t>
            </a:r>
            <a:r>
              <a:rPr lang="en-US" altLang="zh-TW" sz="1900" dirty="0" err="1">
                <a:solidFill>
                  <a:srgbClr val="FF0000"/>
                </a:solidFill>
              </a:rPr>
              <a:t>pthread_cond_destroy</a:t>
            </a:r>
            <a:r>
              <a:rPr lang="en-US" altLang="zh-TW" sz="1900" dirty="0">
                <a:solidFill>
                  <a:srgbClr val="FF0000"/>
                </a:solidFill>
              </a:rPr>
              <a:t>(</a:t>
            </a:r>
            <a:r>
              <a:rPr lang="en-US" altLang="zh-TW" sz="1900" dirty="0" err="1">
                <a:solidFill>
                  <a:srgbClr val="FF0000"/>
                </a:solidFill>
              </a:rPr>
              <a:t>pthread_cond_t</a:t>
            </a:r>
            <a:r>
              <a:rPr lang="en-US" altLang="zh-TW" sz="1900" dirty="0">
                <a:solidFill>
                  <a:srgbClr val="FF0000"/>
                </a:solidFill>
              </a:rPr>
              <a:t> *);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condition -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25823" y="1660152"/>
            <a:ext cx="11488271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zh-TW" sz="3200" dirty="0"/>
              <a:t>  </a:t>
            </a:r>
            <a:r>
              <a:rPr lang="en-US" altLang="zh-TW" sz="3200" dirty="0" err="1"/>
              <a:t>Pthread</a:t>
            </a:r>
            <a:r>
              <a:rPr lang="en-US" altLang="zh-TW" sz="3200" dirty="0"/>
              <a:t> condition routines:</a:t>
            </a:r>
          </a:p>
          <a:p>
            <a:pPr lvl="1"/>
            <a:r>
              <a:rPr lang="en-US" altLang="zh-TW" sz="3200" dirty="0" err="1">
                <a:solidFill>
                  <a:srgbClr val="C00000"/>
                </a:solidFill>
              </a:rPr>
              <a:t>int</a:t>
            </a:r>
            <a:r>
              <a:rPr lang="en-US" altLang="zh-TW" sz="3200" dirty="0">
                <a:solidFill>
                  <a:srgbClr val="C00000"/>
                </a:solidFill>
              </a:rPr>
              <a:t> </a:t>
            </a:r>
            <a:r>
              <a:rPr lang="en-US" altLang="zh-TW" sz="3200" dirty="0" err="1">
                <a:solidFill>
                  <a:srgbClr val="C00000"/>
                </a:solidFill>
              </a:rPr>
              <a:t>pthread_cond_wait</a:t>
            </a:r>
            <a:r>
              <a:rPr lang="en-US" altLang="zh-TW" sz="3200" dirty="0">
                <a:solidFill>
                  <a:srgbClr val="C00000"/>
                </a:solidFill>
              </a:rPr>
              <a:t>(</a:t>
            </a:r>
            <a:r>
              <a:rPr lang="en-US" altLang="zh-TW" sz="3200" dirty="0" err="1">
                <a:solidFill>
                  <a:srgbClr val="C00000"/>
                </a:solidFill>
              </a:rPr>
              <a:t>pthread_cond_t</a:t>
            </a:r>
            <a:r>
              <a:rPr lang="en-US" altLang="zh-TW" sz="3200" dirty="0">
                <a:solidFill>
                  <a:srgbClr val="C00000"/>
                </a:solidFill>
              </a:rPr>
              <a:t> *, </a:t>
            </a:r>
            <a:r>
              <a:rPr lang="en-US" altLang="zh-TW" sz="3200" dirty="0" err="1">
                <a:solidFill>
                  <a:srgbClr val="C00000"/>
                </a:solidFill>
              </a:rPr>
              <a:t>pthread_mutex_t</a:t>
            </a:r>
            <a:r>
              <a:rPr lang="en-US" altLang="zh-TW" sz="3200" dirty="0">
                <a:solidFill>
                  <a:srgbClr val="C00000"/>
                </a:solidFill>
              </a:rPr>
              <a:t> *);</a:t>
            </a:r>
          </a:p>
          <a:p>
            <a:pPr lvl="1"/>
            <a:r>
              <a:rPr lang="en-US" altLang="zh-TW" sz="3200" dirty="0" err="1">
                <a:solidFill>
                  <a:srgbClr val="C00000"/>
                </a:solidFill>
              </a:rPr>
              <a:t>int</a:t>
            </a:r>
            <a:r>
              <a:rPr lang="en-US" altLang="zh-TW" sz="3200" dirty="0">
                <a:solidFill>
                  <a:srgbClr val="C00000"/>
                </a:solidFill>
              </a:rPr>
              <a:t> </a:t>
            </a:r>
            <a:r>
              <a:rPr lang="en-US" altLang="zh-TW" sz="3200" dirty="0" err="1">
                <a:solidFill>
                  <a:srgbClr val="C00000"/>
                </a:solidFill>
              </a:rPr>
              <a:t>pthread_cond_signal</a:t>
            </a:r>
            <a:r>
              <a:rPr lang="en-US" altLang="zh-TW" sz="3200" dirty="0">
                <a:solidFill>
                  <a:srgbClr val="C00000"/>
                </a:solidFill>
              </a:rPr>
              <a:t>(</a:t>
            </a:r>
            <a:r>
              <a:rPr lang="en-US" altLang="zh-TW" sz="3200" dirty="0" err="1">
                <a:solidFill>
                  <a:srgbClr val="C00000"/>
                </a:solidFill>
              </a:rPr>
              <a:t>pthread_cond_t</a:t>
            </a:r>
            <a:r>
              <a:rPr lang="en-US" altLang="zh-TW" sz="3200" dirty="0">
                <a:solidFill>
                  <a:srgbClr val="C00000"/>
                </a:solidFill>
              </a:rPr>
              <a:t> *);</a:t>
            </a:r>
          </a:p>
          <a:p>
            <a:pPr lvl="1"/>
            <a:r>
              <a:rPr lang="en-US" altLang="zh-TW" sz="3200" dirty="0" err="1">
                <a:solidFill>
                  <a:srgbClr val="C00000"/>
                </a:solidFill>
              </a:rPr>
              <a:t>int</a:t>
            </a:r>
            <a:r>
              <a:rPr lang="en-US" altLang="zh-TW" sz="3200" dirty="0">
                <a:solidFill>
                  <a:srgbClr val="C00000"/>
                </a:solidFill>
              </a:rPr>
              <a:t> </a:t>
            </a:r>
            <a:r>
              <a:rPr lang="en-US" altLang="zh-TW" sz="3200" dirty="0" err="1">
                <a:solidFill>
                  <a:srgbClr val="C00000"/>
                </a:solidFill>
              </a:rPr>
              <a:t>pthread_cond_broadcast</a:t>
            </a:r>
            <a:r>
              <a:rPr lang="en-US" altLang="zh-TW" sz="3200" dirty="0">
                <a:solidFill>
                  <a:srgbClr val="C00000"/>
                </a:solidFill>
              </a:rPr>
              <a:t>(</a:t>
            </a:r>
            <a:r>
              <a:rPr lang="en-US" altLang="zh-TW" sz="3200" dirty="0" err="1">
                <a:solidFill>
                  <a:srgbClr val="C00000"/>
                </a:solidFill>
              </a:rPr>
              <a:t>pthread_cond_t</a:t>
            </a:r>
            <a:r>
              <a:rPr lang="en-US" altLang="zh-TW" sz="3200" dirty="0">
                <a:solidFill>
                  <a:srgbClr val="C00000"/>
                </a:solidFill>
              </a:rPr>
              <a:t> *);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Pthread</a:t>
            </a:r>
            <a:r>
              <a:rPr lang="en-US" altLang="zh-CN" dirty="0"/>
              <a:t> condition - signals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48553" y="169068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b="1" dirty="0">
                <a:solidFill>
                  <a:srgbClr val="C00000"/>
                </a:solidFill>
              </a:rPr>
              <a:t>  </a:t>
            </a:r>
            <a:r>
              <a:rPr lang="en-US" altLang="zh-TW" sz="2400" b="1" dirty="0" err="1">
                <a:solidFill>
                  <a:srgbClr val="C00000"/>
                </a:solidFill>
              </a:rPr>
              <a:t>pthread_cond_wait</a:t>
            </a:r>
            <a:r>
              <a:rPr lang="en-US" altLang="zh-TW" sz="2400" b="1" dirty="0">
                <a:solidFill>
                  <a:srgbClr val="C00000"/>
                </a:solidFill>
              </a:rPr>
              <a:t>() </a:t>
            </a:r>
            <a:r>
              <a:rPr lang="en-US" altLang="zh-TW" sz="2400" dirty="0"/>
              <a:t>blocks the calling thread until </a:t>
            </a:r>
            <a:r>
              <a:rPr lang="en-US" altLang="zh-TW" sz="2400" b="1" dirty="0"/>
              <a:t>the specified condition </a:t>
            </a:r>
            <a:r>
              <a:rPr lang="en-US" altLang="zh-TW" sz="2400" dirty="0"/>
              <a:t>is </a:t>
            </a:r>
            <a:r>
              <a:rPr lang="en-US" altLang="zh-TW" sz="2400" dirty="0" err="1"/>
              <a:t>signalled</a:t>
            </a:r>
            <a:r>
              <a:rPr lang="en-US" altLang="zh-TW" sz="2400" dirty="0"/>
              <a:t>. This routine should be called </a:t>
            </a:r>
            <a:r>
              <a:rPr lang="en-US" altLang="zh-TW" sz="2400" b="1" dirty="0"/>
              <a:t>while </a:t>
            </a:r>
            <a:r>
              <a:rPr lang="en-US" altLang="zh-TW" sz="2400" b="1" dirty="0" err="1"/>
              <a:t>mutex</a:t>
            </a:r>
            <a:r>
              <a:rPr lang="en-US" altLang="zh-TW" sz="2400" b="1" dirty="0"/>
              <a:t> is locked</a:t>
            </a:r>
            <a:r>
              <a:rPr lang="en-US" altLang="zh-TW" sz="2400" dirty="0"/>
              <a:t>, and it will </a:t>
            </a:r>
            <a:r>
              <a:rPr lang="en-US" altLang="zh-TW" sz="2400" b="1" dirty="0"/>
              <a:t>automatically release the </a:t>
            </a:r>
            <a:r>
              <a:rPr lang="en-US" altLang="zh-TW" sz="2400" b="1" dirty="0" err="1"/>
              <a:t>mutex</a:t>
            </a:r>
            <a:r>
              <a:rPr lang="en-US" altLang="zh-TW" sz="2400" b="1" dirty="0"/>
              <a:t> while it waits</a:t>
            </a:r>
            <a:r>
              <a:rPr lang="en-US" altLang="zh-TW" sz="2400"/>
              <a:t>. </a:t>
            </a:r>
            <a:endParaRPr lang="en-US" altLang="zh-TW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</a:t>
            </a:r>
            <a:r>
              <a:rPr lang="en-US" altLang="zh-TW" sz="2400" b="1" dirty="0">
                <a:solidFill>
                  <a:srgbClr val="C00000"/>
                </a:solidFill>
              </a:rPr>
              <a:t>The </a:t>
            </a:r>
            <a:r>
              <a:rPr lang="en-US" altLang="zh-TW" sz="2400" b="1" dirty="0" err="1">
                <a:solidFill>
                  <a:srgbClr val="C00000"/>
                </a:solidFill>
              </a:rPr>
              <a:t>pthread_cond_signal</a:t>
            </a:r>
            <a:r>
              <a:rPr lang="en-US" altLang="zh-TW" sz="2400" b="1" dirty="0">
                <a:solidFill>
                  <a:srgbClr val="C00000"/>
                </a:solidFill>
              </a:rPr>
              <a:t>() </a:t>
            </a:r>
            <a:r>
              <a:rPr lang="en-US" altLang="zh-TW" sz="2400" dirty="0"/>
              <a:t>routine is used </a:t>
            </a:r>
            <a:r>
              <a:rPr lang="en-US" altLang="zh-TW" sz="2400" b="1" dirty="0"/>
              <a:t>to signal (or wake up) another thread which is waiting </a:t>
            </a:r>
            <a:r>
              <a:rPr lang="en-US" altLang="zh-TW" sz="2400" dirty="0"/>
              <a:t>on the condition variable. It should be called after </a:t>
            </a:r>
            <a:r>
              <a:rPr lang="en-US" altLang="zh-TW" sz="2400" dirty="0" err="1"/>
              <a:t>mutex</a:t>
            </a:r>
            <a:r>
              <a:rPr lang="en-US" altLang="zh-TW" sz="2400" dirty="0"/>
              <a:t> is locked, and must unlock </a:t>
            </a:r>
            <a:r>
              <a:rPr lang="en-US" altLang="zh-TW" sz="2400" dirty="0" err="1"/>
              <a:t>mutex</a:t>
            </a:r>
            <a:r>
              <a:rPr lang="en-US" altLang="zh-TW" sz="2400" dirty="0"/>
              <a:t> in order for </a:t>
            </a:r>
            <a:r>
              <a:rPr lang="en-US" altLang="zh-TW" sz="2400" dirty="0" err="1"/>
              <a:t>pthread_cond_wait</a:t>
            </a:r>
            <a:r>
              <a:rPr lang="en-US" altLang="zh-TW" sz="2400" dirty="0"/>
              <a:t>() routine to complete.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zh-TW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zh-TW" sz="2400" dirty="0"/>
              <a:t>  </a:t>
            </a:r>
            <a:r>
              <a:rPr lang="en-US" altLang="zh-TW" sz="2400" b="1" dirty="0">
                <a:solidFill>
                  <a:srgbClr val="C00000"/>
                </a:solidFill>
              </a:rPr>
              <a:t>The </a:t>
            </a:r>
            <a:r>
              <a:rPr lang="en-US" altLang="zh-TW" sz="2400" b="1" dirty="0" err="1">
                <a:solidFill>
                  <a:srgbClr val="C00000"/>
                </a:solidFill>
              </a:rPr>
              <a:t>pthread_cond_broadcast</a:t>
            </a:r>
            <a:r>
              <a:rPr lang="en-US" altLang="zh-TW" sz="2400" b="1" dirty="0">
                <a:solidFill>
                  <a:srgbClr val="C00000"/>
                </a:solidFill>
              </a:rPr>
              <a:t>() </a:t>
            </a:r>
            <a:r>
              <a:rPr lang="en-US" altLang="zh-TW" sz="2400" dirty="0"/>
              <a:t>routine should be used instead of </a:t>
            </a:r>
            <a:r>
              <a:rPr lang="en-US" altLang="zh-TW" sz="2400" dirty="0" err="1"/>
              <a:t>pthread_cond_signal</a:t>
            </a:r>
            <a:r>
              <a:rPr lang="en-US" altLang="zh-TW" sz="2400" dirty="0"/>
              <a:t>() if more than one thread is in a blocking wait state.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39588" y="-10103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 err="1"/>
              <a:t>Pthread</a:t>
            </a:r>
            <a:r>
              <a:rPr lang="en-US" altLang="zh-CN" sz="2800" b="1" dirty="0"/>
              <a:t> condition - signals</a:t>
            </a:r>
            <a:endParaRPr lang="zh-TW" altLang="en-US" sz="28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31</a:t>
            </a:fld>
            <a:endParaRPr lang="zh-TW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30" y="1025350"/>
            <a:ext cx="6444494" cy="51694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180" y="1186715"/>
            <a:ext cx="4793514" cy="50080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27D7EA9-20D4-F63D-CFF8-1216D04CDF8C}"/>
              </a:ext>
            </a:extLst>
          </p:cNvPr>
          <p:cNvSpPr txBox="1"/>
          <p:nvPr/>
        </p:nvSpPr>
        <p:spPr>
          <a:xfrm>
            <a:off x="9207029" y="1109844"/>
            <a:ext cx="2838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Release the mutex at line 47</a:t>
            </a:r>
            <a:endParaRPr lang="zh-CN" altLang="en-US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D814BEC-94D0-D3F3-A0EE-DCCA18044DDF}"/>
              </a:ext>
            </a:extLst>
          </p:cNvPr>
          <p:cNvCxnSpPr/>
          <p:nvPr/>
        </p:nvCxnSpPr>
        <p:spPr>
          <a:xfrm flipH="1">
            <a:off x="8901953" y="1479176"/>
            <a:ext cx="1855694" cy="528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39589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400" b="1" dirty="0" err="1"/>
              <a:t>Pthread</a:t>
            </a:r>
            <a:r>
              <a:rPr lang="en-US" altLang="zh-CN" sz="2400" b="1" dirty="0"/>
              <a:t> condition - signals</a:t>
            </a:r>
            <a:endParaRPr lang="zh-TW" altLang="en-US" sz="2400" b="1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22B09-2F0B-49C7-9C65-B9401A9D1D87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62" y="1090664"/>
            <a:ext cx="6438845" cy="569561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marL="0" indent="0" algn="ctr">
              <a:buNone/>
            </a:pPr>
            <a:r>
              <a:rPr lang="en-US" sz="4000" dirty="0"/>
              <a:t>Thank you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C6029E-6DBE-3EBA-A029-239C4CB0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613F-765A-481C-9DCB-23F6EA0B0AA5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2833</TotalTime>
  <Words>2400</Words>
  <Application>Microsoft Office PowerPoint</Application>
  <PresentationFormat>宽屏</PresentationFormat>
  <Paragraphs>254</Paragraphs>
  <Slides>33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PMingLiU</vt:lpstr>
      <vt:lpstr>urw-din</vt:lpstr>
      <vt:lpstr>Arial</vt:lpstr>
      <vt:lpstr>Calibri</vt:lpstr>
      <vt:lpstr>Calibri Light</vt:lpstr>
      <vt:lpstr>Times New Roman</vt:lpstr>
      <vt:lpstr>Wingdings</vt:lpstr>
      <vt:lpstr>Office Theme</vt:lpstr>
      <vt:lpstr>Operating System (CSC 3150)  Tutorial 4 </vt:lpstr>
      <vt:lpstr>Target</vt:lpstr>
      <vt:lpstr>PowerPoint 演示文稿</vt:lpstr>
      <vt:lpstr>What is a thread?  A thread is a single sequence stream within a process. Because threads have some of the properties of processes, they are sometimes called lightweight processes.  </vt:lpstr>
      <vt:lpstr>PowerPoint 演示文稿</vt:lpstr>
      <vt:lpstr>Can we write multithreading programs in C?   Unlike Java, multithreading is not supported by the C language standard. POSIX Threads (or Pthreads) is a POSIX standard for threads. Implementation of pthread is available with gcc compiler.  </vt:lpstr>
      <vt:lpstr>Pthread creation</vt:lpstr>
      <vt:lpstr>Pthread creation</vt:lpstr>
      <vt:lpstr>Pthread creation</vt:lpstr>
      <vt:lpstr>Pthread termination</vt:lpstr>
      <vt:lpstr>Pthread termination – main thread without pthread_exit() </vt:lpstr>
      <vt:lpstr>Pthread termination – main with pthread_exit().  The other threads will continue to execute.</vt:lpstr>
      <vt:lpstr>Pthread join - synchronization</vt:lpstr>
      <vt:lpstr>PowerPoint 演示文稿</vt:lpstr>
      <vt:lpstr>Pthread join - synchronization</vt:lpstr>
      <vt:lpstr>Pthread join –  without calling pthread_join().</vt:lpstr>
      <vt:lpstr>Pthread join – synchronization  with calling pthread_join().</vt:lpstr>
      <vt:lpstr>Pthread mutex – flag for privacy/security</vt:lpstr>
      <vt:lpstr>PowerPoint 演示文稿</vt:lpstr>
      <vt:lpstr>PowerPoint 演示文稿</vt:lpstr>
      <vt:lpstr>Pthread mutex - flag</vt:lpstr>
      <vt:lpstr>Pthread mutex - flag</vt:lpstr>
      <vt:lpstr>Pthread mutex - flag</vt:lpstr>
      <vt:lpstr>PowerPoint 演示文稿</vt:lpstr>
      <vt:lpstr>PowerPoint 演示文稿</vt:lpstr>
      <vt:lpstr>Pthread condition - signals</vt:lpstr>
      <vt:lpstr>References</vt:lpstr>
      <vt:lpstr>Pthread condition - signals</vt:lpstr>
      <vt:lpstr>Pthread condition - signals</vt:lpstr>
      <vt:lpstr>Pthread condition - signals</vt:lpstr>
      <vt:lpstr>Pthread condition - signals</vt:lpstr>
      <vt:lpstr>Pthread condition - signals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Multimedia System (CSC 3185)  Week 13 tutorial</dc:title>
  <dc:creator>Li Yishu (SSE)</dc:creator>
  <cp:lastModifiedBy>Liangsen Wang (SDS,224040364)</cp:lastModifiedBy>
  <cp:revision>642</cp:revision>
  <dcterms:created xsi:type="dcterms:W3CDTF">2021-10-12T09:14:11Z</dcterms:created>
  <dcterms:modified xsi:type="dcterms:W3CDTF">2025-10-08T07:53:10Z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2052-3.9.1.6204</vt:lpwstr>
  </property>
</Properties>
</file>