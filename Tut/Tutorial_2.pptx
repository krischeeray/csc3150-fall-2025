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4" r:id="rId20"/>
    <p:sldId id="276" r:id="rId21"/>
    <p:sldId id="277" r:id="rId22"/>
    <p:sldId id="278" r:id="rId23"/>
    <p:sldId id="279" r:id="rId24"/>
    <p:sldId id="313" r:id="rId25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6019" y="868260"/>
            <a:ext cx="983996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20" dirty="0"/>
              <a:t>9</a:t>
            </a:r>
            <a:r>
              <a:rPr spc="-175" dirty="0"/>
              <a:t>/</a:t>
            </a:r>
            <a:r>
              <a:rPr spc="20" dirty="0"/>
              <a:t>27</a:t>
            </a:r>
            <a:r>
              <a:rPr spc="-175" dirty="0"/>
              <a:t>/</a:t>
            </a:r>
            <a:r>
              <a:rPr spc="20" dirty="0"/>
              <a:t>202</a:t>
            </a:r>
            <a:r>
              <a:rPr spc="25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20" dirty="0"/>
              <a:t>9</a:t>
            </a:r>
            <a:r>
              <a:rPr spc="-175" dirty="0"/>
              <a:t>/</a:t>
            </a:r>
            <a:r>
              <a:rPr spc="20" dirty="0"/>
              <a:t>27</a:t>
            </a:r>
            <a:r>
              <a:rPr spc="-175" dirty="0"/>
              <a:t>/</a:t>
            </a:r>
            <a:r>
              <a:rPr spc="20" dirty="0"/>
              <a:t>202</a:t>
            </a:r>
            <a:r>
              <a:rPr spc="25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20" dirty="0"/>
              <a:t>9</a:t>
            </a:r>
            <a:r>
              <a:rPr spc="-175" dirty="0"/>
              <a:t>/</a:t>
            </a:r>
            <a:r>
              <a:rPr spc="20" dirty="0"/>
              <a:t>27</a:t>
            </a:r>
            <a:r>
              <a:rPr spc="-175" dirty="0"/>
              <a:t>/</a:t>
            </a:r>
            <a:r>
              <a:rPr spc="20" dirty="0"/>
              <a:t>202</a:t>
            </a:r>
            <a:r>
              <a:rPr spc="25" dirty="0"/>
              <a:t>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20" dirty="0"/>
              <a:t>9</a:t>
            </a:r>
            <a:r>
              <a:rPr spc="-175" dirty="0"/>
              <a:t>/</a:t>
            </a:r>
            <a:r>
              <a:rPr spc="20" dirty="0"/>
              <a:t>27</a:t>
            </a:r>
            <a:r>
              <a:rPr spc="-175" dirty="0"/>
              <a:t>/</a:t>
            </a:r>
            <a:r>
              <a:rPr spc="20" dirty="0"/>
              <a:t>202</a:t>
            </a:r>
            <a:r>
              <a:rPr spc="25" dirty="0"/>
              <a:t>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20" dirty="0"/>
              <a:t>9</a:t>
            </a:r>
            <a:r>
              <a:rPr spc="-175" dirty="0"/>
              <a:t>/</a:t>
            </a:r>
            <a:r>
              <a:rPr spc="20" dirty="0"/>
              <a:t>27</a:t>
            </a:r>
            <a:r>
              <a:rPr spc="-175" dirty="0"/>
              <a:t>/</a:t>
            </a:r>
            <a:r>
              <a:rPr spc="20" dirty="0"/>
              <a:t>202</a:t>
            </a:r>
            <a:r>
              <a:rPr spc="25" dirty="0"/>
              <a:t>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457200"/>
                </a:moveTo>
                <a:lnTo>
                  <a:pt x="0" y="4572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5720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67055"/>
                </a:moveTo>
                <a:lnTo>
                  <a:pt x="0" y="67055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7055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533" y="1734032"/>
            <a:ext cx="9966960" cy="7620"/>
          </a:xfrm>
          <a:custGeom>
            <a:avLst/>
            <a:gdLst/>
            <a:ahLst/>
            <a:cxnLst/>
            <a:rect l="l" t="t" r="r" b="b"/>
            <a:pathLst>
              <a:path w="9966960" h="7619">
                <a:moveTo>
                  <a:pt x="9966960" y="7619"/>
                </a:moveTo>
                <a:lnTo>
                  <a:pt x="0" y="7619"/>
                </a:lnTo>
                <a:lnTo>
                  <a:pt x="0" y="0"/>
                </a:lnTo>
                <a:lnTo>
                  <a:pt x="9966960" y="0"/>
                </a:lnTo>
                <a:lnTo>
                  <a:pt x="9966960" y="761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019" y="246595"/>
            <a:ext cx="9839960" cy="1378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4580" y="1846364"/>
            <a:ext cx="9912350" cy="278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76019" y="6563690"/>
            <a:ext cx="546735" cy="158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20" dirty="0"/>
              <a:t>9</a:t>
            </a:r>
            <a:r>
              <a:rPr spc="-175" dirty="0"/>
              <a:t>/</a:t>
            </a:r>
            <a:r>
              <a:rPr spc="20" dirty="0"/>
              <a:t>27</a:t>
            </a:r>
            <a:r>
              <a:rPr spc="-175" dirty="0"/>
              <a:t>/</a:t>
            </a:r>
            <a:r>
              <a:rPr spc="20" dirty="0"/>
              <a:t>202</a:t>
            </a:r>
            <a:r>
              <a:rPr spc="25" dirty="0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34242" y="6551948"/>
            <a:ext cx="225425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linux.die.net/man/2/waitpid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50299429/c-reporting-which-signal-terminated-a-child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4"/>
            <a:ext cx="12192000" cy="524510"/>
            <a:chOff x="0" y="6333744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800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12188952" y="0"/>
                  </a:lnTo>
                  <a:lnTo>
                    <a:pt x="12188952" y="45720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4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64008"/>
                  </a:moveTo>
                  <a:lnTo>
                    <a:pt x="0" y="64008"/>
                  </a:lnTo>
                  <a:lnTo>
                    <a:pt x="0" y="0"/>
                  </a:lnTo>
                  <a:lnTo>
                    <a:pt x="12188952" y="0"/>
                  </a:lnTo>
                  <a:lnTo>
                    <a:pt x="12188952" y="64008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655" y="4339590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7620"/>
                </a:moveTo>
                <a:lnTo>
                  <a:pt x="0" y="7620"/>
                </a:lnTo>
                <a:lnTo>
                  <a:pt x="0" y="0"/>
                </a:lnTo>
                <a:lnTo>
                  <a:pt x="9875520" y="0"/>
                </a:lnTo>
                <a:lnTo>
                  <a:pt x="9875520" y="762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0287" y="3063791"/>
            <a:ext cx="4763275" cy="47701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070909" y="3051238"/>
            <a:ext cx="1129665" cy="492759"/>
            <a:chOff x="6070909" y="3051238"/>
            <a:chExt cx="1129665" cy="49275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0909" y="3073845"/>
              <a:ext cx="1007430" cy="37226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31190" y="3051238"/>
              <a:ext cx="169214" cy="49245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4162" y="3890179"/>
            <a:ext cx="1437294" cy="2943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10335" y="900532"/>
            <a:ext cx="1146724" cy="8653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2200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699170"/>
            <a:ext cx="1732280" cy="92964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50" dirty="0">
                <a:solidFill>
                  <a:srgbClr val="404040"/>
                </a:solidFill>
                <a:latin typeface="Trebuchet MS"/>
                <a:cs typeface="Trebuchet MS"/>
              </a:rPr>
              <a:t>User</a:t>
            </a:r>
            <a:r>
              <a:rPr sz="2000" spc="-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Trebuchet MS"/>
                <a:cs typeface="Trebuchet MS"/>
              </a:rPr>
              <a:t>Mode</a:t>
            </a:r>
            <a:endParaRPr sz="2000" dirty="0">
              <a:latin typeface="Trebuchet MS"/>
              <a:cs typeface="Trebuchet MS"/>
            </a:endParaRPr>
          </a:p>
          <a:p>
            <a:pPr marL="269875" indent="-257175">
              <a:lnSpc>
                <a:spcPct val="100000"/>
              </a:lnSpc>
              <a:spcBef>
                <a:spcPts val="1160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Kernel</a:t>
            </a:r>
            <a:r>
              <a:rPr sz="20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Trebuchet MS"/>
                <a:cs typeface="Trebuchet MS"/>
              </a:rPr>
              <a:t>Mode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0" y="3095223"/>
            <a:ext cx="8762621" cy="27142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44662" y="5208866"/>
            <a:ext cx="3088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FF0000"/>
                </a:solidFill>
                <a:latin typeface="Trebuchet MS"/>
                <a:cs typeface="Trebuchet MS"/>
              </a:rPr>
              <a:t>Complete </a:t>
            </a:r>
            <a:r>
              <a:rPr sz="1800" spc="75" dirty="0">
                <a:solidFill>
                  <a:srgbClr val="FF0000"/>
                </a:solidFill>
                <a:latin typeface="Trebuchet MS"/>
                <a:cs typeface="Trebuchet MS"/>
              </a:rPr>
              <a:t>access </a:t>
            </a:r>
            <a:r>
              <a:rPr sz="1800" spc="-45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1800" spc="-2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Trebuchet MS"/>
                <a:cs typeface="Trebuchet MS"/>
              </a:rPr>
              <a:t>hardware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2</a:t>
            </a:fld>
            <a:endParaRPr spc="3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2200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3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699170"/>
            <a:ext cx="10064115" cy="3893374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Process: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Program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000" spc="-2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execution</a:t>
            </a:r>
            <a:endParaRPr sz="2000" dirty="0">
              <a:latin typeface="Trebuchet MS"/>
              <a:cs typeface="Trebuchet MS"/>
            </a:endParaRPr>
          </a:p>
          <a:p>
            <a:pPr marL="294005">
              <a:lnSpc>
                <a:spcPct val="100000"/>
              </a:lnSpc>
              <a:spcBef>
                <a:spcPts val="1160"/>
              </a:spcBef>
            </a:pP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Multiple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processes: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Concurrent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Trebuchet MS"/>
                <a:cs typeface="Trebuchet MS"/>
              </a:rPr>
              <a:t>vs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Parallel.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Trebuchet MS"/>
                <a:cs typeface="Trebuchet MS"/>
              </a:rPr>
              <a:t>Processor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Trebuchet MS"/>
                <a:cs typeface="Trebuchet MS"/>
              </a:rPr>
              <a:t>vs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190" dirty="0">
                <a:solidFill>
                  <a:srgbClr val="404040"/>
                </a:solidFill>
                <a:latin typeface="Trebuchet MS"/>
                <a:cs typeface="Trebuchet MS"/>
              </a:rPr>
              <a:t>CPU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Trebuchet MS"/>
                <a:cs typeface="Trebuchet MS"/>
              </a:rPr>
              <a:t>vs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Core</a:t>
            </a:r>
            <a:endParaRPr sz="2000" dirty="0">
              <a:latin typeface="Trebuchet MS"/>
              <a:cs typeface="Trebuchet MS"/>
            </a:endParaRPr>
          </a:p>
          <a:p>
            <a:pPr marL="103505" marR="5080" indent="-91440">
              <a:lnSpc>
                <a:spcPts val="2160"/>
              </a:lnSpc>
              <a:spcBef>
                <a:spcPts val="1430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In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multitasking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operating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systems, </a:t>
            </a:r>
            <a:r>
              <a:rPr sz="2000" spc="70" dirty="0">
                <a:solidFill>
                  <a:srgbClr val="404040"/>
                </a:solidFill>
                <a:latin typeface="Trebuchet MS"/>
                <a:cs typeface="Trebuchet MS"/>
              </a:rPr>
              <a:t>processes</a:t>
            </a:r>
            <a:r>
              <a:rPr sz="2000" spc="-4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(running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programs)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need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way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create 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new </a:t>
            </a: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processes, 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e.g.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run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22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program.</a:t>
            </a:r>
            <a:endParaRPr sz="2000" dirty="0">
              <a:latin typeface="Trebuchet MS"/>
              <a:cs typeface="Trebuchet MS"/>
            </a:endParaRPr>
          </a:p>
          <a:p>
            <a:pPr marL="129539" indent="-117475">
              <a:lnSpc>
                <a:spcPct val="100000"/>
              </a:lnSpc>
              <a:spcBef>
                <a:spcPts val="1130"/>
              </a:spcBef>
              <a:buClr>
                <a:srgbClr val="E38312"/>
              </a:buClr>
              <a:buFont typeface="Wingdings"/>
              <a:buChar char=""/>
              <a:tabLst>
                <a:tab pos="130175" algn="l"/>
              </a:tabLst>
            </a:pPr>
            <a:r>
              <a:rPr sz="2000" spc="80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state:</a:t>
            </a:r>
            <a:endParaRPr sz="20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180"/>
              </a:spcBef>
              <a:buClr>
                <a:srgbClr val="E38312"/>
              </a:buClr>
              <a:buFont typeface="Trebuchet MS"/>
              <a:buChar char="◦"/>
              <a:tabLst>
                <a:tab pos="396875" algn="l"/>
              </a:tabLst>
            </a:pPr>
            <a:r>
              <a:rPr sz="2000" b="1" spc="-75" dirty="0">
                <a:solidFill>
                  <a:srgbClr val="404040"/>
                </a:solidFill>
                <a:latin typeface="Century Gothic"/>
                <a:cs typeface="Century Gothic"/>
              </a:rPr>
              <a:t>new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: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 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being</a:t>
            </a:r>
            <a:r>
              <a:rPr sz="2000" spc="-2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created</a:t>
            </a:r>
            <a:endParaRPr sz="20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59"/>
              </a:spcBef>
              <a:buClr>
                <a:srgbClr val="E38312"/>
              </a:buClr>
              <a:buFont typeface="Trebuchet MS"/>
              <a:buChar char="◦"/>
              <a:tabLst>
                <a:tab pos="396875" algn="l"/>
              </a:tabLst>
            </a:pPr>
            <a:r>
              <a:rPr sz="2000" b="1" spc="-25" dirty="0">
                <a:solidFill>
                  <a:srgbClr val="404040"/>
                </a:solidFill>
                <a:latin typeface="Century Gothic"/>
                <a:cs typeface="Century Gothic"/>
              </a:rPr>
              <a:t>running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: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Instructions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are 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being</a:t>
            </a:r>
            <a:r>
              <a:rPr sz="2000" spc="-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executed</a:t>
            </a:r>
            <a:endParaRPr sz="20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59"/>
              </a:spcBef>
              <a:buClr>
                <a:srgbClr val="E38312"/>
              </a:buClr>
              <a:buFont typeface="Trebuchet MS"/>
              <a:buChar char="◦"/>
              <a:tabLst>
                <a:tab pos="396875" algn="l"/>
              </a:tabLst>
            </a:pPr>
            <a:r>
              <a:rPr sz="2000" b="1" spc="-35" dirty="0">
                <a:solidFill>
                  <a:srgbClr val="404040"/>
                </a:solidFill>
                <a:latin typeface="Century Gothic"/>
                <a:cs typeface="Century Gothic"/>
              </a:rPr>
              <a:t>waiting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: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waiting 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for </a:t>
            </a:r>
            <a:r>
              <a:rPr sz="2000" spc="70" dirty="0">
                <a:solidFill>
                  <a:srgbClr val="404040"/>
                </a:solidFill>
                <a:latin typeface="Trebuchet MS"/>
                <a:cs typeface="Trebuchet MS"/>
              </a:rPr>
              <a:t>some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event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occur</a:t>
            </a:r>
            <a:endParaRPr sz="20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59"/>
              </a:spcBef>
              <a:buClr>
                <a:srgbClr val="E38312"/>
              </a:buClr>
              <a:buFont typeface="Trebuchet MS"/>
              <a:buChar char="◦"/>
              <a:tabLst>
                <a:tab pos="396875" algn="l"/>
              </a:tabLst>
            </a:pPr>
            <a:r>
              <a:rPr sz="2000" b="1" spc="-100" dirty="0">
                <a:solidFill>
                  <a:srgbClr val="404040"/>
                </a:solidFill>
                <a:latin typeface="Century Gothic"/>
                <a:cs typeface="Century Gothic"/>
              </a:rPr>
              <a:t>ready</a:t>
            </a:r>
            <a:r>
              <a:rPr sz="2000" spc="-100" dirty="0">
                <a:solidFill>
                  <a:srgbClr val="404040"/>
                </a:solidFill>
                <a:latin typeface="Trebuchet MS"/>
                <a:cs typeface="Trebuchet MS"/>
              </a:rPr>
              <a:t>: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waiting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be </a:t>
            </a:r>
            <a:r>
              <a:rPr sz="2000" spc="60" dirty="0">
                <a:solidFill>
                  <a:srgbClr val="404040"/>
                </a:solidFill>
                <a:latin typeface="Trebuchet MS"/>
                <a:cs typeface="Trebuchet MS"/>
              </a:rPr>
              <a:t>assigned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4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processor</a:t>
            </a:r>
            <a:endParaRPr sz="20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59"/>
              </a:spcBef>
              <a:buClr>
                <a:srgbClr val="E38312"/>
              </a:buClr>
              <a:buFont typeface="Trebuchet MS"/>
              <a:buChar char="◦"/>
              <a:tabLst>
                <a:tab pos="396875" algn="l"/>
              </a:tabLst>
            </a:pPr>
            <a:r>
              <a:rPr sz="2000" b="1" spc="-40" dirty="0">
                <a:solidFill>
                  <a:srgbClr val="404040"/>
                </a:solidFill>
                <a:latin typeface="Century Gothic"/>
                <a:cs typeface="Century Gothic"/>
              </a:rPr>
              <a:t>terminated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: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000" spc="75" dirty="0">
                <a:solidFill>
                  <a:srgbClr val="404040"/>
                </a:solidFill>
                <a:latin typeface="Trebuchet MS"/>
                <a:cs typeface="Trebuchet MS"/>
              </a:rPr>
              <a:t>has 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finished</a:t>
            </a:r>
            <a:r>
              <a:rPr lang="en-US"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3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execution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2200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4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845729"/>
            <a:ext cx="9846310" cy="26885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03505" marR="5080" indent="-91440">
              <a:lnSpc>
                <a:spcPts val="218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named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Trebuchet MS"/>
                <a:cs typeface="Trebuchet MS"/>
              </a:rPr>
              <a:t>ID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number.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Generally,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identified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and 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managed 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via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000" b="1" spc="10" dirty="0">
                <a:solidFill>
                  <a:srgbClr val="006FC0"/>
                </a:solidFill>
                <a:latin typeface="Century Gothic"/>
                <a:cs typeface="Century Gothic"/>
              </a:rPr>
              <a:t>process </a:t>
            </a:r>
            <a:r>
              <a:rPr sz="2000" b="1" spc="5" dirty="0">
                <a:solidFill>
                  <a:srgbClr val="006FC0"/>
                </a:solidFill>
                <a:latin typeface="Century Gothic"/>
                <a:cs typeface="Century Gothic"/>
              </a:rPr>
              <a:t>identifier</a:t>
            </a:r>
            <a:r>
              <a:rPr sz="2000" b="1" spc="-220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2000" spc="-125" dirty="0">
                <a:solidFill>
                  <a:srgbClr val="006FC0"/>
                </a:solidFill>
                <a:latin typeface="Trebuchet MS"/>
                <a:cs typeface="Trebuchet MS"/>
              </a:rPr>
              <a:t>(</a:t>
            </a:r>
            <a:r>
              <a:rPr sz="2000" b="1" spc="-125" dirty="0">
                <a:solidFill>
                  <a:srgbClr val="006FC0"/>
                </a:solidFill>
                <a:latin typeface="Century Gothic"/>
                <a:cs typeface="Century Gothic"/>
              </a:rPr>
              <a:t>pid</a:t>
            </a:r>
            <a:r>
              <a:rPr sz="2000" spc="-125" dirty="0">
                <a:solidFill>
                  <a:srgbClr val="006FC0"/>
                </a:solidFill>
                <a:latin typeface="Trebuchet MS"/>
                <a:cs typeface="Trebuchet MS"/>
              </a:rPr>
              <a:t>)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E38312"/>
              </a:buClr>
              <a:buFont typeface="Wingdings"/>
              <a:buChar char=""/>
            </a:pPr>
            <a:endParaRPr sz="2400">
              <a:latin typeface="Trebuchet MS"/>
              <a:cs typeface="Trebuchet MS"/>
            </a:endParaRPr>
          </a:p>
          <a:p>
            <a:pPr marL="269875" indent="-257175">
              <a:lnSpc>
                <a:spcPct val="100000"/>
              </a:lnSpc>
              <a:spcBef>
                <a:spcPts val="1875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114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unique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Trebuchet MS"/>
                <a:cs typeface="Trebuchet MS"/>
              </a:rPr>
              <a:t>ID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allocated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when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created.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E38312"/>
              </a:buClr>
              <a:buFont typeface="Wingdings"/>
              <a:buChar char=""/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E38312"/>
              </a:buClr>
              <a:buFont typeface="Wingdings"/>
              <a:buChar char=""/>
            </a:pPr>
            <a:endParaRPr sz="2000">
              <a:latin typeface="Trebuchet MS"/>
              <a:cs typeface="Trebuchet MS"/>
            </a:endParaRPr>
          </a:p>
          <a:p>
            <a:pPr marL="103505" marR="24130" indent="-91440">
              <a:lnSpc>
                <a:spcPts val="2160"/>
              </a:lnSpc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-95" dirty="0">
                <a:solidFill>
                  <a:srgbClr val="404040"/>
                </a:solidFill>
                <a:latin typeface="Trebuchet MS"/>
                <a:cs typeface="Trebuchet MS"/>
              </a:rPr>
              <a:t>lifetime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 ends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when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its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termination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-4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reported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its parent 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process. 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At 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that </a:t>
            </a:r>
            <a:r>
              <a:rPr sz="2000" spc="-95" dirty="0">
                <a:solidFill>
                  <a:srgbClr val="404040"/>
                </a:solidFill>
                <a:latin typeface="Trebuchet MS"/>
                <a:cs typeface="Trebuchet MS"/>
              </a:rPr>
              <a:t>time, all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resources,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including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its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ID,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2000" spc="-3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freed.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46272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</a:t>
            </a:r>
            <a:r>
              <a:rPr spc="-260" dirty="0"/>
              <a:t> </a:t>
            </a:r>
            <a:r>
              <a:rPr spc="-65" dirty="0"/>
              <a:t>Creation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5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845729"/>
            <a:ext cx="9658350" cy="17843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3505" marR="5080" indent="-91440">
              <a:lnSpc>
                <a:spcPts val="2160"/>
              </a:lnSpc>
              <a:spcBef>
                <a:spcPts val="375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80" dirty="0">
                <a:solidFill>
                  <a:srgbClr val="404040"/>
                </a:solidFill>
                <a:latin typeface="Trebuchet MS"/>
                <a:cs typeface="Trebuchet MS"/>
              </a:rPr>
              <a:t>Processes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are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created 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with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-45" dirty="0">
                <a:solidFill>
                  <a:srgbClr val="006FC0"/>
                </a:solidFill>
                <a:latin typeface="Trebuchet MS"/>
                <a:cs typeface="Trebuchet MS"/>
              </a:rPr>
              <a:t>fork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system 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call 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(so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operation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creating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3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new 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 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sometimes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called 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forking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3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process).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E38312"/>
              </a:buClr>
              <a:buFont typeface="Wingdings"/>
              <a:buChar char=""/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8312"/>
              </a:buClr>
              <a:buFont typeface="Wingdings"/>
              <a:buChar char=""/>
            </a:pPr>
            <a:endParaRPr sz="1950">
              <a:latin typeface="Trebuchet MS"/>
              <a:cs typeface="Trebuchet MS"/>
            </a:endParaRPr>
          </a:p>
          <a:p>
            <a:pPr marL="103505" marR="136525" indent="-91440">
              <a:lnSpc>
                <a:spcPts val="2160"/>
              </a:lnSpc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child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created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fork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exact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clone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original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parent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process, 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except 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that </a:t>
            </a:r>
            <a:r>
              <a:rPr sz="2000" spc="-150" dirty="0">
                <a:solidFill>
                  <a:srgbClr val="404040"/>
                </a:solidFill>
                <a:latin typeface="Trebuchet MS"/>
                <a:cs typeface="Trebuchet MS"/>
              </a:rPr>
              <a:t>it </a:t>
            </a:r>
            <a:r>
              <a:rPr sz="2000" spc="75" dirty="0">
                <a:solidFill>
                  <a:srgbClr val="404040"/>
                </a:solidFill>
                <a:latin typeface="Trebuchet MS"/>
                <a:cs typeface="Trebuchet MS"/>
              </a:rPr>
              <a:t>has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its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own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2000" spc="-2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ID.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46272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</a:t>
            </a:r>
            <a:r>
              <a:rPr spc="-260" dirty="0"/>
              <a:t> </a:t>
            </a:r>
            <a:r>
              <a:rPr spc="-65" dirty="0"/>
              <a:t>Creation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6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823630"/>
            <a:ext cx="9384665" cy="408432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280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Functions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(Unix-like</a:t>
            </a:r>
            <a:r>
              <a:rPr sz="20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system):</a:t>
            </a:r>
            <a:endParaRPr sz="200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180"/>
              </a:spcBef>
              <a:buClr>
                <a:srgbClr val="E38312"/>
              </a:buClr>
              <a:buFont typeface="Trebuchet MS"/>
              <a:buChar char="◦"/>
              <a:tabLst>
                <a:tab pos="396875" algn="l"/>
              </a:tabLst>
            </a:pP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pid_t </a:t>
            </a:r>
            <a:r>
              <a:rPr sz="2000" b="1" spc="-40" dirty="0">
                <a:solidFill>
                  <a:srgbClr val="FF0000"/>
                </a:solidFill>
                <a:latin typeface="Century Gothic"/>
                <a:cs typeface="Century Gothic"/>
              </a:rPr>
              <a:t>fork(void)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system 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call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creates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new</a:t>
            </a:r>
            <a:r>
              <a:rPr sz="2000" spc="-1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har char="◦"/>
            </a:pPr>
            <a:endParaRPr sz="2400">
              <a:latin typeface="Trebuchet MS"/>
              <a:cs typeface="Trebuchet MS"/>
            </a:endParaRPr>
          </a:p>
          <a:p>
            <a:pPr marL="269875" indent="-257175">
              <a:lnSpc>
                <a:spcPct val="100000"/>
              </a:lnSpc>
              <a:spcBef>
                <a:spcPts val="2110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Return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endParaRPr sz="200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55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2200" spc="-110" dirty="0">
                <a:solidFill>
                  <a:srgbClr val="404040"/>
                </a:solidFill>
                <a:latin typeface="Trebuchet MS"/>
                <a:cs typeface="Trebuchet MS"/>
              </a:rPr>
              <a:t>fork() 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returns -1, 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200" spc="-35" dirty="0">
                <a:solidFill>
                  <a:srgbClr val="404040"/>
                </a:solidFill>
                <a:latin typeface="Trebuchet MS"/>
                <a:cs typeface="Trebuchet MS"/>
              </a:rPr>
              <a:t>creation </a:t>
            </a:r>
            <a:r>
              <a:rPr sz="2200" spc="-40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2200" spc="2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child </a:t>
            </a:r>
            <a:r>
              <a:rPr sz="2200" spc="70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200" spc="85" dirty="0">
                <a:solidFill>
                  <a:srgbClr val="404040"/>
                </a:solidFill>
                <a:latin typeface="Trebuchet MS"/>
                <a:cs typeface="Trebuchet MS"/>
              </a:rPr>
              <a:t>was</a:t>
            </a:r>
            <a:r>
              <a:rPr sz="2200" spc="-2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25" dirty="0">
                <a:solidFill>
                  <a:srgbClr val="404040"/>
                </a:solidFill>
                <a:latin typeface="Trebuchet MS"/>
                <a:cs typeface="Trebuchet MS"/>
              </a:rPr>
              <a:t>unsuccessful.</a:t>
            </a:r>
            <a:endParaRPr sz="220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2200" spc="-110" dirty="0">
                <a:solidFill>
                  <a:srgbClr val="404040"/>
                </a:solidFill>
                <a:latin typeface="Trebuchet MS"/>
                <a:cs typeface="Trebuchet MS"/>
              </a:rPr>
              <a:t>fork() 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returns </a:t>
            </a:r>
            <a:r>
              <a:rPr sz="2200" spc="2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zero </a:t>
            </a:r>
            <a:r>
              <a:rPr sz="2200" spc="-5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newly created child</a:t>
            </a:r>
            <a:r>
              <a:rPr sz="2200" spc="-1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40" dirty="0">
                <a:solidFill>
                  <a:srgbClr val="404040"/>
                </a:solidFill>
                <a:latin typeface="Trebuchet MS"/>
                <a:cs typeface="Trebuchet MS"/>
              </a:rPr>
              <a:t>process.</a:t>
            </a:r>
            <a:endParaRPr sz="2200">
              <a:latin typeface="Trebuchet MS"/>
              <a:cs typeface="Trebuchet MS"/>
            </a:endParaRPr>
          </a:p>
          <a:p>
            <a:pPr marL="396875" marR="5080" lvl="1" indent="-18288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2200" spc="-110" dirty="0">
                <a:solidFill>
                  <a:srgbClr val="404040"/>
                </a:solidFill>
                <a:latin typeface="Trebuchet MS"/>
                <a:cs typeface="Trebuchet MS"/>
              </a:rPr>
              <a:t>fork() 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returns </a:t>
            </a:r>
            <a:r>
              <a:rPr sz="2200" spc="2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positive </a:t>
            </a:r>
            <a:r>
              <a:rPr sz="2200" spc="-55" dirty="0">
                <a:solidFill>
                  <a:srgbClr val="404040"/>
                </a:solidFill>
                <a:latin typeface="Trebuchet MS"/>
                <a:cs typeface="Trebuchet MS"/>
              </a:rPr>
              <a:t>value, 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200" spc="70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200" spc="75" dirty="0">
                <a:solidFill>
                  <a:srgbClr val="404040"/>
                </a:solidFill>
                <a:latin typeface="Trebuchet MS"/>
                <a:cs typeface="Trebuchet MS"/>
              </a:rPr>
              <a:t>ID </a:t>
            </a:r>
            <a:r>
              <a:rPr sz="2200" spc="-40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child </a:t>
            </a:r>
            <a:r>
              <a:rPr sz="2200" spc="40" dirty="0">
                <a:solidFill>
                  <a:srgbClr val="404040"/>
                </a:solidFill>
                <a:latin typeface="Trebuchet MS"/>
                <a:cs typeface="Trebuchet MS"/>
              </a:rPr>
              <a:t>process, </a:t>
            </a:r>
            <a:r>
              <a:rPr sz="2200" spc="-55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200" spc="-4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the  </a:t>
            </a:r>
            <a:r>
              <a:rPr sz="2200" spc="-60" dirty="0">
                <a:solidFill>
                  <a:srgbClr val="404040"/>
                </a:solidFill>
                <a:latin typeface="Trebuchet MS"/>
                <a:cs typeface="Trebuchet MS"/>
              </a:rPr>
              <a:t>parent.</a:t>
            </a:r>
            <a:endParaRPr sz="22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har char="◦"/>
            </a:pPr>
            <a:endParaRPr sz="2500">
              <a:latin typeface="Trebuchet MS"/>
              <a:cs typeface="Trebuchet MS"/>
            </a:endParaRPr>
          </a:p>
          <a:p>
            <a:pPr marL="269875" indent="-257175">
              <a:lnSpc>
                <a:spcPct val="100000"/>
              </a:lnSpc>
              <a:spcBef>
                <a:spcPts val="2085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returned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000" spc="70" dirty="0">
                <a:solidFill>
                  <a:srgbClr val="404040"/>
                </a:solidFill>
                <a:latin typeface="Trebuchet MS"/>
                <a:cs typeface="Trebuchet MS"/>
              </a:rPr>
              <a:t>ID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000" spc="-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type </a:t>
            </a:r>
            <a:r>
              <a:rPr sz="2000" b="1" spc="-15" dirty="0">
                <a:solidFill>
                  <a:srgbClr val="FF0000"/>
                </a:solidFill>
                <a:latin typeface="Century Gothic"/>
                <a:cs typeface="Century Gothic"/>
              </a:rPr>
              <a:t>pid_t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defined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in 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”</a:t>
            </a:r>
            <a:r>
              <a:rPr sz="2000" spc="-50" dirty="0">
                <a:solidFill>
                  <a:srgbClr val="FF0000"/>
                </a:solidFill>
                <a:latin typeface="Trebuchet MS"/>
                <a:cs typeface="Trebuchet MS"/>
              </a:rPr>
              <a:t>sys/types.h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”.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697738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Parent </a:t>
            </a:r>
            <a:r>
              <a:rPr spc="55" dirty="0"/>
              <a:t>and </a:t>
            </a:r>
            <a:r>
              <a:rPr spc="-15" dirty="0"/>
              <a:t>Child</a:t>
            </a:r>
            <a:r>
              <a:rPr lang="en-US" spc="-15" dirty="0"/>
              <a:t> </a:t>
            </a:r>
            <a:r>
              <a:rPr spc="155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04082"/>
            <a:ext cx="9439910" cy="183515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30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95" dirty="0">
                <a:solidFill>
                  <a:srgbClr val="404040"/>
                </a:solidFill>
                <a:latin typeface="Trebuchet MS"/>
                <a:cs typeface="Trebuchet MS"/>
              </a:rPr>
              <a:t>If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call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2000" spc="-100" dirty="0">
                <a:solidFill>
                  <a:srgbClr val="404040"/>
                </a:solidFill>
                <a:latin typeface="Trebuchet MS"/>
                <a:cs typeface="Trebuchet MS"/>
              </a:rPr>
              <a:t>fork()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executed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successfully, 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Unix</a:t>
            </a:r>
            <a:r>
              <a:rPr sz="2000" spc="-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Trebuchet MS"/>
                <a:cs typeface="Trebuchet MS"/>
              </a:rPr>
              <a:t>will</a:t>
            </a:r>
            <a:endParaRPr sz="2000" dirty="0">
              <a:latin typeface="Trebuchet MS"/>
              <a:cs typeface="Trebuchet MS"/>
            </a:endParaRPr>
          </a:p>
          <a:p>
            <a:pPr marL="396875" marR="5080" lvl="1" indent="-182880">
              <a:lnSpc>
                <a:spcPct val="100000"/>
              </a:lnSpc>
              <a:spcBef>
                <a:spcPts val="355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2200" spc="15" dirty="0">
                <a:solidFill>
                  <a:srgbClr val="404040"/>
                </a:solidFill>
                <a:latin typeface="Trebuchet MS"/>
                <a:cs typeface="Trebuchet MS"/>
              </a:rPr>
              <a:t>make </a:t>
            </a: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two </a:t>
            </a:r>
            <a:r>
              <a:rPr sz="2200" spc="-50" dirty="0">
                <a:solidFill>
                  <a:srgbClr val="404040"/>
                </a:solidFill>
                <a:latin typeface="Trebuchet MS"/>
                <a:cs typeface="Trebuchet MS"/>
              </a:rPr>
              <a:t>identical </a:t>
            </a:r>
            <a:r>
              <a:rPr sz="2200" spc="45" dirty="0">
                <a:solidFill>
                  <a:srgbClr val="404040"/>
                </a:solidFill>
                <a:latin typeface="Trebuchet MS"/>
                <a:cs typeface="Trebuchet MS"/>
              </a:rPr>
              <a:t>copies </a:t>
            </a:r>
            <a:r>
              <a:rPr sz="2200" spc="-40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2200" spc="60" dirty="0">
                <a:solidFill>
                  <a:srgbClr val="404040"/>
                </a:solidFill>
                <a:latin typeface="Trebuchet MS"/>
                <a:cs typeface="Trebuchet MS"/>
              </a:rPr>
              <a:t>address </a:t>
            </a:r>
            <a:r>
              <a:rPr sz="2200" spc="50" dirty="0">
                <a:solidFill>
                  <a:srgbClr val="404040"/>
                </a:solidFill>
                <a:latin typeface="Trebuchet MS"/>
                <a:cs typeface="Trebuchet MS"/>
              </a:rPr>
              <a:t>spaces,</a:t>
            </a:r>
            <a:r>
              <a:rPr sz="2200" spc="-4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25" dirty="0">
                <a:solidFill>
                  <a:srgbClr val="404040"/>
                </a:solidFill>
                <a:latin typeface="Trebuchet MS"/>
                <a:cs typeface="Trebuchet MS"/>
              </a:rPr>
              <a:t>one </a:t>
            </a:r>
            <a:r>
              <a:rPr sz="2200" spc="-70" dirty="0">
                <a:solidFill>
                  <a:srgbClr val="404040"/>
                </a:solidFill>
                <a:latin typeface="Trebuchet MS"/>
                <a:cs typeface="Trebuchet MS"/>
              </a:rPr>
              <a:t>for 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200" spc="-35" dirty="0">
                <a:solidFill>
                  <a:srgbClr val="404040"/>
                </a:solidFill>
                <a:latin typeface="Trebuchet MS"/>
                <a:cs typeface="Trebuchet MS"/>
              </a:rPr>
              <a:t>parent </a:t>
            </a:r>
            <a:r>
              <a:rPr sz="2200" spc="3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the  </a:t>
            </a:r>
            <a:r>
              <a:rPr sz="2200" spc="-45" dirty="0">
                <a:solidFill>
                  <a:srgbClr val="404040"/>
                </a:solidFill>
                <a:latin typeface="Trebuchet MS"/>
                <a:cs typeface="Trebuchet MS"/>
              </a:rPr>
              <a:t>other </a:t>
            </a:r>
            <a:r>
              <a:rPr sz="2200" spc="-70" dirty="0">
                <a:solidFill>
                  <a:srgbClr val="404040"/>
                </a:solidFill>
                <a:latin typeface="Trebuchet MS"/>
                <a:cs typeface="Trebuchet MS"/>
              </a:rPr>
              <a:t>for 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2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5" dirty="0">
                <a:solidFill>
                  <a:srgbClr val="404040"/>
                </a:solidFill>
                <a:latin typeface="Trebuchet MS"/>
                <a:cs typeface="Trebuchet MS"/>
              </a:rPr>
              <a:t>child.</a:t>
            </a:r>
            <a:endParaRPr sz="2200" dirty="0">
              <a:latin typeface="Trebuchet MS"/>
              <a:cs typeface="Trebuchet MS"/>
            </a:endParaRPr>
          </a:p>
          <a:p>
            <a:pPr marL="396875" marR="115570" lvl="1" indent="-18288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2200" spc="45" dirty="0">
                <a:solidFill>
                  <a:srgbClr val="404040"/>
                </a:solidFill>
                <a:latin typeface="Trebuchet MS"/>
                <a:cs typeface="Trebuchet MS"/>
              </a:rPr>
              <a:t>Both </a:t>
            </a:r>
            <a:r>
              <a:rPr sz="2200" spc="75" dirty="0">
                <a:solidFill>
                  <a:srgbClr val="404040"/>
                </a:solidFill>
                <a:latin typeface="Trebuchet MS"/>
                <a:cs typeface="Trebuchet MS"/>
              </a:rPr>
              <a:t>processes </a:t>
            </a:r>
            <a:r>
              <a:rPr sz="2200" spc="-110" dirty="0">
                <a:solidFill>
                  <a:srgbClr val="404040"/>
                </a:solidFill>
                <a:latin typeface="Trebuchet MS"/>
                <a:cs typeface="Trebuchet MS"/>
              </a:rPr>
              <a:t>will </a:t>
            </a:r>
            <a:r>
              <a:rPr sz="2200" spc="-55" dirty="0">
                <a:solidFill>
                  <a:srgbClr val="404040"/>
                </a:solidFill>
                <a:latin typeface="Trebuchet MS"/>
                <a:cs typeface="Trebuchet MS"/>
              </a:rPr>
              <a:t>start </a:t>
            </a:r>
            <a:r>
              <a:rPr sz="2200" spc="-90" dirty="0">
                <a:solidFill>
                  <a:srgbClr val="404040"/>
                </a:solidFill>
                <a:latin typeface="Trebuchet MS"/>
                <a:cs typeface="Trebuchet MS"/>
              </a:rPr>
              <a:t>their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execution </a:t>
            </a:r>
            <a:r>
              <a:rPr sz="2200" spc="-80" dirty="0">
                <a:solidFill>
                  <a:srgbClr val="404040"/>
                </a:solidFill>
                <a:latin typeface="Trebuchet MS"/>
                <a:cs typeface="Trebuchet MS"/>
              </a:rPr>
              <a:t>at 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200" spc="-40" dirty="0">
                <a:solidFill>
                  <a:srgbClr val="404040"/>
                </a:solidFill>
                <a:latin typeface="Trebuchet MS"/>
                <a:cs typeface="Trebuchet MS"/>
              </a:rPr>
              <a:t>next </a:t>
            </a:r>
            <a:r>
              <a:rPr sz="2200" spc="-35" dirty="0">
                <a:solidFill>
                  <a:srgbClr val="404040"/>
                </a:solidFill>
                <a:latin typeface="Trebuchet MS"/>
                <a:cs typeface="Trebuchet MS"/>
              </a:rPr>
              <a:t>statement 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following  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200" spc="-110" dirty="0">
                <a:solidFill>
                  <a:srgbClr val="404040"/>
                </a:solidFill>
                <a:latin typeface="Trebuchet MS"/>
                <a:cs typeface="Trebuchet MS"/>
              </a:rPr>
              <a:t>fork()</a:t>
            </a:r>
            <a:r>
              <a:rPr sz="22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85" dirty="0">
                <a:solidFill>
                  <a:srgbClr val="404040"/>
                </a:solidFill>
                <a:latin typeface="Trebuchet MS"/>
                <a:cs typeface="Trebuchet MS"/>
              </a:rPr>
              <a:t>call.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7</a:t>
            </a:fld>
            <a:endParaRPr spc="3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7676" y="1883664"/>
            <a:ext cx="10344785" cy="3797935"/>
            <a:chOff x="867676" y="1883664"/>
            <a:chExt cx="10344785" cy="3797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4791" y="1883664"/>
              <a:ext cx="9447276" cy="37978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67676" y="3390620"/>
              <a:ext cx="1369695" cy="76200"/>
            </a:xfrm>
            <a:custGeom>
              <a:avLst/>
              <a:gdLst/>
              <a:ahLst/>
              <a:cxnLst/>
              <a:rect l="l" t="t" r="r" b="b"/>
              <a:pathLst>
                <a:path w="1369695" h="76200">
                  <a:moveTo>
                    <a:pt x="1292936" y="76200"/>
                  </a:moveTo>
                  <a:lnTo>
                    <a:pt x="1292936" y="0"/>
                  </a:lnTo>
                  <a:lnTo>
                    <a:pt x="1356436" y="31750"/>
                  </a:lnTo>
                  <a:lnTo>
                    <a:pt x="1311986" y="31750"/>
                  </a:lnTo>
                  <a:lnTo>
                    <a:pt x="1311986" y="44450"/>
                  </a:lnTo>
                  <a:lnTo>
                    <a:pt x="1356436" y="44450"/>
                  </a:lnTo>
                  <a:lnTo>
                    <a:pt x="1292936" y="76200"/>
                  </a:lnTo>
                  <a:close/>
                </a:path>
                <a:path w="1369695" h="76200">
                  <a:moveTo>
                    <a:pt x="1292936" y="44450"/>
                  </a:moveTo>
                  <a:lnTo>
                    <a:pt x="0" y="44450"/>
                  </a:lnTo>
                  <a:lnTo>
                    <a:pt x="0" y="31750"/>
                  </a:lnTo>
                  <a:lnTo>
                    <a:pt x="1292936" y="31750"/>
                  </a:lnTo>
                  <a:lnTo>
                    <a:pt x="1292936" y="44450"/>
                  </a:lnTo>
                  <a:close/>
                </a:path>
                <a:path w="1369695" h="76200">
                  <a:moveTo>
                    <a:pt x="1356436" y="44450"/>
                  </a:moveTo>
                  <a:lnTo>
                    <a:pt x="1311986" y="44450"/>
                  </a:lnTo>
                  <a:lnTo>
                    <a:pt x="1311986" y="31750"/>
                  </a:lnTo>
                  <a:lnTo>
                    <a:pt x="1356436" y="31750"/>
                  </a:lnTo>
                  <a:lnTo>
                    <a:pt x="1369136" y="38100"/>
                  </a:lnTo>
                  <a:lnTo>
                    <a:pt x="1356436" y="4445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87166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Parent</a:t>
            </a:r>
            <a:r>
              <a:rPr spc="-220" dirty="0"/>
              <a:t> </a:t>
            </a:r>
            <a:r>
              <a:rPr spc="55" dirty="0"/>
              <a:t>and</a:t>
            </a:r>
            <a:r>
              <a:rPr spc="-225" dirty="0"/>
              <a:t> </a:t>
            </a:r>
            <a:r>
              <a:rPr spc="-15" dirty="0"/>
              <a:t>Child</a:t>
            </a:r>
            <a:r>
              <a:rPr spc="-220" dirty="0"/>
              <a:t> </a:t>
            </a:r>
            <a:r>
              <a:rPr spc="155" dirty="0"/>
              <a:t>Process</a:t>
            </a:r>
            <a:r>
              <a:rPr spc="-220" dirty="0"/>
              <a:t> </a:t>
            </a:r>
            <a:r>
              <a:rPr spc="150" dirty="0"/>
              <a:t>1</a:t>
            </a:r>
            <a:r>
              <a:rPr spc="-215" dirty="0"/>
              <a:t> </a:t>
            </a:r>
            <a:r>
              <a:rPr spc="100" dirty="0"/>
              <a:t>-</a:t>
            </a:r>
            <a:r>
              <a:rPr spc="-220" dirty="0"/>
              <a:t> </a:t>
            </a:r>
            <a:r>
              <a:rPr spc="-25" dirty="0"/>
              <a:t>pid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4372" y="2144687"/>
            <a:ext cx="1493520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25" dirty="0">
                <a:solidFill>
                  <a:srgbClr val="E38312"/>
                </a:solidFill>
                <a:latin typeface="Trebuchet MS"/>
                <a:cs typeface="Trebuchet MS"/>
              </a:rPr>
              <a:t>Both </a:t>
            </a:r>
            <a:r>
              <a:rPr sz="1400" spc="-25" dirty="0">
                <a:solidFill>
                  <a:srgbClr val="E38312"/>
                </a:solidFill>
                <a:latin typeface="Trebuchet MS"/>
                <a:cs typeface="Trebuchet MS"/>
              </a:rPr>
              <a:t>parent </a:t>
            </a:r>
            <a:r>
              <a:rPr sz="1400" spc="25" dirty="0">
                <a:solidFill>
                  <a:srgbClr val="E38312"/>
                </a:solidFill>
                <a:latin typeface="Trebuchet MS"/>
                <a:cs typeface="Trebuchet MS"/>
              </a:rPr>
              <a:t>and 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</a:t>
            </a:r>
            <a:r>
              <a:rPr sz="1400" spc="-11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E38312"/>
                </a:solidFill>
                <a:latin typeface="Trebuchet MS"/>
                <a:cs typeface="Trebuchet MS"/>
              </a:rPr>
              <a:t>start  </a:t>
            </a:r>
            <a:r>
              <a:rPr sz="1400" spc="-10" dirty="0">
                <a:solidFill>
                  <a:srgbClr val="E38312"/>
                </a:solidFill>
                <a:latin typeface="Trebuchet MS"/>
                <a:cs typeface="Trebuchet MS"/>
              </a:rPr>
              <a:t>execution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from  </a:t>
            </a:r>
            <a:r>
              <a:rPr sz="1400" spc="-25" dirty="0">
                <a:solidFill>
                  <a:srgbClr val="E38312"/>
                </a:solidFill>
                <a:latin typeface="Trebuchet MS"/>
                <a:cs typeface="Trebuchet MS"/>
              </a:rPr>
              <a:t>next statement  </a:t>
            </a:r>
            <a:r>
              <a:rPr sz="1400" spc="-65" dirty="0">
                <a:solidFill>
                  <a:srgbClr val="E38312"/>
                </a:solidFill>
                <a:latin typeface="Trebuchet MS"/>
                <a:cs typeface="Trebuchet MS"/>
              </a:rPr>
              <a:t>after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fork</a:t>
            </a:r>
            <a:r>
              <a:rPr sz="1400" spc="-2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E38312"/>
                </a:solidFill>
                <a:latin typeface="Trebuchet MS"/>
                <a:cs typeface="Trebuchet MS"/>
              </a:rPr>
              <a:t>call.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20531" y="4224832"/>
            <a:ext cx="947419" cy="713740"/>
          </a:xfrm>
          <a:custGeom>
            <a:avLst/>
            <a:gdLst/>
            <a:ahLst/>
            <a:cxnLst/>
            <a:rect l="l" t="t" r="r" b="b"/>
            <a:pathLst>
              <a:path w="947419" h="713739">
                <a:moveTo>
                  <a:pt x="647611" y="700455"/>
                </a:moveTo>
                <a:lnTo>
                  <a:pt x="115811" y="700049"/>
                </a:lnTo>
                <a:lnTo>
                  <a:pt x="115798" y="712749"/>
                </a:lnTo>
                <a:lnTo>
                  <a:pt x="647598" y="713155"/>
                </a:lnTo>
                <a:lnTo>
                  <a:pt x="647611" y="700455"/>
                </a:lnTo>
                <a:close/>
              </a:path>
              <a:path w="947419" h="713739">
                <a:moveTo>
                  <a:pt x="946899" y="12700"/>
                </a:moveTo>
                <a:lnTo>
                  <a:pt x="946823" y="0"/>
                </a:lnTo>
                <a:lnTo>
                  <a:pt x="0" y="5537"/>
                </a:lnTo>
                <a:lnTo>
                  <a:pt x="76" y="18237"/>
                </a:lnTo>
                <a:lnTo>
                  <a:pt x="946899" y="1270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8</a:t>
            </a:fld>
            <a:endParaRPr spc="3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5684" y="1905000"/>
            <a:ext cx="9946005" cy="3392804"/>
            <a:chOff x="1153667" y="1926335"/>
            <a:chExt cx="9946005" cy="33928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667" y="1926335"/>
              <a:ext cx="9945624" cy="33924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755248" y="3906672"/>
              <a:ext cx="948055" cy="287020"/>
            </a:xfrm>
            <a:custGeom>
              <a:avLst/>
              <a:gdLst/>
              <a:ahLst/>
              <a:cxnLst/>
              <a:rect l="l" t="t" r="r" b="b"/>
              <a:pathLst>
                <a:path w="948054" h="287020">
                  <a:moveTo>
                    <a:pt x="939800" y="286727"/>
                  </a:moveTo>
                  <a:lnTo>
                    <a:pt x="7937" y="286727"/>
                  </a:lnTo>
                  <a:lnTo>
                    <a:pt x="5892" y="286448"/>
                  </a:lnTo>
                  <a:lnTo>
                    <a:pt x="0" y="278790"/>
                  </a:lnTo>
                  <a:lnTo>
                    <a:pt x="0" y="7937"/>
                  </a:lnTo>
                  <a:lnTo>
                    <a:pt x="7937" y="0"/>
                  </a:lnTo>
                  <a:lnTo>
                    <a:pt x="939800" y="0"/>
                  </a:lnTo>
                  <a:lnTo>
                    <a:pt x="947737" y="7937"/>
                  </a:lnTo>
                  <a:lnTo>
                    <a:pt x="15875" y="7937"/>
                  </a:lnTo>
                  <a:lnTo>
                    <a:pt x="7937" y="15875"/>
                  </a:lnTo>
                  <a:lnTo>
                    <a:pt x="15875" y="15875"/>
                  </a:lnTo>
                  <a:lnTo>
                    <a:pt x="15875" y="270852"/>
                  </a:lnTo>
                  <a:lnTo>
                    <a:pt x="7937" y="270852"/>
                  </a:lnTo>
                  <a:lnTo>
                    <a:pt x="15875" y="278790"/>
                  </a:lnTo>
                  <a:lnTo>
                    <a:pt x="947737" y="278790"/>
                  </a:lnTo>
                  <a:lnTo>
                    <a:pt x="947470" y="280835"/>
                  </a:lnTo>
                  <a:lnTo>
                    <a:pt x="946670" y="282752"/>
                  </a:lnTo>
                  <a:lnTo>
                    <a:pt x="945413" y="284391"/>
                  </a:lnTo>
                  <a:lnTo>
                    <a:pt x="943775" y="285661"/>
                  </a:lnTo>
                  <a:lnTo>
                    <a:pt x="941857" y="286448"/>
                  </a:lnTo>
                  <a:lnTo>
                    <a:pt x="939800" y="286727"/>
                  </a:lnTo>
                  <a:close/>
                </a:path>
                <a:path w="948054" h="287020">
                  <a:moveTo>
                    <a:pt x="15875" y="15875"/>
                  </a:moveTo>
                  <a:lnTo>
                    <a:pt x="7937" y="15875"/>
                  </a:lnTo>
                  <a:lnTo>
                    <a:pt x="15875" y="7937"/>
                  </a:lnTo>
                  <a:lnTo>
                    <a:pt x="15875" y="15875"/>
                  </a:lnTo>
                  <a:close/>
                </a:path>
                <a:path w="948054" h="287020">
                  <a:moveTo>
                    <a:pt x="931862" y="15875"/>
                  </a:moveTo>
                  <a:lnTo>
                    <a:pt x="15875" y="15875"/>
                  </a:lnTo>
                  <a:lnTo>
                    <a:pt x="15875" y="7937"/>
                  </a:lnTo>
                  <a:lnTo>
                    <a:pt x="931862" y="7937"/>
                  </a:lnTo>
                  <a:lnTo>
                    <a:pt x="931862" y="15875"/>
                  </a:lnTo>
                  <a:close/>
                </a:path>
                <a:path w="948054" h="287020">
                  <a:moveTo>
                    <a:pt x="931862" y="278790"/>
                  </a:moveTo>
                  <a:lnTo>
                    <a:pt x="931862" y="7937"/>
                  </a:lnTo>
                  <a:lnTo>
                    <a:pt x="939800" y="15875"/>
                  </a:lnTo>
                  <a:lnTo>
                    <a:pt x="947737" y="15875"/>
                  </a:lnTo>
                  <a:lnTo>
                    <a:pt x="947737" y="270852"/>
                  </a:lnTo>
                  <a:lnTo>
                    <a:pt x="939800" y="270852"/>
                  </a:lnTo>
                  <a:lnTo>
                    <a:pt x="931862" y="278790"/>
                  </a:lnTo>
                  <a:close/>
                </a:path>
                <a:path w="948054" h="287020">
                  <a:moveTo>
                    <a:pt x="947737" y="15875"/>
                  </a:moveTo>
                  <a:lnTo>
                    <a:pt x="939800" y="15875"/>
                  </a:lnTo>
                  <a:lnTo>
                    <a:pt x="931862" y="7937"/>
                  </a:lnTo>
                  <a:lnTo>
                    <a:pt x="947737" y="7937"/>
                  </a:lnTo>
                  <a:lnTo>
                    <a:pt x="947737" y="15875"/>
                  </a:lnTo>
                  <a:close/>
                </a:path>
                <a:path w="948054" h="287020">
                  <a:moveTo>
                    <a:pt x="15875" y="278790"/>
                  </a:moveTo>
                  <a:lnTo>
                    <a:pt x="7937" y="270852"/>
                  </a:lnTo>
                  <a:lnTo>
                    <a:pt x="15875" y="270852"/>
                  </a:lnTo>
                  <a:lnTo>
                    <a:pt x="15875" y="278790"/>
                  </a:lnTo>
                  <a:close/>
                </a:path>
                <a:path w="948054" h="287020">
                  <a:moveTo>
                    <a:pt x="931862" y="278790"/>
                  </a:moveTo>
                  <a:lnTo>
                    <a:pt x="15875" y="278790"/>
                  </a:lnTo>
                  <a:lnTo>
                    <a:pt x="15875" y="270852"/>
                  </a:lnTo>
                  <a:lnTo>
                    <a:pt x="931862" y="270852"/>
                  </a:lnTo>
                  <a:lnTo>
                    <a:pt x="931862" y="278790"/>
                  </a:lnTo>
                  <a:close/>
                </a:path>
                <a:path w="948054" h="287020">
                  <a:moveTo>
                    <a:pt x="947737" y="278790"/>
                  </a:moveTo>
                  <a:lnTo>
                    <a:pt x="931862" y="278790"/>
                  </a:lnTo>
                  <a:lnTo>
                    <a:pt x="939800" y="270852"/>
                  </a:lnTo>
                  <a:lnTo>
                    <a:pt x="947737" y="270852"/>
                  </a:lnTo>
                  <a:lnTo>
                    <a:pt x="947737" y="278790"/>
                  </a:lnTo>
                  <a:close/>
                </a:path>
              </a:pathLst>
            </a:custGeom>
            <a:solidFill>
              <a:srgbClr val="F3B5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7320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Parent </a:t>
            </a:r>
            <a:r>
              <a:rPr spc="55" dirty="0"/>
              <a:t>and </a:t>
            </a:r>
            <a:r>
              <a:rPr spc="-15" dirty="0"/>
              <a:t>Child </a:t>
            </a:r>
            <a:r>
              <a:rPr spc="155" dirty="0"/>
              <a:t>Process</a:t>
            </a:r>
            <a:r>
              <a:rPr spc="-875" dirty="0"/>
              <a:t> </a:t>
            </a:r>
            <a:r>
              <a:rPr spc="150" dirty="0"/>
              <a:t>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83051" y="2760383"/>
            <a:ext cx="2208530" cy="109220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98450" marR="113664" indent="-285750">
              <a:lnSpc>
                <a:spcPts val="1670"/>
              </a:lnSpc>
              <a:spcBef>
                <a:spcPts val="16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400" b="1" spc="-60" dirty="0">
                <a:solidFill>
                  <a:srgbClr val="E38312"/>
                </a:solidFill>
                <a:latin typeface="Century Gothic"/>
                <a:cs typeface="Century Gothic"/>
              </a:rPr>
              <a:t>getpid()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returns </a:t>
            </a:r>
            <a:r>
              <a:rPr sz="1400" spc="70" dirty="0">
                <a:solidFill>
                  <a:srgbClr val="E38312"/>
                </a:solidFill>
                <a:latin typeface="Trebuchet MS"/>
                <a:cs typeface="Trebuchet MS"/>
              </a:rPr>
              <a:t>PID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of 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calling</a:t>
            </a:r>
            <a:r>
              <a:rPr sz="1400" spc="-4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5" dirty="0">
                <a:solidFill>
                  <a:srgbClr val="E38312"/>
                </a:solidFill>
                <a:latin typeface="Trebuchet MS"/>
                <a:cs typeface="Trebuchet MS"/>
              </a:rPr>
              <a:t>system.</a:t>
            </a:r>
            <a:endParaRPr sz="1400">
              <a:latin typeface="Trebuchet MS"/>
              <a:cs typeface="Trebuchet MS"/>
            </a:endParaRPr>
          </a:p>
          <a:p>
            <a:pPr marL="298450" marR="5080" indent="-285750">
              <a:lnSpc>
                <a:spcPts val="1670"/>
              </a:lnSpc>
              <a:spcBef>
                <a:spcPts val="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400" b="1" spc="-60" dirty="0">
                <a:solidFill>
                  <a:srgbClr val="E38312"/>
                </a:solidFill>
                <a:latin typeface="Century Gothic"/>
                <a:cs typeface="Century Gothic"/>
              </a:rPr>
              <a:t>getppid()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returns </a:t>
            </a:r>
            <a:r>
              <a:rPr sz="1400" spc="70" dirty="0">
                <a:solidFill>
                  <a:srgbClr val="E38312"/>
                </a:solidFill>
                <a:latin typeface="Trebuchet MS"/>
                <a:cs typeface="Trebuchet MS"/>
              </a:rPr>
              <a:t>PID</a:t>
            </a:r>
            <a:r>
              <a:rPr sz="1400" spc="-5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of 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the </a:t>
            </a:r>
            <a:r>
              <a:rPr sz="1400" spc="-25" dirty="0">
                <a:solidFill>
                  <a:srgbClr val="E38312"/>
                </a:solidFill>
                <a:latin typeface="Trebuchet MS"/>
                <a:cs typeface="Trebuchet MS"/>
              </a:rPr>
              <a:t>parent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of</a:t>
            </a:r>
            <a:r>
              <a:rPr sz="1400" spc="-6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calling</a:t>
            </a:r>
            <a:endParaRPr sz="1400">
              <a:latin typeface="Trebuchet MS"/>
              <a:cs typeface="Trebuchet MS"/>
            </a:endParaRPr>
          </a:p>
          <a:p>
            <a:pPr marL="298450">
              <a:lnSpc>
                <a:spcPts val="1625"/>
              </a:lnSpc>
            </a:pPr>
            <a:r>
              <a:rPr sz="1400" spc="5" dirty="0">
                <a:solidFill>
                  <a:srgbClr val="E38312"/>
                </a:solidFill>
                <a:latin typeface="Trebuchet MS"/>
                <a:cs typeface="Trebuchet MS"/>
              </a:rPr>
              <a:t>system.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42719" y="2952978"/>
            <a:ext cx="7816850" cy="1744980"/>
          </a:xfrm>
          <a:custGeom>
            <a:avLst/>
            <a:gdLst/>
            <a:ahLst/>
            <a:cxnLst/>
            <a:rect l="l" t="t" r="r" b="b"/>
            <a:pathLst>
              <a:path w="7816850" h="1744979">
                <a:moveTo>
                  <a:pt x="490943" y="1725117"/>
                </a:moveTo>
                <a:lnTo>
                  <a:pt x="490448" y="1712429"/>
                </a:lnTo>
                <a:lnTo>
                  <a:pt x="0" y="1731822"/>
                </a:lnTo>
                <a:lnTo>
                  <a:pt x="495" y="1744522"/>
                </a:lnTo>
                <a:lnTo>
                  <a:pt x="490943" y="1725117"/>
                </a:lnTo>
                <a:close/>
              </a:path>
              <a:path w="7816850" h="1744979">
                <a:moveTo>
                  <a:pt x="6777634" y="137388"/>
                </a:moveTo>
                <a:lnTo>
                  <a:pt x="6777533" y="124688"/>
                </a:lnTo>
                <a:lnTo>
                  <a:pt x="5825718" y="132219"/>
                </a:lnTo>
                <a:lnTo>
                  <a:pt x="5825820" y="144919"/>
                </a:lnTo>
                <a:lnTo>
                  <a:pt x="6777634" y="137388"/>
                </a:lnTo>
                <a:close/>
              </a:path>
              <a:path w="7816850" h="1744979">
                <a:moveTo>
                  <a:pt x="7816723" y="12700"/>
                </a:moveTo>
                <a:lnTo>
                  <a:pt x="7816621" y="0"/>
                </a:lnTo>
                <a:lnTo>
                  <a:pt x="6835711" y="8318"/>
                </a:lnTo>
                <a:lnTo>
                  <a:pt x="6835826" y="21018"/>
                </a:lnTo>
                <a:lnTo>
                  <a:pt x="7816723" y="1270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92108" y="4868888"/>
            <a:ext cx="168910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Let </a:t>
            </a:r>
            <a:r>
              <a:rPr sz="1400" spc="-25" dirty="0">
                <a:solidFill>
                  <a:srgbClr val="E38312"/>
                </a:solidFill>
                <a:latin typeface="Trebuchet MS"/>
                <a:cs typeface="Trebuchet MS"/>
              </a:rPr>
              <a:t>parent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 </a:t>
            </a:r>
            <a:r>
              <a:rPr sz="1400" spc="-35" dirty="0">
                <a:solidFill>
                  <a:srgbClr val="E38312"/>
                </a:solidFill>
                <a:latin typeface="Trebuchet MS"/>
                <a:cs typeface="Trebuchet MS"/>
              </a:rPr>
              <a:t>to </a:t>
            </a:r>
            <a:r>
              <a:rPr sz="1400" spc="10" dirty="0">
                <a:solidFill>
                  <a:srgbClr val="E38312"/>
                </a:solidFill>
                <a:latin typeface="Trebuchet MS"/>
                <a:cs typeface="Trebuchet MS"/>
              </a:rPr>
              <a:t>sleep </a:t>
            </a:r>
            <a:r>
              <a:rPr sz="1400" spc="-45" dirty="0">
                <a:solidFill>
                  <a:srgbClr val="E38312"/>
                </a:solidFill>
                <a:latin typeface="Trebuchet MS"/>
                <a:cs typeface="Trebuchet MS"/>
              </a:rPr>
              <a:t>for </a:t>
            </a:r>
            <a:r>
              <a:rPr sz="1400" spc="15" dirty="0">
                <a:solidFill>
                  <a:srgbClr val="E38312"/>
                </a:solidFill>
                <a:latin typeface="Trebuchet MS"/>
                <a:cs typeface="Trebuchet MS"/>
              </a:rPr>
              <a:t>3s, </a:t>
            </a:r>
            <a:r>
              <a:rPr sz="1400" spc="25" dirty="0">
                <a:solidFill>
                  <a:srgbClr val="E38312"/>
                </a:solidFill>
                <a:latin typeface="Trebuchet MS"/>
                <a:cs typeface="Trebuchet MS"/>
              </a:rPr>
              <a:t>and 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then </a:t>
            </a:r>
            <a:r>
              <a:rPr sz="1400" spc="-50" dirty="0">
                <a:solidFill>
                  <a:srgbClr val="E38312"/>
                </a:solidFill>
                <a:latin typeface="Trebuchet MS"/>
                <a:cs typeface="Trebuchet MS"/>
              </a:rPr>
              <a:t>print</a:t>
            </a:r>
            <a:r>
              <a:rPr sz="1400" spc="-7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40" dirty="0">
                <a:solidFill>
                  <a:srgbClr val="E38312"/>
                </a:solidFill>
                <a:latin typeface="Trebuchet MS"/>
                <a:cs typeface="Trebuchet MS"/>
              </a:rPr>
              <a:t>messages.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9</a:t>
            </a:fld>
            <a:endParaRPr spc="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2811" y="1872995"/>
            <a:ext cx="10126980" cy="3378835"/>
            <a:chOff x="1162811" y="1872995"/>
            <a:chExt cx="10126980" cy="3378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811" y="1872995"/>
              <a:ext cx="10126980" cy="3378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82384" y="2885579"/>
              <a:ext cx="925901" cy="2463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22183" y="2887167"/>
              <a:ext cx="929005" cy="26034"/>
            </a:xfrm>
            <a:custGeom>
              <a:avLst/>
              <a:gdLst/>
              <a:ahLst/>
              <a:cxnLst/>
              <a:rect l="l" t="t" r="r" b="b"/>
              <a:pathLst>
                <a:path w="929004" h="26035">
                  <a:moveTo>
                    <a:pt x="177" y="25869"/>
                  </a:moveTo>
                  <a:lnTo>
                    <a:pt x="0" y="13169"/>
                  </a:lnTo>
                  <a:lnTo>
                    <a:pt x="928535" y="0"/>
                  </a:lnTo>
                  <a:lnTo>
                    <a:pt x="928712" y="12700"/>
                  </a:lnTo>
                  <a:lnTo>
                    <a:pt x="177" y="25869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7320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Parent </a:t>
            </a:r>
            <a:r>
              <a:rPr spc="55" dirty="0"/>
              <a:t>and </a:t>
            </a:r>
            <a:r>
              <a:rPr spc="-15" dirty="0"/>
              <a:t>Child </a:t>
            </a:r>
            <a:r>
              <a:rPr spc="155" dirty="0"/>
              <a:t>Process</a:t>
            </a:r>
            <a:r>
              <a:rPr spc="-875" dirty="0"/>
              <a:t> </a:t>
            </a:r>
            <a:r>
              <a:rPr spc="150" dirty="0"/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997851" y="3039527"/>
            <a:ext cx="2894965" cy="1965923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R="74295" algn="ctr">
              <a:lnSpc>
                <a:spcPct val="100000"/>
              </a:lnSpc>
              <a:spcBef>
                <a:spcPts val="990"/>
              </a:spcBef>
            </a:pPr>
            <a:r>
              <a:rPr sz="1400" spc="95" dirty="0">
                <a:solidFill>
                  <a:srgbClr val="E38312"/>
                </a:solidFill>
                <a:latin typeface="Trebuchet MS"/>
                <a:cs typeface="Trebuchet MS"/>
              </a:rPr>
              <a:t>Why?</a:t>
            </a:r>
            <a:endParaRPr sz="1400" dirty="0">
              <a:latin typeface="Trebuchet MS"/>
              <a:cs typeface="Trebuchet MS"/>
            </a:endParaRPr>
          </a:p>
          <a:p>
            <a:pPr marL="12700" marR="86360">
              <a:lnSpc>
                <a:spcPct val="100000"/>
              </a:lnSpc>
              <a:spcBef>
                <a:spcPts val="890"/>
              </a:spcBef>
            </a:pPr>
            <a:r>
              <a:rPr sz="1400" spc="-15" dirty="0">
                <a:solidFill>
                  <a:srgbClr val="E38312"/>
                </a:solidFill>
                <a:latin typeface="Trebuchet MS"/>
                <a:cs typeface="Trebuchet MS"/>
              </a:rPr>
              <a:t>Parent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</a:t>
            </a:r>
            <a:r>
              <a:rPr sz="1400" spc="-35" dirty="0">
                <a:solidFill>
                  <a:srgbClr val="E38312"/>
                </a:solidFill>
                <a:latin typeface="Trebuchet MS"/>
                <a:cs typeface="Trebuchet MS"/>
              </a:rPr>
              <a:t>terminates, </a:t>
            </a:r>
            <a:r>
              <a:rPr sz="1400" spc="25" dirty="0">
                <a:solidFill>
                  <a:srgbClr val="E38312"/>
                </a:solidFill>
                <a:latin typeface="Trebuchet MS"/>
                <a:cs typeface="Trebuchet MS"/>
              </a:rPr>
              <a:t>and</a:t>
            </a:r>
            <a:r>
              <a:rPr sz="1400" spc="-18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the 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</a:t>
            </a:r>
            <a:r>
              <a:rPr sz="1400" spc="20" dirty="0">
                <a:solidFill>
                  <a:srgbClr val="E38312"/>
                </a:solidFill>
                <a:latin typeface="Trebuchet MS"/>
                <a:cs typeface="Trebuchet MS"/>
              </a:rPr>
              <a:t>is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inherited </a:t>
            </a:r>
            <a:r>
              <a:rPr sz="1400" spc="30" dirty="0">
                <a:solidFill>
                  <a:srgbClr val="E38312"/>
                </a:solidFill>
                <a:latin typeface="Trebuchet MS"/>
                <a:cs typeface="Trebuchet MS"/>
              </a:rPr>
              <a:t>by</a:t>
            </a:r>
            <a:r>
              <a:rPr lang="en-US" sz="1400" spc="-75" dirty="0">
                <a:solidFill>
                  <a:srgbClr val="E38312"/>
                </a:solidFill>
                <a:latin typeface="Trebuchet MS"/>
                <a:cs typeface="Trebuchet MS"/>
              </a:rPr>
              <a:t> init </a:t>
            </a:r>
            <a:r>
              <a:rPr sz="1400" spc="20" dirty="0">
                <a:solidFill>
                  <a:srgbClr val="E38312"/>
                </a:solidFill>
                <a:latin typeface="Trebuchet MS"/>
                <a:cs typeface="Trebuchet MS"/>
              </a:rPr>
              <a:t>process, </a:t>
            </a:r>
            <a:r>
              <a:rPr sz="1400" spc="40" dirty="0">
                <a:solidFill>
                  <a:srgbClr val="E38312"/>
                </a:solidFill>
                <a:latin typeface="Trebuchet MS"/>
                <a:cs typeface="Trebuchet MS"/>
              </a:rPr>
              <a:t>whose </a:t>
            </a:r>
            <a:r>
              <a:rPr sz="1400" dirty="0">
                <a:solidFill>
                  <a:srgbClr val="E38312"/>
                </a:solidFill>
                <a:latin typeface="Trebuchet MS"/>
                <a:cs typeface="Trebuchet MS"/>
              </a:rPr>
              <a:t>pid </a:t>
            </a:r>
            <a:r>
              <a:rPr sz="1400" spc="20" dirty="0">
                <a:solidFill>
                  <a:srgbClr val="E38312"/>
                </a:solidFill>
                <a:latin typeface="Trebuchet MS"/>
                <a:cs typeface="Trebuchet MS"/>
              </a:rPr>
              <a:t>is </a:t>
            </a:r>
            <a:r>
              <a:rPr sz="1400" spc="40" dirty="0">
                <a:solidFill>
                  <a:srgbClr val="E38312"/>
                </a:solidFill>
                <a:latin typeface="Trebuchet MS"/>
                <a:cs typeface="Trebuchet MS"/>
              </a:rPr>
              <a:t>1378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in </a:t>
            </a:r>
            <a:r>
              <a:rPr sz="1400" spc="20" dirty="0">
                <a:solidFill>
                  <a:srgbClr val="E38312"/>
                </a:solidFill>
                <a:latin typeface="Trebuchet MS"/>
                <a:cs typeface="Trebuchet MS"/>
              </a:rPr>
              <a:t>my 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example. </a:t>
            </a:r>
            <a:r>
              <a:rPr sz="1400" spc="-70" dirty="0">
                <a:solidFill>
                  <a:srgbClr val="E38312"/>
                </a:solidFill>
                <a:latin typeface="Trebuchet MS"/>
                <a:cs typeface="Trebuchet MS"/>
              </a:rPr>
              <a:t>It </a:t>
            </a:r>
            <a:r>
              <a:rPr sz="1400" spc="15" dirty="0">
                <a:solidFill>
                  <a:srgbClr val="E38312"/>
                </a:solidFill>
                <a:latin typeface="Trebuchet MS"/>
                <a:cs typeface="Trebuchet MS"/>
              </a:rPr>
              <a:t>may </a:t>
            </a:r>
            <a:r>
              <a:rPr sz="1400" spc="30" dirty="0">
                <a:solidFill>
                  <a:srgbClr val="E38312"/>
                </a:solidFill>
                <a:latin typeface="Trebuchet MS"/>
                <a:cs typeface="Trebuchet MS"/>
              </a:rPr>
              <a:t>change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every </a:t>
            </a:r>
            <a:r>
              <a:rPr sz="1400" spc="-50" dirty="0">
                <a:solidFill>
                  <a:srgbClr val="E38312"/>
                </a:solidFill>
                <a:latin typeface="Trebuchet MS"/>
                <a:cs typeface="Trebuchet MS"/>
              </a:rPr>
              <a:t>time  </a:t>
            </a:r>
            <a:r>
              <a:rPr sz="1400" spc="-5" dirty="0">
                <a:solidFill>
                  <a:srgbClr val="E38312"/>
                </a:solidFill>
                <a:latin typeface="Trebuchet MS"/>
                <a:cs typeface="Trebuchet MS"/>
              </a:rPr>
              <a:t>rebooting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the</a:t>
            </a:r>
            <a:r>
              <a:rPr sz="1400" spc="-8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70" dirty="0">
                <a:solidFill>
                  <a:srgbClr val="E38312"/>
                </a:solidFill>
                <a:latin typeface="Trebuchet MS"/>
                <a:cs typeface="Trebuchet MS"/>
              </a:rPr>
              <a:t>OS.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25" dirty="0">
                <a:solidFill>
                  <a:srgbClr val="E38312"/>
                </a:solidFill>
                <a:latin typeface="Trebuchet MS"/>
                <a:cs typeface="Trebuchet MS"/>
              </a:rPr>
              <a:t>When </a:t>
            </a:r>
            <a:r>
              <a:rPr sz="1400" spc="-15" dirty="0">
                <a:solidFill>
                  <a:srgbClr val="E38312"/>
                </a:solidFill>
                <a:latin typeface="Trebuchet MS"/>
                <a:cs typeface="Trebuchet MS"/>
              </a:rPr>
              <a:t>testing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in </a:t>
            </a:r>
            <a:r>
              <a:rPr sz="1400" spc="100" dirty="0">
                <a:solidFill>
                  <a:srgbClr val="E38312"/>
                </a:solidFill>
                <a:latin typeface="Trebuchet MS"/>
                <a:cs typeface="Trebuchet MS"/>
              </a:rPr>
              <a:t>Mac </a:t>
            </a:r>
            <a:r>
              <a:rPr sz="1400" spc="70" dirty="0">
                <a:solidFill>
                  <a:srgbClr val="E38312"/>
                </a:solidFill>
                <a:latin typeface="Trebuchet MS"/>
                <a:cs typeface="Trebuchet MS"/>
              </a:rPr>
              <a:t>OS,</a:t>
            </a:r>
            <a:r>
              <a:rPr sz="1400" spc="-23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E38312"/>
                </a:solidFill>
                <a:latin typeface="Trebuchet MS"/>
                <a:cs typeface="Trebuchet MS"/>
              </a:rPr>
              <a:t>it </a:t>
            </a:r>
            <a:r>
              <a:rPr sz="1400" spc="-15" dirty="0">
                <a:solidFill>
                  <a:srgbClr val="E38312"/>
                </a:solidFill>
                <a:latin typeface="Trebuchet MS"/>
                <a:cs typeface="Trebuchet MS"/>
              </a:rPr>
              <a:t>might </a:t>
            </a:r>
            <a:r>
              <a:rPr sz="1400" spc="15" dirty="0">
                <a:solidFill>
                  <a:srgbClr val="E38312"/>
                </a:solidFill>
                <a:latin typeface="Trebuchet MS"/>
                <a:cs typeface="Trebuchet MS"/>
              </a:rPr>
              <a:t>be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-1.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8867" y="5018252"/>
            <a:ext cx="200723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E38312"/>
                </a:solidFill>
                <a:latin typeface="Trebuchet MS"/>
                <a:cs typeface="Trebuchet MS"/>
              </a:rPr>
              <a:t>Parent </a:t>
            </a:r>
            <a:r>
              <a:rPr sz="1400" spc="25" dirty="0">
                <a:solidFill>
                  <a:srgbClr val="E38312"/>
                </a:solidFill>
                <a:latin typeface="Trebuchet MS"/>
                <a:cs typeface="Trebuchet MS"/>
              </a:rPr>
              <a:t>and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</a:t>
            </a:r>
            <a:r>
              <a:rPr sz="1400" spc="-15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 </a:t>
            </a:r>
            <a:r>
              <a:rPr sz="1400" spc="15" dirty="0">
                <a:solidFill>
                  <a:srgbClr val="E38312"/>
                </a:solidFill>
                <a:latin typeface="Trebuchet MS"/>
                <a:cs typeface="Trebuchet MS"/>
              </a:rPr>
              <a:t>runs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concurrently </a:t>
            </a:r>
            <a:r>
              <a:rPr sz="1400" spc="-65" dirty="0">
                <a:solidFill>
                  <a:srgbClr val="E38312"/>
                </a:solidFill>
                <a:latin typeface="Trebuchet MS"/>
                <a:cs typeface="Trebuchet MS"/>
              </a:rPr>
              <a:t>after 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forking.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85594" y="4690541"/>
            <a:ext cx="607060" cy="13970"/>
          </a:xfrm>
          <a:custGeom>
            <a:avLst/>
            <a:gdLst/>
            <a:ahLst/>
            <a:cxnLst/>
            <a:rect l="l" t="t" r="r" b="b"/>
            <a:pathLst>
              <a:path w="607060" h="13970">
                <a:moveTo>
                  <a:pt x="12" y="13525"/>
                </a:moveTo>
                <a:lnTo>
                  <a:pt x="0" y="825"/>
                </a:lnTo>
                <a:lnTo>
                  <a:pt x="607034" y="0"/>
                </a:lnTo>
                <a:lnTo>
                  <a:pt x="607047" y="12700"/>
                </a:lnTo>
                <a:lnTo>
                  <a:pt x="12" y="13525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10</a:t>
            </a:fld>
            <a:endParaRPr spc="3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728218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Parent </a:t>
            </a:r>
            <a:r>
              <a:rPr spc="55" dirty="0"/>
              <a:t>and </a:t>
            </a:r>
            <a:r>
              <a:rPr spc="-15" dirty="0"/>
              <a:t>Child</a:t>
            </a:r>
            <a:r>
              <a:rPr lang="en-US" spc="-15" dirty="0"/>
              <a:t> </a:t>
            </a:r>
            <a:r>
              <a:rPr spc="-675" dirty="0"/>
              <a:t> </a:t>
            </a:r>
            <a:r>
              <a:rPr spc="155" dirty="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4723" y="1813560"/>
            <a:ext cx="6435852" cy="44043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11</a:t>
            </a:fld>
            <a:endParaRPr spc="3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40741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Executing </a:t>
            </a:r>
            <a:r>
              <a:rPr spc="55" dirty="0"/>
              <a:t>a</a:t>
            </a:r>
            <a:r>
              <a:rPr spc="-480" dirty="0"/>
              <a:t> </a:t>
            </a:r>
            <a:r>
              <a:rPr spc="-305" dirty="0"/>
              <a:t>file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12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848269"/>
            <a:ext cx="9685655" cy="341054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03505" marR="5080" indent="-91440">
              <a:lnSpc>
                <a:spcPct val="89600"/>
              </a:lnSpc>
              <a:spcBef>
                <a:spcPts val="355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b="1" spc="-114" dirty="0">
                <a:solidFill>
                  <a:srgbClr val="404040"/>
                </a:solidFill>
                <a:latin typeface="Century Gothic"/>
                <a:cs typeface="Century Gothic"/>
              </a:rPr>
              <a:t>exec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functionality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an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operating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system 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that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runs 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an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executable </a:t>
            </a:r>
            <a:r>
              <a:rPr sz="2000" spc="-114" dirty="0">
                <a:solidFill>
                  <a:srgbClr val="404040"/>
                </a:solidFill>
                <a:latin typeface="Trebuchet MS"/>
                <a:cs typeface="Trebuchet MS"/>
              </a:rPr>
              <a:t>file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in the 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context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an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already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existing 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process,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replacing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previous 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executable. 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2000" spc="-4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000" spc="-4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act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  also 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referred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2000" spc="105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2000" spc="-2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overlay.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E38312"/>
              </a:buClr>
              <a:buFont typeface="Wingdings"/>
              <a:buChar char=""/>
            </a:pPr>
            <a:endParaRPr sz="2300" dirty="0">
              <a:latin typeface="Trebuchet MS"/>
              <a:cs typeface="Trebuchet MS"/>
            </a:endParaRPr>
          </a:p>
          <a:p>
            <a:pPr marL="199390" indent="-186690">
              <a:lnSpc>
                <a:spcPct val="100000"/>
              </a:lnSpc>
              <a:spcBef>
                <a:spcPts val="2045"/>
              </a:spcBef>
              <a:buClr>
                <a:srgbClr val="E38312"/>
              </a:buClr>
              <a:buFont typeface="Wingdings"/>
              <a:buChar char=""/>
              <a:tabLst>
                <a:tab pos="199390" algn="l"/>
              </a:tabLst>
            </a:pPr>
            <a:r>
              <a:rPr sz="2000" spc="60" dirty="0">
                <a:solidFill>
                  <a:srgbClr val="404040"/>
                </a:solidFill>
                <a:latin typeface="Trebuchet MS"/>
                <a:cs typeface="Trebuchet MS"/>
              </a:rPr>
              <a:t>Exec 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2000" spc="-1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family</a:t>
            </a:r>
            <a:endParaRPr sz="20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204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int </a:t>
            </a:r>
            <a:r>
              <a:rPr sz="1800" b="1" spc="-75" dirty="0">
                <a:solidFill>
                  <a:srgbClr val="FF0000"/>
                </a:solidFill>
                <a:latin typeface="Century Gothic"/>
                <a:cs typeface="Century Gothic"/>
              </a:rPr>
              <a:t>execl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(const char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*filename, </a:t>
            </a:r>
            <a:r>
              <a:rPr sz="1800" spc="30" dirty="0">
                <a:solidFill>
                  <a:srgbClr val="404040"/>
                </a:solidFill>
                <a:latin typeface="Trebuchet MS"/>
                <a:cs typeface="Trebuchet MS"/>
              </a:rPr>
              <a:t>const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char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*arg0,</a:t>
            </a:r>
            <a:r>
              <a:rPr sz="18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75" dirty="0">
                <a:solidFill>
                  <a:srgbClr val="404040"/>
                </a:solidFill>
                <a:latin typeface="Trebuchet MS"/>
                <a:cs typeface="Trebuchet MS"/>
              </a:rPr>
              <a:t>...)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int </a:t>
            </a:r>
            <a:r>
              <a:rPr sz="1800" b="1" spc="-100" dirty="0">
                <a:solidFill>
                  <a:srgbClr val="FF0000"/>
                </a:solidFill>
                <a:latin typeface="Century Gothic"/>
                <a:cs typeface="Century Gothic"/>
              </a:rPr>
              <a:t>execve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(const char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*filename,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char </a:t>
            </a:r>
            <a:r>
              <a:rPr sz="1800" spc="20" dirty="0">
                <a:solidFill>
                  <a:srgbClr val="404040"/>
                </a:solidFill>
                <a:latin typeface="Trebuchet MS"/>
                <a:cs typeface="Trebuchet MS"/>
              </a:rPr>
              <a:t>*const 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argv[],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char </a:t>
            </a:r>
            <a:r>
              <a:rPr sz="1800" spc="20" dirty="0">
                <a:solidFill>
                  <a:srgbClr val="404040"/>
                </a:solidFill>
                <a:latin typeface="Trebuchet MS"/>
                <a:cs typeface="Trebuchet MS"/>
              </a:rPr>
              <a:t>*const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Trebuchet MS"/>
                <a:cs typeface="Trebuchet MS"/>
              </a:rPr>
              <a:t>env[])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int </a:t>
            </a:r>
            <a:r>
              <a:rPr sz="1800" b="1" spc="-85" dirty="0">
                <a:solidFill>
                  <a:srgbClr val="FF0000"/>
                </a:solidFill>
                <a:latin typeface="Century Gothic"/>
                <a:cs typeface="Century Gothic"/>
              </a:rPr>
              <a:t>execle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(const char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*filename, </a:t>
            </a:r>
            <a:r>
              <a:rPr sz="1800" spc="30" dirty="0">
                <a:solidFill>
                  <a:srgbClr val="404040"/>
                </a:solidFill>
                <a:latin typeface="Trebuchet MS"/>
                <a:cs typeface="Trebuchet MS"/>
              </a:rPr>
              <a:t>const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char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*arg0,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char </a:t>
            </a:r>
            <a:r>
              <a:rPr sz="1800" spc="20" dirty="0">
                <a:solidFill>
                  <a:srgbClr val="404040"/>
                </a:solidFill>
                <a:latin typeface="Trebuchet MS"/>
                <a:cs typeface="Trebuchet MS"/>
              </a:rPr>
              <a:t>*const </a:t>
            </a:r>
            <a:r>
              <a:rPr sz="1800" spc="-95" dirty="0">
                <a:solidFill>
                  <a:srgbClr val="404040"/>
                </a:solidFill>
                <a:latin typeface="Trebuchet MS"/>
                <a:cs typeface="Trebuchet MS"/>
              </a:rPr>
              <a:t>env[],</a:t>
            </a:r>
            <a:r>
              <a:rPr sz="1800" spc="-2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75" dirty="0">
                <a:solidFill>
                  <a:srgbClr val="404040"/>
                </a:solidFill>
                <a:latin typeface="Trebuchet MS"/>
                <a:cs typeface="Trebuchet MS"/>
              </a:rPr>
              <a:t>...)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int </a:t>
            </a:r>
            <a:r>
              <a:rPr sz="1800" b="1" spc="-95" dirty="0">
                <a:solidFill>
                  <a:srgbClr val="FF0000"/>
                </a:solidFill>
                <a:latin typeface="Century Gothic"/>
                <a:cs typeface="Century Gothic"/>
              </a:rPr>
              <a:t>execvp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(const char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*filename,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char </a:t>
            </a:r>
            <a:r>
              <a:rPr sz="1800" spc="20" dirty="0">
                <a:solidFill>
                  <a:srgbClr val="404040"/>
                </a:solidFill>
                <a:latin typeface="Trebuchet MS"/>
                <a:cs typeface="Trebuchet MS"/>
              </a:rPr>
              <a:t>*const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argv[])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int </a:t>
            </a:r>
            <a:r>
              <a:rPr sz="1800" b="1" spc="-80" dirty="0">
                <a:solidFill>
                  <a:srgbClr val="FF0000"/>
                </a:solidFill>
                <a:latin typeface="Century Gothic"/>
                <a:cs typeface="Century Gothic"/>
              </a:rPr>
              <a:t>execlp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(const char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*filename, </a:t>
            </a:r>
            <a:r>
              <a:rPr sz="1800" spc="30" dirty="0">
                <a:solidFill>
                  <a:srgbClr val="404040"/>
                </a:solidFill>
                <a:latin typeface="Trebuchet MS"/>
                <a:cs typeface="Trebuchet MS"/>
              </a:rPr>
              <a:t>const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char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*arg0,</a:t>
            </a:r>
            <a:r>
              <a:rPr sz="18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75" dirty="0">
                <a:solidFill>
                  <a:srgbClr val="404040"/>
                </a:solidFill>
                <a:latin typeface="Trebuchet MS"/>
                <a:cs typeface="Trebuchet MS"/>
              </a:rPr>
              <a:t>...)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40741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Executing </a:t>
            </a:r>
            <a:r>
              <a:rPr spc="55" dirty="0"/>
              <a:t>a</a:t>
            </a:r>
            <a:r>
              <a:rPr spc="-480" dirty="0"/>
              <a:t> </a:t>
            </a:r>
            <a:r>
              <a:rPr spc="-305" dirty="0"/>
              <a:t>file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13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848269"/>
            <a:ext cx="9817100" cy="23736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03505" marR="5080" indent="-91440">
              <a:lnSpc>
                <a:spcPts val="2140"/>
              </a:lnSpc>
              <a:spcBef>
                <a:spcPts val="390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55" dirty="0">
                <a:solidFill>
                  <a:srgbClr val="404040"/>
                </a:solidFill>
                <a:latin typeface="Trebuchet MS"/>
                <a:cs typeface="Trebuchet MS"/>
              </a:rPr>
              <a:t>New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000" spc="-100" dirty="0">
                <a:solidFill>
                  <a:srgbClr val="404040"/>
                </a:solidFill>
                <a:latin typeface="Trebuchet MS"/>
                <a:cs typeface="Trebuchet MS"/>
              </a:rPr>
              <a:t>will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not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be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created,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original </a:t>
            </a:r>
            <a:r>
              <a:rPr sz="2000" spc="105" dirty="0">
                <a:solidFill>
                  <a:srgbClr val="404040"/>
                </a:solidFill>
                <a:latin typeface="Trebuchet MS"/>
                <a:cs typeface="Trebuchet MS"/>
              </a:rPr>
              <a:t>PID </a:t>
            </a:r>
            <a:r>
              <a:rPr sz="2000" spc="75" dirty="0">
                <a:solidFill>
                  <a:srgbClr val="404040"/>
                </a:solidFill>
                <a:latin typeface="Trebuchet MS"/>
                <a:cs typeface="Trebuchet MS"/>
              </a:rPr>
              <a:t>does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not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change,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but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machine 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code,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data,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heap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stack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replaced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those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new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program.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E38312"/>
              </a:buClr>
              <a:buFont typeface="Wingdings"/>
              <a:buChar char=""/>
            </a:pPr>
            <a:endParaRPr sz="2300">
              <a:latin typeface="Trebuchet MS"/>
              <a:cs typeface="Trebuchet MS"/>
            </a:endParaRPr>
          </a:p>
          <a:p>
            <a:pPr marL="269875" indent="-257175">
              <a:lnSpc>
                <a:spcPct val="100000"/>
              </a:lnSpc>
              <a:spcBef>
                <a:spcPts val="2025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Return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endParaRPr sz="2000">
              <a:latin typeface="Trebuchet MS"/>
              <a:cs typeface="Trebuchet MS"/>
            </a:endParaRPr>
          </a:p>
          <a:p>
            <a:pPr marL="396875" marR="324485" lvl="1" indent="-182880">
              <a:lnSpc>
                <a:spcPts val="1939"/>
              </a:lnSpc>
              <a:spcBef>
                <a:spcPts val="43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1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404040"/>
                </a:solidFill>
                <a:latin typeface="Trebuchet MS"/>
                <a:cs typeface="Trebuchet MS"/>
              </a:rPr>
              <a:t>successful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exec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replaces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current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image,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404040"/>
                </a:solidFill>
                <a:latin typeface="Trebuchet MS"/>
                <a:cs typeface="Trebuchet MS"/>
              </a:rPr>
              <a:t>so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cannot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return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anything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the  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program 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that </a:t>
            </a:r>
            <a:r>
              <a:rPr sz="1800" spc="20" dirty="0">
                <a:solidFill>
                  <a:srgbClr val="404040"/>
                </a:solidFill>
                <a:latin typeface="Trebuchet MS"/>
                <a:cs typeface="Trebuchet MS"/>
              </a:rPr>
              <a:t>made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call.</a:t>
            </a:r>
            <a:endParaRPr sz="180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55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90" dirty="0">
                <a:solidFill>
                  <a:srgbClr val="404040"/>
                </a:solidFill>
                <a:latin typeface="Trebuchet MS"/>
                <a:cs typeface="Trebuchet MS"/>
              </a:rPr>
              <a:t>If 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an exec 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function </a:t>
            </a:r>
            <a:r>
              <a:rPr sz="1800" spc="65" dirty="0">
                <a:solidFill>
                  <a:srgbClr val="404040"/>
                </a:solidFill>
                <a:latin typeface="Trebuchet MS"/>
                <a:cs typeface="Trebuchet MS"/>
              </a:rPr>
              <a:t>does 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return 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calling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program, 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an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error 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occurs,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return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value </a:t>
            </a:r>
            <a:r>
              <a:rPr sz="1800" spc="25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2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95" dirty="0">
                <a:solidFill>
                  <a:srgbClr val="404040"/>
                </a:solidFill>
                <a:latin typeface="Trebuchet MS"/>
                <a:cs typeface="Trebuchet MS"/>
              </a:rPr>
              <a:t>−1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7800" y="1625180"/>
            <a:ext cx="8542022" cy="4572000"/>
            <a:chOff x="1744979" y="1799844"/>
            <a:chExt cx="7859395" cy="41071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4979" y="1799844"/>
              <a:ext cx="7859268" cy="41071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333409" y="4596650"/>
              <a:ext cx="1105535" cy="15240"/>
            </a:xfrm>
            <a:custGeom>
              <a:avLst/>
              <a:gdLst/>
              <a:ahLst/>
              <a:cxnLst/>
              <a:rect l="l" t="t" r="r" b="b"/>
              <a:pathLst>
                <a:path w="1105535" h="15239">
                  <a:moveTo>
                    <a:pt x="12" y="14693"/>
                  </a:moveTo>
                  <a:lnTo>
                    <a:pt x="0" y="1993"/>
                  </a:lnTo>
                  <a:lnTo>
                    <a:pt x="1105001" y="0"/>
                  </a:lnTo>
                  <a:lnTo>
                    <a:pt x="1105027" y="12700"/>
                  </a:lnTo>
                  <a:lnTo>
                    <a:pt x="12" y="14693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68954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Executing </a:t>
            </a:r>
            <a:r>
              <a:rPr spc="55" dirty="0"/>
              <a:t>a </a:t>
            </a:r>
            <a:r>
              <a:rPr spc="-305" dirty="0"/>
              <a:t>file </a:t>
            </a:r>
            <a:r>
              <a:rPr spc="635" dirty="0"/>
              <a:t>–</a:t>
            </a:r>
            <a:r>
              <a:rPr spc="-640" dirty="0"/>
              <a:t> </a:t>
            </a:r>
            <a:r>
              <a:rPr spc="-150" dirty="0"/>
              <a:t>execve()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41175" y="4002202"/>
            <a:ext cx="15030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E38312"/>
                </a:solidFill>
                <a:latin typeface="Trebuchet MS"/>
                <a:cs typeface="Trebuchet MS"/>
              </a:rPr>
              <a:t>In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</a:t>
            </a:r>
            <a:r>
              <a:rPr sz="1400" spc="20" dirty="0">
                <a:solidFill>
                  <a:srgbClr val="E38312"/>
                </a:solidFill>
                <a:latin typeface="Trebuchet MS"/>
                <a:cs typeface="Trebuchet MS"/>
              </a:rPr>
              <a:t>process,  </a:t>
            </a:r>
            <a:r>
              <a:rPr sz="1400" spc="-10" dirty="0">
                <a:solidFill>
                  <a:srgbClr val="E38312"/>
                </a:solidFill>
                <a:latin typeface="Trebuchet MS"/>
                <a:cs typeface="Trebuchet MS"/>
              </a:rPr>
              <a:t>execute </a:t>
            </a:r>
            <a:r>
              <a:rPr sz="1400" spc="15" dirty="0">
                <a:solidFill>
                  <a:srgbClr val="E38312"/>
                </a:solidFill>
                <a:latin typeface="Trebuchet MS"/>
                <a:cs typeface="Trebuchet MS"/>
              </a:rPr>
              <a:t>a </a:t>
            </a:r>
            <a:r>
              <a:rPr sz="1400" spc="5" dirty="0">
                <a:solidFill>
                  <a:srgbClr val="E38312"/>
                </a:solidFill>
                <a:latin typeface="Trebuchet MS"/>
                <a:cs typeface="Trebuchet MS"/>
              </a:rPr>
              <a:t>new</a:t>
            </a:r>
            <a:r>
              <a:rPr sz="1400" spc="-204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E38312"/>
                </a:solidFill>
                <a:latin typeface="Trebuchet MS"/>
                <a:cs typeface="Trebuchet MS"/>
              </a:rPr>
              <a:t>file.</a:t>
            </a:r>
            <a:endParaRPr sz="1400" dirty="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33409" y="3477996"/>
            <a:ext cx="5848350" cy="1296670"/>
            <a:chOff x="2333409" y="3477996"/>
            <a:chExt cx="5848350" cy="1296670"/>
          </a:xfrm>
        </p:grpSpPr>
        <p:sp>
          <p:nvSpPr>
            <p:cNvPr id="8" name="object 8"/>
            <p:cNvSpPr/>
            <p:nvPr/>
          </p:nvSpPr>
          <p:spPr>
            <a:xfrm>
              <a:off x="7736204" y="3477996"/>
              <a:ext cx="445770" cy="146050"/>
            </a:xfrm>
            <a:custGeom>
              <a:avLst/>
              <a:gdLst/>
              <a:ahLst/>
              <a:cxnLst/>
              <a:rect l="l" t="t" r="r" b="b"/>
              <a:pathLst>
                <a:path w="445770" h="146050">
                  <a:moveTo>
                    <a:pt x="437489" y="145973"/>
                  </a:moveTo>
                  <a:lnTo>
                    <a:pt x="7937" y="145973"/>
                  </a:lnTo>
                  <a:lnTo>
                    <a:pt x="5880" y="145707"/>
                  </a:lnTo>
                  <a:lnTo>
                    <a:pt x="0" y="138036"/>
                  </a:lnTo>
                  <a:lnTo>
                    <a:pt x="0" y="7937"/>
                  </a:lnTo>
                  <a:lnTo>
                    <a:pt x="7937" y="0"/>
                  </a:lnTo>
                  <a:lnTo>
                    <a:pt x="437489" y="0"/>
                  </a:lnTo>
                  <a:lnTo>
                    <a:pt x="445427" y="7937"/>
                  </a:lnTo>
                  <a:lnTo>
                    <a:pt x="15875" y="7937"/>
                  </a:lnTo>
                  <a:lnTo>
                    <a:pt x="7937" y="15875"/>
                  </a:lnTo>
                  <a:lnTo>
                    <a:pt x="15875" y="15875"/>
                  </a:lnTo>
                  <a:lnTo>
                    <a:pt x="15875" y="130098"/>
                  </a:lnTo>
                  <a:lnTo>
                    <a:pt x="7937" y="130098"/>
                  </a:lnTo>
                  <a:lnTo>
                    <a:pt x="15875" y="138036"/>
                  </a:lnTo>
                  <a:lnTo>
                    <a:pt x="445427" y="138036"/>
                  </a:lnTo>
                  <a:lnTo>
                    <a:pt x="445160" y="140093"/>
                  </a:lnTo>
                  <a:lnTo>
                    <a:pt x="444373" y="142011"/>
                  </a:lnTo>
                  <a:lnTo>
                    <a:pt x="443102" y="143649"/>
                  </a:lnTo>
                  <a:lnTo>
                    <a:pt x="441464" y="144919"/>
                  </a:lnTo>
                  <a:lnTo>
                    <a:pt x="439547" y="145707"/>
                  </a:lnTo>
                  <a:lnTo>
                    <a:pt x="437489" y="145973"/>
                  </a:lnTo>
                  <a:close/>
                </a:path>
                <a:path w="445770" h="146050">
                  <a:moveTo>
                    <a:pt x="15875" y="15875"/>
                  </a:moveTo>
                  <a:lnTo>
                    <a:pt x="7937" y="15875"/>
                  </a:lnTo>
                  <a:lnTo>
                    <a:pt x="15875" y="7937"/>
                  </a:lnTo>
                  <a:lnTo>
                    <a:pt x="15875" y="15875"/>
                  </a:lnTo>
                  <a:close/>
                </a:path>
                <a:path w="445770" h="146050">
                  <a:moveTo>
                    <a:pt x="429552" y="15875"/>
                  </a:moveTo>
                  <a:lnTo>
                    <a:pt x="15875" y="15875"/>
                  </a:lnTo>
                  <a:lnTo>
                    <a:pt x="15875" y="7937"/>
                  </a:lnTo>
                  <a:lnTo>
                    <a:pt x="429552" y="7937"/>
                  </a:lnTo>
                  <a:lnTo>
                    <a:pt x="429552" y="15875"/>
                  </a:lnTo>
                  <a:close/>
                </a:path>
                <a:path w="445770" h="146050">
                  <a:moveTo>
                    <a:pt x="429552" y="138036"/>
                  </a:moveTo>
                  <a:lnTo>
                    <a:pt x="429552" y="7937"/>
                  </a:lnTo>
                  <a:lnTo>
                    <a:pt x="437489" y="15875"/>
                  </a:lnTo>
                  <a:lnTo>
                    <a:pt x="445427" y="15875"/>
                  </a:lnTo>
                  <a:lnTo>
                    <a:pt x="445427" y="130098"/>
                  </a:lnTo>
                  <a:lnTo>
                    <a:pt x="437489" y="130098"/>
                  </a:lnTo>
                  <a:lnTo>
                    <a:pt x="429552" y="138036"/>
                  </a:lnTo>
                  <a:close/>
                </a:path>
                <a:path w="445770" h="146050">
                  <a:moveTo>
                    <a:pt x="445427" y="15875"/>
                  </a:moveTo>
                  <a:lnTo>
                    <a:pt x="437489" y="15875"/>
                  </a:lnTo>
                  <a:lnTo>
                    <a:pt x="429552" y="7937"/>
                  </a:lnTo>
                  <a:lnTo>
                    <a:pt x="445427" y="7937"/>
                  </a:lnTo>
                  <a:lnTo>
                    <a:pt x="445427" y="15875"/>
                  </a:lnTo>
                  <a:close/>
                </a:path>
                <a:path w="445770" h="146050">
                  <a:moveTo>
                    <a:pt x="15875" y="138036"/>
                  </a:moveTo>
                  <a:lnTo>
                    <a:pt x="7937" y="130098"/>
                  </a:lnTo>
                  <a:lnTo>
                    <a:pt x="15875" y="130098"/>
                  </a:lnTo>
                  <a:lnTo>
                    <a:pt x="15875" y="138036"/>
                  </a:lnTo>
                  <a:close/>
                </a:path>
                <a:path w="445770" h="146050">
                  <a:moveTo>
                    <a:pt x="429552" y="138036"/>
                  </a:moveTo>
                  <a:lnTo>
                    <a:pt x="15875" y="138036"/>
                  </a:lnTo>
                  <a:lnTo>
                    <a:pt x="15875" y="130098"/>
                  </a:lnTo>
                  <a:lnTo>
                    <a:pt x="429552" y="130098"/>
                  </a:lnTo>
                  <a:lnTo>
                    <a:pt x="429552" y="138036"/>
                  </a:lnTo>
                  <a:close/>
                </a:path>
                <a:path w="445770" h="146050">
                  <a:moveTo>
                    <a:pt x="445427" y="138036"/>
                  </a:moveTo>
                  <a:lnTo>
                    <a:pt x="429552" y="138036"/>
                  </a:lnTo>
                  <a:lnTo>
                    <a:pt x="437489" y="130098"/>
                  </a:lnTo>
                  <a:lnTo>
                    <a:pt x="445427" y="130098"/>
                  </a:lnTo>
                  <a:lnTo>
                    <a:pt x="445427" y="138036"/>
                  </a:lnTo>
                  <a:close/>
                </a:path>
              </a:pathLst>
            </a:custGeom>
            <a:solidFill>
              <a:srgbClr val="F3B5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33409" y="4759693"/>
              <a:ext cx="2131695" cy="15240"/>
            </a:xfrm>
            <a:custGeom>
              <a:avLst/>
              <a:gdLst/>
              <a:ahLst/>
              <a:cxnLst/>
              <a:rect l="l" t="t" r="r" b="b"/>
              <a:pathLst>
                <a:path w="2131695" h="15239">
                  <a:moveTo>
                    <a:pt x="12" y="14897"/>
                  </a:moveTo>
                  <a:lnTo>
                    <a:pt x="0" y="2197"/>
                  </a:lnTo>
                  <a:lnTo>
                    <a:pt x="2131593" y="0"/>
                  </a:lnTo>
                  <a:lnTo>
                    <a:pt x="2131606" y="12700"/>
                  </a:lnTo>
                  <a:lnTo>
                    <a:pt x="12" y="14897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822869" y="3668433"/>
            <a:ext cx="103568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E38312"/>
                </a:solidFill>
                <a:latin typeface="Trebuchet MS"/>
                <a:cs typeface="Trebuchet MS"/>
              </a:rPr>
              <a:t>path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of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the  </a:t>
            </a:r>
            <a:r>
              <a:rPr sz="1400" spc="-5" dirty="0">
                <a:solidFill>
                  <a:srgbClr val="E38312"/>
                </a:solidFill>
                <a:latin typeface="Trebuchet MS"/>
                <a:cs typeface="Trebuchet MS"/>
              </a:rPr>
              <a:t>executed</a:t>
            </a:r>
            <a:r>
              <a:rPr sz="1400" spc="-10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E38312"/>
                </a:solidFill>
                <a:latin typeface="Trebuchet MS"/>
                <a:cs typeface="Trebuchet MS"/>
              </a:rPr>
              <a:t>file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4314" y="4929746"/>
            <a:ext cx="208978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Check </a:t>
            </a:r>
            <a:r>
              <a:rPr sz="1400" spc="-100" dirty="0">
                <a:solidFill>
                  <a:srgbClr val="E38312"/>
                </a:solidFill>
                <a:latin typeface="Trebuchet MS"/>
                <a:cs typeface="Trebuchet MS"/>
              </a:rPr>
              <a:t>if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the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</a:t>
            </a:r>
            <a:r>
              <a:rPr sz="1400" spc="-9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 </a:t>
            </a:r>
            <a:r>
              <a:rPr sz="1400" spc="20" dirty="0">
                <a:solidFill>
                  <a:srgbClr val="E38312"/>
                </a:solidFill>
                <a:latin typeface="Trebuchet MS"/>
                <a:cs typeface="Trebuchet MS"/>
              </a:rPr>
              <a:t>is </a:t>
            </a:r>
            <a:r>
              <a:rPr sz="1400" spc="-10" dirty="0">
                <a:solidFill>
                  <a:srgbClr val="E38312"/>
                </a:solidFill>
                <a:latin typeface="Trebuchet MS"/>
                <a:cs typeface="Trebuchet MS"/>
              </a:rPr>
              <a:t>replaced </a:t>
            </a:r>
            <a:r>
              <a:rPr sz="1400" spc="30" dirty="0">
                <a:solidFill>
                  <a:srgbClr val="E38312"/>
                </a:solidFill>
                <a:latin typeface="Trebuchet MS"/>
                <a:cs typeface="Trebuchet MS"/>
              </a:rPr>
              <a:t>by </a:t>
            </a:r>
            <a:r>
              <a:rPr sz="1400" spc="5" dirty="0">
                <a:solidFill>
                  <a:srgbClr val="E38312"/>
                </a:solidFill>
                <a:latin typeface="Trebuchet MS"/>
                <a:cs typeface="Trebuchet MS"/>
              </a:rPr>
              <a:t>new  </a:t>
            </a:r>
            <a:r>
              <a:rPr sz="1400" spc="10" dirty="0">
                <a:solidFill>
                  <a:srgbClr val="E38312"/>
                </a:solidFill>
                <a:latin typeface="Trebuchet MS"/>
                <a:cs typeface="Trebuchet MS"/>
              </a:rPr>
              <a:t>program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26467" y="2706827"/>
            <a:ext cx="1854835" cy="17780"/>
          </a:xfrm>
          <a:custGeom>
            <a:avLst/>
            <a:gdLst/>
            <a:ahLst/>
            <a:cxnLst/>
            <a:rect l="l" t="t" r="r" b="b"/>
            <a:pathLst>
              <a:path w="1854834" h="17780">
                <a:moveTo>
                  <a:pt x="1854365" y="17322"/>
                </a:moveTo>
                <a:lnTo>
                  <a:pt x="0" y="12700"/>
                </a:lnTo>
                <a:lnTo>
                  <a:pt x="25" y="0"/>
                </a:lnTo>
                <a:lnTo>
                  <a:pt x="1854390" y="4622"/>
                </a:lnTo>
                <a:lnTo>
                  <a:pt x="1854365" y="17322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22869" y="2692183"/>
            <a:ext cx="300482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Check </a:t>
            </a:r>
            <a:r>
              <a:rPr sz="1400" spc="-100" dirty="0">
                <a:solidFill>
                  <a:srgbClr val="E38312"/>
                </a:solidFill>
                <a:latin typeface="Trebuchet MS"/>
                <a:cs typeface="Trebuchet MS"/>
              </a:rPr>
              <a:t>if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the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test </a:t>
            </a:r>
            <a:r>
              <a:rPr sz="1400" spc="10" dirty="0">
                <a:solidFill>
                  <a:srgbClr val="E38312"/>
                </a:solidFill>
                <a:latin typeface="Trebuchet MS"/>
                <a:cs typeface="Trebuchet MS"/>
              </a:rPr>
              <a:t>program </a:t>
            </a:r>
            <a:r>
              <a:rPr sz="1400" spc="20" dirty="0">
                <a:solidFill>
                  <a:srgbClr val="E38312"/>
                </a:solidFill>
                <a:latin typeface="Trebuchet MS"/>
                <a:cs typeface="Trebuchet MS"/>
              </a:rPr>
              <a:t>is</a:t>
            </a:r>
            <a:r>
              <a:rPr sz="1400" spc="-12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E38312"/>
                </a:solidFill>
                <a:latin typeface="Trebuchet MS"/>
                <a:cs typeface="Trebuchet MS"/>
              </a:rPr>
              <a:t>replacing 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but </a:t>
            </a:r>
            <a:r>
              <a:rPr sz="1400" spc="-75" dirty="0">
                <a:solidFill>
                  <a:srgbClr val="E38312"/>
                </a:solidFill>
                <a:latin typeface="Trebuchet MS"/>
                <a:cs typeface="Trebuchet MS"/>
              </a:rPr>
              <a:t>will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not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create </a:t>
            </a:r>
            <a:r>
              <a:rPr sz="1400" spc="5" dirty="0">
                <a:solidFill>
                  <a:srgbClr val="E38312"/>
                </a:solidFill>
                <a:latin typeface="Trebuchet MS"/>
                <a:cs typeface="Trebuchet MS"/>
              </a:rPr>
              <a:t>new 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14</a:t>
            </a:fld>
            <a:endParaRPr spc="3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55124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</a:t>
            </a:r>
            <a:r>
              <a:rPr spc="-280" dirty="0"/>
              <a:t> </a:t>
            </a:r>
            <a:r>
              <a:rPr spc="-130" dirty="0"/>
              <a:t>Termination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15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806855"/>
            <a:ext cx="9915525" cy="2585323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320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80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executes 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last statement 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2000" spc="105" dirty="0">
                <a:solidFill>
                  <a:srgbClr val="404040"/>
                </a:solidFill>
                <a:latin typeface="Trebuchet MS"/>
                <a:cs typeface="Trebuchet MS"/>
              </a:rPr>
              <a:t>asks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operating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sz="2000" spc="-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delete </a:t>
            </a:r>
            <a:r>
              <a:rPr sz="2000" spc="-150" dirty="0">
                <a:solidFill>
                  <a:srgbClr val="404040"/>
                </a:solidFill>
                <a:latin typeface="Trebuchet MS"/>
                <a:cs typeface="Trebuchet MS"/>
              </a:rPr>
              <a:t>it 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(</a:t>
            </a:r>
            <a:r>
              <a:rPr sz="2000" b="1" spc="-60" dirty="0">
                <a:latin typeface="Courier New"/>
                <a:cs typeface="Courier New"/>
              </a:rPr>
              <a:t>exit()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endParaRPr sz="20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195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Output 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data 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from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child 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to 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parent 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(via</a:t>
            </a:r>
            <a:r>
              <a:rPr sz="1800" spc="-1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35" dirty="0">
                <a:latin typeface="Courier New"/>
                <a:cs typeface="Courier New"/>
              </a:rPr>
              <a:t>wait()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459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40" dirty="0">
                <a:solidFill>
                  <a:srgbClr val="404040"/>
                </a:solidFill>
                <a:latin typeface="Trebuchet MS"/>
                <a:cs typeface="Trebuchet MS"/>
              </a:rPr>
              <a:t>Process’ </a:t>
            </a:r>
            <a:r>
              <a:rPr sz="1800" spc="25" dirty="0">
                <a:solidFill>
                  <a:srgbClr val="404040"/>
                </a:solidFill>
                <a:latin typeface="Trebuchet MS"/>
                <a:cs typeface="Trebuchet MS"/>
              </a:rPr>
              <a:t>resources 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are 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deallocated </a:t>
            </a:r>
            <a:r>
              <a:rPr sz="1800" spc="35">
                <a:solidFill>
                  <a:srgbClr val="404040"/>
                </a:solidFill>
                <a:latin typeface="Trebuchet MS"/>
                <a:cs typeface="Trebuchet MS"/>
              </a:rPr>
              <a:t>by </a:t>
            </a:r>
            <a:r>
              <a:rPr sz="1800" spc="-15">
                <a:solidFill>
                  <a:srgbClr val="404040"/>
                </a:solidFill>
                <a:latin typeface="Trebuchet MS"/>
                <a:cs typeface="Trebuchet MS"/>
              </a:rPr>
              <a:t>operating</a:t>
            </a:r>
            <a:r>
              <a:rPr lang="en-US" sz="18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3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endParaRPr sz="18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lr>
                <a:srgbClr val="E38312"/>
              </a:buClr>
              <a:buFont typeface="Trebuchet MS"/>
              <a:buChar char="◦"/>
            </a:pPr>
            <a:endParaRPr sz="2100" dirty="0">
              <a:latin typeface="Trebuchet MS"/>
              <a:cs typeface="Trebuchet MS"/>
            </a:endParaRPr>
          </a:p>
          <a:p>
            <a:pPr marL="269875" indent="-257175">
              <a:lnSpc>
                <a:spcPct val="100000"/>
              </a:lnSpc>
              <a:spcBef>
                <a:spcPts val="1475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95" dirty="0">
                <a:solidFill>
                  <a:srgbClr val="404040"/>
                </a:solidFill>
                <a:latin typeface="Trebuchet MS"/>
                <a:cs typeface="Trebuchet MS"/>
              </a:rPr>
              <a:t>If </a:t>
            </a: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no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parent</a:t>
            </a:r>
            <a:r>
              <a:rPr lang="en-US" sz="2000" spc="-35" dirty="0">
                <a:solidFill>
                  <a:srgbClr val="404040"/>
                </a:solidFill>
                <a:latin typeface="Trebuchet MS"/>
                <a:cs typeface="Trebuchet MS"/>
              </a:rPr>
              <a:t> is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waiting</a:t>
            </a:r>
            <a:r>
              <a:rPr lang="en-US" sz="2000" spc="-50" dirty="0">
                <a:solidFill>
                  <a:srgbClr val="404040"/>
                </a:solidFill>
                <a:latin typeface="Trebuchet MS"/>
                <a:cs typeface="Trebuchet MS"/>
              </a:rPr>
              <a:t> when process terminates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,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then 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terminated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 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is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3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40" dirty="0">
                <a:solidFill>
                  <a:srgbClr val="3366FF"/>
                </a:solidFill>
                <a:latin typeface="Century Gothic"/>
                <a:cs typeface="Century Gothic"/>
              </a:rPr>
              <a:t>zombie</a:t>
            </a:r>
            <a:endParaRPr sz="2000" dirty="0">
              <a:latin typeface="Century Gothic"/>
              <a:cs typeface="Century Gothic"/>
            </a:endParaRPr>
          </a:p>
          <a:p>
            <a:pPr marL="269875" indent="-257175">
              <a:lnSpc>
                <a:spcPct val="100000"/>
              </a:lnSpc>
              <a:spcBef>
                <a:spcPts val="1160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95" dirty="0">
                <a:solidFill>
                  <a:srgbClr val="404040"/>
                </a:solidFill>
                <a:latin typeface="Trebuchet MS"/>
                <a:cs typeface="Trebuchet MS"/>
              </a:rPr>
              <a:t>If </a:t>
            </a:r>
            <a:r>
              <a:rPr lang="en-US" sz="2000" spc="-9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parent</a:t>
            </a:r>
            <a:r>
              <a:rPr lang="en-US" sz="2000" spc="-35" dirty="0">
                <a:solidFill>
                  <a:srgbClr val="404040"/>
                </a:solidFill>
                <a:latin typeface="Trebuchet MS"/>
                <a:cs typeface="Trebuchet MS"/>
              </a:rPr>
              <a:t> process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terminat</a:t>
            </a:r>
            <a:r>
              <a:rPr lang="en-US" sz="2000" spc="-60" dirty="0">
                <a:solidFill>
                  <a:srgbClr val="404040"/>
                </a:solidFill>
                <a:latin typeface="Trebuchet MS"/>
                <a:cs typeface="Trebuchet MS"/>
              </a:rPr>
              <a:t>es before the child processes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, </a:t>
            </a:r>
            <a:r>
              <a:rPr lang="en-US" altLang="zh-CN" sz="2000" spc="-40" dirty="0">
                <a:solidFill>
                  <a:srgbClr val="404040"/>
                </a:solidFill>
                <a:latin typeface="Trebuchet MS"/>
                <a:cs typeface="Trebuchet MS"/>
              </a:rPr>
              <a:t>then </a:t>
            </a:r>
            <a:r>
              <a:rPr lang="en-US" altLang="zh-CN" sz="2000" spc="-50" dirty="0">
                <a:solidFill>
                  <a:srgbClr val="404040"/>
                </a:solidFill>
                <a:latin typeface="Trebuchet MS"/>
                <a:cs typeface="Trebuchet MS"/>
              </a:rPr>
              <a:t>terminated </a:t>
            </a:r>
            <a:r>
              <a:rPr lang="en-US" altLang="zh-CN"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2000" spc="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000" spc="-40" dirty="0">
                <a:solidFill>
                  <a:srgbClr val="404040"/>
                </a:solidFill>
                <a:latin typeface="Trebuchet MS"/>
                <a:cs typeface="Trebuchet MS"/>
              </a:rPr>
              <a:t>is an</a:t>
            </a:r>
            <a:r>
              <a:rPr sz="2000" spc="-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3366FF"/>
                </a:solidFill>
                <a:latin typeface="Century Gothic"/>
                <a:cs typeface="Century Gothic"/>
              </a:rPr>
              <a:t>orphan</a:t>
            </a:r>
            <a:endParaRPr sz="20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82385" y="1716531"/>
            <a:ext cx="9915525" cy="3982720"/>
            <a:chOff x="1239011" y="1915667"/>
            <a:chExt cx="9915525" cy="39827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9011" y="1915667"/>
              <a:ext cx="9915144" cy="39822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78037" y="4985118"/>
              <a:ext cx="448309" cy="28575"/>
            </a:xfrm>
            <a:custGeom>
              <a:avLst/>
              <a:gdLst/>
              <a:ahLst/>
              <a:cxnLst/>
              <a:rect l="l" t="t" r="r" b="b"/>
              <a:pathLst>
                <a:path w="448310" h="28575">
                  <a:moveTo>
                    <a:pt x="444" y="28054"/>
                  </a:moveTo>
                  <a:lnTo>
                    <a:pt x="0" y="15366"/>
                  </a:lnTo>
                  <a:lnTo>
                    <a:pt x="447395" y="0"/>
                  </a:lnTo>
                  <a:lnTo>
                    <a:pt x="447840" y="12687"/>
                  </a:lnTo>
                  <a:lnTo>
                    <a:pt x="444" y="28054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8447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 </a:t>
            </a:r>
            <a:r>
              <a:rPr spc="-130" dirty="0"/>
              <a:t>Termination </a:t>
            </a:r>
            <a:r>
              <a:rPr spc="150" dirty="0"/>
              <a:t>1</a:t>
            </a:r>
            <a:r>
              <a:rPr spc="-1035" dirty="0"/>
              <a:t> </a:t>
            </a:r>
            <a:r>
              <a:rPr spc="100" dirty="0"/>
              <a:t>- </a:t>
            </a:r>
            <a:r>
              <a:rPr spc="-5" dirty="0"/>
              <a:t>orphan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16</a:t>
            </a:fld>
            <a:endParaRPr spc="35" dirty="0"/>
          </a:p>
        </p:txBody>
      </p:sp>
      <p:sp>
        <p:nvSpPr>
          <p:cNvPr id="6" name="object 6"/>
          <p:cNvSpPr txBox="1"/>
          <p:nvPr/>
        </p:nvSpPr>
        <p:spPr>
          <a:xfrm>
            <a:off x="1965337" y="4027932"/>
            <a:ext cx="518159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4825" algn="l"/>
              </a:tabLst>
            </a:pPr>
            <a:r>
              <a:rPr sz="1400" u="heavy" dirty="0">
                <a:solidFill>
                  <a:srgbClr val="E38312"/>
                </a:solidFill>
                <a:uFill>
                  <a:solidFill>
                    <a:srgbClr val="E38312"/>
                  </a:solidFill>
                </a:uFill>
                <a:latin typeface="Times New Roman"/>
                <a:cs typeface="Times New Roman"/>
              </a:rPr>
              <a:t> 	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9822" y="3267836"/>
            <a:ext cx="152019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Let </a:t>
            </a:r>
            <a:r>
              <a:rPr sz="1400" spc="-25" dirty="0">
                <a:solidFill>
                  <a:srgbClr val="E38312"/>
                </a:solidFill>
                <a:latin typeface="Trebuchet MS"/>
                <a:cs typeface="Trebuchet MS"/>
              </a:rPr>
              <a:t>parent</a:t>
            </a:r>
            <a:r>
              <a:rPr sz="1400" spc="-12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 </a:t>
            </a:r>
            <a:r>
              <a:rPr sz="1400" spc="-35" dirty="0">
                <a:solidFill>
                  <a:srgbClr val="E38312"/>
                </a:solidFill>
                <a:latin typeface="Trebuchet MS"/>
                <a:cs typeface="Trebuchet MS"/>
              </a:rPr>
              <a:t>to </a:t>
            </a:r>
            <a:r>
              <a:rPr sz="1400" spc="-25" dirty="0">
                <a:solidFill>
                  <a:srgbClr val="E38312"/>
                </a:solidFill>
                <a:latin typeface="Trebuchet MS"/>
                <a:cs typeface="Trebuchet MS"/>
              </a:rPr>
              <a:t>terminate  </a:t>
            </a:r>
            <a:r>
              <a:rPr sz="1400" spc="15" dirty="0">
                <a:solidFill>
                  <a:srgbClr val="E38312"/>
                </a:solidFill>
                <a:latin typeface="Trebuchet MS"/>
                <a:cs typeface="Trebuchet MS"/>
              </a:rPr>
              <a:t>ahead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of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13179" y="3942841"/>
            <a:ext cx="258445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solidFill>
                  <a:srgbClr val="E38312"/>
                </a:solidFill>
                <a:latin typeface="Trebuchet MS"/>
                <a:cs typeface="Trebuchet MS"/>
              </a:rPr>
              <a:t>Parent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</a:t>
            </a:r>
            <a:r>
              <a:rPr sz="1400" spc="-35" dirty="0">
                <a:solidFill>
                  <a:srgbClr val="E38312"/>
                </a:solidFill>
                <a:latin typeface="Trebuchet MS"/>
                <a:cs typeface="Trebuchet MS"/>
              </a:rPr>
              <a:t>terminates, </a:t>
            </a:r>
            <a:r>
              <a:rPr sz="1400" spc="25" dirty="0">
                <a:solidFill>
                  <a:srgbClr val="E38312"/>
                </a:solidFill>
                <a:latin typeface="Trebuchet MS"/>
                <a:cs typeface="Trebuchet MS"/>
              </a:rPr>
              <a:t>and 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the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</a:t>
            </a:r>
            <a:r>
              <a:rPr sz="1400" spc="40" dirty="0">
                <a:solidFill>
                  <a:srgbClr val="E38312"/>
                </a:solidFill>
                <a:latin typeface="Trebuchet MS"/>
                <a:cs typeface="Trebuchet MS"/>
              </a:rPr>
              <a:t>becomes  </a:t>
            </a:r>
            <a:r>
              <a:rPr sz="1400" spc="5" dirty="0">
                <a:solidFill>
                  <a:srgbClr val="E38312"/>
                </a:solidFill>
                <a:latin typeface="Trebuchet MS"/>
                <a:cs typeface="Trebuchet MS"/>
              </a:rPr>
              <a:t>orphans, </a:t>
            </a:r>
            <a:r>
              <a:rPr sz="1400" spc="25" dirty="0">
                <a:solidFill>
                  <a:srgbClr val="E38312"/>
                </a:solidFill>
                <a:latin typeface="Trebuchet MS"/>
                <a:cs typeface="Trebuchet MS"/>
              </a:rPr>
              <a:t>and </a:t>
            </a:r>
            <a:r>
              <a:rPr sz="1400" spc="-75" dirty="0">
                <a:solidFill>
                  <a:srgbClr val="E38312"/>
                </a:solidFill>
                <a:latin typeface="Trebuchet MS"/>
                <a:cs typeface="Trebuchet MS"/>
              </a:rPr>
              <a:t>will </a:t>
            </a:r>
            <a:r>
              <a:rPr sz="1400" spc="15" dirty="0">
                <a:solidFill>
                  <a:srgbClr val="E38312"/>
                </a:solidFill>
                <a:latin typeface="Trebuchet MS"/>
                <a:cs typeface="Trebuchet MS"/>
              </a:rPr>
              <a:t>be </a:t>
            </a:r>
            <a:r>
              <a:rPr sz="1400" spc="10" dirty="0">
                <a:solidFill>
                  <a:srgbClr val="E38312"/>
                </a:solidFill>
                <a:latin typeface="Trebuchet MS"/>
                <a:cs typeface="Trebuchet MS"/>
              </a:rPr>
              <a:t>adopted</a:t>
            </a:r>
            <a:r>
              <a:rPr sz="1400" spc="-18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30" dirty="0">
                <a:solidFill>
                  <a:srgbClr val="E38312"/>
                </a:solidFill>
                <a:latin typeface="Trebuchet MS"/>
                <a:cs typeface="Trebuchet MS"/>
              </a:rPr>
              <a:t>by  </a:t>
            </a:r>
            <a:r>
              <a:rPr sz="1400" spc="-75" dirty="0">
                <a:solidFill>
                  <a:srgbClr val="E38312"/>
                </a:solidFill>
                <a:latin typeface="Trebuchet MS"/>
                <a:cs typeface="Trebuchet MS"/>
              </a:rPr>
              <a:t>init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20" dirty="0">
                <a:solidFill>
                  <a:srgbClr val="E38312"/>
                </a:solidFill>
                <a:latin typeface="Trebuchet MS"/>
                <a:cs typeface="Trebuchet MS"/>
              </a:rPr>
              <a:t>process.</a:t>
            </a:r>
            <a:endParaRPr sz="1400" dirty="0">
              <a:latin typeface="Trebuchet MS"/>
              <a:cs typeface="Trebuchet M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2BCA32F-7E52-FB9A-1E0A-817857E0E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096" y="1848575"/>
            <a:ext cx="6993759" cy="16676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60083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 </a:t>
            </a:r>
            <a:r>
              <a:rPr spc="-130" dirty="0"/>
              <a:t>Termination</a:t>
            </a:r>
            <a:r>
              <a:rPr spc="-645" dirty="0"/>
              <a:t> </a:t>
            </a:r>
            <a:r>
              <a:rPr spc="1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45729"/>
            <a:ext cx="42138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Functions: 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(defined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000" spc="-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404040"/>
                </a:solidFill>
                <a:latin typeface="Trebuchet MS"/>
                <a:cs typeface="Trebuchet MS"/>
              </a:rPr>
              <a:t>“</a:t>
            </a:r>
            <a:r>
              <a:rPr sz="2000" spc="-80" dirty="0">
                <a:solidFill>
                  <a:srgbClr val="FF0000"/>
                </a:solidFill>
                <a:latin typeface="Trebuchet MS"/>
                <a:cs typeface="Trebuchet MS"/>
              </a:rPr>
              <a:t>sys/wait.h</a:t>
            </a:r>
            <a:r>
              <a:rPr sz="2000" spc="-80" dirty="0">
                <a:solidFill>
                  <a:srgbClr val="404040"/>
                </a:solidFill>
                <a:latin typeface="Trebuchet MS"/>
                <a:cs typeface="Trebuchet MS"/>
              </a:rPr>
              <a:t>”)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5875" y="2177199"/>
            <a:ext cx="2831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Char char="◦"/>
              <a:tabLst>
                <a:tab pos="195580" algn="l"/>
              </a:tabLst>
            </a:pP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pid_t </a:t>
            </a:r>
            <a:r>
              <a:rPr sz="18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wait </a:t>
            </a:r>
            <a:r>
              <a:rPr sz="1800" i="1" spc="-114" dirty="0">
                <a:solidFill>
                  <a:srgbClr val="404040"/>
                </a:solidFill>
                <a:latin typeface="Trebuchet MS"/>
                <a:cs typeface="Trebuchet MS"/>
              </a:rPr>
              <a:t>(</a:t>
            </a:r>
            <a:r>
              <a:rPr sz="1800" spc="-114" dirty="0">
                <a:solidFill>
                  <a:srgbClr val="404040"/>
                </a:solidFill>
                <a:latin typeface="Trebuchet MS"/>
                <a:cs typeface="Trebuchet MS"/>
              </a:rPr>
              <a:t>int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404040"/>
                </a:solidFill>
                <a:latin typeface="Trebuchet MS"/>
                <a:cs typeface="Trebuchet MS"/>
              </a:rPr>
              <a:t>*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status_ptr</a:t>
            </a:r>
            <a:r>
              <a:rPr sz="1800" i="1" spc="-35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4580" y="3369099"/>
            <a:ext cx="4775200" cy="654685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309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Differences</a:t>
            </a:r>
            <a:endParaRPr sz="200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185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105" dirty="0">
                <a:solidFill>
                  <a:srgbClr val="404040"/>
                </a:solidFill>
                <a:latin typeface="Trebuchet MS"/>
                <a:cs typeface="Trebuchet MS"/>
              </a:rPr>
              <a:t>wait() 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requests 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status 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for 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any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child</a:t>
            </a:r>
            <a:r>
              <a:rPr sz="1800" spc="-1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0475" y="2499779"/>
            <a:ext cx="9733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18288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Char char="◦"/>
              <a:tabLst>
                <a:tab pos="220979" algn="l"/>
              </a:tabLst>
            </a:pP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pid_t </a:t>
            </a:r>
            <a:r>
              <a:rPr sz="18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waitpid</a:t>
            </a:r>
            <a:r>
              <a:rPr sz="1800" b="1" spc="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(pid_t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pid, 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int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*status_ptr,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int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Trebuchet MS"/>
                <a:cs typeface="Trebuchet MS"/>
              </a:rPr>
              <a:t>option</a:t>
            </a:r>
            <a:r>
              <a:rPr sz="2100" spc="-150" baseline="45634" dirty="0">
                <a:solidFill>
                  <a:srgbClr val="E38312"/>
                </a:solidFill>
                <a:latin typeface="Arial"/>
                <a:cs typeface="Arial"/>
              </a:rPr>
              <a:t>•</a:t>
            </a:r>
            <a:r>
              <a:rPr sz="2100" spc="-359" baseline="45634" dirty="0">
                <a:solidFill>
                  <a:srgbClr val="E38312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s)</a:t>
            </a:r>
            <a:r>
              <a:rPr sz="1800" spc="-3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100" spc="157" baseline="45634" dirty="0">
                <a:solidFill>
                  <a:srgbClr val="E38312"/>
                </a:solidFill>
                <a:latin typeface="Trebuchet MS"/>
                <a:cs typeface="Trebuchet MS"/>
              </a:rPr>
              <a:t>WNOHANG</a:t>
            </a:r>
            <a:r>
              <a:rPr sz="2100" spc="-37" baseline="45634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2100" spc="52" baseline="45634" dirty="0">
                <a:solidFill>
                  <a:srgbClr val="E38312"/>
                </a:solidFill>
                <a:latin typeface="Trebuchet MS"/>
                <a:cs typeface="Trebuchet MS"/>
              </a:rPr>
              <a:t>demands</a:t>
            </a:r>
            <a:r>
              <a:rPr sz="2100" spc="-44" baseline="45634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2100" spc="7" baseline="45634" dirty="0">
                <a:solidFill>
                  <a:srgbClr val="E38312"/>
                </a:solidFill>
                <a:latin typeface="Trebuchet MS"/>
                <a:cs typeface="Trebuchet MS"/>
              </a:rPr>
              <a:t>status</a:t>
            </a:r>
            <a:r>
              <a:rPr sz="2100" spc="-44" baseline="45634" dirty="0">
                <a:solidFill>
                  <a:srgbClr val="E38312"/>
                </a:solidFill>
                <a:latin typeface="Trebuchet MS"/>
                <a:cs typeface="Trebuchet MS"/>
              </a:rPr>
              <a:t> information</a:t>
            </a:r>
            <a:r>
              <a:rPr sz="2100" spc="-37" baseline="45634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2100" spc="-60" baseline="45634" dirty="0">
                <a:solidFill>
                  <a:srgbClr val="FF0000"/>
                </a:solidFill>
                <a:latin typeface="Trebuchet MS"/>
                <a:cs typeface="Trebuchet MS"/>
              </a:rPr>
              <a:t>immediately</a:t>
            </a:r>
            <a:r>
              <a:rPr sz="2100" spc="-60" baseline="45634" dirty="0">
                <a:solidFill>
                  <a:srgbClr val="E38312"/>
                </a:solidFill>
                <a:latin typeface="Trebuchet MS"/>
                <a:cs typeface="Trebuchet MS"/>
              </a:rPr>
              <a:t>.</a:t>
            </a:r>
            <a:endParaRPr sz="2100" baseline="45634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6418" y="1765299"/>
            <a:ext cx="455866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0 </a:t>
            </a:r>
            <a:r>
              <a:rPr sz="1400" spc="-270" dirty="0">
                <a:solidFill>
                  <a:srgbClr val="E38312"/>
                </a:solidFill>
                <a:latin typeface="Trebuchet MS"/>
                <a:cs typeface="Trebuchet MS"/>
              </a:rPr>
              <a:t>/ </a:t>
            </a:r>
            <a:r>
              <a:rPr sz="1400" spc="105" dirty="0">
                <a:solidFill>
                  <a:srgbClr val="E38312"/>
                </a:solidFill>
                <a:latin typeface="Trebuchet MS"/>
                <a:cs typeface="Trebuchet MS"/>
              </a:rPr>
              <a:t>WNOHANG </a:t>
            </a:r>
            <a:r>
              <a:rPr sz="1400" spc="-270" dirty="0">
                <a:solidFill>
                  <a:srgbClr val="E38312"/>
                </a:solidFill>
                <a:latin typeface="Trebuchet MS"/>
                <a:cs typeface="Trebuchet MS"/>
              </a:rPr>
              <a:t>/</a:t>
            </a:r>
            <a:r>
              <a:rPr sz="1400" spc="-18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100" dirty="0">
                <a:solidFill>
                  <a:srgbClr val="E38312"/>
                </a:solidFill>
                <a:latin typeface="Trebuchet MS"/>
                <a:cs typeface="Trebuchet MS"/>
              </a:rPr>
              <a:t>WUNTRACED</a:t>
            </a:r>
            <a:endParaRPr sz="1400" dirty="0">
              <a:latin typeface="Trebuchet MS"/>
              <a:cs typeface="Trebuchet MS"/>
            </a:endParaRPr>
          </a:p>
          <a:p>
            <a:pPr marL="298450" marR="508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0 skips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the </a:t>
            </a:r>
            <a:r>
              <a:rPr sz="1400" spc="-25" dirty="0">
                <a:solidFill>
                  <a:srgbClr val="E38312"/>
                </a:solidFill>
                <a:latin typeface="Trebuchet MS"/>
                <a:cs typeface="Trebuchet MS"/>
              </a:rPr>
              <a:t>option, </a:t>
            </a:r>
            <a:r>
              <a:rPr sz="1400" spc="25" dirty="0">
                <a:solidFill>
                  <a:srgbClr val="E38312"/>
                </a:solidFill>
                <a:latin typeface="Trebuchet MS"/>
                <a:cs typeface="Trebuchet MS"/>
              </a:rPr>
              <a:t>and </a:t>
            </a:r>
            <a:r>
              <a:rPr sz="1400" spc="30" dirty="0">
                <a:solidFill>
                  <a:srgbClr val="E38312"/>
                </a:solidFill>
                <a:latin typeface="Trebuchet MS"/>
                <a:cs typeface="Trebuchet MS"/>
              </a:rPr>
              <a:t>keeps </a:t>
            </a:r>
            <a:r>
              <a:rPr sz="1400" spc="-25" dirty="0">
                <a:solidFill>
                  <a:srgbClr val="E38312"/>
                </a:solidFill>
                <a:latin typeface="Trebuchet MS"/>
                <a:cs typeface="Trebuchet MS"/>
              </a:rPr>
              <a:t>waiting </a:t>
            </a:r>
            <a:r>
              <a:rPr lang="en-US" sz="1400" spc="-105" dirty="0">
                <a:solidFill>
                  <a:srgbClr val="E38312"/>
                </a:solidFill>
                <a:latin typeface="Trebuchet MS"/>
                <a:cs typeface="Trebuchet MS"/>
              </a:rPr>
              <a:t>until</a:t>
            </a:r>
            <a:r>
              <a:rPr sz="1400" spc="-10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the</a:t>
            </a:r>
            <a:r>
              <a:rPr sz="1400" spc="-28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E38312"/>
                </a:solidFill>
                <a:latin typeface="Trebuchet MS"/>
                <a:cs typeface="Trebuchet MS"/>
              </a:rPr>
              <a:t>specified 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</a:t>
            </a:r>
            <a:r>
              <a:rPr sz="1400" spc="-5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E38312"/>
                </a:solidFill>
                <a:latin typeface="Trebuchet MS"/>
                <a:cs typeface="Trebuchet MS"/>
              </a:rPr>
              <a:t>terminates.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2168" y="2618739"/>
            <a:ext cx="4377690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65" dirty="0">
                <a:solidFill>
                  <a:srgbClr val="E38312"/>
                </a:solidFill>
                <a:latin typeface="Trebuchet MS"/>
                <a:cs typeface="Trebuchet MS"/>
              </a:rPr>
              <a:t>If </a:t>
            </a:r>
            <a:r>
              <a:rPr sz="1400" spc="5" dirty="0">
                <a:solidFill>
                  <a:srgbClr val="E38312"/>
                </a:solidFill>
                <a:latin typeface="Trebuchet MS"/>
                <a:cs typeface="Trebuchet MS"/>
              </a:rPr>
              <a:t>status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information </a:t>
            </a:r>
            <a:r>
              <a:rPr sz="1400" spc="20" dirty="0">
                <a:solidFill>
                  <a:srgbClr val="E38312"/>
                </a:solidFill>
                <a:latin typeface="Trebuchet MS"/>
                <a:cs typeface="Trebuchet MS"/>
              </a:rPr>
              <a:t>is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immediately </a:t>
            </a:r>
            <a:r>
              <a:rPr sz="1400" spc="-25" dirty="0">
                <a:solidFill>
                  <a:srgbClr val="E38312"/>
                </a:solidFill>
                <a:latin typeface="Trebuchet MS"/>
                <a:cs typeface="Trebuchet MS"/>
              </a:rPr>
              <a:t>available </a:t>
            </a:r>
            <a:r>
              <a:rPr sz="1400" spc="30" dirty="0">
                <a:solidFill>
                  <a:srgbClr val="E38312"/>
                </a:solidFill>
                <a:latin typeface="Trebuchet MS"/>
                <a:cs typeface="Trebuchet MS"/>
              </a:rPr>
              <a:t>on </a:t>
            </a:r>
            <a:r>
              <a:rPr sz="1400" spc="15" dirty="0">
                <a:solidFill>
                  <a:srgbClr val="E38312"/>
                </a:solidFill>
                <a:latin typeface="Trebuchet MS"/>
                <a:cs typeface="Trebuchet MS"/>
              </a:rPr>
              <a:t>an  </a:t>
            </a:r>
            <a:r>
              <a:rPr sz="1400" spc="-15" dirty="0">
                <a:solidFill>
                  <a:srgbClr val="E38312"/>
                </a:solidFill>
                <a:latin typeface="Trebuchet MS"/>
                <a:cs typeface="Trebuchet MS"/>
              </a:rPr>
              <a:t>appropriate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</a:t>
            </a:r>
            <a:r>
              <a:rPr sz="1400" spc="20" dirty="0">
                <a:solidFill>
                  <a:srgbClr val="E38312"/>
                </a:solidFill>
                <a:latin typeface="Trebuchet MS"/>
                <a:cs typeface="Trebuchet MS"/>
              </a:rPr>
              <a:t>process, </a:t>
            </a:r>
            <a:r>
              <a:rPr sz="1400" spc="-55" dirty="0">
                <a:solidFill>
                  <a:srgbClr val="E38312"/>
                </a:solidFill>
                <a:latin typeface="Trebuchet MS"/>
                <a:cs typeface="Trebuchet MS"/>
              </a:rPr>
              <a:t>waitpid()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returns this 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information.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Otherwise, </a:t>
            </a:r>
            <a:r>
              <a:rPr sz="1400" spc="-55" dirty="0">
                <a:solidFill>
                  <a:srgbClr val="E38312"/>
                </a:solidFill>
                <a:latin typeface="Trebuchet MS"/>
                <a:cs typeface="Trebuchet MS"/>
              </a:rPr>
              <a:t>waitpid()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returns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immediately  </a:t>
            </a:r>
            <a:r>
              <a:rPr sz="1400" spc="-45" dirty="0">
                <a:solidFill>
                  <a:srgbClr val="E38312"/>
                </a:solidFill>
                <a:latin typeface="Trebuchet MS"/>
                <a:cs typeface="Trebuchet MS"/>
              </a:rPr>
              <a:t>with </a:t>
            </a:r>
            <a:r>
              <a:rPr sz="1400" spc="15" dirty="0">
                <a:solidFill>
                  <a:srgbClr val="E38312"/>
                </a:solidFill>
                <a:latin typeface="Trebuchet MS"/>
                <a:cs typeface="Trebuchet MS"/>
              </a:rPr>
              <a:t>an </a:t>
            </a:r>
            <a:r>
              <a:rPr sz="1400" spc="-45" dirty="0">
                <a:solidFill>
                  <a:srgbClr val="E38312"/>
                </a:solidFill>
                <a:latin typeface="Trebuchet MS"/>
                <a:cs typeface="Trebuchet MS"/>
              </a:rPr>
              <a:t>error </a:t>
            </a:r>
            <a:r>
              <a:rPr sz="1400" spc="35" dirty="0">
                <a:solidFill>
                  <a:srgbClr val="E38312"/>
                </a:solidFill>
                <a:latin typeface="Trebuchet MS"/>
                <a:cs typeface="Trebuchet MS"/>
              </a:rPr>
              <a:t>code </a:t>
            </a:r>
            <a:r>
              <a:rPr sz="1400" spc="-15" dirty="0">
                <a:solidFill>
                  <a:srgbClr val="E38312"/>
                </a:solidFill>
                <a:latin typeface="Trebuchet MS"/>
                <a:cs typeface="Trebuchet MS"/>
              </a:rPr>
              <a:t>indicating </a:t>
            </a:r>
            <a:r>
              <a:rPr sz="1400" spc="-55" dirty="0">
                <a:solidFill>
                  <a:srgbClr val="E38312"/>
                </a:solidFill>
                <a:latin typeface="Trebuchet MS"/>
                <a:cs typeface="Trebuchet MS"/>
              </a:rPr>
              <a:t>that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the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information </a:t>
            </a:r>
            <a:r>
              <a:rPr sz="1400" spc="55" dirty="0">
                <a:solidFill>
                  <a:srgbClr val="E38312"/>
                </a:solidFill>
                <a:latin typeface="Trebuchet MS"/>
                <a:cs typeface="Trebuchet MS"/>
              </a:rPr>
              <a:t>was 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not </a:t>
            </a:r>
            <a:r>
              <a:rPr sz="1400" spc="-35" dirty="0">
                <a:solidFill>
                  <a:srgbClr val="E38312"/>
                </a:solidFill>
                <a:latin typeface="Trebuchet MS"/>
                <a:cs typeface="Trebuchet MS"/>
              </a:rPr>
              <a:t>available. </a:t>
            </a:r>
            <a:r>
              <a:rPr sz="1400" spc="-5" dirty="0">
                <a:solidFill>
                  <a:srgbClr val="E38312"/>
                </a:solidFill>
                <a:latin typeface="Trebuchet MS"/>
                <a:cs typeface="Trebuchet MS"/>
              </a:rPr>
              <a:t>In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other </a:t>
            </a:r>
            <a:r>
              <a:rPr sz="1400" spc="5" dirty="0">
                <a:solidFill>
                  <a:srgbClr val="E38312"/>
                </a:solidFill>
                <a:latin typeface="Trebuchet MS"/>
                <a:cs typeface="Trebuchet MS"/>
              </a:rPr>
              <a:t>words, </a:t>
            </a:r>
            <a:r>
              <a:rPr sz="1400" spc="-105" dirty="0">
                <a:solidFill>
                  <a:srgbClr val="E38312"/>
                </a:solidFill>
                <a:latin typeface="Trebuchet MS"/>
                <a:cs typeface="Trebuchet MS"/>
              </a:rPr>
              <a:t>it </a:t>
            </a:r>
            <a:r>
              <a:rPr sz="1400" spc="40" dirty="0">
                <a:solidFill>
                  <a:srgbClr val="E38312"/>
                </a:solidFill>
                <a:latin typeface="Trebuchet MS"/>
                <a:cs typeface="Trebuchet MS"/>
              </a:rPr>
              <a:t>checks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processes  </a:t>
            </a:r>
            <a:r>
              <a:rPr sz="1400" spc="-35" dirty="0">
                <a:solidFill>
                  <a:srgbClr val="E38312"/>
                </a:solidFill>
                <a:latin typeface="Trebuchet MS"/>
                <a:cs typeface="Trebuchet MS"/>
              </a:rPr>
              <a:t>without </a:t>
            </a:r>
            <a:r>
              <a:rPr sz="1400" spc="30" dirty="0">
                <a:solidFill>
                  <a:srgbClr val="E38312"/>
                </a:solidFill>
                <a:latin typeface="Trebuchet MS"/>
                <a:cs typeface="Trebuchet MS"/>
              </a:rPr>
              <a:t>causing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the caller </a:t>
            </a:r>
            <a:r>
              <a:rPr sz="1400" spc="-35" dirty="0">
                <a:solidFill>
                  <a:srgbClr val="E38312"/>
                </a:solidFill>
                <a:latin typeface="Trebuchet MS"/>
                <a:cs typeface="Trebuchet MS"/>
              </a:rPr>
              <a:t>to </a:t>
            </a:r>
            <a:r>
              <a:rPr sz="1400" spc="15" dirty="0">
                <a:solidFill>
                  <a:srgbClr val="E38312"/>
                </a:solidFill>
                <a:latin typeface="Trebuchet MS"/>
                <a:cs typeface="Trebuchet MS"/>
              </a:rPr>
              <a:t>be</a:t>
            </a:r>
            <a:r>
              <a:rPr sz="1400" spc="-10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25" dirty="0">
                <a:solidFill>
                  <a:srgbClr val="E38312"/>
                </a:solidFill>
                <a:latin typeface="Trebuchet MS"/>
                <a:cs typeface="Trebuchet MS"/>
              </a:rPr>
              <a:t>suspended.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96418" y="3898900"/>
            <a:ext cx="453834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400" spc="100" dirty="0">
                <a:solidFill>
                  <a:srgbClr val="E38312"/>
                </a:solidFill>
                <a:latin typeface="Trebuchet MS"/>
                <a:cs typeface="Trebuchet MS"/>
              </a:rPr>
              <a:t>WUNTRACED</a:t>
            </a:r>
            <a:r>
              <a:rPr sz="1400" spc="-25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E38312"/>
                </a:solidFill>
                <a:latin typeface="Trebuchet MS"/>
                <a:cs typeface="Trebuchet MS"/>
              </a:rPr>
              <a:t>reports </a:t>
            </a:r>
            <a:r>
              <a:rPr sz="1400" spc="30" dirty="0">
                <a:solidFill>
                  <a:srgbClr val="E38312"/>
                </a:solidFill>
                <a:latin typeface="Trebuchet MS"/>
                <a:cs typeface="Trebuchet MS"/>
              </a:rPr>
              <a:t>on </a:t>
            </a:r>
            <a:r>
              <a:rPr sz="1400" spc="25" dirty="0">
                <a:solidFill>
                  <a:srgbClr val="FF0000"/>
                </a:solidFill>
                <a:latin typeface="Trebuchet MS"/>
                <a:cs typeface="Trebuchet MS"/>
              </a:rPr>
              <a:t>stopped</a:t>
            </a:r>
            <a:r>
              <a:rPr sz="1400" spc="2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processes </a:t>
            </a:r>
            <a:r>
              <a:rPr sz="1400" spc="70" dirty="0">
                <a:solidFill>
                  <a:srgbClr val="E38312"/>
                </a:solidFill>
                <a:latin typeface="Trebuchet MS"/>
                <a:cs typeface="Trebuchet MS"/>
              </a:rPr>
              <a:t>as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44959" y="2405799"/>
            <a:ext cx="722630" cy="429895"/>
          </a:xfrm>
          <a:custGeom>
            <a:avLst/>
            <a:gdLst/>
            <a:ahLst/>
            <a:cxnLst/>
            <a:rect l="l" t="t" r="r" b="b"/>
            <a:pathLst>
              <a:path w="722629" h="429894">
                <a:moveTo>
                  <a:pt x="714527" y="429844"/>
                </a:moveTo>
                <a:lnTo>
                  <a:pt x="7937" y="429844"/>
                </a:lnTo>
                <a:lnTo>
                  <a:pt x="5892" y="429577"/>
                </a:lnTo>
                <a:lnTo>
                  <a:pt x="0" y="421906"/>
                </a:lnTo>
                <a:lnTo>
                  <a:pt x="0" y="7937"/>
                </a:lnTo>
                <a:lnTo>
                  <a:pt x="7937" y="0"/>
                </a:lnTo>
                <a:lnTo>
                  <a:pt x="714527" y="0"/>
                </a:lnTo>
                <a:lnTo>
                  <a:pt x="722464" y="7937"/>
                </a:lnTo>
                <a:lnTo>
                  <a:pt x="15875" y="7937"/>
                </a:lnTo>
                <a:lnTo>
                  <a:pt x="7937" y="15875"/>
                </a:lnTo>
                <a:lnTo>
                  <a:pt x="15875" y="15875"/>
                </a:lnTo>
                <a:lnTo>
                  <a:pt x="15875" y="413969"/>
                </a:lnTo>
                <a:lnTo>
                  <a:pt x="7937" y="413969"/>
                </a:lnTo>
                <a:lnTo>
                  <a:pt x="15875" y="421906"/>
                </a:lnTo>
                <a:lnTo>
                  <a:pt x="722464" y="421906"/>
                </a:lnTo>
                <a:lnTo>
                  <a:pt x="722185" y="423964"/>
                </a:lnTo>
                <a:lnTo>
                  <a:pt x="721398" y="425881"/>
                </a:lnTo>
                <a:lnTo>
                  <a:pt x="720140" y="427520"/>
                </a:lnTo>
                <a:lnTo>
                  <a:pt x="718489" y="428790"/>
                </a:lnTo>
                <a:lnTo>
                  <a:pt x="716572" y="429577"/>
                </a:lnTo>
                <a:lnTo>
                  <a:pt x="714527" y="429844"/>
                </a:lnTo>
                <a:close/>
              </a:path>
              <a:path w="722629" h="429894">
                <a:moveTo>
                  <a:pt x="15875" y="15875"/>
                </a:moveTo>
                <a:lnTo>
                  <a:pt x="7937" y="15875"/>
                </a:lnTo>
                <a:lnTo>
                  <a:pt x="15875" y="7937"/>
                </a:lnTo>
                <a:lnTo>
                  <a:pt x="15875" y="15875"/>
                </a:lnTo>
                <a:close/>
              </a:path>
              <a:path w="722629" h="429894">
                <a:moveTo>
                  <a:pt x="706589" y="15875"/>
                </a:moveTo>
                <a:lnTo>
                  <a:pt x="15875" y="15875"/>
                </a:lnTo>
                <a:lnTo>
                  <a:pt x="15875" y="7937"/>
                </a:lnTo>
                <a:lnTo>
                  <a:pt x="706589" y="7937"/>
                </a:lnTo>
                <a:lnTo>
                  <a:pt x="706589" y="15875"/>
                </a:lnTo>
                <a:close/>
              </a:path>
              <a:path w="722629" h="429894">
                <a:moveTo>
                  <a:pt x="706589" y="421906"/>
                </a:moveTo>
                <a:lnTo>
                  <a:pt x="706589" y="7937"/>
                </a:lnTo>
                <a:lnTo>
                  <a:pt x="714527" y="15875"/>
                </a:lnTo>
                <a:lnTo>
                  <a:pt x="722464" y="15875"/>
                </a:lnTo>
                <a:lnTo>
                  <a:pt x="722464" y="413969"/>
                </a:lnTo>
                <a:lnTo>
                  <a:pt x="714527" y="413969"/>
                </a:lnTo>
                <a:lnTo>
                  <a:pt x="706589" y="421906"/>
                </a:lnTo>
                <a:close/>
              </a:path>
              <a:path w="722629" h="429894">
                <a:moveTo>
                  <a:pt x="722464" y="15875"/>
                </a:moveTo>
                <a:lnTo>
                  <a:pt x="714527" y="15875"/>
                </a:lnTo>
                <a:lnTo>
                  <a:pt x="706589" y="7937"/>
                </a:lnTo>
                <a:lnTo>
                  <a:pt x="722464" y="7937"/>
                </a:lnTo>
                <a:lnTo>
                  <a:pt x="722464" y="15875"/>
                </a:lnTo>
                <a:close/>
              </a:path>
              <a:path w="722629" h="429894">
                <a:moveTo>
                  <a:pt x="15875" y="421906"/>
                </a:moveTo>
                <a:lnTo>
                  <a:pt x="7937" y="413969"/>
                </a:lnTo>
                <a:lnTo>
                  <a:pt x="15875" y="413969"/>
                </a:lnTo>
                <a:lnTo>
                  <a:pt x="15875" y="421906"/>
                </a:lnTo>
                <a:close/>
              </a:path>
              <a:path w="722629" h="429894">
                <a:moveTo>
                  <a:pt x="706589" y="421906"/>
                </a:moveTo>
                <a:lnTo>
                  <a:pt x="15875" y="421906"/>
                </a:lnTo>
                <a:lnTo>
                  <a:pt x="15875" y="413969"/>
                </a:lnTo>
                <a:lnTo>
                  <a:pt x="706589" y="413969"/>
                </a:lnTo>
                <a:lnTo>
                  <a:pt x="706589" y="421906"/>
                </a:lnTo>
                <a:close/>
              </a:path>
              <a:path w="722629" h="429894">
                <a:moveTo>
                  <a:pt x="722464" y="421906"/>
                </a:moveTo>
                <a:lnTo>
                  <a:pt x="706589" y="421906"/>
                </a:lnTo>
                <a:lnTo>
                  <a:pt x="714527" y="413969"/>
                </a:lnTo>
                <a:lnTo>
                  <a:pt x="722464" y="413969"/>
                </a:lnTo>
                <a:lnTo>
                  <a:pt x="722464" y="421906"/>
                </a:lnTo>
                <a:close/>
              </a:path>
            </a:pathLst>
          </a:custGeom>
          <a:solidFill>
            <a:srgbClr val="F3B5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85875" y="3998378"/>
            <a:ext cx="8859520" cy="2121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480"/>
              </a:spcBef>
              <a:buClr>
                <a:srgbClr val="E38312"/>
              </a:buClr>
              <a:buChar char="◦"/>
              <a:tabLst>
                <a:tab pos="195580" algn="l"/>
              </a:tabLst>
            </a:pP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waitpid() 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requests 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status 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for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specific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child </a:t>
            </a:r>
            <a:r>
              <a:rPr sz="1800" spc="30" dirty="0">
                <a:solidFill>
                  <a:srgbClr val="404040"/>
                </a:solidFill>
                <a:latin typeface="Trebuchet MS"/>
                <a:cs typeface="Trebuchet MS"/>
              </a:rPr>
              <a:t>process.</a:t>
            </a:r>
            <a:r>
              <a:rPr sz="1800" spc="-4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100" spc="-82" baseline="-3968" dirty="0">
                <a:solidFill>
                  <a:srgbClr val="E38312"/>
                </a:solidFill>
                <a:latin typeface="Trebuchet MS"/>
                <a:cs typeface="Trebuchet MS"/>
              </a:rPr>
              <a:t>well </a:t>
            </a:r>
            <a:r>
              <a:rPr sz="2100" spc="104" baseline="-3968" dirty="0">
                <a:solidFill>
                  <a:srgbClr val="E38312"/>
                </a:solidFill>
                <a:latin typeface="Trebuchet MS"/>
                <a:cs typeface="Trebuchet MS"/>
              </a:rPr>
              <a:t>as </a:t>
            </a:r>
            <a:r>
              <a:rPr sz="2100" spc="-52" baseline="-3968" dirty="0">
                <a:solidFill>
                  <a:srgbClr val="E38312"/>
                </a:solidFill>
                <a:latin typeface="Trebuchet MS"/>
                <a:cs typeface="Trebuchet MS"/>
              </a:rPr>
              <a:t>terminated </a:t>
            </a:r>
            <a:r>
              <a:rPr sz="2100" spc="15" baseline="-3968" dirty="0">
                <a:solidFill>
                  <a:srgbClr val="E38312"/>
                </a:solidFill>
                <a:latin typeface="Trebuchet MS"/>
                <a:cs typeface="Trebuchet MS"/>
              </a:rPr>
              <a:t>ones.</a:t>
            </a:r>
            <a:endParaRPr sz="2100" baseline="-3968" dirty="0">
              <a:latin typeface="Trebuchet MS"/>
              <a:cs typeface="Trebuchet MS"/>
            </a:endParaRPr>
          </a:p>
          <a:p>
            <a:pPr marL="195580" marR="5080" indent="-182880">
              <a:lnSpc>
                <a:spcPts val="1939"/>
              </a:lnSpc>
              <a:spcBef>
                <a:spcPts val="625"/>
              </a:spcBef>
              <a:buClr>
                <a:srgbClr val="E38312"/>
              </a:buClr>
              <a:buChar char="◦"/>
              <a:tabLst>
                <a:tab pos="195580" algn="l"/>
              </a:tabLst>
            </a:pP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waitpid() 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function </a:t>
            </a:r>
            <a:r>
              <a:rPr sz="1800" spc="30" dirty="0">
                <a:solidFill>
                  <a:srgbClr val="404040"/>
                </a:solidFill>
                <a:latin typeface="Trebuchet MS"/>
                <a:cs typeface="Trebuchet MS"/>
              </a:rPr>
              <a:t>behaves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1800" spc="50" dirty="0">
                <a:solidFill>
                  <a:srgbClr val="404040"/>
                </a:solidFill>
                <a:latin typeface="Trebuchet MS"/>
                <a:cs typeface="Trebuchet MS"/>
              </a:rPr>
              <a:t>same </a:t>
            </a:r>
            <a:r>
              <a:rPr sz="1800" spc="90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z="1800" spc="-105" dirty="0">
                <a:solidFill>
                  <a:srgbClr val="404040"/>
                </a:solidFill>
                <a:latin typeface="Trebuchet MS"/>
                <a:cs typeface="Trebuchet MS"/>
              </a:rPr>
              <a:t>wait() </a:t>
            </a:r>
            <a:r>
              <a:rPr sz="1800" spc="-125" dirty="0">
                <a:solidFill>
                  <a:srgbClr val="404040"/>
                </a:solidFill>
                <a:latin typeface="Trebuchet MS"/>
                <a:cs typeface="Trebuchet MS"/>
              </a:rPr>
              <a:t>if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pid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argument </a:t>
            </a:r>
            <a:r>
              <a:rPr sz="1800" spc="25" dirty="0">
                <a:solidFill>
                  <a:srgbClr val="404040"/>
                </a:solidFill>
                <a:latin typeface="Trebuchet MS"/>
                <a:cs typeface="Trebuchet MS"/>
              </a:rPr>
              <a:t>is 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(pid_t) </a:t>
            </a:r>
            <a:r>
              <a:rPr sz="1800" spc="45" dirty="0">
                <a:solidFill>
                  <a:srgbClr val="404040"/>
                </a:solidFill>
                <a:latin typeface="Trebuchet MS"/>
                <a:cs typeface="Trebuchet MS"/>
              </a:rPr>
              <a:t>-1</a:t>
            </a:r>
            <a:r>
              <a:rPr sz="1800" spc="-2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404040"/>
                </a:solidFill>
                <a:latin typeface="Trebuchet MS"/>
                <a:cs typeface="Trebuchet MS"/>
              </a:rPr>
              <a:t>and 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options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argument </a:t>
            </a:r>
            <a:r>
              <a:rPr sz="1800" spc="25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0.</a:t>
            </a:r>
            <a:endParaRPr sz="1800" dirty="0">
              <a:latin typeface="Trebuchet MS"/>
              <a:cs typeface="Trebuchet MS"/>
            </a:endParaRPr>
          </a:p>
          <a:p>
            <a:pPr marL="19685" marR="3410585">
              <a:lnSpc>
                <a:spcPct val="100000"/>
              </a:lnSpc>
              <a:spcBef>
                <a:spcPts val="1440"/>
              </a:spcBef>
            </a:pPr>
            <a:r>
              <a:rPr sz="1800" i="1" u="sng" spc="-4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Trebuchet MS"/>
                <a:cs typeface="Trebuchet MS"/>
                <a:hlinkClick r:id="rId2"/>
              </a:rPr>
              <a:t>https://stackoverflow.com/questions/33508997/waitp </a:t>
            </a:r>
            <a:r>
              <a:rPr sz="1800" i="1" spc="-45" dirty="0">
                <a:solidFill>
                  <a:srgbClr val="2997E2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sz="1800" i="1" u="sng" spc="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Trebuchet MS"/>
                <a:cs typeface="Trebuchet MS"/>
                <a:hlinkClick r:id="rId2"/>
              </a:rPr>
              <a:t>id-wnohang-wuntraced-how-do-i-use- </a:t>
            </a:r>
            <a:r>
              <a:rPr sz="1800" i="1" spc="10" dirty="0">
                <a:solidFill>
                  <a:srgbClr val="2997E2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sz="1800" i="1" u="sng" spc="-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Trebuchet MS"/>
                <a:cs typeface="Trebuchet MS"/>
                <a:hlinkClick r:id="rId2"/>
              </a:rPr>
              <a:t>these/34845669</a:t>
            </a:r>
            <a:endParaRPr sz="1800" dirty="0">
              <a:latin typeface="Trebuchet MS"/>
              <a:cs typeface="Trebuchet MS"/>
            </a:endParaRPr>
          </a:p>
          <a:p>
            <a:pPr marL="19685">
              <a:lnSpc>
                <a:spcPts val="1535"/>
              </a:lnSpc>
            </a:pPr>
            <a:r>
              <a:rPr sz="1800" i="1" u="sng" spc="-10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Trebuchet MS"/>
                <a:cs typeface="Trebuchet MS"/>
                <a:hlinkClick r:id="rId2"/>
              </a:rPr>
              <a:t>https://linux.die.net/man/2/waitpid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17</a:t>
            </a:fld>
            <a:endParaRPr spc="3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383" y="1833372"/>
            <a:ext cx="9988296" cy="42184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88671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 </a:t>
            </a:r>
            <a:r>
              <a:rPr spc="-130" dirty="0"/>
              <a:t>Termination </a:t>
            </a:r>
            <a:r>
              <a:rPr spc="150" dirty="0"/>
              <a:t>2 </a:t>
            </a:r>
            <a:r>
              <a:rPr spc="635" dirty="0"/>
              <a:t>–</a:t>
            </a:r>
            <a:r>
              <a:rPr spc="-1060" dirty="0"/>
              <a:t> </a:t>
            </a:r>
            <a:r>
              <a:rPr spc="-225" dirty="0"/>
              <a:t>waitpid()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87204" y="5674969"/>
            <a:ext cx="406400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solidFill>
                  <a:srgbClr val="E38312"/>
                </a:solidFill>
                <a:latin typeface="Trebuchet MS"/>
                <a:cs typeface="Trebuchet MS"/>
              </a:rPr>
              <a:t>Child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</a:t>
            </a:r>
            <a:r>
              <a:rPr sz="1400" spc="30" dirty="0">
                <a:solidFill>
                  <a:srgbClr val="E38312"/>
                </a:solidFill>
                <a:latin typeface="Trebuchet MS"/>
                <a:cs typeface="Trebuchet MS"/>
              </a:rPr>
              <a:t>sleeps </a:t>
            </a:r>
            <a:r>
              <a:rPr sz="1400" spc="70" dirty="0">
                <a:solidFill>
                  <a:srgbClr val="E38312"/>
                </a:solidFill>
                <a:latin typeface="Trebuchet MS"/>
                <a:cs typeface="Trebuchet MS"/>
              </a:rPr>
              <a:t>10s </a:t>
            </a:r>
            <a:r>
              <a:rPr sz="1400" spc="25" dirty="0">
                <a:solidFill>
                  <a:srgbClr val="E38312"/>
                </a:solidFill>
                <a:latin typeface="Trebuchet MS"/>
                <a:cs typeface="Trebuchet MS"/>
              </a:rPr>
              <a:t>and </a:t>
            </a:r>
            <a:r>
              <a:rPr sz="1400" spc="-25" dirty="0">
                <a:solidFill>
                  <a:srgbClr val="E38312"/>
                </a:solidFill>
                <a:latin typeface="Trebuchet MS"/>
                <a:cs typeface="Trebuchet MS"/>
              </a:rPr>
              <a:t>parent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</a:t>
            </a:r>
            <a:r>
              <a:rPr sz="1400" spc="-75" dirty="0">
                <a:solidFill>
                  <a:srgbClr val="E38312"/>
                </a:solidFill>
                <a:latin typeface="Trebuchet MS"/>
                <a:cs typeface="Trebuchet MS"/>
              </a:rPr>
              <a:t>will  </a:t>
            </a:r>
            <a:r>
              <a:rPr sz="1400" spc="50" dirty="0">
                <a:solidFill>
                  <a:srgbClr val="E38312"/>
                </a:solidFill>
                <a:latin typeface="Trebuchet MS"/>
                <a:cs typeface="Trebuchet MS"/>
              </a:rPr>
              <a:t>suspend </a:t>
            </a:r>
            <a:r>
              <a:rPr sz="1400" spc="-60" dirty="0">
                <a:solidFill>
                  <a:srgbClr val="E38312"/>
                </a:solidFill>
                <a:latin typeface="Trebuchet MS"/>
                <a:cs typeface="Trebuchet MS"/>
              </a:rPr>
              <a:t>until </a:t>
            </a:r>
            <a:r>
              <a:rPr sz="1400" spc="5" dirty="0">
                <a:solidFill>
                  <a:srgbClr val="E38312"/>
                </a:solidFill>
                <a:latin typeface="Trebuchet MS"/>
                <a:cs typeface="Trebuchet MS"/>
              </a:rPr>
              <a:t>status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information of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</a:t>
            </a:r>
            <a:r>
              <a:rPr sz="1400" spc="-14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20" dirty="0">
                <a:solidFill>
                  <a:srgbClr val="E38312"/>
                </a:solidFill>
                <a:latin typeface="Trebuchet MS"/>
                <a:cs typeface="Trebuchet MS"/>
              </a:rPr>
              <a:t>is  </a:t>
            </a:r>
            <a:r>
              <a:rPr sz="1400" spc="-35" dirty="0">
                <a:solidFill>
                  <a:srgbClr val="E38312"/>
                </a:solidFill>
                <a:latin typeface="Trebuchet MS"/>
                <a:cs typeface="Trebuchet MS"/>
              </a:rPr>
              <a:t>available.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03565" y="5064416"/>
            <a:ext cx="1694180" cy="672465"/>
          </a:xfrm>
          <a:custGeom>
            <a:avLst/>
            <a:gdLst/>
            <a:ahLst/>
            <a:cxnLst/>
            <a:rect l="l" t="t" r="r" b="b"/>
            <a:pathLst>
              <a:path w="1694179" h="672464">
                <a:moveTo>
                  <a:pt x="1693760" y="672058"/>
                </a:moveTo>
                <a:lnTo>
                  <a:pt x="1683562" y="633323"/>
                </a:lnTo>
                <a:lnTo>
                  <a:pt x="1672082" y="589673"/>
                </a:lnTo>
                <a:lnTo>
                  <a:pt x="1648231" y="610641"/>
                </a:lnTo>
                <a:lnTo>
                  <a:pt x="1123162" y="13169"/>
                </a:lnTo>
                <a:lnTo>
                  <a:pt x="1188808" y="12700"/>
                </a:lnTo>
                <a:lnTo>
                  <a:pt x="1188720" y="0"/>
                </a:lnTo>
                <a:lnTo>
                  <a:pt x="0" y="8305"/>
                </a:lnTo>
                <a:lnTo>
                  <a:pt x="88" y="21005"/>
                </a:lnTo>
                <a:lnTo>
                  <a:pt x="1117688" y="13208"/>
                </a:lnTo>
                <a:lnTo>
                  <a:pt x="1111262" y="18846"/>
                </a:lnTo>
                <a:lnTo>
                  <a:pt x="1638693" y="619023"/>
                </a:lnTo>
                <a:lnTo>
                  <a:pt x="1614843" y="639978"/>
                </a:lnTo>
                <a:lnTo>
                  <a:pt x="1693760" y="672058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18</a:t>
            </a:fld>
            <a:endParaRPr spc="3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60083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 </a:t>
            </a:r>
            <a:r>
              <a:rPr spc="-130" dirty="0"/>
              <a:t>Termination</a:t>
            </a:r>
            <a:r>
              <a:rPr spc="-645" dirty="0"/>
              <a:t> </a:t>
            </a:r>
            <a:r>
              <a:rPr spc="150" dirty="0"/>
              <a:t>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19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55178" y="2467915"/>
            <a:ext cx="9852025" cy="3048269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309"/>
              </a:spcBef>
              <a:buClr>
                <a:srgbClr val="E38312"/>
              </a:buClr>
              <a:buFont typeface="Wingdings"/>
              <a:buChar char=""/>
              <a:tabLst>
                <a:tab pos="339725" algn="l"/>
                <a:tab pos="340360" algn="l"/>
              </a:tabLst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Return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endParaRPr sz="20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185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105" dirty="0">
                <a:solidFill>
                  <a:srgbClr val="404040"/>
                </a:solidFill>
                <a:latin typeface="Trebuchet MS"/>
                <a:cs typeface="Trebuchet MS"/>
              </a:rPr>
              <a:t>wait()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waitpid()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returns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Trebuchet MS"/>
                <a:cs typeface="Trebuchet MS"/>
              </a:rPr>
              <a:t>PID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child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when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status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child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available.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90" dirty="0">
                <a:solidFill>
                  <a:srgbClr val="404040"/>
                </a:solidFill>
                <a:latin typeface="Trebuchet MS"/>
                <a:cs typeface="Trebuchet MS"/>
              </a:rPr>
              <a:t>If </a:t>
            </a:r>
            <a:r>
              <a:rPr sz="1800" spc="20" dirty="0">
                <a:solidFill>
                  <a:srgbClr val="404040"/>
                </a:solidFill>
                <a:latin typeface="Trebuchet MS"/>
                <a:cs typeface="Trebuchet MS"/>
              </a:rPr>
              <a:t>unsuccessful, </a:t>
            </a:r>
            <a:r>
              <a:rPr sz="1800" spc="-105" dirty="0">
                <a:solidFill>
                  <a:srgbClr val="404040"/>
                </a:solidFill>
                <a:latin typeface="Trebuchet MS"/>
                <a:cs typeface="Trebuchet MS"/>
              </a:rPr>
              <a:t>wait()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or 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waitpid() 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returns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-1.</a:t>
            </a:r>
            <a:endParaRPr sz="2100" dirty="0">
              <a:latin typeface="Trebuchet MS"/>
              <a:cs typeface="Trebuchet MS"/>
            </a:endParaRPr>
          </a:p>
          <a:p>
            <a:pPr marL="103505" marR="250825" indent="-91440">
              <a:lnSpc>
                <a:spcPts val="2160"/>
              </a:lnSpc>
              <a:spcBef>
                <a:spcPts val="1725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When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waitpid()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returns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valid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Trebuchet MS"/>
                <a:cs typeface="Trebuchet MS"/>
              </a:rPr>
              <a:t>ID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Trebuchet MS"/>
                <a:cs typeface="Trebuchet MS"/>
              </a:rPr>
              <a:t>(pid),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below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macros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analyze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 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status 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referenced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by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status</a:t>
            </a:r>
            <a:r>
              <a:rPr sz="2000" spc="-2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argument.</a:t>
            </a:r>
            <a:endParaRPr sz="20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175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latin typeface="Trebuchet MS"/>
                <a:cs typeface="Trebuchet MS"/>
              </a:rPr>
              <a:t>int </a:t>
            </a:r>
            <a:r>
              <a:rPr sz="1800" b="1" spc="125" dirty="0">
                <a:latin typeface="Century Gothic"/>
                <a:cs typeface="Century Gothic"/>
              </a:rPr>
              <a:t>WIFEXITED </a:t>
            </a:r>
            <a:r>
              <a:rPr sz="1800" spc="-114" dirty="0">
                <a:latin typeface="Trebuchet MS"/>
                <a:cs typeface="Trebuchet MS"/>
              </a:rPr>
              <a:t>(int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status)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latin typeface="Trebuchet MS"/>
                <a:cs typeface="Trebuchet MS"/>
              </a:rPr>
              <a:t>int </a:t>
            </a:r>
            <a:r>
              <a:rPr sz="1800" b="1" spc="75" dirty="0">
                <a:latin typeface="Century Gothic"/>
                <a:cs typeface="Century Gothic"/>
              </a:rPr>
              <a:t>WIFSIGNALED </a:t>
            </a:r>
            <a:r>
              <a:rPr sz="1800" spc="-114" dirty="0">
                <a:latin typeface="Trebuchet MS"/>
                <a:cs typeface="Trebuchet MS"/>
              </a:rPr>
              <a:t>(int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status)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latin typeface="Trebuchet MS"/>
                <a:cs typeface="Trebuchet MS"/>
              </a:rPr>
              <a:t>int </a:t>
            </a:r>
            <a:r>
              <a:rPr sz="1800" b="1" spc="140" dirty="0">
                <a:latin typeface="Century Gothic"/>
                <a:cs typeface="Century Gothic"/>
              </a:rPr>
              <a:t>WIFSTOPPED </a:t>
            </a:r>
            <a:r>
              <a:rPr sz="1800" spc="-114" dirty="0">
                <a:latin typeface="Trebuchet MS"/>
                <a:cs typeface="Trebuchet MS"/>
              </a:rPr>
              <a:t>(int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status)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70" dirty="0">
                <a:latin typeface="Trebuchet MS"/>
                <a:cs typeface="Trebuchet MS"/>
              </a:rPr>
              <a:t>etc.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108862A0-BAF0-67E0-BFD9-333B0AD468C5}"/>
              </a:ext>
            </a:extLst>
          </p:cNvPr>
          <p:cNvSpPr txBox="1"/>
          <p:nvPr/>
        </p:nvSpPr>
        <p:spPr>
          <a:xfrm>
            <a:off x="1055178" y="2122487"/>
            <a:ext cx="9733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indent="-18288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Char char="◦"/>
              <a:tabLst>
                <a:tab pos="220979" algn="l"/>
              </a:tabLst>
            </a:pP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pid_t </a:t>
            </a:r>
            <a:r>
              <a:rPr sz="1800" b="1" spc="-25" dirty="0">
                <a:solidFill>
                  <a:srgbClr val="FF0000"/>
                </a:solidFill>
                <a:latin typeface="Century Gothic"/>
                <a:cs typeface="Century Gothic"/>
              </a:rPr>
              <a:t>waitpid</a:t>
            </a:r>
            <a:r>
              <a:rPr sz="1800" b="1" spc="5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(pid_t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pid, 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int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*status_ptr,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int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Trebuchet MS"/>
                <a:cs typeface="Trebuchet MS"/>
              </a:rPr>
              <a:t>option</a:t>
            </a:r>
            <a:r>
              <a:rPr sz="2100" spc="-150" baseline="45634" dirty="0">
                <a:solidFill>
                  <a:srgbClr val="E38312"/>
                </a:solidFill>
                <a:latin typeface="Arial"/>
                <a:cs typeface="Arial"/>
              </a:rPr>
              <a:t>•</a:t>
            </a:r>
            <a:r>
              <a:rPr sz="2100" spc="-359" baseline="45634" dirty="0">
                <a:solidFill>
                  <a:srgbClr val="E38312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s)</a:t>
            </a:r>
            <a:r>
              <a:rPr sz="1800" spc="-3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endParaRPr sz="2100" baseline="45634" dirty="0">
              <a:latin typeface="Trebuchet MS"/>
              <a:cs typeface="Trebuchet MS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C32BB58A-9083-C923-C72F-AB7646AE344F}"/>
              </a:ext>
            </a:extLst>
          </p:cNvPr>
          <p:cNvSpPr txBox="1"/>
          <p:nvPr/>
        </p:nvSpPr>
        <p:spPr>
          <a:xfrm>
            <a:off x="1082217" y="1770698"/>
            <a:ext cx="2831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Char char="◦"/>
              <a:tabLst>
                <a:tab pos="195580" algn="l"/>
              </a:tabLst>
            </a:pP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pid_t </a:t>
            </a:r>
            <a:r>
              <a:rPr sz="1800" b="1" spc="-5" dirty="0">
                <a:solidFill>
                  <a:srgbClr val="FF0000"/>
                </a:solidFill>
                <a:latin typeface="Century Gothic"/>
                <a:cs typeface="Century Gothic"/>
              </a:rPr>
              <a:t>wait </a:t>
            </a:r>
            <a:r>
              <a:rPr sz="1800" i="1" spc="-114" dirty="0">
                <a:solidFill>
                  <a:srgbClr val="404040"/>
                </a:solidFill>
                <a:latin typeface="Trebuchet MS"/>
                <a:cs typeface="Trebuchet MS"/>
              </a:rPr>
              <a:t>(</a:t>
            </a:r>
            <a:r>
              <a:rPr sz="1800" spc="-114" dirty="0">
                <a:solidFill>
                  <a:srgbClr val="404040"/>
                </a:solidFill>
                <a:latin typeface="Trebuchet MS"/>
                <a:cs typeface="Trebuchet MS"/>
              </a:rPr>
              <a:t>int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404040"/>
                </a:solidFill>
                <a:latin typeface="Trebuchet MS"/>
                <a:cs typeface="Trebuchet MS"/>
              </a:rPr>
              <a:t>*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status_ptr</a:t>
            </a:r>
            <a:r>
              <a:rPr sz="1800" i="1" spc="-35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43059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</a:t>
            </a:r>
            <a:r>
              <a:rPr spc="-254" dirty="0"/>
              <a:t> </a:t>
            </a:r>
            <a:r>
              <a:rPr spc="100" dirty="0"/>
              <a:t>Signals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20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819699"/>
            <a:ext cx="9860915" cy="269748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309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Linux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supports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standard 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signals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listed</a:t>
            </a:r>
            <a:r>
              <a:rPr sz="2000" spc="-3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below.</a:t>
            </a:r>
            <a:endParaRPr sz="200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185"/>
              </a:spcBef>
              <a:buClr>
                <a:srgbClr val="E38312"/>
              </a:buClr>
              <a:buChar char="◦"/>
              <a:tabLst>
                <a:tab pos="396875" algn="l"/>
                <a:tab pos="1814195" algn="l"/>
              </a:tabLst>
            </a:pPr>
            <a:r>
              <a:rPr sz="1800" spc="90" dirty="0">
                <a:solidFill>
                  <a:srgbClr val="404040"/>
                </a:solidFill>
                <a:latin typeface="Trebuchet MS"/>
                <a:cs typeface="Trebuchet MS"/>
              </a:rPr>
              <a:t>SIGQUIT	</a:t>
            </a:r>
            <a:r>
              <a:rPr sz="1800" spc="55" dirty="0">
                <a:solidFill>
                  <a:srgbClr val="404040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Char char="◦"/>
              <a:tabLst>
                <a:tab pos="396875" algn="l"/>
                <a:tab pos="1877060" algn="l"/>
              </a:tabLst>
            </a:pPr>
            <a:r>
              <a:rPr sz="1800" spc="95" dirty="0">
                <a:solidFill>
                  <a:srgbClr val="404040"/>
                </a:solidFill>
                <a:latin typeface="Trebuchet MS"/>
                <a:cs typeface="Trebuchet MS"/>
              </a:rPr>
              <a:t>SIGKILL	</a:t>
            </a:r>
            <a:r>
              <a:rPr sz="1800" spc="55" dirty="0">
                <a:solidFill>
                  <a:srgbClr val="404040"/>
                </a:solidFill>
                <a:latin typeface="Trebuchet MS"/>
                <a:cs typeface="Trebuchet MS"/>
              </a:rPr>
              <a:t>9</a:t>
            </a:r>
            <a:endParaRPr sz="180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Char char="◦"/>
              <a:tabLst>
                <a:tab pos="396875" algn="l"/>
                <a:tab pos="1784985" algn="l"/>
              </a:tabLst>
            </a:pPr>
            <a:r>
              <a:rPr sz="1800" spc="140" dirty="0">
                <a:solidFill>
                  <a:srgbClr val="404040"/>
                </a:solidFill>
                <a:latin typeface="Trebuchet MS"/>
                <a:cs typeface="Trebuchet MS"/>
              </a:rPr>
              <a:t>SIGTERM	</a:t>
            </a:r>
            <a:r>
              <a:rPr sz="1800" spc="50" dirty="0">
                <a:solidFill>
                  <a:srgbClr val="404040"/>
                </a:solidFill>
                <a:latin typeface="Trebuchet MS"/>
                <a:cs typeface="Trebuchet MS"/>
              </a:rPr>
              <a:t>15</a:t>
            </a:r>
            <a:endParaRPr sz="180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Char char="◦"/>
              <a:tabLst>
                <a:tab pos="396875" algn="l"/>
                <a:tab pos="1822450" algn="l"/>
              </a:tabLst>
            </a:pPr>
            <a:r>
              <a:rPr sz="1800" spc="140" dirty="0">
                <a:solidFill>
                  <a:srgbClr val="404040"/>
                </a:solidFill>
                <a:latin typeface="Trebuchet MS"/>
                <a:cs typeface="Trebuchet MS"/>
              </a:rPr>
              <a:t>SIGSTOP	</a:t>
            </a:r>
            <a:r>
              <a:rPr sz="1800" spc="50" dirty="0">
                <a:solidFill>
                  <a:srgbClr val="404040"/>
                </a:solidFill>
                <a:latin typeface="Trebuchet MS"/>
                <a:cs typeface="Trebuchet MS"/>
              </a:rPr>
              <a:t>19</a:t>
            </a:r>
            <a:endParaRPr sz="180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380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etc.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ts val="2160"/>
              </a:lnSpc>
              <a:spcBef>
                <a:spcPts val="1630"/>
              </a:spcBef>
            </a:pPr>
            <a:r>
              <a:rPr sz="2000" i="1" u="sng" spc="-3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Trebuchet MS"/>
                <a:cs typeface="Trebuchet MS"/>
                <a:hlinkClick r:id="rId2"/>
              </a:rPr>
              <a:t>https://stackoverflow.com/questions/50299429/c-reporting-which-signal-terminated-a- </a:t>
            </a:r>
            <a:r>
              <a:rPr sz="2000" i="1" spc="-35" dirty="0">
                <a:solidFill>
                  <a:srgbClr val="2997E2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sz="2000" i="1" u="sng" spc="-3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Trebuchet MS"/>
                <a:cs typeface="Trebuchet MS"/>
                <a:hlinkClick r:id="rId2"/>
              </a:rPr>
              <a:t>child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43059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</a:t>
            </a:r>
            <a:r>
              <a:rPr spc="-254" dirty="0"/>
              <a:t> </a:t>
            </a:r>
            <a:r>
              <a:rPr spc="100" dirty="0"/>
              <a:t>Signals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21</a:t>
            </a:fld>
            <a:endParaRPr spc="35" dirty="0"/>
          </a:p>
        </p:txBody>
      </p:sp>
      <p:sp>
        <p:nvSpPr>
          <p:cNvPr id="3" name="object 3"/>
          <p:cNvSpPr txBox="1"/>
          <p:nvPr/>
        </p:nvSpPr>
        <p:spPr>
          <a:xfrm>
            <a:off x="1084580" y="1820964"/>
            <a:ext cx="8486140" cy="39068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ts val="239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100" dirty="0">
                <a:solidFill>
                  <a:srgbClr val="404040"/>
                </a:solidFill>
                <a:latin typeface="Trebuchet MS"/>
                <a:cs typeface="Trebuchet MS"/>
              </a:rPr>
              <a:t>Send 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signal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-3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000" spc="-3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caller</a:t>
            </a:r>
            <a:endParaRPr sz="2000" dirty="0">
              <a:latin typeface="Trebuchet MS"/>
              <a:cs typeface="Trebuchet MS"/>
            </a:endParaRPr>
          </a:p>
          <a:p>
            <a:pPr marL="396875" lvl="1" indent="-183515">
              <a:lnSpc>
                <a:spcPts val="2150"/>
              </a:lnSpc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latin typeface="Trebuchet MS"/>
                <a:cs typeface="Trebuchet MS"/>
              </a:rPr>
              <a:t>int </a:t>
            </a:r>
            <a:r>
              <a:rPr sz="1800" b="1" spc="5" dirty="0">
                <a:solidFill>
                  <a:srgbClr val="FF0000"/>
                </a:solidFill>
                <a:latin typeface="Century Gothic"/>
                <a:cs typeface="Century Gothic"/>
              </a:rPr>
              <a:t>raise </a:t>
            </a:r>
            <a:r>
              <a:rPr sz="1800" spc="-114" dirty="0">
                <a:latin typeface="Trebuchet MS"/>
                <a:cs typeface="Trebuchet MS"/>
              </a:rPr>
              <a:t>(int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sig)</a:t>
            </a:r>
            <a:endParaRPr sz="18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38312"/>
              </a:buClr>
              <a:buFont typeface="Trebuchet MS"/>
              <a:buChar char="◦"/>
            </a:pPr>
            <a:endParaRPr sz="2900" dirty="0">
              <a:latin typeface="Trebuchet MS"/>
              <a:cs typeface="Trebuchet MS"/>
            </a:endParaRPr>
          </a:p>
          <a:p>
            <a:pPr marL="269875" indent="-257175">
              <a:lnSpc>
                <a:spcPts val="2395"/>
              </a:lnSpc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Evaluate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child </a:t>
            </a:r>
            <a:r>
              <a:rPr sz="2000" spc="50" dirty="0">
                <a:solidFill>
                  <a:srgbClr val="404040"/>
                </a:solidFill>
                <a:latin typeface="Trebuchet MS"/>
                <a:cs typeface="Trebuchet MS"/>
              </a:rPr>
              <a:t>process’s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status 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(zero 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2000" spc="-2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non-zero)</a:t>
            </a:r>
            <a:endParaRPr sz="2000" dirty="0">
              <a:latin typeface="Trebuchet MS"/>
              <a:cs typeface="Trebuchet MS"/>
            </a:endParaRPr>
          </a:p>
          <a:p>
            <a:pPr marL="396875" lvl="1" indent="-183515">
              <a:lnSpc>
                <a:spcPts val="2155"/>
              </a:lnSpc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latin typeface="Trebuchet MS"/>
                <a:cs typeface="Trebuchet MS"/>
              </a:rPr>
              <a:t>int </a:t>
            </a:r>
            <a:r>
              <a:rPr sz="1800" b="1" spc="125" dirty="0">
                <a:solidFill>
                  <a:srgbClr val="FF0000"/>
                </a:solidFill>
                <a:latin typeface="Century Gothic"/>
                <a:cs typeface="Century Gothic"/>
              </a:rPr>
              <a:t>WIFEXITED </a:t>
            </a:r>
            <a:r>
              <a:rPr sz="1800" spc="-114" dirty="0">
                <a:latin typeface="Trebuchet MS"/>
                <a:cs typeface="Trebuchet MS"/>
              </a:rPr>
              <a:t>(int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status)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165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latin typeface="Trebuchet MS"/>
                <a:cs typeface="Trebuchet MS"/>
              </a:rPr>
              <a:t>int </a:t>
            </a:r>
            <a:r>
              <a:rPr sz="1800" b="1" spc="75" dirty="0">
                <a:solidFill>
                  <a:srgbClr val="FF0000"/>
                </a:solidFill>
                <a:latin typeface="Century Gothic"/>
                <a:cs typeface="Century Gothic"/>
              </a:rPr>
              <a:t>WIFSIGNALED </a:t>
            </a:r>
            <a:r>
              <a:rPr sz="1800" spc="-114" dirty="0">
                <a:latin typeface="Trebuchet MS"/>
                <a:cs typeface="Trebuchet MS"/>
              </a:rPr>
              <a:t>(int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status)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165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latin typeface="Trebuchet MS"/>
                <a:cs typeface="Trebuchet MS"/>
              </a:rPr>
              <a:t>int </a:t>
            </a:r>
            <a:r>
              <a:rPr sz="1800" b="1" spc="140" dirty="0">
                <a:solidFill>
                  <a:srgbClr val="FF0000"/>
                </a:solidFill>
                <a:latin typeface="Century Gothic"/>
                <a:cs typeface="Century Gothic"/>
              </a:rPr>
              <a:t>WIFSTOPPED </a:t>
            </a:r>
            <a:r>
              <a:rPr sz="1800" spc="-114" dirty="0">
                <a:latin typeface="Trebuchet MS"/>
                <a:cs typeface="Trebuchet MS"/>
              </a:rPr>
              <a:t>(int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status)</a:t>
            </a:r>
            <a:endParaRPr sz="18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lr>
                <a:srgbClr val="E38312"/>
              </a:buClr>
              <a:buFont typeface="Trebuchet MS"/>
              <a:buChar char="◦"/>
            </a:pPr>
            <a:endParaRPr sz="2950" dirty="0">
              <a:latin typeface="Trebuchet MS"/>
              <a:cs typeface="Trebuchet MS"/>
            </a:endParaRPr>
          </a:p>
          <a:p>
            <a:pPr marL="269875" indent="-257175">
              <a:lnSpc>
                <a:spcPts val="2395"/>
              </a:lnSpc>
              <a:buClr>
                <a:srgbClr val="E38312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Evaluate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child </a:t>
            </a:r>
            <a:r>
              <a:rPr sz="2000" spc="50" dirty="0">
                <a:solidFill>
                  <a:srgbClr val="404040"/>
                </a:solidFill>
                <a:latin typeface="Trebuchet MS"/>
                <a:cs typeface="Trebuchet MS"/>
              </a:rPr>
              <a:t>process’s 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returned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value 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status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argument(exact</a:t>
            </a:r>
            <a:r>
              <a:rPr sz="2000" spc="-2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values)</a:t>
            </a:r>
            <a:endParaRPr sz="2000" dirty="0">
              <a:latin typeface="Trebuchet MS"/>
              <a:cs typeface="Trebuchet MS"/>
            </a:endParaRPr>
          </a:p>
          <a:p>
            <a:pPr marL="396875" lvl="1" indent="-183515">
              <a:lnSpc>
                <a:spcPts val="2155"/>
              </a:lnSpc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latin typeface="Trebuchet MS"/>
                <a:cs typeface="Trebuchet MS"/>
              </a:rPr>
              <a:t>int </a:t>
            </a:r>
            <a:r>
              <a:rPr sz="1800" b="1" spc="170" dirty="0">
                <a:solidFill>
                  <a:srgbClr val="FF0000"/>
                </a:solidFill>
                <a:latin typeface="Century Gothic"/>
                <a:cs typeface="Century Gothic"/>
              </a:rPr>
              <a:t>WEXITSTATUS </a:t>
            </a:r>
            <a:r>
              <a:rPr sz="1800" spc="-114" dirty="0">
                <a:latin typeface="Trebuchet MS"/>
                <a:cs typeface="Trebuchet MS"/>
              </a:rPr>
              <a:t>(int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status)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165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latin typeface="Trebuchet MS"/>
                <a:cs typeface="Trebuchet MS"/>
              </a:rPr>
              <a:t>int </a:t>
            </a:r>
            <a:r>
              <a:rPr sz="1800" b="1" spc="125" dirty="0">
                <a:solidFill>
                  <a:srgbClr val="FF0000"/>
                </a:solidFill>
                <a:latin typeface="Century Gothic"/>
                <a:cs typeface="Century Gothic"/>
              </a:rPr>
              <a:t>WTERMSIG </a:t>
            </a:r>
            <a:r>
              <a:rPr sz="1800" spc="-114" dirty="0">
                <a:latin typeface="Trebuchet MS"/>
                <a:cs typeface="Trebuchet MS"/>
              </a:rPr>
              <a:t>(int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status)</a:t>
            </a:r>
            <a:endParaRPr sz="1800" dirty="0">
              <a:latin typeface="Trebuchet MS"/>
              <a:cs typeface="Trebuchet MS"/>
            </a:endParaRPr>
          </a:p>
          <a:p>
            <a:pPr marL="396875" lvl="1" indent="-183515">
              <a:lnSpc>
                <a:spcPct val="100000"/>
              </a:lnSpc>
              <a:spcBef>
                <a:spcPts val="165"/>
              </a:spcBef>
              <a:buClr>
                <a:srgbClr val="E38312"/>
              </a:buClr>
              <a:buChar char="◦"/>
              <a:tabLst>
                <a:tab pos="396875" algn="l"/>
              </a:tabLst>
            </a:pPr>
            <a:r>
              <a:rPr sz="1800" spc="-85" dirty="0">
                <a:latin typeface="Trebuchet MS"/>
                <a:cs typeface="Trebuchet MS"/>
              </a:rPr>
              <a:t>int </a:t>
            </a:r>
            <a:r>
              <a:rPr sz="1800" b="1" spc="100" dirty="0">
                <a:solidFill>
                  <a:srgbClr val="FF0000"/>
                </a:solidFill>
                <a:latin typeface="Century Gothic"/>
                <a:cs typeface="Century Gothic"/>
              </a:rPr>
              <a:t>WSTOPSIG </a:t>
            </a:r>
            <a:r>
              <a:rPr sz="1800" spc="-114" dirty="0">
                <a:latin typeface="Trebuchet MS"/>
                <a:cs typeface="Trebuchet MS"/>
              </a:rPr>
              <a:t>(int </a:t>
            </a:r>
            <a:r>
              <a:rPr sz="1800" spc="-20" dirty="0">
                <a:latin typeface="Trebuchet MS"/>
                <a:cs typeface="Trebuchet MS"/>
              </a:rPr>
              <a:t>status)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4272" y="1845564"/>
            <a:ext cx="8436864" cy="4158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6821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</a:t>
            </a:r>
            <a:r>
              <a:rPr spc="-220" dirty="0"/>
              <a:t> </a:t>
            </a:r>
            <a:r>
              <a:rPr spc="100" dirty="0"/>
              <a:t>Signals</a:t>
            </a:r>
            <a:r>
              <a:rPr spc="-220" dirty="0"/>
              <a:t> </a:t>
            </a:r>
            <a:r>
              <a:rPr spc="150" dirty="0"/>
              <a:t>1</a:t>
            </a:r>
            <a:r>
              <a:rPr spc="-215" dirty="0"/>
              <a:t> </a:t>
            </a:r>
            <a:r>
              <a:rPr spc="635" dirty="0"/>
              <a:t>–</a:t>
            </a:r>
            <a:r>
              <a:rPr spc="-220" dirty="0"/>
              <a:t> </a:t>
            </a:r>
            <a:r>
              <a:rPr spc="-315" dirty="0"/>
              <a:t>wait()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96129" y="4962512"/>
            <a:ext cx="1945639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E38312"/>
                </a:solidFill>
                <a:latin typeface="Trebuchet MS"/>
                <a:cs typeface="Trebuchet MS"/>
              </a:rPr>
              <a:t>Get </a:t>
            </a:r>
            <a:r>
              <a:rPr sz="1400" spc="5" dirty="0">
                <a:solidFill>
                  <a:srgbClr val="E38312"/>
                </a:solidFill>
                <a:latin typeface="Trebuchet MS"/>
                <a:cs typeface="Trebuchet MS"/>
              </a:rPr>
              <a:t>status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value </a:t>
            </a:r>
            <a:r>
              <a:rPr sz="1400" spc="-30" dirty="0">
                <a:solidFill>
                  <a:srgbClr val="E38312"/>
                </a:solidFill>
                <a:latin typeface="Trebuchet MS"/>
                <a:cs typeface="Trebuchet MS"/>
              </a:rPr>
              <a:t>of</a:t>
            </a:r>
            <a:r>
              <a:rPr sz="1400" spc="-14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00186" y="4084954"/>
            <a:ext cx="3087370" cy="709295"/>
          </a:xfrm>
          <a:custGeom>
            <a:avLst/>
            <a:gdLst/>
            <a:ahLst/>
            <a:cxnLst/>
            <a:rect l="l" t="t" r="r" b="b"/>
            <a:pathLst>
              <a:path w="3087370" h="709295">
                <a:moveTo>
                  <a:pt x="585101" y="3111"/>
                </a:moveTo>
                <a:lnTo>
                  <a:pt x="76" y="0"/>
                </a:lnTo>
                <a:lnTo>
                  <a:pt x="0" y="12700"/>
                </a:lnTo>
                <a:lnTo>
                  <a:pt x="585038" y="15811"/>
                </a:lnTo>
                <a:lnTo>
                  <a:pt x="585101" y="3111"/>
                </a:lnTo>
                <a:close/>
              </a:path>
              <a:path w="3087370" h="709295">
                <a:moveTo>
                  <a:pt x="834453" y="572096"/>
                </a:moveTo>
                <a:lnTo>
                  <a:pt x="119557" y="572096"/>
                </a:lnTo>
                <a:lnTo>
                  <a:pt x="119557" y="584796"/>
                </a:lnTo>
                <a:lnTo>
                  <a:pt x="834453" y="584796"/>
                </a:lnTo>
                <a:lnTo>
                  <a:pt x="834453" y="572096"/>
                </a:lnTo>
                <a:close/>
              </a:path>
              <a:path w="3087370" h="709295">
                <a:moveTo>
                  <a:pt x="3087205" y="696582"/>
                </a:moveTo>
                <a:lnTo>
                  <a:pt x="2324481" y="696582"/>
                </a:lnTo>
                <a:lnTo>
                  <a:pt x="2324481" y="709282"/>
                </a:lnTo>
                <a:lnTo>
                  <a:pt x="3087205" y="709282"/>
                </a:lnTo>
                <a:lnTo>
                  <a:pt x="3087205" y="696582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2252" y="4554220"/>
            <a:ext cx="110553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Check </a:t>
            </a:r>
            <a:r>
              <a:rPr sz="1400" spc="-100" dirty="0">
                <a:solidFill>
                  <a:srgbClr val="E38312"/>
                </a:solidFill>
                <a:latin typeface="Trebuchet MS"/>
                <a:cs typeface="Trebuchet MS"/>
              </a:rPr>
              <a:t>if</a:t>
            </a:r>
            <a:r>
              <a:rPr sz="1400" spc="-17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</a:t>
            </a:r>
            <a:r>
              <a:rPr sz="1400" spc="-15" dirty="0">
                <a:solidFill>
                  <a:srgbClr val="E38312"/>
                </a:solidFill>
                <a:latin typeface="Trebuchet MS"/>
                <a:cs typeface="Trebuchet MS"/>
              </a:rPr>
              <a:t>exits  </a:t>
            </a:r>
            <a:r>
              <a:rPr sz="1400" spc="-25" dirty="0">
                <a:solidFill>
                  <a:srgbClr val="E38312"/>
                </a:solidFill>
                <a:latin typeface="Trebuchet MS"/>
                <a:cs typeface="Trebuchet MS"/>
              </a:rPr>
              <a:t>normally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22</a:t>
            </a:fld>
            <a:endParaRPr spc="35" dirty="0"/>
          </a:p>
        </p:txBody>
      </p:sp>
      <p:sp>
        <p:nvSpPr>
          <p:cNvPr id="7" name="object 7"/>
          <p:cNvSpPr txBox="1"/>
          <p:nvPr/>
        </p:nvSpPr>
        <p:spPr>
          <a:xfrm>
            <a:off x="2664002" y="3940530"/>
            <a:ext cx="19094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35" dirty="0">
                <a:solidFill>
                  <a:srgbClr val="E38312"/>
                </a:solidFill>
                <a:latin typeface="Trebuchet MS"/>
                <a:cs typeface="Trebuchet MS"/>
              </a:rPr>
              <a:t>Raise </a:t>
            </a:r>
            <a:r>
              <a:rPr sz="1400" spc="110" dirty="0">
                <a:solidFill>
                  <a:srgbClr val="E38312"/>
                </a:solidFill>
                <a:latin typeface="Trebuchet MS"/>
                <a:cs typeface="Trebuchet MS"/>
              </a:rPr>
              <a:t>SIGCHLD</a:t>
            </a:r>
            <a:r>
              <a:rPr sz="1400" spc="-16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in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791" y="1770887"/>
            <a:ext cx="8368283" cy="4256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868260"/>
            <a:ext cx="6821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Process</a:t>
            </a:r>
            <a:r>
              <a:rPr spc="-220" dirty="0"/>
              <a:t> </a:t>
            </a:r>
            <a:r>
              <a:rPr spc="100" dirty="0"/>
              <a:t>Signals</a:t>
            </a:r>
            <a:r>
              <a:rPr spc="-220" dirty="0"/>
              <a:t> </a:t>
            </a:r>
            <a:r>
              <a:rPr spc="150" dirty="0"/>
              <a:t>1</a:t>
            </a:r>
            <a:r>
              <a:rPr spc="-215" dirty="0"/>
              <a:t> </a:t>
            </a:r>
            <a:r>
              <a:rPr spc="635" dirty="0"/>
              <a:t>–</a:t>
            </a:r>
            <a:r>
              <a:rPr spc="-220" dirty="0"/>
              <a:t> </a:t>
            </a:r>
            <a:r>
              <a:rPr spc="-315" dirty="0"/>
              <a:t>wait()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28475" y="4856302"/>
            <a:ext cx="280479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E38312"/>
                </a:solidFill>
                <a:latin typeface="Trebuchet MS"/>
                <a:cs typeface="Trebuchet MS"/>
              </a:rPr>
              <a:t>Get </a:t>
            </a:r>
            <a:r>
              <a:rPr sz="1400" spc="5" dirty="0">
                <a:solidFill>
                  <a:srgbClr val="E38312"/>
                </a:solidFill>
                <a:latin typeface="Trebuchet MS"/>
                <a:cs typeface="Trebuchet MS"/>
              </a:rPr>
              <a:t>status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value </a:t>
            </a:r>
            <a:r>
              <a:rPr sz="1400" spc="-45" dirty="0">
                <a:solidFill>
                  <a:srgbClr val="E38312"/>
                </a:solidFill>
                <a:latin typeface="Trebuchet MS"/>
                <a:cs typeface="Trebuchet MS"/>
              </a:rPr>
              <a:t>for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</a:t>
            </a:r>
            <a:r>
              <a:rPr sz="1400" spc="-114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15" dirty="0">
                <a:solidFill>
                  <a:srgbClr val="E38312"/>
                </a:solidFill>
                <a:latin typeface="Trebuchet MS"/>
                <a:cs typeface="Trebuchet MS"/>
              </a:rPr>
              <a:t>progress’  </a:t>
            </a:r>
            <a:r>
              <a:rPr sz="1400" spc="-35" dirty="0">
                <a:solidFill>
                  <a:srgbClr val="E38312"/>
                </a:solidFill>
                <a:latin typeface="Trebuchet MS"/>
                <a:cs typeface="Trebuchet MS"/>
              </a:rPr>
              <a:t>terminating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E38312"/>
                </a:solidFill>
                <a:latin typeface="Trebuchet MS"/>
                <a:cs typeface="Trebuchet MS"/>
              </a:rPr>
              <a:t>signal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05684" y="3954284"/>
            <a:ext cx="2744470" cy="1024890"/>
          </a:xfrm>
          <a:custGeom>
            <a:avLst/>
            <a:gdLst/>
            <a:ahLst/>
            <a:cxnLst/>
            <a:rect l="l" t="t" r="r" b="b"/>
            <a:pathLst>
              <a:path w="2744470" h="1024889">
                <a:moveTo>
                  <a:pt x="645172" y="12700"/>
                </a:moveTo>
                <a:lnTo>
                  <a:pt x="645007" y="0"/>
                </a:lnTo>
                <a:lnTo>
                  <a:pt x="0" y="8318"/>
                </a:lnTo>
                <a:lnTo>
                  <a:pt x="165" y="21018"/>
                </a:lnTo>
                <a:lnTo>
                  <a:pt x="645172" y="12700"/>
                </a:lnTo>
                <a:close/>
              </a:path>
              <a:path w="2744470" h="1024889">
                <a:moveTo>
                  <a:pt x="2744051" y="1012177"/>
                </a:moveTo>
                <a:lnTo>
                  <a:pt x="1975954" y="1012177"/>
                </a:lnTo>
                <a:lnTo>
                  <a:pt x="1975954" y="1024877"/>
                </a:lnTo>
                <a:lnTo>
                  <a:pt x="2744051" y="1024877"/>
                </a:lnTo>
                <a:lnTo>
                  <a:pt x="2744051" y="1012177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00705" y="4664227"/>
            <a:ext cx="10261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12825" algn="l"/>
              </a:tabLst>
            </a:pPr>
            <a:r>
              <a:rPr sz="1400" u="heavy" dirty="0">
                <a:solidFill>
                  <a:srgbClr val="E38312"/>
                </a:solidFill>
                <a:uFill>
                  <a:solidFill>
                    <a:srgbClr val="E38312"/>
                  </a:solidFill>
                </a:uFill>
                <a:latin typeface="Times New Roman"/>
                <a:cs typeface="Times New Roman"/>
              </a:rPr>
              <a:t> 	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35" dirty="0"/>
              <a:t>23</a:t>
            </a:fld>
            <a:endParaRPr spc="35" dirty="0"/>
          </a:p>
        </p:txBody>
      </p:sp>
      <p:sp>
        <p:nvSpPr>
          <p:cNvPr id="7" name="object 7"/>
          <p:cNvSpPr txBox="1"/>
          <p:nvPr/>
        </p:nvSpPr>
        <p:spPr>
          <a:xfrm>
            <a:off x="854075" y="4664227"/>
            <a:ext cx="152908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Check </a:t>
            </a:r>
            <a:r>
              <a:rPr sz="1400" spc="-100" dirty="0">
                <a:solidFill>
                  <a:srgbClr val="E38312"/>
                </a:solidFill>
                <a:latin typeface="Trebuchet MS"/>
                <a:cs typeface="Trebuchet MS"/>
              </a:rPr>
              <a:t>if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 </a:t>
            </a:r>
            <a:r>
              <a:rPr sz="1400" spc="-15" dirty="0">
                <a:solidFill>
                  <a:srgbClr val="E38312"/>
                </a:solidFill>
                <a:latin typeface="Trebuchet MS"/>
                <a:cs typeface="Trebuchet MS"/>
              </a:rPr>
              <a:t>received</a:t>
            </a:r>
            <a:r>
              <a:rPr sz="1400" spc="-17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15" dirty="0">
                <a:solidFill>
                  <a:srgbClr val="E38312"/>
                </a:solidFill>
                <a:latin typeface="Trebuchet MS"/>
                <a:cs typeface="Trebuchet MS"/>
              </a:rPr>
              <a:t>a  </a:t>
            </a:r>
            <a:r>
              <a:rPr sz="1400" spc="-35" dirty="0">
                <a:solidFill>
                  <a:srgbClr val="E38312"/>
                </a:solidFill>
                <a:latin typeface="Trebuchet MS"/>
                <a:cs typeface="Trebuchet MS"/>
              </a:rPr>
              <a:t>terminating</a:t>
            </a:r>
            <a:r>
              <a:rPr sz="1400" spc="-55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E38312"/>
                </a:solidFill>
                <a:latin typeface="Trebuchet MS"/>
                <a:cs typeface="Trebuchet MS"/>
              </a:rPr>
              <a:t>signal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7090" y="3836187"/>
            <a:ext cx="17919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35" dirty="0">
                <a:solidFill>
                  <a:srgbClr val="E38312"/>
                </a:solidFill>
                <a:latin typeface="Trebuchet MS"/>
                <a:cs typeface="Trebuchet MS"/>
              </a:rPr>
              <a:t>Raise </a:t>
            </a:r>
            <a:r>
              <a:rPr sz="1400" spc="75" dirty="0">
                <a:solidFill>
                  <a:srgbClr val="E38312"/>
                </a:solidFill>
                <a:latin typeface="Trebuchet MS"/>
                <a:cs typeface="Trebuchet MS"/>
              </a:rPr>
              <a:t>SIGKILL </a:t>
            </a:r>
            <a:r>
              <a:rPr sz="1400" spc="-40" dirty="0">
                <a:solidFill>
                  <a:srgbClr val="E38312"/>
                </a:solidFill>
                <a:latin typeface="Trebuchet MS"/>
                <a:cs typeface="Trebuchet MS"/>
              </a:rPr>
              <a:t>in</a:t>
            </a:r>
            <a:r>
              <a:rPr sz="1400" spc="-254" dirty="0">
                <a:solidFill>
                  <a:srgbClr val="E38312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E38312"/>
                </a:solidFill>
                <a:latin typeface="Trebuchet MS"/>
                <a:cs typeface="Trebuchet MS"/>
              </a:rPr>
              <a:t>child  </a:t>
            </a:r>
            <a:r>
              <a:rPr sz="1400" spc="45" dirty="0">
                <a:solidFill>
                  <a:srgbClr val="E38312"/>
                </a:solidFill>
                <a:latin typeface="Trebuchet MS"/>
                <a:cs typeface="Trebuchet MS"/>
              </a:rPr>
              <a:t>process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2679" y="3047149"/>
            <a:ext cx="238760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5" dirty="0"/>
              <a:t>Thank</a:t>
            </a:r>
            <a:r>
              <a:rPr sz="4000" spc="-160" dirty="0"/>
              <a:t> </a:t>
            </a:r>
            <a:r>
              <a:rPr sz="4000" spc="65" dirty="0"/>
              <a:t>you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97E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2778</TotalTime>
  <Words>1366</Words>
  <Application>Microsoft Office PowerPoint</Application>
  <PresentationFormat>宽屏</PresentationFormat>
  <Paragraphs>165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Calibri</vt:lpstr>
      <vt:lpstr>Century Gothic</vt:lpstr>
      <vt:lpstr>Courier New</vt:lpstr>
      <vt:lpstr>Times New Roman</vt:lpstr>
      <vt:lpstr>Trebuchet MS</vt:lpstr>
      <vt:lpstr>Wingdings</vt:lpstr>
      <vt:lpstr>Office Theme</vt:lpstr>
      <vt:lpstr>PowerPoint 演示文稿</vt:lpstr>
      <vt:lpstr>Process</vt:lpstr>
      <vt:lpstr>Process</vt:lpstr>
      <vt:lpstr>Process</vt:lpstr>
      <vt:lpstr>Process Creation</vt:lpstr>
      <vt:lpstr>Process Creation</vt:lpstr>
      <vt:lpstr>Parent and Child Process</vt:lpstr>
      <vt:lpstr>Parent and Child Process 1 - pid</vt:lpstr>
      <vt:lpstr>Parent and Child Process 2</vt:lpstr>
      <vt:lpstr>Parent and Child Process 2</vt:lpstr>
      <vt:lpstr>Parent and Child  Process</vt:lpstr>
      <vt:lpstr>Executing a file</vt:lpstr>
      <vt:lpstr>Executing a file</vt:lpstr>
      <vt:lpstr>Executing a file – execve()</vt:lpstr>
      <vt:lpstr>Process Termination</vt:lpstr>
      <vt:lpstr>Process Termination 1 - orphan</vt:lpstr>
      <vt:lpstr>Process Termination 2</vt:lpstr>
      <vt:lpstr>Process Termination 2 – waitpid()</vt:lpstr>
      <vt:lpstr>Process Termination 2</vt:lpstr>
      <vt:lpstr>Process Signals</vt:lpstr>
      <vt:lpstr>Process Signals</vt:lpstr>
      <vt:lpstr>Process Signals 1 – wait()</vt:lpstr>
      <vt:lpstr>Process Signals 1 – wait()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feige</dc:creator>
  <cp:lastModifiedBy>Feige Zhou (SDS, 122090815)</cp:lastModifiedBy>
  <cp:revision>30</cp:revision>
  <dcterms:created xsi:type="dcterms:W3CDTF">2023-09-19T07:30:25Z</dcterms:created>
  <dcterms:modified xsi:type="dcterms:W3CDTF">2025-09-18T08:51:47Z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2022-09-27T00:00:00Z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2023-09-19T00:00:00Z</vt:filetime>
  </property>
</Properties>
</file>