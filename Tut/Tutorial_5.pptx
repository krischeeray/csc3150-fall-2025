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2">
  <p:sldMasterIdLst>
    <p:sldMasterId id="2147483648" r:id="rId1"/>
  </p:sldMasterIdLst>
  <p:notesMasterIdLst>
    <p:notesMasterId r:id="rId14"/>
  </p:notesMasterIdLst>
  <p:sldIdLst>
    <p:sldId id="362" r:id="rId2"/>
    <p:sldId id="356" r:id="rId3"/>
    <p:sldId id="333" r:id="rId4"/>
    <p:sldId id="331" r:id="rId5"/>
    <p:sldId id="357" r:id="rId6"/>
    <p:sldId id="358" r:id="rId7"/>
    <p:sldId id="359" r:id="rId8"/>
    <p:sldId id="337" r:id="rId9"/>
    <p:sldId id="360" r:id="rId10"/>
    <p:sldId id="363" r:id="rId11"/>
    <p:sldId id="364" r:id="rId12"/>
    <p:sldId id="329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72" y="23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4EE233-8A5A-41F0-8F05-99CF4A9C03D6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6A34D3-8633-4A83-AF72-E96410C427A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F7CEE-C0D5-4648-B4F0-20EF89326853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D613F-765A-481C-9DCB-23F6EA0B0AA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F7CEE-C0D5-4648-B4F0-20EF89326853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D613F-765A-481C-9DCB-23F6EA0B0AA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F7CEE-C0D5-4648-B4F0-20EF89326853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D613F-765A-481C-9DCB-23F6EA0B0AA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F7CEE-C0D5-4648-B4F0-20EF89326853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D613F-765A-481C-9DCB-23F6EA0B0AA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F7CEE-C0D5-4648-B4F0-20EF89326853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D613F-765A-481C-9DCB-23F6EA0B0AA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F7CEE-C0D5-4648-B4F0-20EF89326853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D613F-765A-481C-9DCB-23F6EA0B0AA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F7CEE-C0D5-4648-B4F0-20EF89326853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D613F-765A-481C-9DCB-23F6EA0B0AA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F7CEE-C0D5-4648-B4F0-20EF89326853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D613F-765A-481C-9DCB-23F6EA0B0AA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F7CEE-C0D5-4648-B4F0-20EF89326853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D613F-765A-481C-9DCB-23F6EA0B0AA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F7CEE-C0D5-4648-B4F0-20EF89326853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D613F-765A-481C-9DCB-23F6EA0B0AA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F7CEE-C0D5-4648-B4F0-20EF89326853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D613F-765A-481C-9DCB-23F6EA0B0AA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3F7CEE-C0D5-4648-B4F0-20EF89326853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FD613F-765A-481C-9DCB-23F6EA0B0AA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man7.org/linux/man-pages/man2/fcntl.2.html" TargetMode="External"/><Relationship Id="rId2" Type="http://schemas.openxmlformats.org/officeDocument/2006/relationships/hyperlink" Target="http://man7.org/linux/man-pages/man3/termios.3.html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utorialspoint.com/c_standard_library/c_function_puts.htm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student.cs.uwaterloo.ca/~cs452/terminal.html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utorialspoint.com/questions/category/python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altLang="zh-TW" sz="3600" dirty="0">
                <a:effectLst>
                  <a:outerShdw blurRad="38100" dist="38100" dir="2700000" algn="tl">
                    <a:srgbClr val="C0C0C0"/>
                  </a:outerShdw>
                </a:effectLst>
                <a:ea typeface="PMingLiU" panose="02020500000000000000" pitchFamily="18" charset="-120"/>
              </a:rPr>
              <a:t>Operating System (CSC </a:t>
            </a:r>
            <a:r>
              <a:rPr lang="en-US" altLang="zh-CN" sz="3600" dirty="0">
                <a:effectLst>
                  <a:outerShdw blurRad="38100" dist="38100" dir="2700000" algn="tl">
                    <a:srgbClr val="C0C0C0"/>
                  </a:outerShdw>
                </a:effectLst>
                <a:ea typeface="PMingLiU" panose="02020500000000000000" pitchFamily="18" charset="-120"/>
              </a:rPr>
              <a:t>3150</a:t>
            </a:r>
            <a:r>
              <a:rPr lang="en-US" altLang="zh-TW" sz="3600" dirty="0">
                <a:effectLst>
                  <a:outerShdw blurRad="38100" dist="38100" dir="2700000" algn="tl">
                    <a:srgbClr val="C0C0C0"/>
                  </a:outerShdw>
                </a:effectLst>
                <a:ea typeface="PMingLiU" panose="02020500000000000000" pitchFamily="18" charset="-120"/>
              </a:rPr>
              <a:t>)</a:t>
            </a:r>
            <a:br>
              <a:rPr lang="en-US" altLang="zh-TW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PMingLiU" panose="02020500000000000000" pitchFamily="18" charset="-120"/>
              </a:rPr>
            </a:br>
            <a:br>
              <a:rPr lang="en-US" altLang="zh-TW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PMingLiU" panose="02020500000000000000" pitchFamily="18" charset="-120"/>
              </a:rPr>
            </a:br>
            <a:r>
              <a:rPr lang="en-US" altLang="zh-TW" sz="2800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PMingLiU" panose="02020500000000000000" pitchFamily="18" charset="-120"/>
              </a:rPr>
              <a:t>Tutorial 5</a:t>
            </a:r>
            <a:endParaRPr lang="en-US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89718" y="4413286"/>
            <a:ext cx="5778921" cy="896557"/>
          </a:xfrm>
        </p:spPr>
        <p:txBody>
          <a:bodyPr>
            <a:normAutofit fontScale="82500" lnSpcReduction="10000"/>
          </a:bodyPr>
          <a:lstStyle/>
          <a:p>
            <a:pPr>
              <a:lnSpc>
                <a:spcPct val="80000"/>
              </a:lnSpc>
              <a:defRPr/>
            </a:pPr>
            <a:r>
              <a:rPr lang="en-US" altLang="zh-CN" sz="3200" i="1" dirty="0">
                <a:effectLst>
                  <a:outerShdw blurRad="38100" dist="38100" dir="2700000" algn="tl">
                    <a:srgbClr val="C0C0C0"/>
                  </a:outerShdw>
                </a:effectLst>
                <a:ea typeface="PMingLiU" panose="02020500000000000000" pitchFamily="18" charset="-120"/>
              </a:rPr>
              <a:t>Liangsen Wang</a:t>
            </a:r>
          </a:p>
          <a:p>
            <a:pPr>
              <a:lnSpc>
                <a:spcPct val="80000"/>
              </a:lnSpc>
              <a:defRPr/>
            </a:pPr>
            <a:r>
              <a:rPr lang="en-US" altLang="zh-TW" sz="3200" i="1" dirty="0">
                <a:effectLst>
                  <a:outerShdw blurRad="38100" dist="38100" dir="2700000" algn="tl">
                    <a:srgbClr val="C0C0C0"/>
                  </a:outerShdw>
                </a:effectLst>
                <a:ea typeface="PMingLiU" panose="02020500000000000000" pitchFamily="18" charset="-120"/>
              </a:rPr>
              <a:t>E-mail: 224040364</a:t>
            </a:r>
            <a:r>
              <a:rPr lang="en-US" altLang="zh-CN" sz="3200" i="1" dirty="0">
                <a:effectLst>
                  <a:outerShdw blurRad="38100" dist="38100" dir="2700000" algn="tl">
                    <a:srgbClr val="C0C0C0"/>
                  </a:outerShdw>
                </a:effectLst>
                <a:ea typeface="PMingLiU" panose="02020500000000000000" pitchFamily="18" charset="-120"/>
              </a:rPr>
              <a:t>@link.cuhk.edu.cn</a:t>
            </a:r>
            <a:endParaRPr lang="en-US" altLang="zh-TW" sz="3200" i="1" dirty="0">
              <a:effectLst>
                <a:outerShdw blurRad="38100" dist="38100" dir="2700000" algn="tl">
                  <a:srgbClr val="C0C0C0"/>
                </a:outerShdw>
              </a:effectLst>
              <a:ea typeface="PMingLiU" panose="02020500000000000000" pitchFamily="18" charset="-120"/>
            </a:endParaRP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838894" y="833896"/>
            <a:ext cx="1235648" cy="103491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/>
              <a:t>Content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this tutorial, we will practice related functions for Assignment 2.</a:t>
            </a:r>
          </a:p>
          <a:p>
            <a:pPr marL="0" indent="0">
              <a:buNone/>
            </a:pPr>
            <a:r>
              <a:rPr lang="en-US" dirty="0"/>
              <a:t>Functions you may require: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dirty="0"/>
              <a:t>  Keyboard Hit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dirty="0"/>
              <a:t>  Terminal Control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dirty="0"/>
              <a:t>  Suspend the executing thread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" altLang="en-US" dirty="0"/>
              <a:t>  Hints for the game “</a:t>
            </a:r>
            <a:r>
              <a:rPr lang="en-US" altLang="en-US" dirty="0"/>
              <a:t>The greatest adventurer"</a:t>
            </a:r>
            <a:endParaRPr lang="" altLang="en-US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altLang="zh-CN" dirty="0">
                <a:sym typeface="+mn-ea"/>
              </a:rPr>
              <a:t>  </a:t>
            </a:r>
            <a:r>
              <a:rPr lang="en-US" altLang="zh-CN" dirty="0" err="1">
                <a:sym typeface="+mn-ea"/>
              </a:rPr>
              <a:t>Pthread</a:t>
            </a:r>
            <a:r>
              <a:rPr lang="en-US" altLang="zh-CN" dirty="0">
                <a:sym typeface="+mn-ea"/>
              </a:rPr>
              <a:t> </a:t>
            </a:r>
            <a:r>
              <a:rPr lang="en-US" altLang="en-US" dirty="0">
                <a:sym typeface="+mn-ea"/>
              </a:rPr>
              <a:t>c</a:t>
            </a:r>
            <a:r>
              <a:rPr lang="en-US" altLang="zh-CN" dirty="0">
                <a:sym typeface="+mn-ea"/>
              </a:rPr>
              <a:t>onditional wait and signal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Keyboard Hit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dirty="0"/>
              <a:t>  In Assignment 2, we’ve provided a similar function </a:t>
            </a:r>
            <a:r>
              <a:rPr lang="en-US"/>
              <a:t>named 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>
                <a:solidFill>
                  <a:srgbClr val="FF0000"/>
                </a:solidFill>
              </a:rPr>
              <a:t>int kbhit(void)</a:t>
            </a:r>
            <a:r>
              <a:rPr lang="en-US"/>
              <a:t>, you </a:t>
            </a:r>
            <a:r>
              <a:rPr lang="en-US" dirty="0"/>
              <a:t>could use it directly. 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§"/>
            </a:pPr>
            <a:endParaRPr lang="en-US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/>
              <a:t> </a:t>
            </a:r>
            <a:r>
              <a:rPr lang="en-US" altLang="zh-CN">
                <a:solidFill>
                  <a:srgbClr val="FF0000"/>
                </a:solidFill>
              </a:rPr>
              <a:t>int kbhit(void)</a:t>
            </a:r>
            <a:r>
              <a:rPr lang="en-US" altLang="zh-CN"/>
              <a:t>, </a:t>
            </a:r>
            <a:r>
              <a:rPr lang="en-US" altLang="zh-TW"/>
              <a:t>If </a:t>
            </a:r>
            <a:r>
              <a:rPr lang="en-US" altLang="zh-TW" dirty="0"/>
              <a:t>a key has been pressed then it returns a non zero value, otherwise it returns zero.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§"/>
            </a:pPr>
            <a:endParaRPr lang="en-US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dirty="0"/>
              <a:t>  The </a:t>
            </a:r>
            <a:r>
              <a:rPr lang="en-US" dirty="0" err="1"/>
              <a:t>termios</a:t>
            </a:r>
            <a:r>
              <a:rPr lang="en-US" dirty="0"/>
              <a:t> general terminal interface provides an interface to asynchronous communications devices. </a:t>
            </a:r>
          </a:p>
          <a:p>
            <a:pPr lvl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dirty="0">
                <a:hlinkClick r:id="rId2"/>
              </a:rPr>
              <a:t>http://man7.org/linux/man-pages/man3/termios.3.html</a:t>
            </a:r>
            <a:endParaRPr lang="en-US" dirty="0"/>
          </a:p>
          <a:p>
            <a:pPr lvl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dirty="0">
                <a:hlinkClick r:id="rId3"/>
              </a:rPr>
              <a:t>http://man7.org/linux/man-pages/man2/fcntl.2.html</a:t>
            </a:r>
            <a:endParaRPr lang="en-US" dirty="0"/>
          </a:p>
          <a:p>
            <a:pPr marL="201295" lvl="1" indent="0">
              <a:lnSpc>
                <a:spcPct val="80000"/>
              </a:lnSpc>
              <a:buNone/>
            </a:pPr>
            <a:endParaRPr lang="en-US" dirty="0"/>
          </a:p>
          <a:p>
            <a:pPr marL="201295" lvl="1" indent="0">
              <a:lnSpc>
                <a:spcPct val="80000"/>
              </a:lnSpc>
              <a:buNone/>
            </a:pPr>
            <a:endParaRPr 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22B09-2F0B-49C7-9C65-B9401A9D1D87}" type="slidenum">
              <a:rPr lang="zh-TW" altLang="en-US" smtClean="0"/>
              <a:t>3</a:t>
            </a:fld>
            <a:endParaRPr lang="zh-TW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515034" y="286604"/>
            <a:ext cx="9640645" cy="663656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Keyboard Hit</a:t>
            </a:r>
            <a:endParaRPr lang="zh-TW" alt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3826" y="1007227"/>
            <a:ext cx="3836709" cy="571424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22B09-2F0B-49C7-9C65-B9401A9D1D87}" type="slidenum">
              <a:rPr lang="zh-TW" altLang="en-US" smtClean="0"/>
              <a:t>4</a:t>
            </a:fld>
            <a:endParaRPr lang="zh-TW" alt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890" y="746404"/>
            <a:ext cx="5912910" cy="5737918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363852" y="377072"/>
            <a:ext cx="6470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W, A, S,D : up, left, right, down (4 directions), Q (Quit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game)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220159"/>
            <a:ext cx="10515600" cy="1325563"/>
          </a:xfrm>
        </p:spPr>
        <p:txBody>
          <a:bodyPr/>
          <a:lstStyle/>
          <a:p>
            <a:r>
              <a:rPr lang="en-US" altLang="zh-CN" dirty="0"/>
              <a:t>Keyboard Hit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13833" y="1259742"/>
            <a:ext cx="11078634" cy="4789982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2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 </a:t>
            </a:r>
            <a:r>
              <a:rPr lang="en-US" altLang="zh-TW" sz="2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getchar</a:t>
            </a:r>
            <a:r>
              <a:rPr lang="en-US" altLang="zh-TW" sz="2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(void) </a:t>
            </a: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is used to get/read a character from keyboard input. 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zh-TW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 </a:t>
            </a:r>
            <a:r>
              <a:rPr lang="en-US" altLang="zh-TW" sz="2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putchar</a:t>
            </a:r>
            <a:r>
              <a:rPr lang="en-US" altLang="zh-TW" sz="2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(int char) </a:t>
            </a: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is a file handling function which is used to write a character on standard output/screen. 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TW" sz="2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puts(</a:t>
            </a:r>
            <a:r>
              <a:rPr lang="en-US" altLang="zh-TW" sz="2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US" altLang="zh-TW" sz="2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char *</a:t>
            </a:r>
            <a:r>
              <a:rPr lang="en-US" altLang="zh-TW" sz="2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</a:t>
            </a:r>
            <a:r>
              <a:rPr lang="en-US" altLang="zh-TW" sz="2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writes a string to </a:t>
            </a:r>
            <a:r>
              <a:rPr lang="en-US" altLang="zh-TW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stdout</a:t>
            </a: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up to but not including the null character. A newline character is appended to the output.</a:t>
            </a:r>
            <a:endParaRPr lang="en-US" altLang="zh-TW" sz="26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Assignment 2, you may use above functions to complete your keyboard read and map write.</a:t>
            </a:r>
          </a:p>
          <a:p>
            <a:pPr marL="0" indent="0">
              <a:lnSpc>
                <a:spcPct val="170000"/>
              </a:lnSpc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22B09-2F0B-49C7-9C65-B9401A9D1D87}" type="slidenum">
              <a:rPr lang="zh-TW" altLang="en-US" smtClean="0"/>
              <a:t>5</a:t>
            </a:fld>
            <a:endParaRPr lang="zh-TW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DC09E68-5BB7-F96F-085C-0F58E04E8857}"/>
              </a:ext>
            </a:extLst>
          </p:cNvPr>
          <p:cNvSpPr txBox="1"/>
          <p:nvPr/>
        </p:nvSpPr>
        <p:spPr>
          <a:xfrm>
            <a:off x="711199" y="6049724"/>
            <a:ext cx="9982200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altLang="zh-TW" sz="1800" u="sng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https://www.tutorialspoint.com/c_standard_library/c_function_puts.htm</a:t>
            </a:r>
            <a:endParaRPr lang="en-US" altLang="zh-TW" sz="1800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Terminal Control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altLang="zh-TW" dirty="0"/>
              <a:t> </a:t>
            </a:r>
            <a:r>
              <a:rPr lang="en-US" altLang="zh-TW" dirty="0">
                <a:solidFill>
                  <a:schemeClr val="tx1"/>
                </a:solidFill>
              </a:rPr>
              <a:t>When printing the message, you could use </a:t>
            </a:r>
            <a:r>
              <a:rPr lang="en-US" altLang="zh-TW" dirty="0">
                <a:solidFill>
                  <a:srgbClr val="FF0000"/>
                </a:solidFill>
              </a:rPr>
              <a:t>“\033” </a:t>
            </a:r>
            <a:r>
              <a:rPr lang="en-US" altLang="zh-TW" dirty="0">
                <a:solidFill>
                  <a:schemeClr val="tx1"/>
                </a:solidFill>
              </a:rPr>
              <a:t>to control the </a:t>
            </a:r>
            <a:r>
              <a:rPr lang="en-US" altLang="zh-TW" b="1" dirty="0">
                <a:solidFill>
                  <a:schemeClr val="tx1"/>
                </a:solidFill>
              </a:rPr>
              <a:t>cursor in terminal</a:t>
            </a:r>
            <a:r>
              <a:rPr lang="en-US" altLang="zh-TW" dirty="0">
                <a:solidFill>
                  <a:schemeClr val="tx1"/>
                </a:solidFill>
              </a:rPr>
              <a:t>. </a:t>
            </a:r>
          </a:p>
          <a:p>
            <a:pPr lvl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chemeClr val="tx1"/>
                </a:solidFill>
              </a:rPr>
              <a:t> </a:t>
            </a:r>
            <a:r>
              <a:rPr lang="en-US" altLang="zh-TW" dirty="0">
                <a:solidFill>
                  <a:schemeClr val="tx1"/>
                </a:solidFill>
                <a:hlinkClick r:id="rId2"/>
              </a:rPr>
              <a:t>https://www.student.cs.uwaterloo.ca/~cs452/terminal.html</a:t>
            </a:r>
            <a:endParaRPr lang="en-US" altLang="zh-TW" dirty="0">
              <a:solidFill>
                <a:schemeClr val="tx1"/>
              </a:solidFill>
            </a:endParaRPr>
          </a:p>
          <a:p>
            <a:pPr marL="201295" lvl="1" indent="0">
              <a:lnSpc>
                <a:spcPct val="80000"/>
              </a:lnSpc>
              <a:buNone/>
            </a:pPr>
            <a:endParaRPr lang="en-US" altLang="zh-TW" dirty="0">
              <a:solidFill>
                <a:schemeClr val="tx1"/>
              </a:solidFill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zh-TW" dirty="0">
                <a:solidFill>
                  <a:schemeClr val="tx1"/>
                </a:solidFill>
              </a:rPr>
              <a:t> </a:t>
            </a:r>
          </a:p>
          <a:p>
            <a:pPr marL="0" indent="0">
              <a:lnSpc>
                <a:spcPct val="80000"/>
              </a:lnSpc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22B09-2F0B-49C7-9C65-B9401A9D1D87}" type="slidenum">
              <a:rPr lang="zh-TW" altLang="en-US" smtClean="0"/>
              <a:t>6</a:t>
            </a:fld>
            <a:endParaRPr lang="zh-TW" alt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322" y="3675372"/>
            <a:ext cx="10127499" cy="21692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2530" y="4551"/>
            <a:ext cx="10515600" cy="834436"/>
          </a:xfrm>
        </p:spPr>
        <p:txBody>
          <a:bodyPr>
            <a:normAutofit/>
          </a:bodyPr>
          <a:lstStyle/>
          <a:p>
            <a:r>
              <a:rPr lang="en-US" altLang="zh-CN" sz="2000" b="1" dirty="0"/>
              <a:t>Terminal Control</a:t>
            </a:r>
            <a:endParaRPr lang="zh-TW" altLang="en-US" sz="2000" b="1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22B09-2F0B-49C7-9C65-B9401A9D1D87}" type="slidenum">
              <a:rPr lang="zh-TW" altLang="en-US" smtClean="0"/>
              <a:t>7</a:t>
            </a:fld>
            <a:endParaRPr lang="zh-TW" alt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267" y="1065229"/>
            <a:ext cx="8823923" cy="5483877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316953" y="484294"/>
            <a:ext cx="85325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Move the cursor to the upper-left corner of the screen and clear the screen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00872" y="0"/>
            <a:ext cx="10515600" cy="670891"/>
          </a:xfrm>
        </p:spPr>
        <p:txBody>
          <a:bodyPr>
            <a:normAutofit/>
          </a:bodyPr>
          <a:lstStyle/>
          <a:p>
            <a:r>
              <a:rPr lang="en-US" altLang="zh-CN" sz="2400" b="1" dirty="0"/>
              <a:t>Terminal Control</a:t>
            </a:r>
            <a:endParaRPr lang="zh-TW" altLang="en-US" sz="2400" b="1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22B09-2F0B-49C7-9C65-B9401A9D1D87}" type="slidenum">
              <a:rPr lang="zh-TW" altLang="en-US" smtClean="0"/>
              <a:t>8</a:t>
            </a:fld>
            <a:endParaRPr lang="zh-TW" alt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539" y="1036016"/>
            <a:ext cx="7821948" cy="5320334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316953" y="484294"/>
            <a:ext cx="85325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Move the cursor to the upper-left corner of the screen and clear the screen</a:t>
            </a:r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11957" y="178858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3200" b="1" dirty="0"/>
              <a:t>Suspend </a:t>
            </a:r>
            <a:r>
              <a:rPr lang="en-US" altLang="zh-CN" sz="3200" b="1"/>
              <a:t>executing thread with three functions</a:t>
            </a:r>
            <a:endParaRPr lang="zh-TW" altLang="en-US" sz="3200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11957" y="1351323"/>
            <a:ext cx="10515600" cy="4351338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 </a:t>
            </a:r>
            <a:r>
              <a:rPr lang="en-US" altLang="zh-TW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usleep</a:t>
            </a:r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useconds_t</a:t>
            </a:r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usec</a:t>
            </a:r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suspends execution for microsecond intervals.</a:t>
            </a: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The </a:t>
            </a:r>
            <a:r>
              <a:rPr lang="en-US" altLang="zh-TW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usleep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suspends execution of the calling thread for (at least) </a:t>
            </a:r>
            <a:r>
              <a:rPr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usec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microseconds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The sleep may be lengthened slightly by any system activity or by the time spent processing the call or by the granularity of system timers.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TW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usleep</a:t>
            </a:r>
            <a:r>
              <a:rPr lang="en-US" altLang="zh-TW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 returns 0 on success.  On error, -1 is returned, with </a:t>
            </a:r>
            <a:r>
              <a:rPr lang="en-US" altLang="zh-TW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errno</a:t>
            </a: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set to indicate the cause of the error.</a:t>
            </a: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 </a:t>
            </a:r>
            <a:r>
              <a:rPr lang="en-US" altLang="zh-CN" sz="20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sleep()</a:t>
            </a:r>
            <a:r>
              <a:rPr lang="en-US" altLang="zh-CN" sz="20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function accepts time in </a:t>
            </a:r>
            <a:r>
              <a:rPr lang="en-US" altLang="zh-CN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seconds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while </a:t>
            </a:r>
            <a:r>
              <a:rPr lang="en-US" altLang="zh-CN" sz="2000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usleep</a:t>
            </a:r>
            <a:r>
              <a:rPr lang="en-US" altLang="zh-CN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accepts in microseconds.</a:t>
            </a:r>
            <a:endParaRPr lang="en-US" altLang="zh-CN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zh-CN" altLang="zh-C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nanosleep</a:t>
            </a: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zh-CN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allows the user to specify the sleep period with </a:t>
            </a:r>
            <a:r>
              <a:rPr lang="zh-CN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nanosecond precision</a:t>
            </a:r>
            <a:r>
              <a:rPr lang="zh-CN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§"/>
            </a:pPr>
            <a:endParaRPr lang="en-US" altLang="zh-CN" sz="20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§"/>
            </a:pPr>
            <a:endParaRPr lang="en-US" altLang="zh-TW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§"/>
            </a:pPr>
            <a:endParaRPr lang="en-US" altLang="zh-TW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70000"/>
              </a:lnSpc>
              <a:buNone/>
            </a:pP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22B09-2F0B-49C7-9C65-B9401A9D1D87}" type="slidenum">
              <a:rPr lang="zh-TW" altLang="en-US" smtClean="0"/>
              <a:t>9</a:t>
            </a:fld>
            <a:endParaRPr lang="zh-TW" altLang="en-US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0F2F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669856"/>
            <a:ext cx="7315200" cy="31527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4263681"/>
            <a:ext cx="7000095" cy="24551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019692" y="203050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0" i="0">
                <a:solidFill>
                  <a:srgbClr val="47474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rand() and srand() in C</a:t>
            </a:r>
          </a:p>
        </p:txBody>
      </p:sp>
      <p:sp>
        <p:nvSpPr>
          <p:cNvPr id="5" name="AutoShape 3" descr="Python">
            <a:hlinkClick r:id="rId2"/>
          </p:cNvPr>
          <p:cNvSpPr>
            <a:spLocks noChangeAspect="1" noChangeArrowheads="1"/>
          </p:cNvSpPr>
          <p:nvPr/>
        </p:nvSpPr>
        <p:spPr bwMode="auto">
          <a:xfrm>
            <a:off x="6160416" y="3154052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41342" y="572382"/>
            <a:ext cx="81235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u"/>
            </a:pPr>
            <a:r>
              <a:rPr lang="en-US" altLang="zh-CN" b="1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is rand() ?</a:t>
            </a:r>
          </a:p>
          <a:p>
            <a:pPr algn="just"/>
            <a:r>
              <a:rPr lang="en-US" altLang="zh-CN" b="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function rand() is used to generate the </a:t>
            </a:r>
            <a:r>
              <a:rPr lang="en-US" altLang="zh-CN" b="1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pseudo random number</a:t>
            </a:r>
            <a:r>
              <a:rPr lang="en-US" altLang="zh-CN" b="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It returns an integer value and its range is from 0 to RAND_MAX.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841342" y="6100952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u="sng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https://www.tutorialspoint.com/compile_c_online.php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834270" y="5580864"/>
            <a:ext cx="86797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u="sng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https://www.tutorialspoint.com/rand-and-srand-in-c-cplusplus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834271" y="2718203"/>
            <a:ext cx="98769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Like we want to generate a random number between 1-6 then we use this function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CN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zh-CN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 = rand() % 6 + 1;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841342" y="1427158"/>
            <a:ext cx="109044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b="1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Parameters</a:t>
            </a:r>
          </a:p>
          <a:p>
            <a:pPr algn="just"/>
            <a:r>
              <a:rPr lang="en-US" altLang="zh-CN" b="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function accepts no parameter(s) −</a:t>
            </a:r>
          </a:p>
          <a:p>
            <a:pPr algn="l"/>
            <a:r>
              <a:rPr lang="en-US" altLang="zh-CN" b="1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Return value</a:t>
            </a:r>
          </a:p>
          <a:p>
            <a:pPr algn="just"/>
            <a:r>
              <a:rPr lang="en-US" altLang="zh-CN" b="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function returns an integer value between 0 to RAND_MAX.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730575" y="3986860"/>
            <a:ext cx="987693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u"/>
            </a:pPr>
            <a:r>
              <a:rPr lang="en-US" altLang="zh-CN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is </a:t>
            </a:r>
            <a:r>
              <a:rPr lang="en-US" altLang="zh-CN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srand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()?</a:t>
            </a:r>
          </a:p>
          <a:p>
            <a:pPr algn="just"/>
            <a:r>
              <a:rPr lang="en-US" altLang="zh-CN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srand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 is used to initialize random number generators. </a:t>
            </a:r>
            <a:r>
              <a:rPr lang="en-US" altLang="zh-CN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argument is passed as a seed for generating a pseudo-random number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Whenever a different seed value is used in </a:t>
            </a:r>
            <a:r>
              <a:rPr lang="en-US" altLang="zh-CN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srand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pseudo number generator can be expected to generate different series of results the same as rand().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Assignment 2 Hints</a:t>
            </a:r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22B09-2F0B-49C7-9C65-B9401A9D1D87}" type="slidenum">
              <a:rPr lang="zh-TW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fld>
            <a:endParaRPr lang="zh-TW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158EDEC-74DB-1046-1B00-67A20C6AB74C}"/>
              </a:ext>
            </a:extLst>
          </p:cNvPr>
          <p:cNvSpPr txBox="1"/>
          <p:nvPr/>
        </p:nvSpPr>
        <p:spPr>
          <a:xfrm>
            <a:off x="838199" y="1821317"/>
            <a:ext cx="1082336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Font typeface="+mj-lt"/>
              <a:buAutoNum type="arabicPeriod"/>
            </a:pPr>
            <a:r>
              <a:rPr lang="en-US" altLang="zh-CN" sz="2800" b="1" i="0" u="none" strike="noStrike" baseline="0" dirty="0">
                <a:solidFill>
                  <a:srgbClr val="333333"/>
                </a:solidFill>
                <a:latin typeface="OpenSans-Bold"/>
              </a:rPr>
              <a:t>You must use </a:t>
            </a:r>
            <a:r>
              <a:rPr lang="en-US" altLang="zh-CN" sz="2800" b="1" i="0" u="none" strike="noStrike" baseline="0" dirty="0" err="1">
                <a:solidFill>
                  <a:srgbClr val="333333"/>
                </a:solidFill>
                <a:latin typeface="OpenSans-Bold"/>
              </a:rPr>
              <a:t>Pthread</a:t>
            </a:r>
            <a:r>
              <a:rPr lang="en-US" altLang="zh-CN" sz="2800" b="1" i="0" u="none" strike="noStrike" baseline="0" dirty="0">
                <a:solidFill>
                  <a:srgbClr val="333333"/>
                </a:solidFill>
                <a:latin typeface="OpenSans-Bold"/>
              </a:rPr>
              <a:t> (multithreading) to implement this assignment</a:t>
            </a:r>
            <a:r>
              <a:rPr lang="en-US" altLang="zh-CN" sz="2800" b="0" i="0" u="none" strike="noStrike" baseline="0" dirty="0">
                <a:solidFill>
                  <a:srgbClr val="333333"/>
                </a:solidFill>
                <a:latin typeface="OpenSans-Regular"/>
              </a:rPr>
              <a:t>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altLang="zh-CN" sz="2800" b="0" i="0" u="none" strike="noStrike" baseline="0" dirty="0">
                <a:solidFill>
                  <a:srgbClr val="333333"/>
                </a:solidFill>
                <a:latin typeface="OpenSans-Regular"/>
              </a:rPr>
              <a:t>You can use </a:t>
            </a:r>
            <a:r>
              <a:rPr lang="en-US" altLang="zh-CN" sz="2800" b="0" i="0" u="none" strike="noStrike" baseline="0" dirty="0" err="1">
                <a:solidFill>
                  <a:srgbClr val="333333"/>
                </a:solidFill>
                <a:latin typeface="LucidaConsole"/>
              </a:rPr>
              <a:t>khbit</a:t>
            </a:r>
            <a:r>
              <a:rPr lang="en-US" altLang="zh-CN" sz="2800" b="0" i="0" u="none" strike="noStrike" baseline="0" dirty="0">
                <a:solidFill>
                  <a:srgbClr val="333333"/>
                </a:solidFill>
                <a:latin typeface="LucidaConsole"/>
              </a:rPr>
              <a:t>() </a:t>
            </a:r>
            <a:r>
              <a:rPr lang="en-US" altLang="zh-CN" sz="2800" b="0" i="0" u="none" strike="noStrike" baseline="0" dirty="0">
                <a:solidFill>
                  <a:srgbClr val="333333"/>
                </a:solidFill>
                <a:latin typeface="OpenSans-Regular"/>
              </a:rPr>
              <a:t>to get the input character.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altLang="zh-CN" sz="2800" b="0" i="0" u="none" strike="noStrike" baseline="0" dirty="0">
                <a:solidFill>
                  <a:srgbClr val="333333"/>
                </a:solidFill>
                <a:latin typeface="OpenSans-Regular"/>
              </a:rPr>
              <a:t>You can provide each object moving on your screen with a thread, and join them to realize multithreading.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altLang="zh-CN" sz="2800" b="0" i="0" u="none" strike="noStrike" baseline="0" dirty="0">
                <a:solidFill>
                  <a:srgbClr val="333333"/>
                </a:solidFill>
                <a:latin typeface="OpenSans-Regular"/>
              </a:rPr>
              <a:t>You can use mutex to ensure the global variables is not </a:t>
            </a:r>
            <a:r>
              <a:rPr lang="en-US" altLang="zh-CN" sz="2800" b="0" i="0" u="none" strike="noStrike" baseline="0" dirty="0" err="1">
                <a:solidFill>
                  <a:srgbClr val="333333"/>
                </a:solidFill>
                <a:latin typeface="OpenSans-Regular"/>
              </a:rPr>
              <a:t>modifed</a:t>
            </a:r>
            <a:r>
              <a:rPr lang="en-US" altLang="zh-CN" sz="2800" b="0" i="0" u="none" strike="noStrike" baseline="0" dirty="0">
                <a:solidFill>
                  <a:srgbClr val="333333"/>
                </a:solidFill>
                <a:latin typeface="OpenSans-Regular"/>
              </a:rPr>
              <a:t> by multiple threads simultaneously.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altLang="zh-CN" sz="2800" b="0" i="0" u="none" strike="noStrike" baseline="0" dirty="0">
                <a:solidFill>
                  <a:srgbClr val="333333"/>
                </a:solidFill>
                <a:latin typeface="OpenSans-Regular"/>
              </a:rPr>
              <a:t>You can use </a:t>
            </a:r>
            <a:r>
              <a:rPr lang="en-US" altLang="zh-CN" sz="2800" b="0" i="0" u="none" strike="noStrike" baseline="0" dirty="0" err="1">
                <a:solidFill>
                  <a:srgbClr val="333333"/>
                </a:solidFill>
                <a:latin typeface="LucidaConsole"/>
              </a:rPr>
              <a:t>usleep</a:t>
            </a:r>
            <a:r>
              <a:rPr lang="en-US" altLang="zh-CN" sz="2800" b="0" i="0" u="none" strike="noStrike" baseline="0" dirty="0">
                <a:solidFill>
                  <a:srgbClr val="333333"/>
                </a:solidFill>
                <a:latin typeface="LucidaConsole"/>
              </a:rPr>
              <a:t>() </a:t>
            </a:r>
            <a:r>
              <a:rPr lang="en-US" altLang="zh-CN" sz="2800" b="0" i="0" u="none" strike="noStrike" baseline="0" dirty="0">
                <a:solidFill>
                  <a:srgbClr val="333333"/>
                </a:solidFill>
                <a:latin typeface="OpenSans-Regular"/>
              </a:rPr>
              <a:t>to control the speed of the game.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altLang="zh-CN" sz="2800" b="0" i="0" u="none" strike="noStrike" baseline="0" dirty="0">
                <a:solidFill>
                  <a:srgbClr val="333333"/>
                </a:solidFill>
                <a:latin typeface="OpenSans-Regular"/>
              </a:rPr>
              <a:t>You can generate random number using </a:t>
            </a:r>
            <a:r>
              <a:rPr lang="en-US" altLang="zh-CN" sz="2800" b="0" i="0" u="none" strike="noStrike" baseline="0" dirty="0">
                <a:solidFill>
                  <a:srgbClr val="333333"/>
                </a:solidFill>
                <a:latin typeface="LucidaConsole"/>
              </a:rPr>
              <a:t>rand() </a:t>
            </a:r>
            <a:r>
              <a:rPr lang="en-US" altLang="zh-CN" sz="2800" b="0" i="0" u="none" strike="noStrike" baseline="0" dirty="0">
                <a:solidFill>
                  <a:srgbClr val="333333"/>
                </a:solidFill>
                <a:latin typeface="OpenSans-Regular"/>
              </a:rPr>
              <a:t>.</a:t>
            </a:r>
            <a:endParaRPr lang="zh-CN" alt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sz="1800">
            <a:latin typeface="Times New Roman" panose="02020603050405020304" pitchFamily="18" charset="0"/>
            <a:cs typeface="Times New Roman" panose="02020603050405020304" pitchFamily="18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</TotalTime>
  <Words>784</Words>
  <Application>Microsoft Office PowerPoint</Application>
  <PresentationFormat>宽屏</PresentationFormat>
  <Paragraphs>74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5" baseType="lpstr">
      <vt:lpstr>LucidaConsole</vt:lpstr>
      <vt:lpstr>OpenSans-Bold</vt:lpstr>
      <vt:lpstr>OpenSans-Regular</vt:lpstr>
      <vt:lpstr>PMingLiU</vt:lpstr>
      <vt:lpstr>等线</vt:lpstr>
      <vt:lpstr>等线 Light</vt:lpstr>
      <vt:lpstr>微软雅黑</vt:lpstr>
      <vt:lpstr>微软雅黑</vt:lpstr>
      <vt:lpstr>Arial</vt:lpstr>
      <vt:lpstr>Calibri</vt:lpstr>
      <vt:lpstr>Times New Roman</vt:lpstr>
      <vt:lpstr>Wingdings</vt:lpstr>
      <vt:lpstr>Office 主题​​</vt:lpstr>
      <vt:lpstr>Operating System (CSC 3150)  Tutorial 5</vt:lpstr>
      <vt:lpstr>Content</vt:lpstr>
      <vt:lpstr>Keyboard Hit</vt:lpstr>
      <vt:lpstr>Keyboard Hit</vt:lpstr>
      <vt:lpstr>Keyboard Hit</vt:lpstr>
      <vt:lpstr>Terminal Control</vt:lpstr>
      <vt:lpstr>Terminal Control</vt:lpstr>
      <vt:lpstr>Terminal Control</vt:lpstr>
      <vt:lpstr>Suspend executing thread with three functions</vt:lpstr>
      <vt:lpstr>PowerPoint 演示文稿</vt:lpstr>
      <vt:lpstr>PowerPoint 演示文稿</vt:lpstr>
      <vt:lpstr>Assignment 2 Hints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Multimedia System (CSC 3185)  Week 13 tutorial</dc:title>
  <dc:creator>Li Yishu (SSE)</dc:creator>
  <cp:lastModifiedBy>Liangsen Wang (SDS,224040364)</cp:lastModifiedBy>
  <cp:revision>656</cp:revision>
  <dcterms:created xsi:type="dcterms:W3CDTF">2023-10-17T02:52:44Z</dcterms:created>
  <dcterms:modified xsi:type="dcterms:W3CDTF">2025-10-16T08:41:07Z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2052-11.1.0.9662</vt:lpwstr>
  </property>
</Properties>
</file>