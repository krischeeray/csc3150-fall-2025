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53"/>
  </p:notesMasterIdLst>
  <p:handoutMasterIdLst>
    <p:handoutMasterId r:id="rId54"/>
  </p:handoutMasterIdLst>
  <p:sldIdLst>
    <p:sldId id="331" r:id="rId2"/>
    <p:sldId id="332" r:id="rId3"/>
    <p:sldId id="333" r:id="rId4"/>
    <p:sldId id="334" r:id="rId5"/>
    <p:sldId id="335" r:id="rId6"/>
    <p:sldId id="336" r:id="rId7"/>
    <p:sldId id="337" r:id="rId8"/>
    <p:sldId id="338" r:id="rId9"/>
    <p:sldId id="339" r:id="rId10"/>
    <p:sldId id="394" r:id="rId11"/>
    <p:sldId id="395" r:id="rId12"/>
    <p:sldId id="396" r:id="rId13"/>
    <p:sldId id="340" r:id="rId14"/>
    <p:sldId id="341" r:id="rId15"/>
    <p:sldId id="342" r:id="rId16"/>
    <p:sldId id="397" r:id="rId17"/>
    <p:sldId id="347" r:id="rId18"/>
    <p:sldId id="374" r:id="rId19"/>
    <p:sldId id="348" r:id="rId20"/>
    <p:sldId id="349" r:id="rId21"/>
    <p:sldId id="352" r:id="rId22"/>
    <p:sldId id="354" r:id="rId23"/>
    <p:sldId id="376" r:id="rId24"/>
    <p:sldId id="398" r:id="rId25"/>
    <p:sldId id="399" r:id="rId26"/>
    <p:sldId id="377" r:id="rId27"/>
    <p:sldId id="400" r:id="rId28"/>
    <p:sldId id="391" r:id="rId29"/>
    <p:sldId id="401" r:id="rId30"/>
    <p:sldId id="343" r:id="rId31"/>
    <p:sldId id="346" r:id="rId32"/>
    <p:sldId id="403" r:id="rId33"/>
    <p:sldId id="402" r:id="rId34"/>
    <p:sldId id="344" r:id="rId35"/>
    <p:sldId id="345" r:id="rId36"/>
    <p:sldId id="275" r:id="rId37"/>
    <p:sldId id="276" r:id="rId38"/>
    <p:sldId id="322" r:id="rId39"/>
    <p:sldId id="405" r:id="rId40"/>
    <p:sldId id="278" r:id="rId41"/>
    <p:sldId id="406" r:id="rId42"/>
    <p:sldId id="407" r:id="rId43"/>
    <p:sldId id="408" r:id="rId44"/>
    <p:sldId id="409" r:id="rId45"/>
    <p:sldId id="329" r:id="rId46"/>
    <p:sldId id="385" r:id="rId47"/>
    <p:sldId id="386" r:id="rId48"/>
    <p:sldId id="388" r:id="rId49"/>
    <p:sldId id="393" r:id="rId50"/>
    <p:sldId id="404" r:id="rId51"/>
    <p:sldId id="390" r:id="rId52"/>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7" autoAdjust="0"/>
    <p:restoredTop sz="97958" autoAdjust="0"/>
  </p:normalViewPr>
  <p:slideViewPr>
    <p:cSldViewPr snapToGrid="0">
      <p:cViewPr varScale="1">
        <p:scale>
          <a:sx n="60" d="100"/>
          <a:sy n="60" d="100"/>
        </p:scale>
        <p:origin x="1440" y="4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84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53FCF5B-D6E3-694A-9465-830FDD3CEA4C}"/>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D2FDD3B0-2343-2044-8F4B-6BA6A307CF41}"/>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76D7A87-BDFD-8D42-9430-E2E5A44744B3}"/>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F9CCC644-F5A6-3741-B175-A336ED0D5272}"/>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smtClean="0">
                <a:latin typeface="Helvetica" pitchFamily="2" charset="0"/>
              </a:defRPr>
            </a:lvl1pPr>
          </a:lstStyle>
          <a:p>
            <a:pPr>
              <a:defRPr/>
            </a:pPr>
            <a:fld id="{03278AD2-5D28-4D80-B992-F3278BBAC652}"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B9FA9FB-A58C-B342-9C47-1B53B063DB24}"/>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0105D26D-32EF-5E4F-BB50-A2E5FC0910D1}"/>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38AE19E3-4BF3-44E7-8240-F1EF22C9FE97}"/>
              </a:ext>
            </a:extLst>
          </p:cNvPr>
          <p:cNvSpPr>
            <a:spLocks noGrp="1" noRot="1" noChangeAspect="1" noChangeArrowheads="1" noTextEdit="1"/>
          </p:cNvSpPr>
          <p:nvPr>
            <p:ph type="sldImg" idx="2"/>
          </p:nvPr>
        </p:nvSpPr>
        <p:spPr bwMode="auto">
          <a:xfrm>
            <a:off x="1181100" y="698500"/>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A364167-6F9D-8D46-8695-3C2A0D36D459}"/>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4039E3B-E592-4C46-983B-C9A615270155}"/>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B931BAC6-6EE4-D24E-A181-C9A4611BFE68}"/>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smtClean="0">
                <a:latin typeface="Times New Roman" panose="02020603050405020304" pitchFamily="18" charset="0"/>
              </a:defRPr>
            </a:lvl1pPr>
          </a:lstStyle>
          <a:p>
            <a:pPr>
              <a:defRPr/>
            </a:pPr>
            <a:fld id="{63E79BAD-6463-4BA6-8F47-8F8D3732631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4D9D8578-52F4-4B2E-B19D-A5C97A7360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F1C5664-CC41-4F93-B6C4-89BE9E83C1CF}"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940B6476-6DC3-495C-B9B4-206E9F15C55E}"/>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E4D74DFB-DC9B-445A-AF7F-DECF737164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F973F912-DCD2-41B5-84C7-CCBF5C39D6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7A908A-20EC-4453-9C91-E30F56672999}"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592B8439-5CA9-44BE-8575-F0D0E4B3F51C}"/>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08C33379-6FFC-4C37-B29F-C2E9572EAC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35532158-A921-4023-991D-4C3378C636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520B3C4-A46F-4EA5-B3D7-9A0A0ECD1465}"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2" name="Rectangle 2">
            <a:extLst>
              <a:ext uri="{FF2B5EF4-FFF2-40B4-BE49-F238E27FC236}">
                <a16:creationId xmlns:a16="http://schemas.microsoft.com/office/drawing/2014/main" id="{026D09BC-649E-4140-9205-CBDF40A71828}"/>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BD9A4766-8F94-4054-99FE-0575DBD7B6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EAEAB4E-CBE0-421B-B226-4ED23E8352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269533-10DE-4191-9B6F-E1C82BE3228E}"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39B3CCEA-B6D9-4A2C-A893-401E217E509E}"/>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D04F1B6A-B38A-49F6-AA30-7675912A48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EC834F69-8EAC-459B-8ED1-D2141F3DEC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23A874-3E85-4A1A-86D1-8DDE5A0239A9}"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6708EC24-C86E-4048-A969-477B3C5BF8A8}"/>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EB91B93C-A92E-423B-A3C2-A259FD573A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304AB870-7E27-4D48-A235-AB8C084DBD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FDDD82F-B362-478A-8DD6-2522793FE0A7}"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21506" name="Rectangle 2">
            <a:extLst>
              <a:ext uri="{FF2B5EF4-FFF2-40B4-BE49-F238E27FC236}">
                <a16:creationId xmlns:a16="http://schemas.microsoft.com/office/drawing/2014/main" id="{C6816C06-3580-4693-B959-F556AD13BC28}"/>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073144F5-7C58-4261-85A5-8775D25869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537C3CB4-7F6F-45F9-870A-45531D4A3A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37F3D51-18AE-4A2F-8B62-9AFC49B2D4D7}"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23554" name="Rectangle 2">
            <a:extLst>
              <a:ext uri="{FF2B5EF4-FFF2-40B4-BE49-F238E27FC236}">
                <a16:creationId xmlns:a16="http://schemas.microsoft.com/office/drawing/2014/main" id="{7C279E95-8E29-410A-ADB9-85930575D47B}"/>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6988FA38-7436-49E5-B883-869C0E09D0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A1D277A9-2AB6-4A32-9C1F-9BBB92CCD3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6AF8C-BABD-4627-8D38-DBDA3210958D}"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25602" name="Rectangle 2">
            <a:extLst>
              <a:ext uri="{FF2B5EF4-FFF2-40B4-BE49-F238E27FC236}">
                <a16:creationId xmlns:a16="http://schemas.microsoft.com/office/drawing/2014/main" id="{72151677-503C-4BC0-A664-B3594D64A935}"/>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D0D79BE-5053-4396-8069-6945B6DEC1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04D1075B-D21B-45CE-A84C-DA2F4A3A7A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FE063B-491C-4469-86C9-23FF5A330F41}"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27650" name="Rectangle 2">
            <a:extLst>
              <a:ext uri="{FF2B5EF4-FFF2-40B4-BE49-F238E27FC236}">
                <a16:creationId xmlns:a16="http://schemas.microsoft.com/office/drawing/2014/main" id="{286269CD-2C40-4F26-BF67-2B4AA76F4411}"/>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768235C0-E9C2-4DFD-AF4F-FE29D61A08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6A33D548-DBCB-4050-8F24-799621983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2CD9D6-ACA2-4B6E-9040-3CF1083AD728}"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29698" name="Rectangle 2">
            <a:extLst>
              <a:ext uri="{FF2B5EF4-FFF2-40B4-BE49-F238E27FC236}">
                <a16:creationId xmlns:a16="http://schemas.microsoft.com/office/drawing/2014/main" id="{095C961C-AE65-4244-B66E-9CD967E8B89F}"/>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64EAA157-34D6-4FF6-97DC-83FE952C82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0806A5ED-C467-4AEA-9812-402467782E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12A0E12-BA07-4AE4-BC56-89A634C74B53}"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31746" name="Rectangle 2">
            <a:extLst>
              <a:ext uri="{FF2B5EF4-FFF2-40B4-BE49-F238E27FC236}">
                <a16:creationId xmlns:a16="http://schemas.microsoft.com/office/drawing/2014/main" id="{7C93CCAD-CF77-4A0F-A4EA-2CCC4EE7858B}"/>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177CD460-D5C2-4C4A-8ED0-FAA858EE83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19985237-F29D-46F2-B7D1-52309BA77B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2CBF61-81F4-49C3-A8C5-806243625942}"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33794" name="Rectangle 2">
            <a:extLst>
              <a:ext uri="{FF2B5EF4-FFF2-40B4-BE49-F238E27FC236}">
                <a16:creationId xmlns:a16="http://schemas.microsoft.com/office/drawing/2014/main" id="{BC8A9037-6B05-4752-B700-A4D8A70ED392}"/>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E825B979-ACEC-4BAF-8188-ED4C7B16FE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DA1E5212-2C8E-4836-A457-10554ABE49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216A99-73B8-44FB-ADBA-F740BED6F869}"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35842" name="Rectangle 2">
            <a:extLst>
              <a:ext uri="{FF2B5EF4-FFF2-40B4-BE49-F238E27FC236}">
                <a16:creationId xmlns:a16="http://schemas.microsoft.com/office/drawing/2014/main" id="{CDA202B7-C2BE-4AC5-8B15-3B77C2AB4AB6}"/>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D117D557-0992-411A-A367-6F9B6B806E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4F43B272-059F-4616-A025-0693844117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DFB71D-5229-4BE0-8A74-727533DE33ED}"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37890" name="Rectangle 2">
            <a:extLst>
              <a:ext uri="{FF2B5EF4-FFF2-40B4-BE49-F238E27FC236}">
                <a16:creationId xmlns:a16="http://schemas.microsoft.com/office/drawing/2014/main" id="{0C871141-38AD-4BC1-9F39-DB7439B14966}"/>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2FC9158E-A5A1-437E-8004-3F620F6375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722FD5C3-3D84-457A-9D0A-CDED592065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659578-AC4A-42F7-8CE8-ACFC0A700707}"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39938" name="Rectangle 2">
            <a:extLst>
              <a:ext uri="{FF2B5EF4-FFF2-40B4-BE49-F238E27FC236}">
                <a16:creationId xmlns:a16="http://schemas.microsoft.com/office/drawing/2014/main" id="{BBD8DC37-BD5F-442A-BDC1-F64543BCBA03}"/>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C27FDDF1-95F7-4419-BE7E-C29E918249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6208221D-E6FE-479A-8AA8-4A0B71A342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B5B3229-7CD9-4B81-8982-9CF4018EDF8B}"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44034" name="Rectangle 2">
            <a:extLst>
              <a:ext uri="{FF2B5EF4-FFF2-40B4-BE49-F238E27FC236}">
                <a16:creationId xmlns:a16="http://schemas.microsoft.com/office/drawing/2014/main" id="{87904D37-7E66-40DF-B1FB-33DCE3D0A78C}"/>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5BEF5EFB-4531-4B50-BACE-45FB17D138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EC46F89B-C57E-4055-9337-0C2A9AC4AB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66302B-C706-46B2-A5B3-A04DD41ACE3B}"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9BBF134E-570A-4705-B23D-32CE0E43D90E}"/>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8A097A4D-7574-437F-A094-5F13C9E278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C214D026-DD35-46E3-A19B-0426DA01A6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91CA0C-F74B-45B5-932B-613A2987E322}"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78C4505E-1BC1-4BB9-8D83-2812FC54FBE2}"/>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C276EDF9-BE61-48AE-A7D3-B544FB73CD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70D52BBB-F2A2-44C9-9350-AF8ABC7722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36B623-83A9-4F97-AFF5-2166C3138464}"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464FF12E-32F5-4271-99FA-E74593782DE6}"/>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4C95DFF-54AE-4BCB-839E-2221DC1CC0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347EBC14-D106-49E6-ADE8-1675547B66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80800A-4B65-4EA6-9B0B-BE58FA2CBB9D}"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7D372C95-7D85-4EAE-BA5D-AA6BD5478D44}"/>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F22515CE-59A3-4BCE-AB8D-FE24A0D42B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E2A89EDE-1E64-4CE4-86BC-C8297A3CA9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F1BE197-D0F6-49C6-847C-AF54BDBCB1D6}"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57346" name="Rectangle 2">
            <a:extLst>
              <a:ext uri="{FF2B5EF4-FFF2-40B4-BE49-F238E27FC236}">
                <a16:creationId xmlns:a16="http://schemas.microsoft.com/office/drawing/2014/main" id="{6013F7F1-2B8A-4565-9FA0-D04F1B637DFC}"/>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BDC857DF-5D7A-4A53-8165-572AC6D1E8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130A0268-675F-402A-8131-275C3D23AD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665BC79-78FD-4A24-9792-CB687F1E0A06}"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61442" name="Rectangle 2">
            <a:extLst>
              <a:ext uri="{FF2B5EF4-FFF2-40B4-BE49-F238E27FC236}">
                <a16:creationId xmlns:a16="http://schemas.microsoft.com/office/drawing/2014/main" id="{6CD9A851-5AF9-475C-B1E7-79BDB06EDB38}"/>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206FF186-492F-4D47-B91B-34D41F591A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6E8E0A5D-4662-42D9-90F6-11AA3898E2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141524-2B32-42DE-9328-5207EFB372DA}"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65538" name="Rectangle 2">
            <a:extLst>
              <a:ext uri="{FF2B5EF4-FFF2-40B4-BE49-F238E27FC236}">
                <a16:creationId xmlns:a16="http://schemas.microsoft.com/office/drawing/2014/main" id="{CA3E6CE5-EF5E-4C4D-A588-2842FB1827D8}"/>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FAF3D078-D13B-43E1-B7AF-2D595EBBDF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0C89E4C-C2E1-A5D1-B278-0F977D2265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9F8AE7-8EE1-4B69-A53B-0CFB647AF2D4}" type="slidenum">
              <a:rPr lang="en-US" altLang="zh-TW" smtClean="0">
                <a:latin typeface="Times New Roman" panose="02020603050405020304" pitchFamily="18" charset="0"/>
              </a:rPr>
              <a:pPr/>
              <a:t>36</a:t>
            </a:fld>
            <a:endParaRPr lang="en-US" altLang="zh-TW">
              <a:latin typeface="Times New Roman" panose="02020603050405020304" pitchFamily="18" charset="0"/>
            </a:endParaRPr>
          </a:p>
        </p:txBody>
      </p:sp>
      <p:sp>
        <p:nvSpPr>
          <p:cNvPr id="64515" name="Rectangle 2">
            <a:extLst>
              <a:ext uri="{FF2B5EF4-FFF2-40B4-BE49-F238E27FC236}">
                <a16:creationId xmlns:a16="http://schemas.microsoft.com/office/drawing/2014/main" id="{BDB76825-9E45-E695-C7AB-DD6718B08DA2}"/>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15EF31C3-5DBD-AB96-9C97-70CEECE795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D79955CD-169F-A4B5-D018-AF1ACE1851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444209-42EC-49AE-8F82-D76282E12EA1}" type="slidenum">
              <a:rPr lang="en-US" altLang="zh-TW" smtClean="0">
                <a:latin typeface="Times New Roman" panose="02020603050405020304" pitchFamily="18" charset="0"/>
              </a:rPr>
              <a:pPr/>
              <a:t>37</a:t>
            </a:fld>
            <a:endParaRPr lang="en-US" altLang="zh-TW">
              <a:latin typeface="Times New Roman" panose="02020603050405020304" pitchFamily="18" charset="0"/>
            </a:endParaRPr>
          </a:p>
        </p:txBody>
      </p:sp>
      <p:sp>
        <p:nvSpPr>
          <p:cNvPr id="66563" name="Rectangle 2">
            <a:extLst>
              <a:ext uri="{FF2B5EF4-FFF2-40B4-BE49-F238E27FC236}">
                <a16:creationId xmlns:a16="http://schemas.microsoft.com/office/drawing/2014/main" id="{876065F3-353C-0DBC-FA4B-BD68D774CA19}"/>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A4808784-6B4D-A490-267E-76B9778986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81E5F261-E1FE-A7BA-9338-26388E69B2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375158-4B86-4A63-8A48-486602C2DDAB}" type="slidenum">
              <a:rPr lang="en-US" altLang="zh-TW" smtClean="0">
                <a:latin typeface="Times New Roman" panose="02020603050405020304" pitchFamily="18" charset="0"/>
              </a:rPr>
              <a:pPr/>
              <a:t>38</a:t>
            </a:fld>
            <a:endParaRPr lang="en-US" altLang="zh-TW">
              <a:latin typeface="Times New Roman" panose="02020603050405020304" pitchFamily="18" charset="0"/>
            </a:endParaRPr>
          </a:p>
        </p:txBody>
      </p:sp>
      <p:sp>
        <p:nvSpPr>
          <p:cNvPr id="68611" name="Rectangle 2">
            <a:extLst>
              <a:ext uri="{FF2B5EF4-FFF2-40B4-BE49-F238E27FC236}">
                <a16:creationId xmlns:a16="http://schemas.microsoft.com/office/drawing/2014/main" id="{B6B4AE16-AF6B-E83F-2496-46B747B98E99}"/>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2EB02825-0148-CD84-1395-B632501D1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AC288-8D96-D6B0-462D-1469E6BF8A8E}"/>
            </a:ext>
          </a:extLst>
        </p:cNvPr>
        <p:cNvGrpSpPr/>
        <p:nvPr/>
      </p:nvGrpSpPr>
      <p:grpSpPr>
        <a:xfrm>
          <a:off x="0" y="0"/>
          <a:ext cx="0" cy="0"/>
          <a:chOff x="0" y="0"/>
          <a:chExt cx="0" cy="0"/>
        </a:xfrm>
      </p:grpSpPr>
      <p:sp>
        <p:nvSpPr>
          <p:cNvPr id="68610" name="Rectangle 7">
            <a:extLst>
              <a:ext uri="{FF2B5EF4-FFF2-40B4-BE49-F238E27FC236}">
                <a16:creationId xmlns:a16="http://schemas.microsoft.com/office/drawing/2014/main" id="{384957A8-CB5C-DBD2-1986-D28136373A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375158-4B86-4A63-8A48-486602C2DDAB}" type="slidenum">
              <a:rPr lang="en-US" altLang="zh-TW" smtClean="0">
                <a:latin typeface="Times New Roman" panose="02020603050405020304" pitchFamily="18" charset="0"/>
              </a:rPr>
              <a:pPr/>
              <a:t>39</a:t>
            </a:fld>
            <a:endParaRPr lang="en-US" altLang="zh-TW">
              <a:latin typeface="Times New Roman" panose="02020603050405020304" pitchFamily="18" charset="0"/>
            </a:endParaRPr>
          </a:p>
        </p:txBody>
      </p:sp>
      <p:sp>
        <p:nvSpPr>
          <p:cNvPr id="68611" name="Rectangle 2">
            <a:extLst>
              <a:ext uri="{FF2B5EF4-FFF2-40B4-BE49-F238E27FC236}">
                <a16:creationId xmlns:a16="http://schemas.microsoft.com/office/drawing/2014/main" id="{53F8DB6F-2CE8-0F57-74F7-7C9BC60A5961}"/>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56C8F488-598B-4499-629F-9293CE6F6A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extLst>
      <p:ext uri="{BB962C8B-B14F-4D97-AF65-F5344CB8AC3E}">
        <p14:creationId xmlns:p14="http://schemas.microsoft.com/office/powerpoint/2010/main" val="494912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D441C8E7-D2B4-9EBF-33A6-D764F829B7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8ACD74B-71FB-47FE-9F81-6FEF5FFBD092}" type="slidenum">
              <a:rPr lang="en-US" altLang="zh-TW" smtClean="0">
                <a:latin typeface="Times New Roman" panose="02020603050405020304" pitchFamily="18" charset="0"/>
              </a:rPr>
              <a:pPr/>
              <a:t>40</a:t>
            </a:fld>
            <a:endParaRPr lang="en-US" altLang="zh-TW">
              <a:latin typeface="Times New Roman" panose="02020603050405020304" pitchFamily="18" charset="0"/>
            </a:endParaRPr>
          </a:p>
        </p:txBody>
      </p:sp>
      <p:sp>
        <p:nvSpPr>
          <p:cNvPr id="72707" name="Rectangle 2">
            <a:extLst>
              <a:ext uri="{FF2B5EF4-FFF2-40B4-BE49-F238E27FC236}">
                <a16:creationId xmlns:a16="http://schemas.microsoft.com/office/drawing/2014/main" id="{97F735FB-771C-7A47-97C5-552348D3593F}"/>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16A442A1-604F-5944-71AE-ADD6751D43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A9C1B-05F5-62AD-6F3B-098BC2F4DEA0}"/>
            </a:ext>
          </a:extLst>
        </p:cNvPr>
        <p:cNvGrpSpPr/>
        <p:nvPr/>
      </p:nvGrpSpPr>
      <p:grpSpPr>
        <a:xfrm>
          <a:off x="0" y="0"/>
          <a:ext cx="0" cy="0"/>
          <a:chOff x="0" y="0"/>
          <a:chExt cx="0" cy="0"/>
        </a:xfrm>
      </p:grpSpPr>
      <p:sp>
        <p:nvSpPr>
          <p:cNvPr id="68610" name="Rectangle 7">
            <a:extLst>
              <a:ext uri="{FF2B5EF4-FFF2-40B4-BE49-F238E27FC236}">
                <a16:creationId xmlns:a16="http://schemas.microsoft.com/office/drawing/2014/main" id="{1C91598A-41E8-8102-D43B-2986DED9D4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375158-4B86-4A63-8A48-486602C2DDAB}" type="slidenum">
              <a:rPr lang="en-US" altLang="zh-TW" smtClean="0">
                <a:latin typeface="Times New Roman" panose="02020603050405020304" pitchFamily="18" charset="0"/>
              </a:rPr>
              <a:pPr/>
              <a:t>41</a:t>
            </a:fld>
            <a:endParaRPr lang="en-US" altLang="zh-TW">
              <a:latin typeface="Times New Roman" panose="02020603050405020304" pitchFamily="18" charset="0"/>
            </a:endParaRPr>
          </a:p>
        </p:txBody>
      </p:sp>
      <p:sp>
        <p:nvSpPr>
          <p:cNvPr id="68611" name="Rectangle 2">
            <a:extLst>
              <a:ext uri="{FF2B5EF4-FFF2-40B4-BE49-F238E27FC236}">
                <a16:creationId xmlns:a16="http://schemas.microsoft.com/office/drawing/2014/main" id="{6D769B9C-79BA-8B73-E2F7-7B8E8B4390D6}"/>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D5B5E399-DC03-C70A-64B1-0F0B28DA9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extLst>
      <p:ext uri="{BB962C8B-B14F-4D97-AF65-F5344CB8AC3E}">
        <p14:creationId xmlns:p14="http://schemas.microsoft.com/office/powerpoint/2010/main" val="3071159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7A8CA-AAF6-5B2D-5BB9-83A2E84349F5}"/>
            </a:ext>
          </a:extLst>
        </p:cNvPr>
        <p:cNvGrpSpPr/>
        <p:nvPr/>
      </p:nvGrpSpPr>
      <p:grpSpPr>
        <a:xfrm>
          <a:off x="0" y="0"/>
          <a:ext cx="0" cy="0"/>
          <a:chOff x="0" y="0"/>
          <a:chExt cx="0" cy="0"/>
        </a:xfrm>
      </p:grpSpPr>
      <p:sp>
        <p:nvSpPr>
          <p:cNvPr id="68610" name="Rectangle 7">
            <a:extLst>
              <a:ext uri="{FF2B5EF4-FFF2-40B4-BE49-F238E27FC236}">
                <a16:creationId xmlns:a16="http://schemas.microsoft.com/office/drawing/2014/main" id="{8FC281DD-BD6A-926F-95A1-82613F1BC9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375158-4B86-4A63-8A48-486602C2DDAB}" type="slidenum">
              <a:rPr lang="en-US" altLang="zh-TW" smtClean="0">
                <a:latin typeface="Times New Roman" panose="02020603050405020304" pitchFamily="18" charset="0"/>
              </a:rPr>
              <a:pPr/>
              <a:t>42</a:t>
            </a:fld>
            <a:endParaRPr lang="en-US" altLang="zh-TW">
              <a:latin typeface="Times New Roman" panose="02020603050405020304" pitchFamily="18" charset="0"/>
            </a:endParaRPr>
          </a:p>
        </p:txBody>
      </p:sp>
      <p:sp>
        <p:nvSpPr>
          <p:cNvPr id="68611" name="Rectangle 2">
            <a:extLst>
              <a:ext uri="{FF2B5EF4-FFF2-40B4-BE49-F238E27FC236}">
                <a16:creationId xmlns:a16="http://schemas.microsoft.com/office/drawing/2014/main" id="{72E61296-1843-D810-51EC-CF1238609719}"/>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7307F881-A765-EFD6-1FBD-C71D6B2F68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extLst>
      <p:ext uri="{BB962C8B-B14F-4D97-AF65-F5344CB8AC3E}">
        <p14:creationId xmlns:p14="http://schemas.microsoft.com/office/powerpoint/2010/main" val="12433529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0FD65-2308-DF5E-E5AB-99B2270D0943}"/>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6CF934C0-D87C-3B4F-D320-1E4AE84B3D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15599A-5954-43E8-8A3B-53B8575594D1}" type="slidenum">
              <a:rPr lang="en-US" altLang="zh-TW" smtClean="0">
                <a:latin typeface="Times New Roman" panose="02020603050405020304" pitchFamily="18" charset="0"/>
              </a:rPr>
              <a:pPr/>
              <a:t>43</a:t>
            </a:fld>
            <a:endParaRPr lang="en-US" altLang="zh-TW">
              <a:latin typeface="Times New Roman" panose="02020603050405020304" pitchFamily="18" charset="0"/>
            </a:endParaRPr>
          </a:p>
        </p:txBody>
      </p:sp>
      <p:sp>
        <p:nvSpPr>
          <p:cNvPr id="70659" name="Rectangle 2">
            <a:extLst>
              <a:ext uri="{FF2B5EF4-FFF2-40B4-BE49-F238E27FC236}">
                <a16:creationId xmlns:a16="http://schemas.microsoft.com/office/drawing/2014/main" id="{B5148312-4D35-E43B-260F-79F1AD7D4E5D}"/>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898F635D-386C-6AEC-8873-967A266AAB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extLst>
      <p:ext uri="{BB962C8B-B14F-4D97-AF65-F5344CB8AC3E}">
        <p14:creationId xmlns:p14="http://schemas.microsoft.com/office/powerpoint/2010/main" val="34357239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FD638-9B62-6540-F496-5B1C245324EB}"/>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F061034F-687C-2099-6DF8-612FB1A19F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15599A-5954-43E8-8A3B-53B8575594D1}" type="slidenum">
              <a:rPr lang="en-US" altLang="zh-TW" smtClean="0">
                <a:latin typeface="Times New Roman" panose="02020603050405020304" pitchFamily="18" charset="0"/>
              </a:rPr>
              <a:pPr/>
              <a:t>44</a:t>
            </a:fld>
            <a:endParaRPr lang="en-US" altLang="zh-TW">
              <a:latin typeface="Times New Roman" panose="02020603050405020304" pitchFamily="18" charset="0"/>
            </a:endParaRPr>
          </a:p>
        </p:txBody>
      </p:sp>
      <p:sp>
        <p:nvSpPr>
          <p:cNvPr id="70659" name="Rectangle 2">
            <a:extLst>
              <a:ext uri="{FF2B5EF4-FFF2-40B4-BE49-F238E27FC236}">
                <a16:creationId xmlns:a16="http://schemas.microsoft.com/office/drawing/2014/main" id="{FD88B996-7377-F4BF-DA90-32F1F69DC413}"/>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1C7873DE-B066-4D56-ED72-4B8C04566B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extLst>
      <p:ext uri="{BB962C8B-B14F-4D97-AF65-F5344CB8AC3E}">
        <p14:creationId xmlns:p14="http://schemas.microsoft.com/office/powerpoint/2010/main" val="29470361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35DF995C-920B-6F19-BF54-0749E52435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15599A-5954-43E8-8A3B-53B8575594D1}" type="slidenum">
              <a:rPr lang="en-US" altLang="zh-TW" smtClean="0">
                <a:latin typeface="Times New Roman" panose="02020603050405020304" pitchFamily="18" charset="0"/>
              </a:rPr>
              <a:pPr/>
              <a:t>45</a:t>
            </a:fld>
            <a:endParaRPr lang="en-US" altLang="zh-TW">
              <a:latin typeface="Times New Roman" panose="02020603050405020304" pitchFamily="18" charset="0"/>
            </a:endParaRPr>
          </a:p>
        </p:txBody>
      </p:sp>
      <p:sp>
        <p:nvSpPr>
          <p:cNvPr id="70659" name="Rectangle 2">
            <a:extLst>
              <a:ext uri="{FF2B5EF4-FFF2-40B4-BE49-F238E27FC236}">
                <a16:creationId xmlns:a16="http://schemas.microsoft.com/office/drawing/2014/main" id="{E5DB1665-E895-C602-1035-19AAD80921C0}"/>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479CE799-AFBD-F67C-DCBF-82B73EB8E0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C127B9F7-39B2-478F-9B5F-E5DE9B9C73FF}"/>
              </a:ext>
            </a:extLst>
          </p:cNvPr>
          <p:cNvSpPr>
            <a:spLocks noGrp="1" noRot="1" noChangeAspect="1" noChangeArrowheads="1" noTextEdit="1"/>
          </p:cNvSpPr>
          <p:nvPr>
            <p:ph type="sldImg"/>
          </p:nvPr>
        </p:nvSpPr>
        <p:spPr>
          <a:ln/>
        </p:spPr>
      </p:sp>
      <p:sp>
        <p:nvSpPr>
          <p:cNvPr id="76802" name="Rectangle 3">
            <a:extLst>
              <a:ext uri="{FF2B5EF4-FFF2-40B4-BE49-F238E27FC236}">
                <a16:creationId xmlns:a16="http://schemas.microsoft.com/office/drawing/2014/main" id="{86EC4164-C1A1-41DD-8FE8-1AFC29A315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34FB62CF-FB8D-4D6A-9082-FFCA7F657A3A}"/>
              </a:ext>
            </a:extLst>
          </p:cNvPr>
          <p:cNvSpPr>
            <a:spLocks noGrp="1" noRot="1" noChangeAspect="1" noChangeArrowheads="1" noTextEdit="1"/>
          </p:cNvSpPr>
          <p:nvPr>
            <p:ph type="sldImg"/>
          </p:nvPr>
        </p:nvSpPr>
        <p:spPr>
          <a:ln/>
        </p:spPr>
      </p:sp>
      <p:sp>
        <p:nvSpPr>
          <p:cNvPr id="78850" name="Rectangle 3">
            <a:extLst>
              <a:ext uri="{FF2B5EF4-FFF2-40B4-BE49-F238E27FC236}">
                <a16:creationId xmlns:a16="http://schemas.microsoft.com/office/drawing/2014/main" id="{6275740F-8B44-48C7-9517-AA74817D7E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A7DBDA83-C650-4B90-9E80-D34F62703CAE}"/>
              </a:ext>
            </a:extLst>
          </p:cNvPr>
          <p:cNvSpPr>
            <a:spLocks noGrp="1" noRot="1" noChangeAspect="1" noChangeArrowheads="1" noTextEdit="1"/>
          </p:cNvSpPr>
          <p:nvPr>
            <p:ph type="sldImg"/>
          </p:nvPr>
        </p:nvSpPr>
        <p:spPr>
          <a:ln/>
        </p:spPr>
      </p:sp>
      <p:sp>
        <p:nvSpPr>
          <p:cNvPr id="80898" name="Rectangle 3">
            <a:extLst>
              <a:ext uri="{FF2B5EF4-FFF2-40B4-BE49-F238E27FC236}">
                <a16:creationId xmlns:a16="http://schemas.microsoft.com/office/drawing/2014/main" id="{6E28BEB8-4B6B-432A-94C2-ED970BB7C5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BC97566D-5BD0-442F-BE5D-DCA366002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05D065-212C-491C-9F82-171CB7331276}"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82946" name="Rectangle 2">
            <a:extLst>
              <a:ext uri="{FF2B5EF4-FFF2-40B4-BE49-F238E27FC236}">
                <a16:creationId xmlns:a16="http://schemas.microsoft.com/office/drawing/2014/main" id="{9BA0D579-2F41-45CC-A4AF-F787E8E12550}"/>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B01A9E9E-3FE2-42A9-8FDB-710DD5ABB6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7137032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BC97566D-5BD0-442F-BE5D-DCA366002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05D065-212C-491C-9F82-171CB7331276}"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82946" name="Rectangle 2">
            <a:extLst>
              <a:ext uri="{FF2B5EF4-FFF2-40B4-BE49-F238E27FC236}">
                <a16:creationId xmlns:a16="http://schemas.microsoft.com/office/drawing/2014/main" id="{9BA0D579-2F41-45CC-A4AF-F787E8E12550}"/>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B01A9E9E-3FE2-42A9-8FDB-710DD5ABB6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058378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EA77F785-F090-4692-8600-91A6087D72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484260-4C8C-470F-B15A-5C28602803B9}"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84994" name="Rectangle 2">
            <a:extLst>
              <a:ext uri="{FF2B5EF4-FFF2-40B4-BE49-F238E27FC236}">
                <a16:creationId xmlns:a16="http://schemas.microsoft.com/office/drawing/2014/main" id="{89FF30A9-CC1B-4637-BA92-618097176A8B}"/>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F6E26AC2-2BB2-476B-8048-EFE58BD58C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A9B92152-9C19-4100-A6C1-9A38AF2098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B9E57EAF-4860-41F8-9EC6-A2A5F0DE3827}"/>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C8B0ED74-7EE2-47E5-9495-A0F678CCF5A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DBA218CB-1E22-4388-8F38-D0627FE65E19}"/>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942EEC6-6570-4D3F-9FE8-2CE13B00954F}"/>
              </a:ext>
            </a:extLst>
          </p:cNvPr>
          <p:cNvSpPr txBox="1">
            <a:spLocks noChangeArrowheads="1"/>
          </p:cNvSpPr>
          <p:nvPr/>
        </p:nvSpPr>
        <p:spPr bwMode="auto">
          <a:xfrm>
            <a:off x="6489700" y="6588125"/>
            <a:ext cx="2713038" cy="246063"/>
          </a:xfrm>
          <a:prstGeom prst="rect">
            <a:avLst/>
          </a:prstGeom>
          <a:noFill/>
          <a:ln>
            <a:noFill/>
          </a:ln>
        </p:spPr>
        <p:txBody>
          <a:bodyPr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CC8FC8D5-4FD0-4817-88AC-059118368619}"/>
              </a:ext>
            </a:extLst>
          </p:cNvPr>
          <p:cNvSpPr txBox="1">
            <a:spLocks noChangeArrowheads="1"/>
          </p:cNvSpPr>
          <p:nvPr/>
        </p:nvSpPr>
        <p:spPr bwMode="auto">
          <a:xfrm>
            <a:off x="26988" y="6613525"/>
            <a:ext cx="2730500" cy="246063"/>
          </a:xfrm>
          <a:prstGeom prst="rect">
            <a:avLst/>
          </a:prstGeom>
          <a:noFill/>
          <a:ln>
            <a:noFill/>
          </a:ln>
        </p:spPr>
        <p:txBody>
          <a:bodyPr wrap="none"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759BB3EB-4310-43F8-96CB-DE1924193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EED5E69C-2C77-42B8-8233-DBD806735879}"/>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424752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6227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2999914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3868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1937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5888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278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1442771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5289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346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6051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AFA21C35-03B9-4BBF-B76C-73BB22324E1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6CCCF87F-BA59-4981-9F69-2520B04D8749}"/>
              </a:ext>
            </a:extLst>
          </p:cNvPr>
          <p:cNvSpPr>
            <a:spLocks noGrp="1" noChangeArrowheads="1"/>
          </p:cNvSpPr>
          <p:nvPr>
            <p:ph type="title"/>
          </p:nvPr>
        </p:nvSpPr>
        <p:spPr bwMode="auto">
          <a:xfrm>
            <a:off x="905608" y="251437"/>
            <a:ext cx="762879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8576F4C5-25DA-46C8-8F67-189D9A001D8F}"/>
              </a:ext>
            </a:extLst>
          </p:cNvPr>
          <p:cNvSpPr>
            <a:spLocks noGrp="1" noChangeArrowheads="1"/>
          </p:cNvSpPr>
          <p:nvPr>
            <p:ph type="body" idx="1"/>
          </p:nvPr>
        </p:nvSpPr>
        <p:spPr bwMode="auto">
          <a:xfrm>
            <a:off x="85041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490345DB-B826-4E46-A919-6BA1AA038A02}"/>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99F4474D-0687-46B3-ADA5-DE5EBE6CB86F}"/>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3BBBE8DA-B81E-3146-97AD-B24B5BE3835C}"/>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59762BEE-3900-9046-AA87-48CDDCD7B0BE}"/>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0CAFEF6-0DC5-624F-A4E8-6688B26780FC}"/>
              </a:ext>
            </a:extLst>
          </p:cNvPr>
          <p:cNvSpPr txBox="1">
            <a:spLocks noChangeArrowheads="1"/>
          </p:cNvSpPr>
          <p:nvPr/>
        </p:nvSpPr>
        <p:spPr bwMode="auto">
          <a:xfrm>
            <a:off x="4221163" y="6613525"/>
            <a:ext cx="51752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11.</a:t>
            </a:r>
            <a:fld id="{3BF801EC-8CC2-409A-8699-9BA740EB02E6}"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9CF46FCC-A775-0D4E-B75A-4296EE96508E}"/>
              </a:ext>
            </a:extLst>
          </p:cNvPr>
          <p:cNvSpPr txBox="1">
            <a:spLocks noChangeArrowheads="1"/>
          </p:cNvSpPr>
          <p:nvPr/>
        </p:nvSpPr>
        <p:spPr bwMode="auto">
          <a:xfrm>
            <a:off x="6489700" y="6588125"/>
            <a:ext cx="2713038" cy="246063"/>
          </a:xfrm>
          <a:prstGeom prst="rect">
            <a:avLst/>
          </a:prstGeom>
          <a:noFill/>
          <a:ln>
            <a:noFill/>
          </a:ln>
        </p:spPr>
        <p:txBody>
          <a:bodyPr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E022A8A8-6676-6745-8D40-988E00B15F1E}"/>
              </a:ext>
            </a:extLst>
          </p:cNvPr>
          <p:cNvSpPr txBox="1">
            <a:spLocks noChangeArrowheads="1"/>
          </p:cNvSpPr>
          <p:nvPr/>
        </p:nvSpPr>
        <p:spPr bwMode="auto">
          <a:xfrm>
            <a:off x="185738" y="6621463"/>
            <a:ext cx="2730500" cy="246062"/>
          </a:xfrm>
          <a:prstGeom prst="rect">
            <a:avLst/>
          </a:prstGeom>
          <a:noFill/>
          <a:ln>
            <a:noFill/>
          </a:ln>
        </p:spPr>
        <p:txBody>
          <a:bodyPr wrap="none" lIns="91435" tIns="45718" rIns="91435" bIns="45718">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82D62CD2-C90C-473E-81DF-DFF1DF46F06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hyperlink" Target="https://www.techtarget.com/searchstorage/definition/SSD-solid-state-drive" TargetMode="External"/><Relationship Id="rId5" Type="http://schemas.openxmlformats.org/officeDocument/2006/relationships/hyperlink" Target="https://www.techtarget.com/searchstorage/definition/hard-disk-drive" TargetMode="Externa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hyperlink" Target="https://en.wikipedia.org/wiki/Disk_mirroring" TargetMode="Externa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hyperlink" Target="https://en.wikipedia.org/wiki/Hamming_code" TargetMode="External"/><Relationship Id="rId5" Type="http://schemas.openxmlformats.org/officeDocument/2006/relationships/hyperlink" Target="https://en.wikipedia.org/wiki/Bit" TargetMode="External"/><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hyperlink" Target="https://en.wikipedia.org/wiki/Byte" TargetMode="External"/><Relationship Id="rId7"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18.emf"/><Relationship Id="rId5" Type="http://schemas.openxmlformats.org/officeDocument/2006/relationships/hyperlink" Target="https://en.wikipedia.org/wiki/Input/output" TargetMode="External"/><Relationship Id="rId4" Type="http://schemas.openxmlformats.org/officeDocument/2006/relationships/hyperlink" Target="https://en.wikipedia.org/wiki/Parity_bit#RAID_array"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4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037E7E54-054F-4C8E-B788-4C602A522F34}"/>
              </a:ext>
            </a:extLst>
          </p:cNvPr>
          <p:cNvSpPr>
            <a:spLocks noGrp="1" noChangeArrowheads="1"/>
          </p:cNvSpPr>
          <p:nvPr>
            <p:ph type="ctrTitle"/>
          </p:nvPr>
        </p:nvSpPr>
        <p:spPr>
          <a:xfrm>
            <a:off x="685800" y="808038"/>
            <a:ext cx="7772400" cy="2128837"/>
          </a:xfrm>
        </p:spPr>
        <p:txBody>
          <a:bodyPr/>
          <a:lstStyle/>
          <a:p>
            <a:pPr eaLnBrk="1" hangingPunct="1"/>
            <a:r>
              <a:rPr lang="en-US" altLang="en-US" dirty="0"/>
              <a:t>Chapter 11 </a:t>
            </a:r>
            <a:br>
              <a:rPr lang="en-US" altLang="en-US" dirty="0"/>
            </a:br>
            <a:r>
              <a:rPr lang="en-US" altLang="en-US" dirty="0"/>
              <a:t>Mass-Storage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F96E2BD5-02D9-4B22-A3EA-80CA1DE950E6}"/>
              </a:ext>
            </a:extLst>
          </p:cNvPr>
          <p:cNvSpPr>
            <a:spLocks noGrp="1" noChangeArrowheads="1"/>
          </p:cNvSpPr>
          <p:nvPr>
            <p:ph type="title"/>
          </p:nvPr>
        </p:nvSpPr>
        <p:spPr>
          <a:xfrm>
            <a:off x="891721" y="231158"/>
            <a:ext cx="7664450" cy="576262"/>
          </a:xfrm>
        </p:spPr>
        <p:txBody>
          <a:bodyPr/>
          <a:lstStyle/>
          <a:p>
            <a:pPr eaLnBrk="1" hangingPunct="1"/>
            <a:r>
              <a:rPr lang="en-US" altLang="zh-CN" dirty="0"/>
              <a:t>Outline</a:t>
            </a:r>
            <a:endParaRPr lang="en-US" altLang="en-US" dirty="0"/>
          </a:p>
        </p:txBody>
      </p:sp>
      <p:sp>
        <p:nvSpPr>
          <p:cNvPr id="7170" name="Rectangle 3">
            <a:extLst>
              <a:ext uri="{FF2B5EF4-FFF2-40B4-BE49-F238E27FC236}">
                <a16:creationId xmlns:a16="http://schemas.microsoft.com/office/drawing/2014/main" id="{EF68706B-B459-4964-84BA-286028C40819}"/>
              </a:ext>
            </a:extLst>
          </p:cNvPr>
          <p:cNvSpPr>
            <a:spLocks noGrp="1" noChangeArrowheads="1"/>
          </p:cNvSpPr>
          <p:nvPr>
            <p:ph type="body" idx="1"/>
          </p:nvPr>
        </p:nvSpPr>
        <p:spPr>
          <a:xfrm>
            <a:off x="878403" y="1233489"/>
            <a:ext cx="7727950" cy="3412940"/>
          </a:xfrm>
        </p:spPr>
        <p:txBody>
          <a:bodyPr/>
          <a:lstStyle/>
          <a:p>
            <a:r>
              <a:rPr lang="en-US" altLang="en-US" sz="2000" dirty="0"/>
              <a:t>Overview of Mass Storage Structure</a:t>
            </a:r>
          </a:p>
          <a:p>
            <a:r>
              <a:rPr lang="en-US" altLang="en-US" sz="2000" dirty="0"/>
              <a:t>HDD Scheduling</a:t>
            </a:r>
          </a:p>
          <a:p>
            <a:r>
              <a:rPr lang="en-US" altLang="en-US" sz="2000" dirty="0"/>
              <a:t>NVM Scheduling</a:t>
            </a:r>
          </a:p>
          <a:p>
            <a:r>
              <a:rPr lang="en-US" altLang="en-US" sz="2000" dirty="0"/>
              <a:t>Error Detection and Correction</a:t>
            </a:r>
          </a:p>
          <a:p>
            <a:r>
              <a:rPr lang="en-US" altLang="en-US" sz="2000" dirty="0"/>
              <a:t>Storage Device Management</a:t>
            </a:r>
          </a:p>
          <a:p>
            <a:r>
              <a:rPr lang="en-US" altLang="en-US" sz="2000" dirty="0"/>
              <a:t>Swap-Space Management</a:t>
            </a:r>
          </a:p>
          <a:p>
            <a:r>
              <a:rPr lang="en-US" altLang="en-US" sz="2000" dirty="0"/>
              <a:t>Storage Attachment</a:t>
            </a:r>
          </a:p>
          <a:p>
            <a:r>
              <a:rPr lang="en-US" altLang="en-US" sz="2000" dirty="0"/>
              <a:t>RAID Structure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861CAA5E-9E81-4BFF-966C-689540E16026}"/>
              </a:ext>
            </a:extLst>
          </p:cNvPr>
          <p:cNvSpPr>
            <a:spLocks noGrp="1" noChangeArrowheads="1"/>
          </p:cNvSpPr>
          <p:nvPr>
            <p:ph type="title"/>
          </p:nvPr>
        </p:nvSpPr>
        <p:spPr>
          <a:xfrm>
            <a:off x="335901" y="234598"/>
            <a:ext cx="8229600" cy="576262"/>
          </a:xfrm>
        </p:spPr>
        <p:txBody>
          <a:bodyPr/>
          <a:lstStyle/>
          <a:p>
            <a:pPr eaLnBrk="1" hangingPunct="1"/>
            <a:r>
              <a:rPr lang="en-US" altLang="en-US" dirty="0"/>
              <a:t>Objectives</a:t>
            </a:r>
          </a:p>
        </p:txBody>
      </p:sp>
      <p:sp>
        <p:nvSpPr>
          <p:cNvPr id="5123" name="Rectangle 3">
            <a:extLst>
              <a:ext uri="{FF2B5EF4-FFF2-40B4-BE49-F238E27FC236}">
                <a16:creationId xmlns:a16="http://schemas.microsoft.com/office/drawing/2014/main" id="{9CA236D2-D1B1-1C46-99DF-440156F9DF2D}"/>
              </a:ext>
            </a:extLst>
          </p:cNvPr>
          <p:cNvSpPr>
            <a:spLocks noGrp="1" noChangeArrowheads="1"/>
          </p:cNvSpPr>
          <p:nvPr>
            <p:ph type="body" idx="1"/>
          </p:nvPr>
        </p:nvSpPr>
        <p:spPr>
          <a:xfrm>
            <a:off x="722910" y="1238274"/>
            <a:ext cx="7921360" cy="4530725"/>
          </a:xfrm>
        </p:spPr>
        <p:txBody>
          <a:bodyPr/>
          <a:lstStyle/>
          <a:p>
            <a:pPr>
              <a:defRPr/>
            </a:pPr>
            <a:r>
              <a:rPr lang="en-US" sz="2000" dirty="0">
                <a:ea typeface="ＭＳ Ｐゴシック" charset="-128"/>
              </a:rPr>
              <a:t>Describe the physical structure of secondary storage devices and the effect of a device’s structure on its uses</a:t>
            </a:r>
          </a:p>
          <a:p>
            <a:pPr>
              <a:defRPr/>
            </a:pPr>
            <a:r>
              <a:rPr lang="en-US" sz="2000" dirty="0">
                <a:ea typeface="ＭＳ Ｐゴシック" charset="-128"/>
              </a:rPr>
              <a:t>Explain the performance characteristics of mass-storage devices</a:t>
            </a:r>
          </a:p>
          <a:p>
            <a:pPr>
              <a:defRPr/>
            </a:pPr>
            <a:r>
              <a:rPr lang="en-US" sz="2000" dirty="0">
                <a:ea typeface="ＭＳ Ｐゴシック" charset="-128"/>
              </a:rPr>
              <a:t>Evaluate I/O scheduling algorithms</a:t>
            </a:r>
          </a:p>
          <a:p>
            <a:pPr>
              <a:defRPr/>
            </a:pPr>
            <a:r>
              <a:rPr lang="en-US" sz="2000" dirty="0">
                <a:ea typeface="ＭＳ Ｐゴシック" charset="-128"/>
              </a:rPr>
              <a:t>Discuss operating-system services provided for mass storage, including RAID</a:t>
            </a:r>
          </a:p>
          <a:p>
            <a:pPr marL="0" indent="0">
              <a:buFont typeface="Monotype Sorts" pitchFamily="-84" charset="2"/>
              <a:buNone/>
              <a:defRPr/>
            </a:pPr>
            <a:endParaRPr lang="en-US" sz="2000" dirty="0">
              <a:ea typeface="ＭＳ Ｐゴシック" charset="0"/>
              <a:cs typeface="ＭＳ Ｐゴシック" charset="0"/>
            </a:endParaRPr>
          </a:p>
          <a:p>
            <a:pPr marL="342883" indent="-342883">
              <a:buFont typeface="Monotype Sorts" charset="0"/>
              <a:buChar char="n"/>
              <a:defRPr/>
            </a:pPr>
            <a:endParaRPr lang="en-US" sz="2000" dirty="0">
              <a:ea typeface="ＭＳ Ｐゴシック" charset="0"/>
              <a:cs typeface="ＭＳ Ｐゴシック"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5801E5FB-880A-4CA7-BEC2-ECFBA3820EEC}"/>
              </a:ext>
            </a:extLst>
          </p:cNvPr>
          <p:cNvSpPr>
            <a:spLocks noGrp="1" noChangeArrowheads="1"/>
          </p:cNvSpPr>
          <p:nvPr>
            <p:ph type="title"/>
          </p:nvPr>
        </p:nvSpPr>
        <p:spPr>
          <a:xfrm>
            <a:off x="1004821" y="233592"/>
            <a:ext cx="7683500" cy="576263"/>
          </a:xfrm>
        </p:spPr>
        <p:txBody>
          <a:bodyPr/>
          <a:lstStyle/>
          <a:p>
            <a:pPr eaLnBrk="1" hangingPunct="1"/>
            <a:r>
              <a:rPr lang="en-US" altLang="en-US" dirty="0"/>
              <a:t>Overview of Mass Storage Structure</a:t>
            </a:r>
          </a:p>
        </p:txBody>
      </p:sp>
      <p:sp>
        <p:nvSpPr>
          <p:cNvPr id="6147" name="Rectangle 3">
            <a:extLst>
              <a:ext uri="{FF2B5EF4-FFF2-40B4-BE49-F238E27FC236}">
                <a16:creationId xmlns:a16="http://schemas.microsoft.com/office/drawing/2014/main" id="{ACC91CC2-48D5-A84F-B48A-1DB03E8AD11D}"/>
              </a:ext>
            </a:extLst>
          </p:cNvPr>
          <p:cNvSpPr>
            <a:spLocks noGrp="1" noChangeArrowheads="1"/>
          </p:cNvSpPr>
          <p:nvPr>
            <p:ph type="body" idx="1"/>
          </p:nvPr>
        </p:nvSpPr>
        <p:spPr>
          <a:xfrm>
            <a:off x="857116" y="1004311"/>
            <a:ext cx="7683501" cy="5270500"/>
          </a:xfrm>
        </p:spPr>
        <p:txBody>
          <a:bodyPr/>
          <a:lstStyle/>
          <a:p>
            <a:pPr>
              <a:defRPr/>
            </a:pPr>
            <a:r>
              <a:rPr lang="en-US" altLang="en-US" sz="2000" dirty="0"/>
              <a:t>Bulk of secondary storage for modern computers is </a:t>
            </a:r>
            <a:r>
              <a:rPr lang="en-US" altLang="en-US" sz="2000" b="1" dirty="0">
                <a:solidFill>
                  <a:srgbClr val="006699"/>
                </a:solidFill>
                <a:latin typeface="+mj-lt"/>
              </a:rPr>
              <a:t>hard</a:t>
            </a:r>
            <a:r>
              <a:rPr lang="en-US" altLang="en-US" sz="2000" b="1" dirty="0">
                <a:solidFill>
                  <a:srgbClr val="3366FF"/>
                </a:solidFill>
              </a:rPr>
              <a:t> </a:t>
            </a:r>
            <a:r>
              <a:rPr lang="en-US" altLang="en-US" sz="2000" b="1" dirty="0">
                <a:solidFill>
                  <a:srgbClr val="006699"/>
                </a:solidFill>
                <a:latin typeface="+mj-lt"/>
              </a:rPr>
              <a:t>disk</a:t>
            </a:r>
            <a:r>
              <a:rPr lang="en-US" altLang="en-US" sz="2000" b="1" dirty="0">
                <a:solidFill>
                  <a:srgbClr val="3366FF"/>
                </a:solidFill>
              </a:rPr>
              <a:t> </a:t>
            </a:r>
            <a:r>
              <a:rPr lang="en-US" altLang="en-US" sz="2000" b="1" dirty="0">
                <a:solidFill>
                  <a:srgbClr val="006699"/>
                </a:solidFill>
                <a:latin typeface="+mj-lt"/>
              </a:rPr>
              <a:t>drives</a:t>
            </a:r>
            <a:r>
              <a:rPr lang="en-US" altLang="en-US" sz="2000" b="1" dirty="0">
                <a:solidFill>
                  <a:srgbClr val="3366FF"/>
                </a:solidFill>
              </a:rPr>
              <a:t> </a:t>
            </a:r>
            <a:r>
              <a:rPr lang="en-US" altLang="en-US" sz="2000" dirty="0"/>
              <a:t>(</a:t>
            </a:r>
            <a:r>
              <a:rPr lang="en-US" altLang="en-US" sz="2000" b="1" dirty="0">
                <a:solidFill>
                  <a:srgbClr val="006699"/>
                </a:solidFill>
                <a:latin typeface="+mj-lt"/>
              </a:rPr>
              <a:t>HDDs</a:t>
            </a:r>
            <a:r>
              <a:rPr lang="en-US" altLang="en-US" sz="2000" dirty="0"/>
              <a:t>)</a:t>
            </a:r>
            <a:r>
              <a:rPr lang="en-US" altLang="en-US" sz="2000" b="1" dirty="0">
                <a:solidFill>
                  <a:srgbClr val="3366FF"/>
                </a:solidFill>
              </a:rPr>
              <a:t> </a:t>
            </a:r>
            <a:r>
              <a:rPr lang="en-US" altLang="en-US" sz="2000" dirty="0"/>
              <a:t>and</a:t>
            </a:r>
            <a:r>
              <a:rPr lang="en-US" altLang="en-US" sz="2000" b="1" dirty="0">
                <a:solidFill>
                  <a:srgbClr val="3366FF"/>
                </a:solidFill>
              </a:rPr>
              <a:t> </a:t>
            </a:r>
            <a:r>
              <a:rPr lang="en-US" altLang="en-US" sz="2000" b="1" dirty="0">
                <a:solidFill>
                  <a:srgbClr val="006699"/>
                </a:solidFill>
                <a:latin typeface="+mj-lt"/>
              </a:rPr>
              <a:t>nonvolatile</a:t>
            </a:r>
            <a:r>
              <a:rPr lang="en-US" altLang="en-US" sz="2000" b="1" dirty="0">
                <a:solidFill>
                  <a:srgbClr val="3366FF"/>
                </a:solidFill>
              </a:rPr>
              <a:t> </a:t>
            </a:r>
            <a:r>
              <a:rPr lang="en-US" altLang="en-US" sz="2000" b="1" dirty="0">
                <a:solidFill>
                  <a:srgbClr val="006699"/>
                </a:solidFill>
                <a:latin typeface="+mj-lt"/>
              </a:rPr>
              <a:t>memory</a:t>
            </a:r>
            <a:r>
              <a:rPr lang="en-US" altLang="en-US" sz="2000" b="1" dirty="0">
                <a:solidFill>
                  <a:srgbClr val="3366FF"/>
                </a:solidFill>
              </a:rPr>
              <a:t> </a:t>
            </a:r>
            <a:r>
              <a:rPr lang="en-US" altLang="en-US" sz="2000" dirty="0"/>
              <a:t>(</a:t>
            </a:r>
            <a:r>
              <a:rPr lang="en-US" altLang="en-US" sz="2000" b="1" dirty="0">
                <a:solidFill>
                  <a:srgbClr val="006699"/>
                </a:solidFill>
                <a:latin typeface="+mj-lt"/>
              </a:rPr>
              <a:t>NVM</a:t>
            </a:r>
            <a:r>
              <a:rPr lang="en-US" altLang="en-US" sz="2000" dirty="0"/>
              <a:t>)</a:t>
            </a:r>
            <a:r>
              <a:rPr lang="en-US" altLang="en-US" sz="2000" b="1" dirty="0">
                <a:solidFill>
                  <a:srgbClr val="3366FF"/>
                </a:solidFill>
              </a:rPr>
              <a:t> </a:t>
            </a:r>
            <a:r>
              <a:rPr lang="en-US" altLang="en-US" sz="2000" dirty="0"/>
              <a:t>devices</a:t>
            </a:r>
          </a:p>
          <a:p>
            <a:pPr>
              <a:defRPr/>
            </a:pPr>
            <a:r>
              <a:rPr lang="en-US" altLang="en-US" sz="2000" b="1" dirty="0">
                <a:solidFill>
                  <a:srgbClr val="006699"/>
                </a:solidFill>
                <a:latin typeface="+mj-lt"/>
              </a:rPr>
              <a:t>HDDs</a:t>
            </a:r>
            <a:r>
              <a:rPr lang="en-US" altLang="en-US" sz="2000" b="1" dirty="0">
                <a:solidFill>
                  <a:srgbClr val="3366FF"/>
                </a:solidFill>
              </a:rPr>
              <a:t> </a:t>
            </a:r>
            <a:r>
              <a:rPr lang="en-US" altLang="en-US" sz="2000" dirty="0"/>
              <a:t>spin platters of magnetically-coated material under moving read-write heads</a:t>
            </a:r>
          </a:p>
          <a:p>
            <a:pPr lvl="1">
              <a:defRPr/>
            </a:pPr>
            <a:r>
              <a:rPr lang="en-US" altLang="en-US" sz="2000" dirty="0"/>
              <a:t>Drives rotate at 60 to 250 times per second</a:t>
            </a:r>
          </a:p>
          <a:p>
            <a:pPr lvl="1">
              <a:defRPr/>
            </a:pPr>
            <a:r>
              <a:rPr lang="en-US" altLang="en-US" sz="2000" b="1" dirty="0">
                <a:solidFill>
                  <a:srgbClr val="006699"/>
                </a:solidFill>
                <a:latin typeface="+mj-lt"/>
              </a:rPr>
              <a:t>Transfer</a:t>
            </a:r>
            <a:r>
              <a:rPr lang="en-US" altLang="en-US" sz="2000" b="1" dirty="0">
                <a:solidFill>
                  <a:srgbClr val="3366FF"/>
                </a:solidFill>
              </a:rPr>
              <a:t> </a:t>
            </a:r>
            <a:r>
              <a:rPr lang="en-US" altLang="en-US" sz="2000" b="1" dirty="0">
                <a:solidFill>
                  <a:srgbClr val="006699"/>
                </a:solidFill>
                <a:latin typeface="+mj-lt"/>
              </a:rPr>
              <a:t>rate</a:t>
            </a:r>
            <a:r>
              <a:rPr lang="en-US" altLang="en-US" sz="2000" dirty="0">
                <a:solidFill>
                  <a:srgbClr val="3366FF"/>
                </a:solidFill>
              </a:rPr>
              <a:t> </a:t>
            </a:r>
            <a:r>
              <a:rPr lang="en-US" altLang="en-US" sz="2000" dirty="0"/>
              <a:t>is rate at which data flow between drive and computer</a:t>
            </a:r>
          </a:p>
          <a:p>
            <a:pPr lvl="1">
              <a:defRPr/>
            </a:pPr>
            <a:r>
              <a:rPr lang="en-US" altLang="en-US" sz="2000" b="1" dirty="0">
                <a:solidFill>
                  <a:srgbClr val="006699"/>
                </a:solidFill>
                <a:latin typeface="+mj-lt"/>
              </a:rPr>
              <a:t>Positioning</a:t>
            </a:r>
            <a:r>
              <a:rPr lang="en-US" altLang="en-US" sz="2000" b="1" dirty="0">
                <a:solidFill>
                  <a:srgbClr val="3366FF"/>
                </a:solidFill>
              </a:rPr>
              <a:t> </a:t>
            </a:r>
            <a:r>
              <a:rPr lang="en-US" altLang="en-US" sz="2000" b="1" dirty="0">
                <a:solidFill>
                  <a:srgbClr val="006699"/>
                </a:solidFill>
                <a:latin typeface="+mj-lt"/>
              </a:rPr>
              <a:t>time</a:t>
            </a:r>
            <a:r>
              <a:rPr lang="en-US" altLang="en-US" sz="2000" dirty="0">
                <a:solidFill>
                  <a:srgbClr val="3366FF"/>
                </a:solidFill>
              </a:rPr>
              <a:t> </a:t>
            </a:r>
            <a:r>
              <a:rPr lang="en-US" altLang="en-US" sz="2000" dirty="0"/>
              <a:t>(</a:t>
            </a:r>
            <a:r>
              <a:rPr lang="en-US" altLang="en-US" sz="2000" b="1" dirty="0">
                <a:solidFill>
                  <a:srgbClr val="006699"/>
                </a:solidFill>
                <a:latin typeface="+mj-lt"/>
              </a:rPr>
              <a:t>random-access</a:t>
            </a:r>
            <a:r>
              <a:rPr lang="en-US" altLang="en-US" sz="2000" b="1" dirty="0">
                <a:solidFill>
                  <a:srgbClr val="3366FF"/>
                </a:solidFill>
              </a:rPr>
              <a:t> </a:t>
            </a:r>
            <a:r>
              <a:rPr lang="en-US" altLang="en-US" sz="2000" b="1" dirty="0">
                <a:solidFill>
                  <a:srgbClr val="006699"/>
                </a:solidFill>
                <a:latin typeface="+mj-lt"/>
              </a:rPr>
              <a:t>time</a:t>
            </a:r>
            <a:r>
              <a:rPr lang="en-US" altLang="en-US" sz="2000" dirty="0"/>
              <a:t>) is time to move disk arm to desired cylinder (</a:t>
            </a:r>
            <a:r>
              <a:rPr lang="en-US" altLang="en-US" sz="2000" b="1" dirty="0">
                <a:solidFill>
                  <a:srgbClr val="006699"/>
                </a:solidFill>
                <a:latin typeface="+mj-lt"/>
              </a:rPr>
              <a:t>seek</a:t>
            </a:r>
            <a:r>
              <a:rPr lang="en-US" altLang="en-US" sz="2000" b="1" dirty="0">
                <a:solidFill>
                  <a:srgbClr val="3366FF"/>
                </a:solidFill>
              </a:rPr>
              <a:t> </a:t>
            </a:r>
            <a:r>
              <a:rPr lang="en-US" altLang="en-US" sz="2000" b="1" dirty="0">
                <a:solidFill>
                  <a:srgbClr val="006699"/>
                </a:solidFill>
                <a:latin typeface="+mj-lt"/>
              </a:rPr>
              <a:t>time</a:t>
            </a:r>
            <a:r>
              <a:rPr lang="en-US" altLang="en-US" sz="2000" dirty="0"/>
              <a:t>) and time for desired sector to rotate under the disk head (</a:t>
            </a:r>
            <a:r>
              <a:rPr lang="en-US" altLang="en-US" sz="2000" b="1" dirty="0">
                <a:solidFill>
                  <a:srgbClr val="006699"/>
                </a:solidFill>
                <a:latin typeface="+mj-lt"/>
              </a:rPr>
              <a:t>rotational</a:t>
            </a:r>
            <a:r>
              <a:rPr lang="en-US" altLang="en-US" sz="2000" b="1" dirty="0">
                <a:solidFill>
                  <a:srgbClr val="3366FF"/>
                </a:solidFill>
              </a:rPr>
              <a:t> </a:t>
            </a:r>
            <a:r>
              <a:rPr lang="en-US" altLang="en-US" sz="2000" b="1" dirty="0">
                <a:solidFill>
                  <a:srgbClr val="006699"/>
                </a:solidFill>
                <a:latin typeface="+mj-lt"/>
              </a:rPr>
              <a:t>latency</a:t>
            </a:r>
            <a:r>
              <a:rPr lang="en-US" altLang="en-US" sz="2000" dirty="0"/>
              <a:t>)</a:t>
            </a:r>
          </a:p>
          <a:p>
            <a:pPr lvl="1">
              <a:defRPr/>
            </a:pPr>
            <a:r>
              <a:rPr lang="en-US" altLang="en-US" sz="2000" b="1" dirty="0">
                <a:solidFill>
                  <a:srgbClr val="006699"/>
                </a:solidFill>
                <a:latin typeface="+mj-lt"/>
              </a:rPr>
              <a:t>Head</a:t>
            </a:r>
            <a:r>
              <a:rPr lang="en-US" altLang="en-US" sz="2000" b="1" dirty="0">
                <a:solidFill>
                  <a:srgbClr val="3366FF"/>
                </a:solidFill>
              </a:rPr>
              <a:t> </a:t>
            </a:r>
            <a:r>
              <a:rPr lang="en-US" altLang="en-US" sz="2000" b="1" dirty="0">
                <a:solidFill>
                  <a:srgbClr val="006699"/>
                </a:solidFill>
                <a:latin typeface="+mj-lt"/>
              </a:rPr>
              <a:t>crash</a:t>
            </a:r>
            <a:r>
              <a:rPr lang="en-US" altLang="en-US" sz="2000" dirty="0">
                <a:solidFill>
                  <a:srgbClr val="3366FF"/>
                </a:solidFill>
              </a:rPr>
              <a:t> </a:t>
            </a:r>
            <a:r>
              <a:rPr lang="en-US" altLang="en-US" sz="2000" dirty="0"/>
              <a:t>results from disk head making contact with the disk surface  -- That</a:t>
            </a:r>
            <a:r>
              <a:rPr lang="ja-JP" altLang="en-US" sz="2000" dirty="0"/>
              <a:t>’</a:t>
            </a:r>
            <a:r>
              <a:rPr lang="en-US" altLang="ja-JP" sz="2000" dirty="0"/>
              <a:t>s bad</a:t>
            </a:r>
          </a:p>
          <a:p>
            <a:pPr>
              <a:defRPr/>
            </a:pPr>
            <a:r>
              <a:rPr lang="en-US" altLang="en-US" sz="2000" dirty="0"/>
              <a:t>Disks can be removable</a:t>
            </a:r>
          </a:p>
          <a:p>
            <a:pPr marL="0" indent="0">
              <a:buFont typeface="Monotype Sorts" pitchFamily="2" charset="2"/>
              <a:buNone/>
              <a:defRPr/>
            </a:pPr>
            <a:endParaRPr lang="en-US"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4">
            <a:extLst>
              <a:ext uri="{FF2B5EF4-FFF2-40B4-BE49-F238E27FC236}">
                <a16:creationId xmlns:a16="http://schemas.microsoft.com/office/drawing/2014/main" id="{FA784B65-D9CF-4BA4-A4FA-D1FDF037FA5D}"/>
              </a:ext>
            </a:extLst>
          </p:cNvPr>
          <p:cNvSpPr>
            <a:spLocks noGrp="1" noChangeArrowheads="1"/>
          </p:cNvSpPr>
          <p:nvPr>
            <p:ph type="title"/>
          </p:nvPr>
        </p:nvSpPr>
        <p:spPr>
          <a:xfrm>
            <a:off x="1093562" y="238549"/>
            <a:ext cx="7527925" cy="576262"/>
          </a:xfrm>
        </p:spPr>
        <p:txBody>
          <a:bodyPr/>
          <a:lstStyle/>
          <a:p>
            <a:pPr eaLnBrk="1" hangingPunct="1"/>
            <a:r>
              <a:rPr lang="en-US" altLang="en-US" dirty="0"/>
              <a:t>Moving-head Disk Mechanism</a:t>
            </a:r>
          </a:p>
        </p:txBody>
      </p:sp>
      <p:pic>
        <p:nvPicPr>
          <p:cNvPr id="13314" name="Picture 1" descr="10_01.pdf">
            <a:extLst>
              <a:ext uri="{FF2B5EF4-FFF2-40B4-BE49-F238E27FC236}">
                <a16:creationId xmlns:a16="http://schemas.microsoft.com/office/drawing/2014/main" id="{DEEE75F2-D712-48C4-9214-B66B52B22D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52663" y="1200150"/>
            <a:ext cx="5928884" cy="4828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202B2455-C60E-4123-903F-646089314286}"/>
              </a:ext>
            </a:extLst>
          </p:cNvPr>
          <p:cNvSpPr>
            <a:spLocks noGrp="1" noChangeArrowheads="1"/>
          </p:cNvSpPr>
          <p:nvPr>
            <p:ph type="title"/>
          </p:nvPr>
        </p:nvSpPr>
        <p:spPr>
          <a:xfrm>
            <a:off x="457200" y="248302"/>
            <a:ext cx="8229600" cy="576263"/>
          </a:xfrm>
        </p:spPr>
        <p:txBody>
          <a:bodyPr/>
          <a:lstStyle/>
          <a:p>
            <a:r>
              <a:rPr lang="en-US" altLang="en-US" dirty="0"/>
              <a:t>Hard Disk Drives</a:t>
            </a:r>
          </a:p>
        </p:txBody>
      </p:sp>
      <p:sp>
        <p:nvSpPr>
          <p:cNvPr id="15362" name="Content Placeholder 2">
            <a:extLst>
              <a:ext uri="{FF2B5EF4-FFF2-40B4-BE49-F238E27FC236}">
                <a16:creationId xmlns:a16="http://schemas.microsoft.com/office/drawing/2014/main" id="{714E7A66-CD44-4D17-92E9-D7CA5ED34EB0}"/>
              </a:ext>
            </a:extLst>
          </p:cNvPr>
          <p:cNvSpPr>
            <a:spLocks noGrp="1" noChangeArrowheads="1"/>
          </p:cNvSpPr>
          <p:nvPr>
            <p:ph idx="1"/>
          </p:nvPr>
        </p:nvSpPr>
        <p:spPr>
          <a:xfrm>
            <a:off x="714768" y="893762"/>
            <a:ext cx="8120887" cy="4231131"/>
          </a:xfrm>
        </p:spPr>
        <p:txBody>
          <a:bodyPr/>
          <a:lstStyle/>
          <a:p>
            <a:pPr>
              <a:spcBef>
                <a:spcPts val="300"/>
              </a:spcBef>
            </a:pPr>
            <a:r>
              <a:rPr lang="en-US" altLang="en-US" sz="2000" dirty="0"/>
              <a:t>Platters range from .85</a:t>
            </a:r>
            <a:r>
              <a:rPr lang="ja-JP" altLang="en-US" sz="2000" dirty="0"/>
              <a:t>”</a:t>
            </a:r>
            <a:r>
              <a:rPr lang="en-US" altLang="ja-JP" sz="2000" dirty="0"/>
              <a:t> to 14</a:t>
            </a:r>
            <a:r>
              <a:rPr lang="ja-JP" altLang="en-US" sz="2000" dirty="0"/>
              <a:t>”</a:t>
            </a:r>
            <a:r>
              <a:rPr lang="en-US" altLang="ja-JP" sz="2000" dirty="0"/>
              <a:t> (historically)</a:t>
            </a:r>
          </a:p>
          <a:p>
            <a:pPr lvl="1">
              <a:spcBef>
                <a:spcPts val="300"/>
              </a:spcBef>
            </a:pPr>
            <a:r>
              <a:rPr lang="en-US" altLang="en-US" sz="2000" dirty="0"/>
              <a:t>Commonly 3.5</a:t>
            </a:r>
            <a:r>
              <a:rPr lang="ja-JP" altLang="en-US" sz="2000" dirty="0"/>
              <a:t>”</a:t>
            </a:r>
            <a:r>
              <a:rPr lang="en-US" altLang="ja-JP" sz="2000" dirty="0"/>
              <a:t>, 2.5</a:t>
            </a:r>
            <a:r>
              <a:rPr lang="ja-JP" altLang="en-US" sz="2000" dirty="0"/>
              <a:t>”</a:t>
            </a:r>
            <a:r>
              <a:rPr lang="en-US" altLang="ja-JP" sz="2000" dirty="0"/>
              <a:t>, and 1.8</a:t>
            </a:r>
            <a:r>
              <a:rPr lang="ja-JP" altLang="en-US" sz="2000" dirty="0"/>
              <a:t>”</a:t>
            </a:r>
            <a:endParaRPr lang="en-US" altLang="ja-JP" sz="2000" dirty="0"/>
          </a:p>
          <a:p>
            <a:pPr>
              <a:spcBef>
                <a:spcPts val="300"/>
              </a:spcBef>
            </a:pPr>
            <a:r>
              <a:rPr lang="en-US" altLang="en-US" sz="2000" dirty="0"/>
              <a:t>Range from 30GB to 3TB per drive</a:t>
            </a:r>
          </a:p>
          <a:p>
            <a:pPr>
              <a:spcBef>
                <a:spcPts val="300"/>
              </a:spcBef>
            </a:pPr>
            <a:r>
              <a:rPr lang="en-US" altLang="en-US" sz="2000" dirty="0"/>
              <a:t>Performance </a:t>
            </a:r>
          </a:p>
          <a:p>
            <a:pPr lvl="1">
              <a:spcBef>
                <a:spcPts val="300"/>
              </a:spcBef>
            </a:pPr>
            <a:r>
              <a:rPr lang="en-US" altLang="en-US" sz="2000" dirty="0"/>
              <a:t>Transfer Rate – theoretical – 6 Gb/sec</a:t>
            </a:r>
          </a:p>
          <a:p>
            <a:pPr lvl="1">
              <a:spcBef>
                <a:spcPts val="300"/>
              </a:spcBef>
            </a:pPr>
            <a:r>
              <a:rPr lang="en-US" altLang="en-US" sz="2000" dirty="0"/>
              <a:t>Effective Transfer Rate – real – 1Gb/sec</a:t>
            </a:r>
          </a:p>
          <a:p>
            <a:pPr lvl="1">
              <a:spcBef>
                <a:spcPts val="300"/>
              </a:spcBef>
            </a:pPr>
            <a:r>
              <a:rPr lang="en-US" altLang="en-US" sz="2000" dirty="0"/>
              <a:t>Seek time from 3ms to 12ms – 9ms common for desktop drives</a:t>
            </a:r>
          </a:p>
          <a:p>
            <a:pPr lvl="1">
              <a:spcBef>
                <a:spcPts val="300"/>
              </a:spcBef>
            </a:pPr>
            <a:r>
              <a:rPr lang="en-US" altLang="en-US" sz="2000" dirty="0"/>
              <a:t>Average seek time measured or calculated based on 1/3 of tracks</a:t>
            </a:r>
          </a:p>
          <a:p>
            <a:pPr lvl="1">
              <a:spcBef>
                <a:spcPts val="300"/>
              </a:spcBef>
            </a:pPr>
            <a:r>
              <a:rPr lang="en-US" altLang="en-US" sz="2000" dirty="0"/>
              <a:t>Latency based on spindle speed</a:t>
            </a:r>
          </a:p>
          <a:p>
            <a:pPr lvl="2">
              <a:spcBef>
                <a:spcPts val="300"/>
              </a:spcBef>
            </a:pPr>
            <a:r>
              <a:rPr lang="en-US" altLang="en-US" sz="2000" dirty="0"/>
              <a:t>1 / (RPM / 60) = 60 / RPM</a:t>
            </a:r>
          </a:p>
          <a:p>
            <a:pPr lvl="1">
              <a:spcBef>
                <a:spcPts val="300"/>
              </a:spcBef>
            </a:pPr>
            <a:r>
              <a:rPr lang="en-US" altLang="en-US" sz="2000" dirty="0"/>
              <a:t>Average latency = ½ latency</a:t>
            </a:r>
          </a:p>
        </p:txBody>
      </p:sp>
      <p:pic>
        <p:nvPicPr>
          <p:cNvPr id="15363" name="Picture 2">
            <a:extLst>
              <a:ext uri="{FF2B5EF4-FFF2-40B4-BE49-F238E27FC236}">
                <a16:creationId xmlns:a16="http://schemas.microsoft.com/office/drawing/2014/main" id="{DE2CC945-F928-4E84-BEF7-90C1B8BEE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1936" y="3856536"/>
            <a:ext cx="3164864" cy="210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EC211790-1046-47C4-B300-AD763BE90711}"/>
              </a:ext>
            </a:extLst>
          </p:cNvPr>
          <p:cNvSpPr>
            <a:spLocks noGrp="1" noChangeArrowheads="1"/>
          </p:cNvSpPr>
          <p:nvPr>
            <p:ph type="title"/>
          </p:nvPr>
        </p:nvSpPr>
        <p:spPr>
          <a:xfrm>
            <a:off x="522517" y="241918"/>
            <a:ext cx="8229600" cy="576262"/>
          </a:xfrm>
        </p:spPr>
        <p:txBody>
          <a:bodyPr/>
          <a:lstStyle/>
          <a:p>
            <a:r>
              <a:rPr lang="en-US" altLang="en-US" dirty="0"/>
              <a:t>Hard Disk Performance</a:t>
            </a:r>
          </a:p>
        </p:txBody>
      </p:sp>
      <p:sp>
        <p:nvSpPr>
          <p:cNvPr id="16386" name="Content Placeholder 2">
            <a:extLst>
              <a:ext uri="{FF2B5EF4-FFF2-40B4-BE49-F238E27FC236}">
                <a16:creationId xmlns:a16="http://schemas.microsoft.com/office/drawing/2014/main" id="{3CBBC053-AFF1-42C2-98E7-12C0B1809BE5}"/>
              </a:ext>
            </a:extLst>
          </p:cNvPr>
          <p:cNvSpPr>
            <a:spLocks noGrp="1" noChangeArrowheads="1"/>
          </p:cNvSpPr>
          <p:nvPr>
            <p:ph idx="1"/>
          </p:nvPr>
        </p:nvSpPr>
        <p:spPr>
          <a:xfrm>
            <a:off x="589821" y="1061847"/>
            <a:ext cx="7964357" cy="5059363"/>
          </a:xfrm>
        </p:spPr>
        <p:txBody>
          <a:bodyPr/>
          <a:lstStyle/>
          <a:p>
            <a:r>
              <a:rPr lang="en-US" altLang="en-US" sz="2000" b="1" dirty="0">
                <a:solidFill>
                  <a:srgbClr val="006699"/>
                </a:solidFill>
                <a:latin typeface="+mj-lt"/>
              </a:rPr>
              <a:t>Access</a:t>
            </a:r>
            <a:r>
              <a:rPr lang="en-US" altLang="en-US" sz="2000" b="1" dirty="0">
                <a:solidFill>
                  <a:srgbClr val="3366FF"/>
                </a:solidFill>
              </a:rPr>
              <a:t> </a:t>
            </a:r>
            <a:r>
              <a:rPr lang="en-US" altLang="en-US" sz="2000" b="1" dirty="0">
                <a:solidFill>
                  <a:srgbClr val="006699"/>
                </a:solidFill>
                <a:latin typeface="+mj-lt"/>
              </a:rPr>
              <a:t>Latency</a:t>
            </a:r>
            <a:r>
              <a:rPr lang="en-US" altLang="en-US" sz="2000" b="1" dirty="0">
                <a:solidFill>
                  <a:srgbClr val="3366FF"/>
                </a:solidFill>
              </a:rPr>
              <a:t> </a:t>
            </a:r>
            <a:r>
              <a:rPr lang="en-US" altLang="en-US" sz="2000" dirty="0"/>
              <a:t>= </a:t>
            </a:r>
            <a:r>
              <a:rPr lang="en-US" altLang="en-US" sz="2000" b="1" dirty="0">
                <a:solidFill>
                  <a:srgbClr val="006699"/>
                </a:solidFill>
                <a:latin typeface="+mj-lt"/>
              </a:rPr>
              <a:t>Average</a:t>
            </a:r>
            <a:r>
              <a:rPr lang="en-US" altLang="en-US" sz="2000" b="1" dirty="0">
                <a:solidFill>
                  <a:srgbClr val="3366FF"/>
                </a:solidFill>
              </a:rPr>
              <a:t> </a:t>
            </a:r>
            <a:r>
              <a:rPr lang="en-US" altLang="en-US" sz="2000" b="1" dirty="0">
                <a:solidFill>
                  <a:srgbClr val="006699"/>
                </a:solidFill>
                <a:latin typeface="+mj-lt"/>
              </a:rPr>
              <a:t>access</a:t>
            </a:r>
            <a:r>
              <a:rPr lang="en-US" altLang="en-US" sz="2000" b="1" dirty="0">
                <a:solidFill>
                  <a:srgbClr val="3366FF"/>
                </a:solidFill>
              </a:rPr>
              <a:t> </a:t>
            </a:r>
            <a:r>
              <a:rPr lang="en-US" altLang="en-US" sz="2000" b="1" dirty="0">
                <a:solidFill>
                  <a:srgbClr val="006699"/>
                </a:solidFill>
                <a:latin typeface="+mj-lt"/>
              </a:rPr>
              <a:t>time</a:t>
            </a:r>
            <a:r>
              <a:rPr lang="en-US" altLang="en-US" sz="2000" b="1" dirty="0">
                <a:solidFill>
                  <a:srgbClr val="3366FF"/>
                </a:solidFill>
              </a:rPr>
              <a:t> </a:t>
            </a:r>
          </a:p>
          <a:p>
            <a:pPr marL="0" indent="0">
              <a:buNone/>
            </a:pPr>
            <a:r>
              <a:rPr lang="en-US" altLang="en-US" sz="2000" b="1" dirty="0">
                <a:solidFill>
                  <a:srgbClr val="3366FF"/>
                </a:solidFill>
              </a:rPr>
              <a:t>                                  </a:t>
            </a:r>
            <a:r>
              <a:rPr lang="en-US" altLang="en-US" sz="2000" dirty="0"/>
              <a:t>= average seek time + average latency</a:t>
            </a:r>
          </a:p>
          <a:p>
            <a:pPr lvl="1"/>
            <a:r>
              <a:rPr lang="en-US" altLang="en-US" sz="2000" dirty="0"/>
              <a:t>For fastest disk 3ms + 2ms = 5ms</a:t>
            </a:r>
          </a:p>
          <a:p>
            <a:pPr lvl="1"/>
            <a:r>
              <a:rPr lang="en-US" altLang="en-US" sz="2000" dirty="0"/>
              <a:t>For slow disk 9ms + 5.56ms = 14.56ms</a:t>
            </a:r>
          </a:p>
          <a:p>
            <a:r>
              <a:rPr lang="en-US" altLang="en-US" sz="2000" dirty="0"/>
              <a:t>Average I/O time = average access time + (amount to transfer / transfer rate) + controller overhead</a:t>
            </a:r>
          </a:p>
          <a:p>
            <a:r>
              <a:rPr lang="en-US" altLang="en-US" sz="2000" dirty="0"/>
              <a:t>For example to transfer a 4KB block on a 7200 RPM disk with a 5ms average seek time, 1Gb/sec transfer rate with a .1ms controller overhead =</a:t>
            </a:r>
          </a:p>
          <a:p>
            <a:pPr lvl="1"/>
            <a:r>
              <a:rPr lang="en-US" altLang="en-US" sz="2000" dirty="0"/>
              <a:t>5ms + 4.17ms + 0.1ms + transfer time =</a:t>
            </a:r>
          </a:p>
          <a:p>
            <a:pPr lvl="1"/>
            <a:r>
              <a:rPr lang="en-US" altLang="en-US" sz="2000" dirty="0"/>
              <a:t>Transfer time = 4KB / 1Gb/s * 8Gb / GB * 1GB / 1024</a:t>
            </a:r>
            <a:r>
              <a:rPr lang="en-US" altLang="en-US" sz="2000" baseline="30000" dirty="0"/>
              <a:t>2</a:t>
            </a:r>
            <a:r>
              <a:rPr lang="en-US" altLang="en-US" sz="2000" dirty="0"/>
              <a:t>KB = 32 / (1024</a:t>
            </a:r>
            <a:r>
              <a:rPr lang="en-US" altLang="en-US" sz="2000" baseline="30000" dirty="0"/>
              <a:t>2</a:t>
            </a:r>
            <a:r>
              <a:rPr lang="en-US" altLang="en-US" sz="2000" dirty="0"/>
              <a:t>) = 0.031 </a:t>
            </a:r>
            <a:r>
              <a:rPr lang="en-US" altLang="en-US" sz="2000" dirty="0" err="1"/>
              <a:t>ms</a:t>
            </a:r>
            <a:r>
              <a:rPr lang="en-US" altLang="en-US" sz="2000" dirty="0"/>
              <a:t> </a:t>
            </a:r>
          </a:p>
          <a:p>
            <a:pPr lvl="1"/>
            <a:r>
              <a:rPr lang="en-US" altLang="en-US" sz="2000" dirty="0"/>
              <a:t>Average I/O time for 4KB block = 9.27ms + .031ms = 9.301ms</a:t>
            </a:r>
          </a:p>
          <a:p>
            <a:endParaRPr lang="en-US" altLang="en-US" sz="2000" dirty="0"/>
          </a:p>
          <a:p>
            <a:endParaRPr lang="en-US" altLang="en-US" sz="2000" dirty="0"/>
          </a:p>
          <a:p>
            <a:endParaRPr lang="en-US" altLang="en-US" sz="2000" dirty="0"/>
          </a:p>
          <a:p>
            <a:endParaRPr lang="en-US"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CB56E4DA-F2AF-406C-840C-A7F468448BD1}"/>
              </a:ext>
            </a:extLst>
          </p:cNvPr>
          <p:cNvSpPr>
            <a:spLocks noGrp="1" noChangeArrowheads="1"/>
          </p:cNvSpPr>
          <p:nvPr>
            <p:ph type="title"/>
          </p:nvPr>
        </p:nvSpPr>
        <p:spPr>
          <a:xfrm>
            <a:off x="747908" y="243929"/>
            <a:ext cx="8229600" cy="576262"/>
          </a:xfrm>
        </p:spPr>
        <p:txBody>
          <a:bodyPr/>
          <a:lstStyle/>
          <a:p>
            <a:r>
              <a:rPr lang="en-US" altLang="en-US" dirty="0"/>
              <a:t>The First Commercial Disk Drive</a:t>
            </a:r>
          </a:p>
        </p:txBody>
      </p:sp>
      <p:pic>
        <p:nvPicPr>
          <p:cNvPr id="17410" name="Picture 2">
            <a:extLst>
              <a:ext uri="{FF2B5EF4-FFF2-40B4-BE49-F238E27FC236}">
                <a16:creationId xmlns:a16="http://schemas.microsoft.com/office/drawing/2014/main" id="{3939DAED-BEBB-4E42-9FF8-EC0CEC5276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81320" y="1235869"/>
            <a:ext cx="3481388" cy="438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3">
            <a:extLst>
              <a:ext uri="{FF2B5EF4-FFF2-40B4-BE49-F238E27FC236}">
                <a16:creationId xmlns:a16="http://schemas.microsoft.com/office/drawing/2014/main" id="{5AFA6DD4-913D-456C-9412-2CA1AA33CFB5}"/>
              </a:ext>
            </a:extLst>
          </p:cNvPr>
          <p:cNvSpPr txBox="1">
            <a:spLocks noChangeArrowheads="1"/>
          </p:cNvSpPr>
          <p:nvPr/>
        </p:nvSpPr>
        <p:spPr bwMode="auto">
          <a:xfrm>
            <a:off x="5141167" y="1698625"/>
            <a:ext cx="3481389"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dirty="0"/>
              <a:t>1956</a:t>
            </a:r>
          </a:p>
          <a:p>
            <a:r>
              <a:rPr lang="en-US" altLang="en-US" dirty="0"/>
              <a:t>IBM RAMDAC computer included the IBM Model 350 disk storage system</a:t>
            </a:r>
          </a:p>
          <a:p>
            <a:endParaRPr lang="en-US" altLang="en-US" dirty="0"/>
          </a:p>
          <a:p>
            <a:r>
              <a:rPr lang="en-US" altLang="en-US" dirty="0"/>
              <a:t>5M (7 bit) characters</a:t>
            </a:r>
          </a:p>
          <a:p>
            <a:r>
              <a:rPr lang="en-US" altLang="en-US" dirty="0"/>
              <a:t>50 x 24</a:t>
            </a:r>
            <a:r>
              <a:rPr lang="ja-JP" altLang="en-US" dirty="0"/>
              <a:t>”</a:t>
            </a:r>
            <a:r>
              <a:rPr lang="en-US" altLang="ja-JP" dirty="0"/>
              <a:t> platters</a:t>
            </a:r>
          </a:p>
          <a:p>
            <a:r>
              <a:rPr lang="en-US" altLang="en-US" dirty="0"/>
              <a:t>Access time = &lt; 1 second</a:t>
            </a:r>
          </a:p>
          <a:p>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5348F083-E43D-46B3-876F-CBA18F86339E}"/>
              </a:ext>
            </a:extLst>
          </p:cNvPr>
          <p:cNvSpPr>
            <a:spLocks noGrp="1" noChangeArrowheads="1"/>
          </p:cNvSpPr>
          <p:nvPr>
            <p:ph type="title"/>
          </p:nvPr>
        </p:nvSpPr>
        <p:spPr>
          <a:xfrm>
            <a:off x="457200" y="241918"/>
            <a:ext cx="8229600" cy="576262"/>
          </a:xfrm>
        </p:spPr>
        <p:txBody>
          <a:bodyPr/>
          <a:lstStyle/>
          <a:p>
            <a:r>
              <a:rPr lang="en-US" altLang="en-US" dirty="0"/>
              <a:t>Nonvolatile Memory Devices (1)</a:t>
            </a:r>
          </a:p>
        </p:txBody>
      </p:sp>
      <p:sp>
        <p:nvSpPr>
          <p:cNvPr id="18434" name="Content Placeholder 2">
            <a:extLst>
              <a:ext uri="{FF2B5EF4-FFF2-40B4-BE49-F238E27FC236}">
                <a16:creationId xmlns:a16="http://schemas.microsoft.com/office/drawing/2014/main" id="{5F78CCBB-727E-4B4F-A84F-5887808E8305}"/>
              </a:ext>
            </a:extLst>
          </p:cNvPr>
          <p:cNvSpPr>
            <a:spLocks noGrp="1" noChangeArrowheads="1"/>
          </p:cNvSpPr>
          <p:nvPr>
            <p:ph idx="1"/>
          </p:nvPr>
        </p:nvSpPr>
        <p:spPr>
          <a:xfrm>
            <a:off x="844586" y="1061517"/>
            <a:ext cx="7714406" cy="4354351"/>
          </a:xfrm>
        </p:spPr>
        <p:txBody>
          <a:bodyPr/>
          <a:lstStyle/>
          <a:p>
            <a:r>
              <a:rPr lang="en-US" altLang="en-US" sz="2000" dirty="0"/>
              <a:t>If disk-drive like, then called </a:t>
            </a:r>
            <a:r>
              <a:rPr lang="en-US" altLang="en-US" sz="2000" b="1" dirty="0">
                <a:solidFill>
                  <a:srgbClr val="006699"/>
                </a:solidFill>
                <a:latin typeface="+mj-lt"/>
              </a:rPr>
              <a:t>solid-state</a:t>
            </a:r>
            <a:r>
              <a:rPr lang="en-US" altLang="en-US" sz="2000" b="1" dirty="0">
                <a:solidFill>
                  <a:srgbClr val="3366FF"/>
                </a:solidFill>
              </a:rPr>
              <a:t> </a:t>
            </a:r>
            <a:r>
              <a:rPr lang="en-US" altLang="en-US" sz="2000" b="1" dirty="0">
                <a:solidFill>
                  <a:srgbClr val="006699"/>
                </a:solidFill>
                <a:latin typeface="+mj-lt"/>
              </a:rPr>
              <a:t>disks</a:t>
            </a:r>
            <a:r>
              <a:rPr lang="en-US" altLang="en-US" sz="2000" b="1" dirty="0">
                <a:solidFill>
                  <a:srgbClr val="3366FF"/>
                </a:solidFill>
              </a:rPr>
              <a:t> </a:t>
            </a:r>
            <a:r>
              <a:rPr lang="en-US" altLang="en-US" sz="2000" dirty="0"/>
              <a:t>(</a:t>
            </a:r>
            <a:r>
              <a:rPr lang="en-US" altLang="en-US" sz="2000" b="1" dirty="0">
                <a:solidFill>
                  <a:srgbClr val="006699"/>
                </a:solidFill>
                <a:latin typeface="+mj-lt"/>
              </a:rPr>
              <a:t>SSDs</a:t>
            </a:r>
            <a:r>
              <a:rPr lang="en-US" altLang="en-US" sz="2000" dirty="0"/>
              <a:t>)</a:t>
            </a:r>
          </a:p>
          <a:p>
            <a:r>
              <a:rPr lang="en-US" altLang="en-US" sz="2000" dirty="0"/>
              <a:t>Other forms include </a:t>
            </a:r>
            <a:r>
              <a:rPr lang="en-US" altLang="en-US" sz="2000" b="1" dirty="0">
                <a:solidFill>
                  <a:srgbClr val="006699"/>
                </a:solidFill>
                <a:latin typeface="+mj-lt"/>
              </a:rPr>
              <a:t>USB</a:t>
            </a:r>
            <a:r>
              <a:rPr lang="en-US" altLang="en-US" sz="2000" b="1" dirty="0">
                <a:solidFill>
                  <a:srgbClr val="3366FF"/>
                </a:solidFill>
              </a:rPr>
              <a:t> </a:t>
            </a:r>
            <a:r>
              <a:rPr lang="en-US" altLang="en-US" sz="2000" b="1" dirty="0">
                <a:solidFill>
                  <a:srgbClr val="006699"/>
                </a:solidFill>
                <a:latin typeface="+mj-lt"/>
              </a:rPr>
              <a:t>drives</a:t>
            </a:r>
            <a:r>
              <a:rPr lang="en-US" altLang="en-US" sz="2000" dirty="0"/>
              <a:t> (thumb drive, flash drive), DRAM disk replacements, surface-mounted on motherboards, and main storage in devices like smartphones</a:t>
            </a:r>
          </a:p>
          <a:p>
            <a:r>
              <a:rPr lang="en-US" altLang="en-US" sz="2000" dirty="0"/>
              <a:t>Can be more reliable than HDDs</a:t>
            </a:r>
          </a:p>
          <a:p>
            <a:r>
              <a:rPr lang="en-US" altLang="en-US" sz="2000" dirty="0"/>
              <a:t>More expensive per MB</a:t>
            </a:r>
          </a:p>
          <a:p>
            <a:r>
              <a:rPr lang="en-US" altLang="en-US" sz="2000" dirty="0"/>
              <a:t>Maybe have shorter life span – need careful management</a:t>
            </a:r>
          </a:p>
          <a:p>
            <a:r>
              <a:rPr lang="en-US" altLang="en-US" sz="2000" dirty="0"/>
              <a:t>Less capacity</a:t>
            </a:r>
          </a:p>
          <a:p>
            <a:r>
              <a:rPr lang="en-US" altLang="en-US" sz="2000" dirty="0"/>
              <a:t>But much faster</a:t>
            </a:r>
          </a:p>
          <a:p>
            <a:r>
              <a:rPr lang="en-US" altLang="en-US" sz="2000" dirty="0"/>
              <a:t>Busses can be too slow -&gt; connect directly to PCI for example</a:t>
            </a:r>
          </a:p>
          <a:p>
            <a:r>
              <a:rPr lang="en-US" altLang="en-US" sz="2000" dirty="0"/>
              <a:t>No moving parts, so no seek time or rotational latency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F5A4F32E-90C5-4DD8-9684-B69FE1A48904}"/>
              </a:ext>
            </a:extLst>
          </p:cNvPr>
          <p:cNvSpPr>
            <a:spLocks noGrp="1" noChangeArrowheads="1"/>
          </p:cNvSpPr>
          <p:nvPr>
            <p:ph type="title"/>
          </p:nvPr>
        </p:nvSpPr>
        <p:spPr>
          <a:xfrm>
            <a:off x="709127" y="241918"/>
            <a:ext cx="8229600" cy="576262"/>
          </a:xfrm>
        </p:spPr>
        <p:txBody>
          <a:bodyPr/>
          <a:lstStyle/>
          <a:p>
            <a:r>
              <a:rPr lang="en-US" altLang="en-US" dirty="0"/>
              <a:t>Nonvolatile Memory Devices (2)</a:t>
            </a:r>
          </a:p>
        </p:txBody>
      </p:sp>
      <p:sp>
        <p:nvSpPr>
          <p:cNvPr id="19458" name="Content Placeholder 2">
            <a:extLst>
              <a:ext uri="{FF2B5EF4-FFF2-40B4-BE49-F238E27FC236}">
                <a16:creationId xmlns:a16="http://schemas.microsoft.com/office/drawing/2014/main" id="{10904C47-85A5-4C60-85B5-0350BF308D30}"/>
              </a:ext>
            </a:extLst>
          </p:cNvPr>
          <p:cNvSpPr>
            <a:spLocks noGrp="1" noChangeArrowheads="1"/>
          </p:cNvSpPr>
          <p:nvPr>
            <p:ph idx="1"/>
          </p:nvPr>
        </p:nvSpPr>
        <p:spPr>
          <a:xfrm>
            <a:off x="886427" y="983659"/>
            <a:ext cx="7562107" cy="4077439"/>
          </a:xfrm>
        </p:spPr>
        <p:txBody>
          <a:bodyPr/>
          <a:lstStyle/>
          <a:p>
            <a:r>
              <a:rPr lang="en-US" altLang="en-US" sz="2000" dirty="0"/>
              <a:t>Have characteristics that present challenges</a:t>
            </a:r>
          </a:p>
          <a:p>
            <a:r>
              <a:rPr lang="en-US" altLang="en-US" sz="2000" dirty="0"/>
              <a:t>Read and written in “page” increments (think sector) but can’t overwrite in place</a:t>
            </a:r>
          </a:p>
          <a:p>
            <a:pPr lvl="1"/>
            <a:r>
              <a:rPr lang="en-US" altLang="en-US" sz="2000" dirty="0"/>
              <a:t>Must first be erased, and erases happen in larger ”block” increments</a:t>
            </a:r>
          </a:p>
          <a:p>
            <a:pPr lvl="1"/>
            <a:r>
              <a:rPr lang="en-US" altLang="en-US" sz="2000" dirty="0"/>
              <a:t>Can only be erased a limited number of times before worn out – ~ 100,000</a:t>
            </a:r>
          </a:p>
          <a:p>
            <a:pPr lvl="1"/>
            <a:r>
              <a:rPr lang="en-US" altLang="en-US" sz="2000" dirty="0"/>
              <a:t>Life span measured in </a:t>
            </a:r>
            <a:r>
              <a:rPr lang="en-US" altLang="en-US" sz="2000" b="1" dirty="0">
                <a:solidFill>
                  <a:srgbClr val="006699"/>
                </a:solidFill>
                <a:latin typeface="+mj-lt"/>
              </a:rPr>
              <a:t>drive</a:t>
            </a:r>
            <a:r>
              <a:rPr lang="en-US" altLang="en-US" sz="2000" b="1" dirty="0">
                <a:solidFill>
                  <a:srgbClr val="3366FF"/>
                </a:solidFill>
              </a:rPr>
              <a:t> </a:t>
            </a:r>
            <a:r>
              <a:rPr lang="en-US" altLang="en-US" sz="2000" b="1" dirty="0">
                <a:solidFill>
                  <a:srgbClr val="006699"/>
                </a:solidFill>
                <a:latin typeface="+mj-lt"/>
              </a:rPr>
              <a:t>writes</a:t>
            </a:r>
            <a:r>
              <a:rPr lang="en-US" altLang="en-US" sz="2000" b="1" dirty="0">
                <a:solidFill>
                  <a:srgbClr val="3366FF"/>
                </a:solidFill>
              </a:rPr>
              <a:t> </a:t>
            </a:r>
            <a:r>
              <a:rPr lang="en-US" altLang="en-US" sz="2000" b="1" dirty="0">
                <a:solidFill>
                  <a:srgbClr val="006699"/>
                </a:solidFill>
                <a:latin typeface="+mj-lt"/>
              </a:rPr>
              <a:t>per</a:t>
            </a:r>
            <a:r>
              <a:rPr lang="en-US" altLang="en-US" sz="2000" b="1" dirty="0">
                <a:solidFill>
                  <a:srgbClr val="3366FF"/>
                </a:solidFill>
              </a:rPr>
              <a:t> </a:t>
            </a:r>
            <a:r>
              <a:rPr lang="en-US" altLang="en-US" sz="2000" b="1" dirty="0">
                <a:solidFill>
                  <a:srgbClr val="006699"/>
                </a:solidFill>
                <a:latin typeface="+mj-lt"/>
              </a:rPr>
              <a:t>day</a:t>
            </a:r>
            <a:r>
              <a:rPr lang="en-US" altLang="en-US" sz="2000" dirty="0"/>
              <a:t> (</a:t>
            </a:r>
            <a:r>
              <a:rPr lang="en-US" altLang="en-US" sz="2000" b="1" dirty="0">
                <a:solidFill>
                  <a:srgbClr val="006699"/>
                </a:solidFill>
                <a:latin typeface="+mj-lt"/>
              </a:rPr>
              <a:t>DWPD</a:t>
            </a:r>
            <a:r>
              <a:rPr lang="en-US" altLang="en-US" sz="2000" dirty="0"/>
              <a:t>)</a:t>
            </a:r>
          </a:p>
          <a:p>
            <a:pPr lvl="2"/>
            <a:r>
              <a:rPr lang="en-US" altLang="en-US" sz="2000" dirty="0"/>
              <a:t>A 1TB NAND drive with rating of 5DWPD is expected to have 5TB per day written within warrantee period without failing</a:t>
            </a:r>
          </a:p>
        </p:txBody>
      </p:sp>
      <p:pic>
        <p:nvPicPr>
          <p:cNvPr id="19459" name="Picture 6">
            <a:extLst>
              <a:ext uri="{FF2B5EF4-FFF2-40B4-BE49-F238E27FC236}">
                <a16:creationId xmlns:a16="http://schemas.microsoft.com/office/drawing/2014/main" id="{E2B9527C-5168-46B7-9A74-7BF10FB56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1957" y="4719019"/>
            <a:ext cx="3105150"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C99A93EF-5093-4664-976A-E696F2485095}"/>
              </a:ext>
            </a:extLst>
          </p:cNvPr>
          <p:cNvSpPr>
            <a:spLocks noGrp="1" noChangeArrowheads="1"/>
          </p:cNvSpPr>
          <p:nvPr>
            <p:ph type="title"/>
          </p:nvPr>
        </p:nvSpPr>
        <p:spPr>
          <a:xfrm>
            <a:off x="942932" y="232775"/>
            <a:ext cx="7628792" cy="576262"/>
          </a:xfrm>
        </p:spPr>
        <p:txBody>
          <a:bodyPr/>
          <a:lstStyle/>
          <a:p>
            <a:r>
              <a:rPr lang="en-US" altLang="en-US" dirty="0"/>
              <a:t>NAND Flash Controller Algorithms</a:t>
            </a:r>
          </a:p>
        </p:txBody>
      </p:sp>
      <p:sp>
        <p:nvSpPr>
          <p:cNvPr id="87042" name="Content Placeholder 2">
            <a:extLst>
              <a:ext uri="{FF2B5EF4-FFF2-40B4-BE49-F238E27FC236}">
                <a16:creationId xmlns:a16="http://schemas.microsoft.com/office/drawing/2014/main" id="{BD17DB7C-12B9-45A8-A8EC-8A8A39A93574}"/>
              </a:ext>
            </a:extLst>
          </p:cNvPr>
          <p:cNvSpPr>
            <a:spLocks noGrp="1" noChangeArrowheads="1"/>
          </p:cNvSpPr>
          <p:nvPr>
            <p:ph idx="1"/>
          </p:nvPr>
        </p:nvSpPr>
        <p:spPr>
          <a:xfrm>
            <a:off x="793349" y="960994"/>
            <a:ext cx="7927958" cy="2749770"/>
          </a:xfrm>
        </p:spPr>
        <p:txBody>
          <a:bodyPr/>
          <a:lstStyle/>
          <a:p>
            <a:r>
              <a:rPr lang="en-US" altLang="en-US" sz="2000" dirty="0"/>
              <a:t>With no overwrite, pages end up with mix of valid and invalid data</a:t>
            </a:r>
          </a:p>
          <a:p>
            <a:r>
              <a:rPr lang="en-US" altLang="en-US" sz="2000" dirty="0"/>
              <a:t>To track which logical blocks are valid, controller maintains </a:t>
            </a:r>
            <a:r>
              <a:rPr lang="en-US" altLang="en-US" sz="2000" b="1" dirty="0">
                <a:solidFill>
                  <a:srgbClr val="006699"/>
                </a:solidFill>
                <a:latin typeface="+mj-lt"/>
              </a:rPr>
              <a:t>flash</a:t>
            </a:r>
            <a:r>
              <a:rPr lang="en-US" altLang="en-US" sz="2000" b="1" dirty="0">
                <a:solidFill>
                  <a:srgbClr val="3366FF"/>
                </a:solidFill>
              </a:rPr>
              <a:t> </a:t>
            </a:r>
            <a:r>
              <a:rPr lang="en-US" altLang="en-US" sz="2000" b="1" dirty="0">
                <a:solidFill>
                  <a:srgbClr val="006699"/>
                </a:solidFill>
                <a:latin typeface="+mj-lt"/>
              </a:rPr>
              <a:t>translation</a:t>
            </a:r>
            <a:r>
              <a:rPr lang="en-US" altLang="en-US" sz="2000" b="1" dirty="0">
                <a:solidFill>
                  <a:srgbClr val="3366FF"/>
                </a:solidFill>
              </a:rPr>
              <a:t> </a:t>
            </a:r>
            <a:r>
              <a:rPr lang="en-US" altLang="en-US" sz="2000" b="1" dirty="0">
                <a:solidFill>
                  <a:srgbClr val="006699"/>
                </a:solidFill>
                <a:latin typeface="+mj-lt"/>
              </a:rPr>
              <a:t>layer</a:t>
            </a:r>
            <a:r>
              <a:rPr lang="en-US" altLang="en-US" sz="2000" dirty="0"/>
              <a:t> (</a:t>
            </a:r>
            <a:r>
              <a:rPr lang="en-US" altLang="en-US" sz="2000" b="1" dirty="0">
                <a:solidFill>
                  <a:srgbClr val="006699"/>
                </a:solidFill>
                <a:latin typeface="+mj-lt"/>
              </a:rPr>
              <a:t>FTL</a:t>
            </a:r>
            <a:r>
              <a:rPr lang="en-US" altLang="en-US" sz="2000" dirty="0"/>
              <a:t>) table</a:t>
            </a:r>
          </a:p>
          <a:p>
            <a:r>
              <a:rPr lang="en-US" altLang="en-US" sz="2000" dirty="0"/>
              <a:t>Also implements </a:t>
            </a:r>
            <a:r>
              <a:rPr lang="en-US" altLang="en-US" sz="2000" b="1" dirty="0">
                <a:solidFill>
                  <a:srgbClr val="006699"/>
                </a:solidFill>
                <a:latin typeface="+mj-lt"/>
              </a:rPr>
              <a:t>garbage</a:t>
            </a:r>
            <a:r>
              <a:rPr lang="en-US" altLang="en-US" sz="2000" b="1" dirty="0">
                <a:solidFill>
                  <a:srgbClr val="3366FF"/>
                </a:solidFill>
              </a:rPr>
              <a:t> </a:t>
            </a:r>
            <a:r>
              <a:rPr lang="en-US" altLang="en-US" sz="2000" b="1" dirty="0">
                <a:solidFill>
                  <a:srgbClr val="006699"/>
                </a:solidFill>
                <a:latin typeface="+mj-lt"/>
              </a:rPr>
              <a:t>collection</a:t>
            </a:r>
            <a:r>
              <a:rPr lang="en-US" altLang="en-US" sz="2000" b="1" dirty="0">
                <a:solidFill>
                  <a:srgbClr val="3366FF"/>
                </a:solidFill>
              </a:rPr>
              <a:t> </a:t>
            </a:r>
            <a:r>
              <a:rPr lang="en-US" altLang="en-US" sz="2000" dirty="0"/>
              <a:t>to free invalid page space</a:t>
            </a:r>
          </a:p>
          <a:p>
            <a:r>
              <a:rPr lang="en-US" altLang="en-US" sz="2000" dirty="0"/>
              <a:t>Allocates </a:t>
            </a:r>
            <a:r>
              <a:rPr lang="en-US" altLang="en-US" sz="2000" b="1" dirty="0">
                <a:solidFill>
                  <a:srgbClr val="006699"/>
                </a:solidFill>
                <a:latin typeface="+mj-lt"/>
              </a:rPr>
              <a:t>overprovisioning</a:t>
            </a:r>
            <a:r>
              <a:rPr lang="en-US" altLang="en-US" sz="2000" dirty="0"/>
              <a:t> to provide working space for GC</a:t>
            </a:r>
          </a:p>
          <a:p>
            <a:r>
              <a:rPr lang="en-US" altLang="en-US" sz="2000" dirty="0"/>
              <a:t>Each cell has lifespan, so </a:t>
            </a:r>
            <a:r>
              <a:rPr lang="en-US" altLang="en-US" sz="2000" b="1" dirty="0">
                <a:solidFill>
                  <a:srgbClr val="006699"/>
                </a:solidFill>
                <a:latin typeface="+mj-lt"/>
              </a:rPr>
              <a:t>wear</a:t>
            </a:r>
            <a:r>
              <a:rPr lang="en-US" altLang="en-US" sz="2000" b="1" dirty="0">
                <a:solidFill>
                  <a:srgbClr val="3366FF"/>
                </a:solidFill>
              </a:rPr>
              <a:t> </a:t>
            </a:r>
            <a:r>
              <a:rPr lang="en-US" altLang="en-US" sz="2000" b="1" dirty="0">
                <a:solidFill>
                  <a:srgbClr val="006699"/>
                </a:solidFill>
                <a:latin typeface="+mj-lt"/>
              </a:rPr>
              <a:t>leveling</a:t>
            </a:r>
            <a:r>
              <a:rPr lang="en-US" altLang="en-US" sz="2000" b="1" dirty="0">
                <a:solidFill>
                  <a:srgbClr val="3366FF"/>
                </a:solidFill>
              </a:rPr>
              <a:t> </a:t>
            </a:r>
            <a:r>
              <a:rPr lang="en-US" altLang="en-US" sz="2000" dirty="0"/>
              <a:t>needed to write equally to all cells</a:t>
            </a:r>
          </a:p>
        </p:txBody>
      </p:sp>
      <p:grpSp>
        <p:nvGrpSpPr>
          <p:cNvPr id="2" name="组合 1">
            <a:extLst>
              <a:ext uri="{FF2B5EF4-FFF2-40B4-BE49-F238E27FC236}">
                <a16:creationId xmlns:a16="http://schemas.microsoft.com/office/drawing/2014/main" id="{EE9CA43E-0FB8-7A15-6719-00E434954485}"/>
              </a:ext>
            </a:extLst>
          </p:cNvPr>
          <p:cNvGrpSpPr/>
          <p:nvPr/>
        </p:nvGrpSpPr>
        <p:grpSpPr>
          <a:xfrm>
            <a:off x="2162101" y="4070938"/>
            <a:ext cx="4855387" cy="2099709"/>
            <a:chOff x="2406650" y="3629024"/>
            <a:chExt cx="4855387" cy="2099709"/>
          </a:xfrm>
        </p:grpSpPr>
        <p:pic>
          <p:nvPicPr>
            <p:cNvPr id="87043" name="Picture 4">
              <a:extLst>
                <a:ext uri="{FF2B5EF4-FFF2-40B4-BE49-F238E27FC236}">
                  <a16:creationId xmlns:a16="http://schemas.microsoft.com/office/drawing/2014/main" id="{143BB5E9-3048-4ED5-9B8B-B69C0D545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3318" y="3629024"/>
              <a:ext cx="3446462"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TextBox 5">
              <a:extLst>
                <a:ext uri="{FF2B5EF4-FFF2-40B4-BE49-F238E27FC236}">
                  <a16:creationId xmlns:a16="http://schemas.microsoft.com/office/drawing/2014/main" id="{49980EFD-4160-4281-931A-C944B55527E2}"/>
                </a:ext>
              </a:extLst>
            </p:cNvPr>
            <p:cNvSpPr txBox="1">
              <a:spLocks noChangeArrowheads="1"/>
            </p:cNvSpPr>
            <p:nvPr/>
          </p:nvSpPr>
          <p:spPr bwMode="auto">
            <a:xfrm>
              <a:off x="2406650" y="5359401"/>
              <a:ext cx="4855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dirty="0"/>
                <a:t>NAND block with valid and invalid pages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90BEC534-2C39-44FA-BB1F-767DB39D2A33}"/>
              </a:ext>
            </a:extLst>
          </p:cNvPr>
          <p:cNvSpPr>
            <a:spLocks noGrp="1" noChangeArrowheads="1"/>
          </p:cNvSpPr>
          <p:nvPr>
            <p:ph type="title"/>
          </p:nvPr>
        </p:nvSpPr>
        <p:spPr>
          <a:xfrm>
            <a:off x="872053" y="248303"/>
            <a:ext cx="7404197" cy="576263"/>
          </a:xfrm>
        </p:spPr>
        <p:txBody>
          <a:bodyPr/>
          <a:lstStyle/>
          <a:p>
            <a:pPr eaLnBrk="1" hangingPunct="1"/>
            <a:r>
              <a:rPr lang="en-US" altLang="en-US" dirty="0"/>
              <a:t>Volatile Memory</a:t>
            </a:r>
          </a:p>
        </p:txBody>
      </p:sp>
      <p:sp>
        <p:nvSpPr>
          <p:cNvPr id="20482" name="Rectangle 3">
            <a:extLst>
              <a:ext uri="{FF2B5EF4-FFF2-40B4-BE49-F238E27FC236}">
                <a16:creationId xmlns:a16="http://schemas.microsoft.com/office/drawing/2014/main" id="{6C1F9830-351B-4DF6-8ADA-ED7F1C46003B}"/>
              </a:ext>
            </a:extLst>
          </p:cNvPr>
          <p:cNvSpPr>
            <a:spLocks noGrp="1" noChangeArrowheads="1"/>
          </p:cNvSpPr>
          <p:nvPr>
            <p:ph type="body" idx="1"/>
          </p:nvPr>
        </p:nvSpPr>
        <p:spPr>
          <a:xfrm>
            <a:off x="872053" y="916210"/>
            <a:ext cx="7655259" cy="569348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pPr>
            <a:r>
              <a:rPr lang="en-US" altLang="en-US" sz="2000" dirty="0"/>
              <a:t>DRAM frequently used as mass-storage device</a:t>
            </a:r>
          </a:p>
          <a:p>
            <a:pPr lvl="1">
              <a:spcBef>
                <a:spcPts val="600"/>
              </a:spcBef>
            </a:pPr>
            <a:r>
              <a:rPr lang="en-US" altLang="en-US" sz="2000" dirty="0"/>
              <a:t>Not technically secondary storage because volatile, but can have file systems, be used like very fast secondary storage</a:t>
            </a:r>
          </a:p>
          <a:p>
            <a:pPr>
              <a:spcBef>
                <a:spcPts val="600"/>
              </a:spcBef>
            </a:pPr>
            <a:r>
              <a:rPr lang="en-US" altLang="en-US" sz="2000" b="1" dirty="0">
                <a:solidFill>
                  <a:srgbClr val="006699"/>
                </a:solidFill>
                <a:latin typeface="+mj-lt"/>
              </a:rPr>
              <a:t>RAM</a:t>
            </a:r>
            <a:r>
              <a:rPr lang="en-US" altLang="en-US" sz="2000" b="1" dirty="0">
                <a:solidFill>
                  <a:srgbClr val="3366FF"/>
                </a:solidFill>
              </a:rPr>
              <a:t> </a:t>
            </a:r>
            <a:r>
              <a:rPr lang="en-US" altLang="en-US" sz="2000" b="1" dirty="0">
                <a:solidFill>
                  <a:srgbClr val="006699"/>
                </a:solidFill>
                <a:latin typeface="+mj-lt"/>
              </a:rPr>
              <a:t>drives</a:t>
            </a:r>
            <a:r>
              <a:rPr lang="en-US" altLang="en-US" sz="2000" b="1" dirty="0">
                <a:solidFill>
                  <a:srgbClr val="3366FF"/>
                </a:solidFill>
              </a:rPr>
              <a:t> </a:t>
            </a:r>
            <a:r>
              <a:rPr lang="en-US" altLang="en-US" sz="2000" dirty="0"/>
              <a:t>(with many names, including RAM disks) present as raw block devices, commonly file system formatted</a:t>
            </a:r>
          </a:p>
          <a:p>
            <a:pPr>
              <a:spcBef>
                <a:spcPts val="600"/>
              </a:spcBef>
            </a:pPr>
            <a:r>
              <a:rPr lang="en-US" altLang="en-US" sz="2000" dirty="0"/>
              <a:t>Computers have buffering, caching via RAM, so why RAM drives?</a:t>
            </a:r>
          </a:p>
          <a:p>
            <a:pPr lvl="1">
              <a:spcBef>
                <a:spcPts val="600"/>
              </a:spcBef>
            </a:pPr>
            <a:r>
              <a:rPr lang="en-US" altLang="en-US" sz="2000" dirty="0"/>
              <a:t>Caches / buffers allocated / managed by programmer, operating system, hardware</a:t>
            </a:r>
          </a:p>
          <a:p>
            <a:pPr lvl="1">
              <a:spcBef>
                <a:spcPts val="600"/>
              </a:spcBef>
            </a:pPr>
            <a:r>
              <a:rPr lang="en-US" altLang="en-US" sz="2000" dirty="0"/>
              <a:t>RAM drives under user control</a:t>
            </a:r>
          </a:p>
          <a:p>
            <a:pPr lvl="1">
              <a:spcBef>
                <a:spcPts val="600"/>
              </a:spcBef>
            </a:pPr>
            <a:r>
              <a:rPr lang="en-US" altLang="en-US" sz="2000" dirty="0"/>
              <a:t>Found in all major operating systems</a:t>
            </a:r>
          </a:p>
          <a:p>
            <a:pPr lvl="2">
              <a:spcBef>
                <a:spcPts val="600"/>
              </a:spcBef>
            </a:pPr>
            <a:r>
              <a:rPr lang="en-US" altLang="en-US" sz="2000" dirty="0"/>
              <a:t>Linux </a:t>
            </a:r>
            <a:r>
              <a:rPr lang="en-US" altLang="en-US" sz="2000" dirty="0">
                <a:latin typeface="Courier New" panose="02070309020205020404" pitchFamily="49" charset="0"/>
                <a:cs typeface="Courier New" panose="02070309020205020404" pitchFamily="49" charset="0"/>
              </a:rPr>
              <a:t>/dev/ram</a:t>
            </a:r>
            <a:r>
              <a:rPr lang="en-US" altLang="en-US" sz="2000" dirty="0"/>
              <a:t>, macOS </a:t>
            </a:r>
            <a:r>
              <a:rPr lang="en-US" altLang="en-US" sz="2000" dirty="0" err="1">
                <a:latin typeface="Courier New" panose="02070309020205020404" pitchFamily="49" charset="0"/>
                <a:cs typeface="Courier New" panose="02070309020205020404" pitchFamily="49" charset="0"/>
              </a:rPr>
              <a:t>diskutil</a:t>
            </a:r>
            <a:r>
              <a:rPr lang="en-US" altLang="en-US" sz="2000" dirty="0"/>
              <a:t> to create them, Linux </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tmp</a:t>
            </a:r>
            <a:r>
              <a:rPr lang="en-US" altLang="en-US" sz="2000" dirty="0">
                <a:latin typeface="Courier New" panose="02070309020205020404" pitchFamily="49" charset="0"/>
                <a:cs typeface="Courier New" panose="02070309020205020404" pitchFamily="49" charset="0"/>
              </a:rPr>
              <a:t> </a:t>
            </a:r>
            <a:r>
              <a:rPr lang="en-US" altLang="en-US" sz="2000" dirty="0"/>
              <a:t>of file system type </a:t>
            </a:r>
            <a:r>
              <a:rPr lang="en-US" altLang="en-US" sz="2000" dirty="0" err="1">
                <a:latin typeface="Courier New" panose="02070309020205020404" pitchFamily="49" charset="0"/>
                <a:cs typeface="Courier New" panose="02070309020205020404" pitchFamily="49" charset="0"/>
              </a:rPr>
              <a:t>tmpfs</a:t>
            </a:r>
            <a:endParaRPr lang="en-US" altLang="en-US" sz="2000" dirty="0">
              <a:latin typeface="Courier New" panose="02070309020205020404" pitchFamily="49" charset="0"/>
              <a:cs typeface="Courier New" panose="02070309020205020404" pitchFamily="49" charset="0"/>
            </a:endParaRPr>
          </a:p>
          <a:p>
            <a:pPr>
              <a:spcBef>
                <a:spcPts val="600"/>
              </a:spcBef>
            </a:pPr>
            <a:r>
              <a:rPr lang="en-US" altLang="en-US" sz="2000" dirty="0"/>
              <a:t>Used as high speed temporary storage</a:t>
            </a:r>
          </a:p>
          <a:p>
            <a:pPr lvl="1">
              <a:spcBef>
                <a:spcPts val="600"/>
              </a:spcBef>
            </a:pPr>
            <a:r>
              <a:rPr lang="en-US" altLang="en-US" sz="2000" dirty="0"/>
              <a:t>Programs could share bulk date, quickly, by reading/writing to RAM drive</a:t>
            </a:r>
          </a:p>
          <a:p>
            <a:pPr>
              <a:spcBef>
                <a:spcPts val="600"/>
              </a:spcBef>
            </a:pPr>
            <a:endParaRPr lang="en-US" alt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4BBF6659-FB5D-4B14-9190-FD557239FE5B}"/>
              </a:ext>
            </a:extLst>
          </p:cNvPr>
          <p:cNvSpPr>
            <a:spLocks noGrp="1" noChangeArrowheads="1"/>
          </p:cNvSpPr>
          <p:nvPr>
            <p:ph type="title"/>
          </p:nvPr>
        </p:nvSpPr>
        <p:spPr>
          <a:xfrm>
            <a:off x="844062" y="238972"/>
            <a:ext cx="7637462" cy="576263"/>
          </a:xfrm>
        </p:spPr>
        <p:txBody>
          <a:bodyPr/>
          <a:lstStyle/>
          <a:p>
            <a:pPr eaLnBrk="1" hangingPunct="1"/>
            <a:r>
              <a:rPr lang="en-US" altLang="en-US" dirty="0"/>
              <a:t>Magnetic Tape</a:t>
            </a:r>
          </a:p>
        </p:txBody>
      </p:sp>
      <p:pic>
        <p:nvPicPr>
          <p:cNvPr id="22530" name="Picture 2">
            <a:extLst>
              <a:ext uri="{FF2B5EF4-FFF2-40B4-BE49-F238E27FC236}">
                <a16:creationId xmlns:a16="http://schemas.microsoft.com/office/drawing/2014/main" id="{C6343CAC-69D2-4AED-B7AF-D738020A0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1042988"/>
            <a:ext cx="5487988" cy="529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59BDEDD4-4DC5-425D-920D-888F692A85A9}"/>
              </a:ext>
            </a:extLst>
          </p:cNvPr>
          <p:cNvSpPr>
            <a:spLocks noGrp="1" noChangeArrowheads="1"/>
          </p:cNvSpPr>
          <p:nvPr>
            <p:ph type="title"/>
          </p:nvPr>
        </p:nvSpPr>
        <p:spPr>
          <a:xfrm>
            <a:off x="802237" y="248885"/>
            <a:ext cx="7781925" cy="576263"/>
          </a:xfrm>
        </p:spPr>
        <p:txBody>
          <a:bodyPr/>
          <a:lstStyle/>
          <a:p>
            <a:pPr eaLnBrk="1" hangingPunct="1"/>
            <a:r>
              <a:rPr lang="en-US" altLang="en-US" dirty="0"/>
              <a:t>Disk Structure</a:t>
            </a:r>
          </a:p>
        </p:txBody>
      </p:sp>
      <p:sp>
        <p:nvSpPr>
          <p:cNvPr id="24578" name="Rectangle 3">
            <a:extLst>
              <a:ext uri="{FF2B5EF4-FFF2-40B4-BE49-F238E27FC236}">
                <a16:creationId xmlns:a16="http://schemas.microsoft.com/office/drawing/2014/main" id="{8A573FA4-6E41-4228-9672-D23AEB11750B}"/>
              </a:ext>
            </a:extLst>
          </p:cNvPr>
          <p:cNvSpPr>
            <a:spLocks noGrp="1" noChangeArrowheads="1"/>
          </p:cNvSpPr>
          <p:nvPr>
            <p:ph type="body" idx="1"/>
          </p:nvPr>
        </p:nvSpPr>
        <p:spPr>
          <a:xfrm>
            <a:off x="544905" y="942066"/>
            <a:ext cx="8086582" cy="4973867"/>
          </a:xfrm>
        </p:spPr>
        <p:txBody>
          <a:bodyPr/>
          <a:lstStyle/>
          <a:p>
            <a:pPr>
              <a:spcBef>
                <a:spcPts val="600"/>
              </a:spcBef>
            </a:pPr>
            <a:r>
              <a:rPr lang="en-US" altLang="en-US" sz="2000" dirty="0"/>
              <a:t>Disk drives are addressed as large 1-dimensional arrays of </a:t>
            </a:r>
            <a:r>
              <a:rPr lang="en-US" altLang="en-US" sz="2000" b="1" dirty="0">
                <a:solidFill>
                  <a:srgbClr val="006699"/>
                </a:solidFill>
                <a:latin typeface="+mj-lt"/>
              </a:rPr>
              <a:t>logical</a:t>
            </a:r>
            <a:r>
              <a:rPr lang="en-US" altLang="en-US" sz="2000" b="1" dirty="0">
                <a:solidFill>
                  <a:srgbClr val="3366FF"/>
                </a:solidFill>
              </a:rPr>
              <a:t> </a:t>
            </a:r>
            <a:r>
              <a:rPr lang="en-US" altLang="en-US" sz="2000" b="1" dirty="0">
                <a:solidFill>
                  <a:srgbClr val="006699"/>
                </a:solidFill>
                <a:latin typeface="+mj-lt"/>
              </a:rPr>
              <a:t>blocks</a:t>
            </a:r>
            <a:r>
              <a:rPr lang="en-US" altLang="en-US" sz="2000" dirty="0"/>
              <a:t>, where the logical block is the smallest unit of transfer</a:t>
            </a:r>
          </a:p>
          <a:p>
            <a:pPr lvl="1">
              <a:spcBef>
                <a:spcPts val="600"/>
              </a:spcBef>
            </a:pPr>
            <a:r>
              <a:rPr lang="en-US" altLang="en-US" sz="2000" dirty="0"/>
              <a:t>Low-level formatting creates </a:t>
            </a:r>
            <a:r>
              <a:rPr lang="en-US" altLang="en-US" sz="2000" b="1" dirty="0">
                <a:solidFill>
                  <a:srgbClr val="006699"/>
                </a:solidFill>
                <a:latin typeface="+mj-lt"/>
              </a:rPr>
              <a:t>logical</a:t>
            </a:r>
            <a:r>
              <a:rPr lang="en-US" altLang="en-US" sz="2000" b="1" dirty="0">
                <a:solidFill>
                  <a:srgbClr val="3366FF"/>
                </a:solidFill>
              </a:rPr>
              <a:t> </a:t>
            </a:r>
            <a:r>
              <a:rPr lang="en-US" altLang="en-US" sz="2000" b="1" dirty="0">
                <a:solidFill>
                  <a:srgbClr val="006699"/>
                </a:solidFill>
                <a:latin typeface="+mj-lt"/>
              </a:rPr>
              <a:t>blocks</a:t>
            </a:r>
            <a:r>
              <a:rPr lang="en-US" altLang="en-US" sz="2000" b="1" dirty="0">
                <a:solidFill>
                  <a:srgbClr val="3366FF"/>
                </a:solidFill>
              </a:rPr>
              <a:t> </a:t>
            </a:r>
            <a:r>
              <a:rPr lang="en-US" altLang="en-US" sz="2000" dirty="0"/>
              <a:t>on physical media</a:t>
            </a:r>
          </a:p>
          <a:p>
            <a:pPr>
              <a:spcBef>
                <a:spcPts val="600"/>
              </a:spcBef>
            </a:pPr>
            <a:r>
              <a:rPr lang="en-US" altLang="en-US" sz="2000" dirty="0"/>
              <a:t>The 1-dimensional array of logical blocks is mapped into the sectors of the disk sequentially</a:t>
            </a:r>
          </a:p>
          <a:p>
            <a:pPr lvl="1">
              <a:spcBef>
                <a:spcPts val="600"/>
              </a:spcBef>
            </a:pPr>
            <a:r>
              <a:rPr lang="en-US" altLang="en-US" sz="2000" dirty="0"/>
              <a:t>Sector 0 is the first sector of the first track on the outermost cylinder</a:t>
            </a:r>
          </a:p>
          <a:p>
            <a:pPr lvl="1">
              <a:spcBef>
                <a:spcPts val="600"/>
              </a:spcBef>
            </a:pPr>
            <a:r>
              <a:rPr lang="en-US" altLang="en-US" sz="2000" dirty="0"/>
              <a:t>Mapping proceeds in order through that track, then the rest of the tracks in that cylinder, and then through the rest of the cylinders from outermost to innermost</a:t>
            </a:r>
          </a:p>
          <a:p>
            <a:pPr lvl="1">
              <a:spcBef>
                <a:spcPts val="600"/>
              </a:spcBef>
            </a:pPr>
            <a:r>
              <a:rPr lang="en-US" altLang="en-US" sz="2000" dirty="0"/>
              <a:t>Logical to physical address should be easy</a:t>
            </a:r>
          </a:p>
          <a:p>
            <a:pPr lvl="2">
              <a:spcBef>
                <a:spcPts val="600"/>
              </a:spcBef>
            </a:pPr>
            <a:r>
              <a:rPr lang="en-US" altLang="en-US" sz="2000" dirty="0"/>
              <a:t>Except for bad sectors</a:t>
            </a:r>
          </a:p>
          <a:p>
            <a:pPr lvl="2">
              <a:spcBef>
                <a:spcPts val="600"/>
              </a:spcBef>
            </a:pPr>
            <a:r>
              <a:rPr lang="en-US" altLang="en-US" sz="2000" dirty="0"/>
              <a:t>Non-constant # of sectors per track via constant angular velocity</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DAA2E2EE-444C-4F50-9CB0-00213CF54060}"/>
              </a:ext>
            </a:extLst>
          </p:cNvPr>
          <p:cNvSpPr>
            <a:spLocks noGrp="1" noChangeArrowheads="1"/>
          </p:cNvSpPr>
          <p:nvPr>
            <p:ph type="title"/>
          </p:nvPr>
        </p:nvSpPr>
        <p:spPr>
          <a:xfrm>
            <a:off x="829839" y="239554"/>
            <a:ext cx="7800975" cy="576263"/>
          </a:xfrm>
        </p:spPr>
        <p:txBody>
          <a:bodyPr/>
          <a:lstStyle/>
          <a:p>
            <a:pPr eaLnBrk="1" hangingPunct="1"/>
            <a:r>
              <a:rPr lang="en-US" altLang="en-US" dirty="0"/>
              <a:t>Disk Attachment</a:t>
            </a:r>
          </a:p>
        </p:txBody>
      </p:sp>
      <p:sp>
        <p:nvSpPr>
          <p:cNvPr id="26626" name="Rectangle 3">
            <a:extLst>
              <a:ext uri="{FF2B5EF4-FFF2-40B4-BE49-F238E27FC236}">
                <a16:creationId xmlns:a16="http://schemas.microsoft.com/office/drawing/2014/main" id="{844A6251-BE5D-4C31-A804-C6A1A804CA9D}"/>
              </a:ext>
            </a:extLst>
          </p:cNvPr>
          <p:cNvSpPr>
            <a:spLocks noGrp="1" noChangeArrowheads="1"/>
          </p:cNvSpPr>
          <p:nvPr>
            <p:ph type="body" idx="1"/>
          </p:nvPr>
        </p:nvSpPr>
        <p:spPr>
          <a:xfrm>
            <a:off x="567679" y="905872"/>
            <a:ext cx="8236079" cy="5621928"/>
          </a:xfrm>
        </p:spPr>
        <p:txBody>
          <a:bodyPr/>
          <a:lstStyle/>
          <a:p>
            <a:pPr>
              <a:spcBef>
                <a:spcPts val="300"/>
              </a:spcBef>
            </a:pPr>
            <a:r>
              <a:rPr lang="en-US" altLang="en-US" sz="2000" dirty="0"/>
              <a:t>Host-attached storage accessed through I/O ports talking to </a:t>
            </a:r>
            <a:r>
              <a:rPr lang="en-US" altLang="en-US" sz="2000" b="1" dirty="0">
                <a:solidFill>
                  <a:srgbClr val="006699"/>
                </a:solidFill>
                <a:latin typeface="+mj-lt"/>
              </a:rPr>
              <a:t>I/O</a:t>
            </a:r>
            <a:r>
              <a:rPr lang="en-US" altLang="en-US" sz="2000" b="1" dirty="0">
                <a:solidFill>
                  <a:srgbClr val="3366FF"/>
                </a:solidFill>
              </a:rPr>
              <a:t> </a:t>
            </a:r>
            <a:r>
              <a:rPr lang="en-US" altLang="en-US" sz="2000" b="1" dirty="0">
                <a:solidFill>
                  <a:srgbClr val="006699"/>
                </a:solidFill>
                <a:latin typeface="+mj-lt"/>
              </a:rPr>
              <a:t>busses</a:t>
            </a:r>
          </a:p>
          <a:p>
            <a:pPr>
              <a:spcBef>
                <a:spcPts val="300"/>
              </a:spcBef>
            </a:pPr>
            <a:r>
              <a:rPr lang="en-US" altLang="en-US" sz="2000" dirty="0"/>
              <a:t>Several busses available, including </a:t>
            </a:r>
            <a:r>
              <a:rPr lang="en-US" altLang="en-US" sz="2000" b="1" dirty="0">
                <a:solidFill>
                  <a:srgbClr val="006699"/>
                </a:solidFill>
                <a:latin typeface="+mj-lt"/>
              </a:rPr>
              <a:t>advanced</a:t>
            </a:r>
            <a:r>
              <a:rPr lang="en-US" altLang="en-US" sz="2000" b="1" dirty="0">
                <a:solidFill>
                  <a:srgbClr val="3366FF"/>
                </a:solidFill>
              </a:rPr>
              <a:t> </a:t>
            </a:r>
            <a:r>
              <a:rPr lang="en-US" altLang="en-US" sz="2000" b="1" dirty="0">
                <a:solidFill>
                  <a:srgbClr val="006699"/>
                </a:solidFill>
                <a:latin typeface="+mj-lt"/>
              </a:rPr>
              <a:t>technology</a:t>
            </a:r>
            <a:r>
              <a:rPr lang="en-US" altLang="en-US" sz="2000" b="1" dirty="0">
                <a:solidFill>
                  <a:srgbClr val="3366FF"/>
                </a:solidFill>
              </a:rPr>
              <a:t> </a:t>
            </a:r>
            <a:r>
              <a:rPr lang="en-US" altLang="en-US" sz="2000" b="1" dirty="0">
                <a:solidFill>
                  <a:srgbClr val="006699"/>
                </a:solidFill>
                <a:latin typeface="+mj-lt"/>
              </a:rPr>
              <a:t>attachment</a:t>
            </a:r>
            <a:r>
              <a:rPr lang="en-US" altLang="en-US" sz="2000" dirty="0"/>
              <a:t> (</a:t>
            </a:r>
            <a:r>
              <a:rPr lang="en-US" altLang="en-US" sz="2000" b="1" dirty="0">
                <a:solidFill>
                  <a:srgbClr val="006699"/>
                </a:solidFill>
                <a:latin typeface="+mj-lt"/>
              </a:rPr>
              <a:t>ATA</a:t>
            </a:r>
            <a:r>
              <a:rPr lang="en-US" altLang="en-US" sz="2000" dirty="0"/>
              <a:t>), </a:t>
            </a:r>
            <a:r>
              <a:rPr lang="en-US" altLang="en-US" sz="2000" b="1" dirty="0">
                <a:solidFill>
                  <a:srgbClr val="006699"/>
                </a:solidFill>
                <a:latin typeface="+mj-lt"/>
              </a:rPr>
              <a:t>serial</a:t>
            </a:r>
            <a:r>
              <a:rPr lang="en-US" altLang="en-US" sz="2000" b="1" dirty="0">
                <a:solidFill>
                  <a:srgbClr val="3366FF"/>
                </a:solidFill>
              </a:rPr>
              <a:t> </a:t>
            </a:r>
            <a:r>
              <a:rPr lang="en-US" altLang="en-US" sz="2000" b="1" dirty="0">
                <a:solidFill>
                  <a:srgbClr val="006699"/>
                </a:solidFill>
                <a:latin typeface="+mj-lt"/>
              </a:rPr>
              <a:t>ATA</a:t>
            </a:r>
            <a:r>
              <a:rPr lang="en-US" altLang="en-US" sz="2000" b="1" dirty="0">
                <a:solidFill>
                  <a:srgbClr val="3366FF"/>
                </a:solidFill>
              </a:rPr>
              <a:t> </a:t>
            </a:r>
            <a:r>
              <a:rPr lang="en-US" altLang="en-US" sz="2000" dirty="0"/>
              <a:t>(</a:t>
            </a:r>
            <a:r>
              <a:rPr lang="en-US" altLang="en-US" sz="2000" b="1" dirty="0">
                <a:solidFill>
                  <a:srgbClr val="006699"/>
                </a:solidFill>
                <a:latin typeface="+mj-lt"/>
              </a:rPr>
              <a:t>SATA</a:t>
            </a:r>
            <a:r>
              <a:rPr lang="en-US" altLang="en-US" sz="2000" dirty="0"/>
              <a:t>), </a:t>
            </a:r>
            <a:r>
              <a:rPr lang="en-US" altLang="en-US" sz="2000" b="1" dirty="0" err="1">
                <a:solidFill>
                  <a:srgbClr val="006699"/>
                </a:solidFill>
                <a:latin typeface="+mj-lt"/>
              </a:rPr>
              <a:t>eSATA</a:t>
            </a:r>
            <a:r>
              <a:rPr lang="en-US" altLang="en-US" sz="2000" dirty="0"/>
              <a:t>, </a:t>
            </a:r>
            <a:r>
              <a:rPr lang="en-US" altLang="en-US" sz="2000" b="1" dirty="0">
                <a:solidFill>
                  <a:srgbClr val="006699"/>
                </a:solidFill>
                <a:latin typeface="+mj-lt"/>
              </a:rPr>
              <a:t>serial</a:t>
            </a:r>
            <a:r>
              <a:rPr lang="en-US" altLang="en-US" sz="2000" b="1" dirty="0">
                <a:solidFill>
                  <a:srgbClr val="3366FF"/>
                </a:solidFill>
              </a:rPr>
              <a:t> </a:t>
            </a:r>
            <a:r>
              <a:rPr lang="en-US" altLang="en-US" sz="2000" b="1" dirty="0">
                <a:solidFill>
                  <a:srgbClr val="006699"/>
                </a:solidFill>
                <a:latin typeface="+mj-lt"/>
              </a:rPr>
              <a:t>attached</a:t>
            </a:r>
            <a:r>
              <a:rPr lang="en-US" altLang="en-US" sz="2000" b="1" dirty="0">
                <a:solidFill>
                  <a:srgbClr val="3366FF"/>
                </a:solidFill>
              </a:rPr>
              <a:t> </a:t>
            </a:r>
            <a:r>
              <a:rPr lang="en-US" altLang="en-US" sz="2000" b="1" dirty="0">
                <a:solidFill>
                  <a:srgbClr val="006699"/>
                </a:solidFill>
                <a:latin typeface="+mj-lt"/>
              </a:rPr>
              <a:t>SCSI</a:t>
            </a:r>
            <a:r>
              <a:rPr lang="en-US" altLang="en-US" sz="2000" dirty="0"/>
              <a:t> (</a:t>
            </a:r>
            <a:r>
              <a:rPr lang="en-US" altLang="en-US" sz="2000" b="1" dirty="0">
                <a:solidFill>
                  <a:srgbClr val="006699"/>
                </a:solidFill>
                <a:latin typeface="+mj-lt"/>
              </a:rPr>
              <a:t>SAS</a:t>
            </a:r>
            <a:r>
              <a:rPr lang="en-US" altLang="en-US" sz="2000" dirty="0"/>
              <a:t>), </a:t>
            </a:r>
            <a:r>
              <a:rPr lang="en-US" altLang="en-US" sz="2000" b="1" dirty="0">
                <a:solidFill>
                  <a:srgbClr val="006699"/>
                </a:solidFill>
                <a:latin typeface="+mj-lt"/>
              </a:rPr>
              <a:t>universal</a:t>
            </a:r>
            <a:r>
              <a:rPr lang="en-US" altLang="en-US" sz="2000" b="1" dirty="0">
                <a:solidFill>
                  <a:srgbClr val="3366FF"/>
                </a:solidFill>
              </a:rPr>
              <a:t> </a:t>
            </a:r>
            <a:r>
              <a:rPr lang="en-US" altLang="en-US" sz="2000" b="1" dirty="0">
                <a:solidFill>
                  <a:srgbClr val="006699"/>
                </a:solidFill>
                <a:latin typeface="+mj-lt"/>
              </a:rPr>
              <a:t>serial</a:t>
            </a:r>
            <a:r>
              <a:rPr lang="en-US" altLang="en-US" sz="2000" b="1" dirty="0">
                <a:solidFill>
                  <a:srgbClr val="3366FF"/>
                </a:solidFill>
              </a:rPr>
              <a:t> </a:t>
            </a:r>
            <a:r>
              <a:rPr lang="en-US" altLang="en-US" sz="2000" b="1" dirty="0">
                <a:solidFill>
                  <a:srgbClr val="006699"/>
                </a:solidFill>
                <a:latin typeface="+mj-lt"/>
              </a:rPr>
              <a:t>bus</a:t>
            </a:r>
            <a:r>
              <a:rPr lang="en-US" altLang="en-US" sz="2000" b="1" dirty="0">
                <a:solidFill>
                  <a:srgbClr val="3366FF"/>
                </a:solidFill>
              </a:rPr>
              <a:t> </a:t>
            </a:r>
            <a:r>
              <a:rPr lang="en-US" altLang="en-US" sz="2000" dirty="0"/>
              <a:t>(</a:t>
            </a:r>
            <a:r>
              <a:rPr lang="en-US" altLang="en-US" sz="2000" b="1" dirty="0">
                <a:solidFill>
                  <a:srgbClr val="006699"/>
                </a:solidFill>
                <a:latin typeface="+mj-lt"/>
              </a:rPr>
              <a:t>USB</a:t>
            </a:r>
            <a:r>
              <a:rPr lang="en-US" altLang="en-US" sz="2000" dirty="0"/>
              <a:t>), and </a:t>
            </a:r>
            <a:r>
              <a:rPr lang="en-US" altLang="en-US" sz="2000" b="1" dirty="0">
                <a:solidFill>
                  <a:srgbClr val="006699"/>
                </a:solidFill>
                <a:latin typeface="+mj-lt"/>
              </a:rPr>
              <a:t>fibre</a:t>
            </a:r>
            <a:r>
              <a:rPr lang="en-US" altLang="en-US" sz="2000" b="1" dirty="0">
                <a:solidFill>
                  <a:srgbClr val="3366FF"/>
                </a:solidFill>
              </a:rPr>
              <a:t> </a:t>
            </a:r>
            <a:r>
              <a:rPr lang="en-US" altLang="en-US" sz="2000" b="1" dirty="0">
                <a:solidFill>
                  <a:srgbClr val="006699"/>
                </a:solidFill>
                <a:latin typeface="+mj-lt"/>
              </a:rPr>
              <a:t>channel</a:t>
            </a:r>
            <a:r>
              <a:rPr lang="en-US" altLang="en-US" sz="2000" b="1" dirty="0">
                <a:solidFill>
                  <a:srgbClr val="3366FF"/>
                </a:solidFill>
              </a:rPr>
              <a:t> </a:t>
            </a:r>
            <a:r>
              <a:rPr lang="en-US" altLang="en-US" sz="2000" dirty="0"/>
              <a:t>(</a:t>
            </a:r>
            <a:r>
              <a:rPr lang="en-US" altLang="en-US" sz="2000" b="1" dirty="0">
                <a:solidFill>
                  <a:srgbClr val="006699"/>
                </a:solidFill>
                <a:latin typeface="+mj-lt"/>
              </a:rPr>
              <a:t>FC</a:t>
            </a:r>
            <a:r>
              <a:rPr lang="en-US" altLang="en-US" sz="2000" dirty="0"/>
              <a:t>).</a:t>
            </a:r>
          </a:p>
          <a:p>
            <a:pPr>
              <a:spcBef>
                <a:spcPts val="300"/>
              </a:spcBef>
            </a:pPr>
            <a:r>
              <a:rPr lang="en-US" altLang="en-US" sz="2000" dirty="0"/>
              <a:t>Most common is SATA</a:t>
            </a:r>
          </a:p>
          <a:p>
            <a:pPr>
              <a:spcBef>
                <a:spcPts val="300"/>
              </a:spcBef>
            </a:pPr>
            <a:r>
              <a:rPr lang="en-US" altLang="en-US" sz="2000" dirty="0"/>
              <a:t>Because NVM much faster than HDD, new fast interface for NVM called </a:t>
            </a:r>
            <a:r>
              <a:rPr lang="en-US" altLang="en-US" sz="2000" b="1" dirty="0">
                <a:solidFill>
                  <a:srgbClr val="006699"/>
                </a:solidFill>
                <a:latin typeface="+mj-lt"/>
              </a:rPr>
              <a:t>NVM</a:t>
            </a:r>
            <a:r>
              <a:rPr lang="en-US" altLang="en-US" sz="2000" b="1" dirty="0">
                <a:solidFill>
                  <a:srgbClr val="3366FF"/>
                </a:solidFill>
              </a:rPr>
              <a:t> </a:t>
            </a:r>
            <a:r>
              <a:rPr lang="en-US" altLang="en-US" sz="2000" b="1" dirty="0">
                <a:solidFill>
                  <a:srgbClr val="006699"/>
                </a:solidFill>
                <a:latin typeface="+mj-lt"/>
              </a:rPr>
              <a:t>express</a:t>
            </a:r>
            <a:r>
              <a:rPr lang="en-US" altLang="en-US" sz="2000" b="1" dirty="0">
                <a:solidFill>
                  <a:srgbClr val="3366FF"/>
                </a:solidFill>
              </a:rPr>
              <a:t> </a:t>
            </a:r>
            <a:r>
              <a:rPr lang="en-US" altLang="en-US" sz="2000" dirty="0"/>
              <a:t>(</a:t>
            </a:r>
            <a:r>
              <a:rPr lang="en-US" altLang="en-US" sz="2000" b="1" dirty="0" err="1">
                <a:solidFill>
                  <a:srgbClr val="006699"/>
                </a:solidFill>
                <a:latin typeface="+mj-lt"/>
              </a:rPr>
              <a:t>NVMe</a:t>
            </a:r>
            <a:r>
              <a:rPr lang="en-US" altLang="en-US" sz="2000" dirty="0"/>
              <a:t>), connecting directly to PCI bus</a:t>
            </a:r>
          </a:p>
          <a:p>
            <a:pPr>
              <a:spcBef>
                <a:spcPts val="300"/>
              </a:spcBef>
            </a:pPr>
            <a:r>
              <a:rPr lang="en-US" altLang="en-US" sz="2000" dirty="0"/>
              <a:t>Data transfers on a bus carried out by special electronic processors called </a:t>
            </a:r>
            <a:r>
              <a:rPr lang="en-US" altLang="en-US" sz="2000" b="1" dirty="0">
                <a:solidFill>
                  <a:srgbClr val="006699"/>
                </a:solidFill>
                <a:latin typeface="+mj-lt"/>
              </a:rPr>
              <a:t>controllers</a:t>
            </a:r>
            <a:r>
              <a:rPr lang="en-US" altLang="en-US" sz="2000" dirty="0"/>
              <a:t> (or </a:t>
            </a:r>
            <a:r>
              <a:rPr lang="en-US" altLang="en-US" sz="2000" b="1" dirty="0">
                <a:solidFill>
                  <a:srgbClr val="006699"/>
                </a:solidFill>
                <a:latin typeface="+mj-lt"/>
              </a:rPr>
              <a:t>host-bus</a:t>
            </a:r>
            <a:r>
              <a:rPr lang="en-US" altLang="en-US" sz="2000" b="1" dirty="0">
                <a:solidFill>
                  <a:srgbClr val="3366FF"/>
                </a:solidFill>
              </a:rPr>
              <a:t> </a:t>
            </a:r>
            <a:r>
              <a:rPr lang="en-US" altLang="en-US" sz="2000" b="1" dirty="0">
                <a:solidFill>
                  <a:srgbClr val="006699"/>
                </a:solidFill>
                <a:latin typeface="+mj-lt"/>
              </a:rPr>
              <a:t>adapters</a:t>
            </a:r>
            <a:r>
              <a:rPr lang="en-US" altLang="en-US" sz="2000" dirty="0"/>
              <a:t>, </a:t>
            </a:r>
            <a:r>
              <a:rPr lang="en-US" altLang="en-US" sz="2000" b="1" dirty="0">
                <a:solidFill>
                  <a:srgbClr val="006699"/>
                </a:solidFill>
                <a:latin typeface="+mj-lt"/>
              </a:rPr>
              <a:t>HBAs</a:t>
            </a:r>
            <a:r>
              <a:rPr lang="en-US" altLang="en-US" sz="2000" dirty="0"/>
              <a:t>)</a:t>
            </a:r>
          </a:p>
          <a:p>
            <a:pPr lvl="1">
              <a:spcBef>
                <a:spcPts val="300"/>
              </a:spcBef>
            </a:pPr>
            <a:r>
              <a:rPr lang="en-US" altLang="en-US" sz="2000" dirty="0"/>
              <a:t>Host controller on the computer end of the bus, device controller on device end</a:t>
            </a:r>
          </a:p>
          <a:p>
            <a:pPr lvl="1">
              <a:spcBef>
                <a:spcPts val="300"/>
              </a:spcBef>
            </a:pPr>
            <a:r>
              <a:rPr lang="en-US" altLang="en-US" sz="2000" dirty="0"/>
              <a:t>Computer places command on host controller, using memory-mapped I/O ports</a:t>
            </a:r>
          </a:p>
          <a:p>
            <a:pPr lvl="2">
              <a:spcBef>
                <a:spcPts val="300"/>
              </a:spcBef>
            </a:pPr>
            <a:r>
              <a:rPr lang="en-US" altLang="en-US" sz="2000" dirty="0"/>
              <a:t>Host controller sends messages to device controller</a:t>
            </a:r>
          </a:p>
          <a:p>
            <a:pPr lvl="2">
              <a:spcBef>
                <a:spcPts val="300"/>
              </a:spcBef>
            </a:pPr>
            <a:r>
              <a:rPr lang="en-US" altLang="en-US" sz="2000" dirty="0"/>
              <a:t>Data transferred via DMA between device and computer DRAM</a:t>
            </a:r>
          </a:p>
          <a:p>
            <a:pPr lvl="2">
              <a:spcBef>
                <a:spcPts val="300"/>
              </a:spcBef>
            </a:pPr>
            <a:endParaRPr lang="en-US"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B971EB10-ED19-4612-80EF-9F4AC54BBBEF}"/>
              </a:ext>
            </a:extLst>
          </p:cNvPr>
          <p:cNvSpPr>
            <a:spLocks noGrp="1" noChangeArrowheads="1"/>
          </p:cNvSpPr>
          <p:nvPr>
            <p:ph type="title"/>
          </p:nvPr>
        </p:nvSpPr>
        <p:spPr>
          <a:xfrm>
            <a:off x="774243" y="248885"/>
            <a:ext cx="7781925" cy="576263"/>
          </a:xfrm>
        </p:spPr>
        <p:txBody>
          <a:bodyPr/>
          <a:lstStyle/>
          <a:p>
            <a:pPr eaLnBrk="1" hangingPunct="1"/>
            <a:r>
              <a:rPr lang="en-US" altLang="en-US" dirty="0"/>
              <a:t>Address Mapping</a:t>
            </a:r>
          </a:p>
        </p:txBody>
      </p:sp>
      <p:sp>
        <p:nvSpPr>
          <p:cNvPr id="28674" name="Rectangle 3">
            <a:extLst>
              <a:ext uri="{FF2B5EF4-FFF2-40B4-BE49-F238E27FC236}">
                <a16:creationId xmlns:a16="http://schemas.microsoft.com/office/drawing/2014/main" id="{0196AB48-1ED6-472E-9C8A-4F0810A7F89C}"/>
              </a:ext>
            </a:extLst>
          </p:cNvPr>
          <p:cNvSpPr>
            <a:spLocks noGrp="1" noChangeArrowheads="1"/>
          </p:cNvSpPr>
          <p:nvPr>
            <p:ph type="body" idx="1"/>
          </p:nvPr>
        </p:nvSpPr>
        <p:spPr>
          <a:xfrm>
            <a:off x="774243" y="905494"/>
            <a:ext cx="7996411" cy="5218860"/>
          </a:xfrm>
        </p:spPr>
        <p:txBody>
          <a:bodyPr/>
          <a:lstStyle/>
          <a:p>
            <a:pPr>
              <a:spcBef>
                <a:spcPts val="600"/>
              </a:spcBef>
            </a:pPr>
            <a:r>
              <a:rPr lang="en-US" altLang="en-US" sz="2000" dirty="0"/>
              <a:t>Disk drives are addressed as large 1-dimensional arrays of </a:t>
            </a:r>
            <a:r>
              <a:rPr lang="en-US" altLang="en-US" sz="2000" b="1" dirty="0">
                <a:solidFill>
                  <a:srgbClr val="006699"/>
                </a:solidFill>
                <a:latin typeface="+mj-lt"/>
              </a:rPr>
              <a:t>logical</a:t>
            </a:r>
            <a:r>
              <a:rPr lang="en-US" altLang="en-US" sz="2000" b="1" dirty="0">
                <a:solidFill>
                  <a:srgbClr val="3366FF"/>
                </a:solidFill>
              </a:rPr>
              <a:t> </a:t>
            </a:r>
            <a:r>
              <a:rPr lang="en-US" altLang="en-US" sz="2000" b="1" dirty="0">
                <a:solidFill>
                  <a:srgbClr val="006699"/>
                </a:solidFill>
                <a:latin typeface="+mj-lt"/>
              </a:rPr>
              <a:t>blocks</a:t>
            </a:r>
            <a:r>
              <a:rPr lang="en-US" altLang="en-US" sz="2000" dirty="0"/>
              <a:t>, where the logical block is the smallest unit of transfer</a:t>
            </a:r>
          </a:p>
          <a:p>
            <a:pPr lvl="1">
              <a:spcBef>
                <a:spcPts val="600"/>
              </a:spcBef>
            </a:pPr>
            <a:r>
              <a:rPr lang="en-US" altLang="en-US" sz="2000" dirty="0"/>
              <a:t>Low-level formatting creates </a:t>
            </a:r>
            <a:r>
              <a:rPr lang="en-US" altLang="en-US" sz="2000" b="1" dirty="0">
                <a:solidFill>
                  <a:srgbClr val="006699"/>
                </a:solidFill>
                <a:latin typeface="+mj-lt"/>
              </a:rPr>
              <a:t>logical</a:t>
            </a:r>
            <a:r>
              <a:rPr lang="en-US" altLang="en-US" sz="2000" b="1" dirty="0">
                <a:solidFill>
                  <a:srgbClr val="3366FF"/>
                </a:solidFill>
              </a:rPr>
              <a:t> </a:t>
            </a:r>
            <a:r>
              <a:rPr lang="en-US" altLang="en-US" sz="2000" b="1" dirty="0">
                <a:solidFill>
                  <a:srgbClr val="006699"/>
                </a:solidFill>
                <a:latin typeface="+mj-lt"/>
              </a:rPr>
              <a:t>blocks</a:t>
            </a:r>
            <a:r>
              <a:rPr lang="en-US" altLang="en-US" sz="2000" b="1" dirty="0">
                <a:solidFill>
                  <a:srgbClr val="3366FF"/>
                </a:solidFill>
              </a:rPr>
              <a:t> </a:t>
            </a:r>
            <a:r>
              <a:rPr lang="en-US" altLang="en-US" sz="2000" dirty="0"/>
              <a:t>on physical media</a:t>
            </a:r>
          </a:p>
          <a:p>
            <a:pPr>
              <a:spcBef>
                <a:spcPts val="600"/>
              </a:spcBef>
            </a:pPr>
            <a:r>
              <a:rPr lang="en-US" altLang="en-US" sz="2000" dirty="0"/>
              <a:t>The 1-dimensional array of logical blocks is mapped into the sectors of the disk sequentially</a:t>
            </a:r>
          </a:p>
          <a:p>
            <a:pPr lvl="1">
              <a:spcBef>
                <a:spcPts val="600"/>
              </a:spcBef>
            </a:pPr>
            <a:r>
              <a:rPr lang="en-US" altLang="en-US" sz="2000" dirty="0"/>
              <a:t>Sector 0 is the first sector of the first track on the outermost cylinder</a:t>
            </a:r>
          </a:p>
          <a:p>
            <a:pPr lvl="1">
              <a:spcBef>
                <a:spcPts val="600"/>
              </a:spcBef>
            </a:pPr>
            <a:r>
              <a:rPr lang="en-US" altLang="en-US" sz="2000" dirty="0"/>
              <a:t>Mapping proceeds in order through that track, then the rest of the tracks in that cylinder, and then through the rest of the cylinders from outermost to innermost</a:t>
            </a:r>
          </a:p>
          <a:p>
            <a:pPr lvl="1">
              <a:spcBef>
                <a:spcPts val="600"/>
              </a:spcBef>
            </a:pPr>
            <a:r>
              <a:rPr lang="en-US" altLang="en-US" sz="2000" dirty="0"/>
              <a:t>Logical to physical address should be easy</a:t>
            </a:r>
          </a:p>
          <a:p>
            <a:pPr lvl="2">
              <a:spcBef>
                <a:spcPts val="600"/>
              </a:spcBef>
            </a:pPr>
            <a:r>
              <a:rPr lang="en-US" altLang="en-US" sz="2000" dirty="0"/>
              <a:t>Except for bad sectors</a:t>
            </a:r>
          </a:p>
          <a:p>
            <a:pPr lvl="2">
              <a:spcBef>
                <a:spcPts val="600"/>
              </a:spcBef>
            </a:pPr>
            <a:r>
              <a:rPr lang="en-US" altLang="en-US" sz="2000" dirty="0"/>
              <a:t>Non-constant # of sectors per track via constant angular velocity</a:t>
            </a:r>
          </a:p>
          <a:p>
            <a:pPr>
              <a:spcBef>
                <a:spcPts val="600"/>
              </a:spcBef>
            </a:pPr>
            <a:endParaRPr lang="en-US" alt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582CBB62-C829-4779-8678-A071236DD7A2}"/>
              </a:ext>
            </a:extLst>
          </p:cNvPr>
          <p:cNvSpPr>
            <a:spLocks noGrp="1" noChangeArrowheads="1"/>
          </p:cNvSpPr>
          <p:nvPr>
            <p:ph type="title"/>
          </p:nvPr>
        </p:nvSpPr>
        <p:spPr>
          <a:xfrm>
            <a:off x="541175" y="242923"/>
            <a:ext cx="8033655" cy="576263"/>
          </a:xfrm>
        </p:spPr>
        <p:txBody>
          <a:bodyPr/>
          <a:lstStyle/>
          <a:p>
            <a:pPr eaLnBrk="1" hangingPunct="1"/>
            <a:r>
              <a:rPr lang="en-US" altLang="en-US" dirty="0"/>
              <a:t>Disk Scheduling (1)</a:t>
            </a:r>
          </a:p>
        </p:txBody>
      </p:sp>
      <p:sp>
        <p:nvSpPr>
          <p:cNvPr id="30722" name="Rectangle 3">
            <a:extLst>
              <a:ext uri="{FF2B5EF4-FFF2-40B4-BE49-F238E27FC236}">
                <a16:creationId xmlns:a16="http://schemas.microsoft.com/office/drawing/2014/main" id="{0626E070-8E8E-4878-9FD8-18E6E7F01B60}"/>
              </a:ext>
            </a:extLst>
          </p:cNvPr>
          <p:cNvSpPr>
            <a:spLocks noGrp="1" noChangeArrowheads="1"/>
          </p:cNvSpPr>
          <p:nvPr>
            <p:ph type="body" idx="1"/>
          </p:nvPr>
        </p:nvSpPr>
        <p:spPr>
          <a:xfrm>
            <a:off x="888999" y="982040"/>
            <a:ext cx="7685831" cy="2962640"/>
          </a:xfrm>
        </p:spPr>
        <p:txBody>
          <a:bodyPr/>
          <a:lstStyle/>
          <a:p>
            <a:r>
              <a:rPr lang="en-US" altLang="en-US" sz="2000" dirty="0"/>
              <a:t>The operating system is responsible for using hardware efficiently — for the disk drives, this means having a fast access time and disk bandwidth</a:t>
            </a:r>
          </a:p>
          <a:p>
            <a:r>
              <a:rPr lang="en-US" altLang="en-US" sz="2000" dirty="0"/>
              <a:t>Minimize seek time</a:t>
            </a:r>
          </a:p>
          <a:p>
            <a:r>
              <a:rPr lang="en-US" altLang="en-US" sz="2000" dirty="0"/>
              <a:t>Seek time </a:t>
            </a:r>
            <a:r>
              <a:rPr lang="en-US" altLang="en-US" sz="2000" dirty="0">
                <a:sym typeface="Symbol" panose="05050102010706020507" pitchFamily="18" charset="2"/>
              </a:rPr>
              <a:t> seek distance</a:t>
            </a:r>
          </a:p>
          <a:p>
            <a:r>
              <a:rPr lang="en-US" altLang="en-US" sz="2000" dirty="0">
                <a:sym typeface="Symbol" panose="05050102010706020507" pitchFamily="18" charset="2"/>
              </a:rPr>
              <a:t>Disk </a:t>
            </a:r>
            <a:r>
              <a:rPr lang="en-US" altLang="en-US" sz="2000" b="1" dirty="0">
                <a:solidFill>
                  <a:srgbClr val="006699"/>
                </a:solidFill>
                <a:latin typeface="+mj-lt"/>
                <a:sym typeface="Symbol" panose="05050102010706020507" pitchFamily="18" charset="2"/>
              </a:rPr>
              <a:t>bandwidth</a:t>
            </a:r>
            <a:r>
              <a:rPr lang="en-US" altLang="en-US" sz="2000" dirty="0">
                <a:solidFill>
                  <a:srgbClr val="3366FF"/>
                </a:solidFill>
                <a:sym typeface="Symbol" panose="05050102010706020507" pitchFamily="18" charset="2"/>
              </a:rPr>
              <a:t> </a:t>
            </a:r>
            <a:r>
              <a:rPr lang="en-US" altLang="en-US" sz="2000" dirty="0">
                <a:sym typeface="Symbol" panose="05050102010706020507" pitchFamily="18" charset="2"/>
              </a:rPr>
              <a:t>is the total number of bytes transferred, divided by the total time between the first request for service and the completion of the last transfer</a:t>
            </a:r>
          </a:p>
          <a:p>
            <a:endParaRPr lang="en-US"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2B26D467-CCC5-4C93-927A-34F9C8FE37BA}"/>
              </a:ext>
            </a:extLst>
          </p:cNvPr>
          <p:cNvSpPr>
            <a:spLocks noGrp="1" noChangeArrowheads="1"/>
          </p:cNvSpPr>
          <p:nvPr>
            <p:ph type="title"/>
          </p:nvPr>
        </p:nvSpPr>
        <p:spPr>
          <a:xfrm>
            <a:off x="711200" y="243927"/>
            <a:ext cx="7975600" cy="576262"/>
          </a:xfrm>
        </p:spPr>
        <p:txBody>
          <a:bodyPr/>
          <a:lstStyle/>
          <a:p>
            <a:pPr eaLnBrk="1" hangingPunct="1"/>
            <a:r>
              <a:rPr lang="en-US" altLang="en-US" dirty="0"/>
              <a:t>Disk Scheduling (2)</a:t>
            </a:r>
          </a:p>
        </p:txBody>
      </p:sp>
      <p:sp>
        <p:nvSpPr>
          <p:cNvPr id="32770" name="Rectangle 3">
            <a:extLst>
              <a:ext uri="{FF2B5EF4-FFF2-40B4-BE49-F238E27FC236}">
                <a16:creationId xmlns:a16="http://schemas.microsoft.com/office/drawing/2014/main" id="{68360F9B-A786-47CC-83A9-FE6E74087C55}"/>
              </a:ext>
            </a:extLst>
          </p:cNvPr>
          <p:cNvSpPr>
            <a:spLocks noGrp="1" noChangeArrowheads="1"/>
          </p:cNvSpPr>
          <p:nvPr>
            <p:ph type="body" idx="1"/>
          </p:nvPr>
        </p:nvSpPr>
        <p:spPr>
          <a:xfrm>
            <a:off x="743079" y="928247"/>
            <a:ext cx="7975600" cy="5206740"/>
          </a:xfrm>
        </p:spPr>
        <p:txBody>
          <a:bodyPr/>
          <a:lstStyle/>
          <a:p>
            <a:pPr>
              <a:spcBef>
                <a:spcPts val="300"/>
              </a:spcBef>
              <a:tabLst>
                <a:tab pos="1708150" algn="l"/>
              </a:tabLst>
            </a:pPr>
            <a:r>
              <a:rPr lang="en-US" altLang="en-US" sz="2000" dirty="0"/>
              <a:t>There are many sources of disk I/O request</a:t>
            </a:r>
          </a:p>
          <a:p>
            <a:pPr lvl="1">
              <a:spcBef>
                <a:spcPts val="300"/>
              </a:spcBef>
              <a:tabLst>
                <a:tab pos="1708150" algn="l"/>
              </a:tabLst>
            </a:pPr>
            <a:r>
              <a:rPr lang="en-US" altLang="en-US" sz="2000" dirty="0"/>
              <a:t>OS</a:t>
            </a:r>
          </a:p>
          <a:p>
            <a:pPr lvl="1">
              <a:spcBef>
                <a:spcPts val="300"/>
              </a:spcBef>
              <a:tabLst>
                <a:tab pos="1708150" algn="l"/>
              </a:tabLst>
            </a:pPr>
            <a:r>
              <a:rPr lang="en-US" altLang="en-US" sz="2000" dirty="0"/>
              <a:t>System processes</a:t>
            </a:r>
          </a:p>
          <a:p>
            <a:pPr lvl="1">
              <a:spcBef>
                <a:spcPts val="300"/>
              </a:spcBef>
              <a:tabLst>
                <a:tab pos="1708150" algn="l"/>
              </a:tabLst>
            </a:pPr>
            <a:r>
              <a:rPr lang="en-US" altLang="en-US" sz="2000" dirty="0"/>
              <a:t>Users processes</a:t>
            </a:r>
          </a:p>
          <a:p>
            <a:pPr>
              <a:spcBef>
                <a:spcPts val="300"/>
              </a:spcBef>
              <a:tabLst>
                <a:tab pos="1708150" algn="l"/>
              </a:tabLst>
            </a:pPr>
            <a:r>
              <a:rPr lang="en-US" altLang="en-US" sz="2000" dirty="0"/>
              <a:t>I/O request includes input or output mode, disk address, memory address, number of sectors to transfer</a:t>
            </a:r>
          </a:p>
          <a:p>
            <a:pPr>
              <a:spcBef>
                <a:spcPts val="300"/>
              </a:spcBef>
              <a:tabLst>
                <a:tab pos="1708150" algn="l"/>
              </a:tabLst>
            </a:pPr>
            <a:r>
              <a:rPr lang="en-US" altLang="en-US" sz="2000" dirty="0"/>
              <a:t>OS maintains queue of requests, per disk or device</a:t>
            </a:r>
          </a:p>
          <a:p>
            <a:pPr>
              <a:spcBef>
                <a:spcPts val="300"/>
              </a:spcBef>
              <a:tabLst>
                <a:tab pos="1708150" algn="l"/>
              </a:tabLst>
            </a:pPr>
            <a:r>
              <a:rPr lang="en-US" altLang="en-US" sz="2000" dirty="0"/>
              <a:t>Idle disk can immediately work on I/O request, busy disk means work must queue</a:t>
            </a:r>
          </a:p>
          <a:p>
            <a:pPr lvl="1">
              <a:spcBef>
                <a:spcPts val="300"/>
              </a:spcBef>
              <a:tabLst>
                <a:tab pos="1708150" algn="l"/>
              </a:tabLst>
            </a:pPr>
            <a:r>
              <a:rPr lang="en-US" altLang="en-US" sz="2000" dirty="0"/>
              <a:t>Optimization algorithms only make sense when a queue exists</a:t>
            </a:r>
          </a:p>
          <a:p>
            <a:pPr>
              <a:spcBef>
                <a:spcPts val="300"/>
              </a:spcBef>
              <a:tabLst>
                <a:tab pos="1708150" algn="l"/>
              </a:tabLst>
            </a:pPr>
            <a:r>
              <a:rPr lang="en-US" altLang="en-US" sz="2000" dirty="0"/>
              <a:t>In the past, operating system responsible for queue management, disk drive head scheduling</a:t>
            </a:r>
          </a:p>
          <a:p>
            <a:pPr lvl="1">
              <a:spcBef>
                <a:spcPts val="300"/>
              </a:spcBef>
              <a:tabLst>
                <a:tab pos="1708150" algn="l"/>
              </a:tabLst>
            </a:pPr>
            <a:r>
              <a:rPr lang="en-US" altLang="en-US" sz="2000" dirty="0"/>
              <a:t>Now, built into the storage devices, controllers</a:t>
            </a:r>
          </a:p>
          <a:p>
            <a:pPr lvl="1">
              <a:spcBef>
                <a:spcPts val="300"/>
              </a:spcBef>
              <a:tabLst>
                <a:tab pos="1708150" algn="l"/>
              </a:tabLst>
            </a:pPr>
            <a:r>
              <a:rPr lang="en-US" altLang="en-US" sz="2000" dirty="0"/>
              <a:t>Just provide </a:t>
            </a:r>
            <a:r>
              <a:rPr lang="en-US" altLang="zh-CN" sz="2000" b="0" i="0" dirty="0">
                <a:solidFill>
                  <a:srgbClr val="474747"/>
                </a:solidFill>
                <a:effectLst/>
                <a:latin typeface="Arial" panose="020B0604020202020204" pitchFamily="34" charset="0"/>
              </a:rPr>
              <a:t>Logical Block Address (</a:t>
            </a:r>
            <a:r>
              <a:rPr lang="en-US" altLang="en-US" sz="2000" dirty="0"/>
              <a:t>LBA) to handle requests</a:t>
            </a:r>
          </a:p>
          <a:p>
            <a:pPr lvl="2">
              <a:spcBef>
                <a:spcPts val="300"/>
              </a:spcBef>
              <a:tabLst>
                <a:tab pos="1708150" algn="l"/>
              </a:tabLst>
            </a:pPr>
            <a:r>
              <a:rPr lang="en-US" altLang="en-US" sz="2000" dirty="0"/>
              <a:t>Some of the algorithms they use described next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B882F522-58AF-4B46-822C-48F663CB58B1}"/>
              </a:ext>
            </a:extLst>
          </p:cNvPr>
          <p:cNvSpPr>
            <a:spLocks noGrp="1" noChangeArrowheads="1"/>
          </p:cNvSpPr>
          <p:nvPr>
            <p:ph type="title"/>
          </p:nvPr>
        </p:nvSpPr>
        <p:spPr>
          <a:xfrm>
            <a:off x="711200" y="243926"/>
            <a:ext cx="7975600" cy="576262"/>
          </a:xfrm>
        </p:spPr>
        <p:txBody>
          <a:bodyPr/>
          <a:lstStyle/>
          <a:p>
            <a:pPr eaLnBrk="1" hangingPunct="1"/>
            <a:r>
              <a:rPr lang="en-US" altLang="en-US" dirty="0"/>
              <a:t>Disk Scheduling (3)</a:t>
            </a:r>
          </a:p>
        </p:txBody>
      </p:sp>
      <p:sp>
        <p:nvSpPr>
          <p:cNvPr id="34818" name="Rectangle 3">
            <a:extLst>
              <a:ext uri="{FF2B5EF4-FFF2-40B4-BE49-F238E27FC236}">
                <a16:creationId xmlns:a16="http://schemas.microsoft.com/office/drawing/2014/main" id="{E619F0A9-421A-45F4-89E4-595A6DE36D53}"/>
              </a:ext>
            </a:extLst>
          </p:cNvPr>
          <p:cNvSpPr>
            <a:spLocks noGrp="1" noChangeArrowheads="1"/>
          </p:cNvSpPr>
          <p:nvPr>
            <p:ph type="body" idx="1"/>
          </p:nvPr>
        </p:nvSpPr>
        <p:spPr>
          <a:xfrm>
            <a:off x="768592" y="1038225"/>
            <a:ext cx="7918207" cy="3172268"/>
          </a:xfrm>
        </p:spPr>
        <p:txBody>
          <a:bodyPr/>
          <a:lstStyle/>
          <a:p>
            <a:pPr>
              <a:tabLst>
                <a:tab pos="1708150" algn="l"/>
              </a:tabLst>
            </a:pPr>
            <a:r>
              <a:rPr lang="en-US" altLang="en-US" sz="2000" dirty="0"/>
              <a:t>Note that drive controllers have small buffers and can manage a queue of I/O requests (of varying </a:t>
            </a:r>
            <a:r>
              <a:rPr lang="ja-JP" altLang="en-US" sz="2000" dirty="0"/>
              <a:t>“</a:t>
            </a:r>
            <a:r>
              <a:rPr lang="en-US" altLang="ja-JP" sz="2000" dirty="0"/>
              <a:t>depth</a:t>
            </a:r>
            <a:r>
              <a:rPr lang="ja-JP" altLang="en-US" sz="2000" dirty="0"/>
              <a:t>”</a:t>
            </a:r>
            <a:r>
              <a:rPr lang="en-US" altLang="ja-JP" sz="2000" dirty="0"/>
              <a:t>)</a:t>
            </a:r>
            <a:endParaRPr lang="en-US" altLang="en-US" sz="2000" dirty="0"/>
          </a:p>
          <a:p>
            <a:pPr>
              <a:tabLst>
                <a:tab pos="1708150" algn="l"/>
              </a:tabLst>
            </a:pPr>
            <a:r>
              <a:rPr lang="en-US" altLang="en-US" sz="2000" dirty="0"/>
              <a:t>Several algorithms exist to schedule the servicing of disk I/O requests</a:t>
            </a:r>
          </a:p>
          <a:p>
            <a:pPr>
              <a:tabLst>
                <a:tab pos="1708150" algn="l"/>
              </a:tabLst>
            </a:pPr>
            <a:r>
              <a:rPr lang="en-US" altLang="en-US" sz="2000" dirty="0"/>
              <a:t>The analysis is true for one or many platters</a:t>
            </a:r>
          </a:p>
          <a:p>
            <a:pPr>
              <a:tabLst>
                <a:tab pos="1708150" algn="l"/>
              </a:tabLst>
            </a:pPr>
            <a:r>
              <a:rPr lang="en-US" altLang="en-US" sz="2000" dirty="0"/>
              <a:t>We illustrate scheduling algorithms with a request queue (0-199)</a:t>
            </a:r>
          </a:p>
          <a:p>
            <a:pPr>
              <a:buFont typeface="Monotype Sorts" pitchFamily="-84" charset="2"/>
              <a:buNone/>
              <a:tabLst>
                <a:tab pos="1708150" algn="l"/>
              </a:tabLst>
            </a:pPr>
            <a:r>
              <a:rPr lang="en-US" altLang="en-US" sz="2000" dirty="0"/>
              <a:t>	 		98, 183, 37, 122, 14, 124, 65, 67</a:t>
            </a:r>
          </a:p>
          <a:p>
            <a:pPr>
              <a:buFont typeface="Monotype Sorts" pitchFamily="-84" charset="2"/>
              <a:buNone/>
              <a:tabLst>
                <a:tab pos="1708150" algn="l"/>
              </a:tabLst>
            </a:pPr>
            <a:r>
              <a:rPr lang="en-US" altLang="en-US" sz="2000" dirty="0"/>
              <a:t>	Head pointer 53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54D5AC6F-0FCD-4021-A4B1-CF445DDFC959}"/>
              </a:ext>
            </a:extLst>
          </p:cNvPr>
          <p:cNvSpPr>
            <a:spLocks noGrp="1" noChangeArrowheads="1"/>
          </p:cNvSpPr>
          <p:nvPr>
            <p:ph type="title"/>
          </p:nvPr>
        </p:nvSpPr>
        <p:spPr>
          <a:xfrm>
            <a:off x="982663" y="239554"/>
            <a:ext cx="6950075" cy="576263"/>
          </a:xfrm>
        </p:spPr>
        <p:txBody>
          <a:bodyPr/>
          <a:lstStyle/>
          <a:p>
            <a:pPr eaLnBrk="1" hangingPunct="1"/>
            <a:r>
              <a:rPr lang="en-US" altLang="en-US" dirty="0"/>
              <a:t>FCFS</a:t>
            </a:r>
          </a:p>
        </p:txBody>
      </p:sp>
      <p:sp>
        <p:nvSpPr>
          <p:cNvPr id="36866" name="Text Box 4">
            <a:extLst>
              <a:ext uri="{FF2B5EF4-FFF2-40B4-BE49-F238E27FC236}">
                <a16:creationId xmlns:a16="http://schemas.microsoft.com/office/drawing/2014/main" id="{8097D222-759F-40FC-95D3-1A00440D5EE4}"/>
              </a:ext>
            </a:extLst>
          </p:cNvPr>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anose="020B0604020202020204" pitchFamily="34" charset="0"/>
              </a:rPr>
              <a:t>Illustration shows total head movement of 640 cylinders</a:t>
            </a:r>
          </a:p>
        </p:txBody>
      </p:sp>
      <p:pic>
        <p:nvPicPr>
          <p:cNvPr id="36867" name="Picture 6">
            <a:extLst>
              <a:ext uri="{FF2B5EF4-FFF2-40B4-BE49-F238E27FC236}">
                <a16:creationId xmlns:a16="http://schemas.microsoft.com/office/drawing/2014/main" id="{159710FD-52C7-4469-80D4-35B441FEA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794" y="167606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EC97A93C-1953-4F34-B4B3-919ADF291309}"/>
              </a:ext>
            </a:extLst>
          </p:cNvPr>
          <p:cNvSpPr>
            <a:spLocks noGrp="1" noChangeArrowheads="1"/>
          </p:cNvSpPr>
          <p:nvPr>
            <p:ph type="title"/>
          </p:nvPr>
        </p:nvSpPr>
        <p:spPr>
          <a:xfrm>
            <a:off x="457200" y="239554"/>
            <a:ext cx="7840663" cy="576263"/>
          </a:xfrm>
        </p:spPr>
        <p:txBody>
          <a:bodyPr/>
          <a:lstStyle/>
          <a:p>
            <a:pPr eaLnBrk="1" hangingPunct="1"/>
            <a:r>
              <a:rPr lang="en-US" altLang="en-US" dirty="0"/>
              <a:t>SCAN</a:t>
            </a:r>
          </a:p>
        </p:txBody>
      </p:sp>
      <p:sp>
        <p:nvSpPr>
          <p:cNvPr id="38914" name="Rectangle 3">
            <a:extLst>
              <a:ext uri="{FF2B5EF4-FFF2-40B4-BE49-F238E27FC236}">
                <a16:creationId xmlns:a16="http://schemas.microsoft.com/office/drawing/2014/main" id="{DDE1682A-9086-4A7F-94A9-B594F19563D6}"/>
              </a:ext>
            </a:extLst>
          </p:cNvPr>
          <p:cNvSpPr>
            <a:spLocks noGrp="1" noChangeArrowheads="1"/>
          </p:cNvSpPr>
          <p:nvPr>
            <p:ph type="body" idx="1"/>
          </p:nvPr>
        </p:nvSpPr>
        <p:spPr>
          <a:xfrm>
            <a:off x="783800" y="959553"/>
            <a:ext cx="7576400" cy="2315276"/>
          </a:xfrm>
        </p:spPr>
        <p:txBody>
          <a:bodyPr/>
          <a:lstStyle/>
          <a:p>
            <a:pPr>
              <a:spcBef>
                <a:spcPts val="600"/>
              </a:spcBef>
            </a:pPr>
            <a:r>
              <a:rPr lang="en-US" altLang="en-US" dirty="0"/>
              <a:t>The disk arm starts at one end of the disk, and moves toward the other end, servicing requests until it gets to the other end of the disk, where the head movement is reversed and servicing continues.</a:t>
            </a:r>
          </a:p>
          <a:p>
            <a:pPr>
              <a:spcBef>
                <a:spcPts val="600"/>
              </a:spcBef>
            </a:pPr>
            <a:r>
              <a:rPr lang="en-US" altLang="en-US" b="1" dirty="0">
                <a:solidFill>
                  <a:srgbClr val="006699"/>
                </a:solidFill>
                <a:latin typeface="+mj-lt"/>
              </a:rPr>
              <a:t>SCAN</a:t>
            </a:r>
            <a:r>
              <a:rPr lang="en-US" altLang="en-US" b="1" dirty="0">
                <a:solidFill>
                  <a:srgbClr val="3366FF"/>
                </a:solidFill>
              </a:rPr>
              <a:t> </a:t>
            </a:r>
            <a:r>
              <a:rPr lang="en-US" altLang="en-US" b="1" dirty="0">
                <a:solidFill>
                  <a:srgbClr val="006699"/>
                </a:solidFill>
                <a:latin typeface="+mj-lt"/>
              </a:rPr>
              <a:t>algorithm</a:t>
            </a:r>
            <a:r>
              <a:rPr lang="en-US" altLang="en-US" dirty="0">
                <a:solidFill>
                  <a:srgbClr val="3366FF"/>
                </a:solidFill>
              </a:rPr>
              <a:t> </a:t>
            </a:r>
            <a:r>
              <a:rPr lang="en-US" altLang="en-US" dirty="0"/>
              <a:t>Sometimes called the </a:t>
            </a:r>
            <a:r>
              <a:rPr lang="en-US" altLang="en-US" b="1" dirty="0">
                <a:solidFill>
                  <a:srgbClr val="006699"/>
                </a:solidFill>
                <a:latin typeface="+mj-lt"/>
              </a:rPr>
              <a:t>elevator</a:t>
            </a:r>
            <a:r>
              <a:rPr lang="en-US" altLang="en-US" b="1" dirty="0">
                <a:solidFill>
                  <a:srgbClr val="3366FF"/>
                </a:solidFill>
              </a:rPr>
              <a:t> </a:t>
            </a:r>
            <a:r>
              <a:rPr lang="en-US" altLang="en-US" b="1" dirty="0">
                <a:solidFill>
                  <a:srgbClr val="006699"/>
                </a:solidFill>
                <a:latin typeface="+mj-lt"/>
              </a:rPr>
              <a:t>algorithm</a:t>
            </a:r>
          </a:p>
          <a:p>
            <a:pPr>
              <a:spcBef>
                <a:spcPts val="600"/>
              </a:spcBef>
            </a:pPr>
            <a:r>
              <a:rPr lang="en-US" altLang="en-US" dirty="0"/>
              <a:t>Illustration shows total head movement of 208 cylinders</a:t>
            </a:r>
          </a:p>
          <a:p>
            <a:pPr>
              <a:spcBef>
                <a:spcPts val="600"/>
              </a:spcBef>
            </a:pPr>
            <a:r>
              <a:rPr lang="en-US" altLang="en-US" dirty="0"/>
              <a:t>But note that if requests are uniformly dense, largest density at other end of disk and those wait the longest</a:t>
            </a:r>
          </a:p>
        </p:txBody>
      </p:sp>
      <p:pic>
        <p:nvPicPr>
          <p:cNvPr id="2" name="Picture 6">
            <a:extLst>
              <a:ext uri="{FF2B5EF4-FFF2-40B4-BE49-F238E27FC236}">
                <a16:creationId xmlns:a16="http://schemas.microsoft.com/office/drawing/2014/main" id="{7F80629A-4CD8-2E6D-3146-F0222FB40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8259" y="3418565"/>
            <a:ext cx="4029741" cy="303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DC529AF9-2849-4CD2-99E6-B06031D65ECE}"/>
              </a:ext>
            </a:extLst>
          </p:cNvPr>
          <p:cNvSpPr>
            <a:spLocks noGrp="1" noChangeArrowheads="1"/>
          </p:cNvSpPr>
          <p:nvPr>
            <p:ph type="title"/>
          </p:nvPr>
        </p:nvSpPr>
        <p:spPr>
          <a:xfrm>
            <a:off x="696264" y="239554"/>
            <a:ext cx="7869238" cy="576263"/>
          </a:xfrm>
        </p:spPr>
        <p:txBody>
          <a:bodyPr/>
          <a:lstStyle/>
          <a:p>
            <a:pPr eaLnBrk="1" hangingPunct="1"/>
            <a:r>
              <a:rPr lang="en-US" altLang="en-US" dirty="0"/>
              <a:t>C-SCAN</a:t>
            </a:r>
          </a:p>
        </p:txBody>
      </p:sp>
      <p:sp>
        <p:nvSpPr>
          <p:cNvPr id="43010" name="Rectangle 3">
            <a:extLst>
              <a:ext uri="{FF2B5EF4-FFF2-40B4-BE49-F238E27FC236}">
                <a16:creationId xmlns:a16="http://schemas.microsoft.com/office/drawing/2014/main" id="{459D25E2-F9FB-4154-91C3-345A345B7B21}"/>
              </a:ext>
            </a:extLst>
          </p:cNvPr>
          <p:cNvSpPr>
            <a:spLocks noGrp="1" noChangeArrowheads="1"/>
          </p:cNvSpPr>
          <p:nvPr>
            <p:ph type="body" idx="1"/>
          </p:nvPr>
        </p:nvSpPr>
        <p:spPr>
          <a:xfrm>
            <a:off x="696264" y="908149"/>
            <a:ext cx="8116777" cy="2324150"/>
          </a:xfrm>
        </p:spPr>
        <p:txBody>
          <a:bodyPr/>
          <a:lstStyle/>
          <a:p>
            <a:r>
              <a:rPr lang="en-US" altLang="en-US" dirty="0"/>
              <a:t>Provides a more uniform wait time than SCAN</a:t>
            </a:r>
          </a:p>
          <a:p>
            <a:r>
              <a:rPr lang="en-US" altLang="en-US" dirty="0"/>
              <a:t>The head moves from one end of the disk to the other, servicing requests as it goes</a:t>
            </a:r>
          </a:p>
          <a:p>
            <a:pPr lvl="1"/>
            <a:r>
              <a:rPr lang="en-US" altLang="en-US" dirty="0"/>
              <a:t>When it reaches the other end, however, it immediately returns to the beginning of the disk, without servicing any requests on the return trip</a:t>
            </a:r>
          </a:p>
          <a:p>
            <a:r>
              <a:rPr lang="en-US" altLang="en-US" dirty="0"/>
              <a:t>Treats the cylinders as a circular list that wraps around from the last cylinder to the first one</a:t>
            </a:r>
          </a:p>
        </p:txBody>
      </p:sp>
      <p:pic>
        <p:nvPicPr>
          <p:cNvPr id="2" name="Picture 4">
            <a:extLst>
              <a:ext uri="{FF2B5EF4-FFF2-40B4-BE49-F238E27FC236}">
                <a16:creationId xmlns:a16="http://schemas.microsoft.com/office/drawing/2014/main" id="{2132EFDF-CF93-02E0-4251-D288D02F18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2956344" y="3625701"/>
            <a:ext cx="4058967" cy="286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AEE4FCEB-1379-4084-B21B-F814F049A137}"/>
              </a:ext>
            </a:extLst>
          </p:cNvPr>
          <p:cNvSpPr>
            <a:spLocks noGrp="1" noChangeArrowheads="1"/>
          </p:cNvSpPr>
          <p:nvPr>
            <p:ph type="title"/>
          </p:nvPr>
        </p:nvSpPr>
        <p:spPr>
          <a:xfrm>
            <a:off x="584200" y="244123"/>
            <a:ext cx="8404225" cy="576262"/>
          </a:xfrm>
        </p:spPr>
        <p:txBody>
          <a:bodyPr/>
          <a:lstStyle/>
          <a:p>
            <a:pPr eaLnBrk="1" hangingPunct="1"/>
            <a:r>
              <a:rPr lang="en-US" altLang="en-US" sz="3000" dirty="0"/>
              <a:t>Selecting a Disk-Scheduling Algorithm</a:t>
            </a:r>
          </a:p>
        </p:txBody>
      </p:sp>
      <p:sp>
        <p:nvSpPr>
          <p:cNvPr id="47106" name="Rectangle 3">
            <a:extLst>
              <a:ext uri="{FF2B5EF4-FFF2-40B4-BE49-F238E27FC236}">
                <a16:creationId xmlns:a16="http://schemas.microsoft.com/office/drawing/2014/main" id="{8C147D62-E0B6-4973-B881-95B0480304B8}"/>
              </a:ext>
            </a:extLst>
          </p:cNvPr>
          <p:cNvSpPr>
            <a:spLocks noGrp="1" noChangeArrowheads="1"/>
          </p:cNvSpPr>
          <p:nvPr>
            <p:ph type="body" idx="1"/>
          </p:nvPr>
        </p:nvSpPr>
        <p:spPr>
          <a:xfrm>
            <a:off x="719063" y="921599"/>
            <a:ext cx="7900581" cy="5500465"/>
          </a:xfrm>
        </p:spPr>
        <p:txBody>
          <a:bodyPr/>
          <a:lstStyle/>
          <a:p>
            <a:pPr>
              <a:spcBef>
                <a:spcPts val="300"/>
              </a:spcBef>
            </a:pPr>
            <a:r>
              <a:rPr lang="en-US" altLang="en-US" dirty="0"/>
              <a:t>FCFS is common and has a natural appeal</a:t>
            </a:r>
          </a:p>
          <a:p>
            <a:pPr>
              <a:spcBef>
                <a:spcPts val="300"/>
              </a:spcBef>
            </a:pPr>
            <a:r>
              <a:rPr lang="en-US" altLang="en-US" dirty="0"/>
              <a:t>SCAN and C-SCAN perform better for systems that place a heavy load on the disk</a:t>
            </a:r>
          </a:p>
          <a:p>
            <a:pPr lvl="1">
              <a:spcBef>
                <a:spcPts val="300"/>
              </a:spcBef>
            </a:pPr>
            <a:r>
              <a:rPr lang="en-US" altLang="en-US" dirty="0"/>
              <a:t>Less starvation, but still possible</a:t>
            </a:r>
          </a:p>
          <a:p>
            <a:pPr>
              <a:spcBef>
                <a:spcPts val="300"/>
              </a:spcBef>
            </a:pPr>
            <a:r>
              <a:rPr lang="en-US" altLang="en-US" dirty="0"/>
              <a:t>To avoid starvation Linux implements </a:t>
            </a:r>
            <a:r>
              <a:rPr lang="en-US" altLang="en-US" b="1" dirty="0">
                <a:solidFill>
                  <a:srgbClr val="006699"/>
                </a:solidFill>
                <a:latin typeface="+mj-lt"/>
              </a:rPr>
              <a:t>deadline</a:t>
            </a:r>
            <a:r>
              <a:rPr lang="en-US" altLang="en-US" dirty="0"/>
              <a:t> scheduler</a:t>
            </a:r>
          </a:p>
          <a:p>
            <a:pPr lvl="1">
              <a:spcBef>
                <a:spcPts val="300"/>
              </a:spcBef>
            </a:pPr>
            <a:r>
              <a:rPr lang="en-US" altLang="en-US" dirty="0"/>
              <a:t>Maintains separate read and write queues, gives read priority</a:t>
            </a:r>
          </a:p>
          <a:p>
            <a:pPr lvl="2">
              <a:spcBef>
                <a:spcPts val="300"/>
              </a:spcBef>
            </a:pPr>
            <a:r>
              <a:rPr lang="en-US" altLang="en-US" dirty="0"/>
              <a:t>Because processes more likely to block on read than write</a:t>
            </a:r>
          </a:p>
          <a:p>
            <a:pPr lvl="1">
              <a:spcBef>
                <a:spcPts val="300"/>
              </a:spcBef>
            </a:pPr>
            <a:r>
              <a:rPr lang="en-US" altLang="en-US" dirty="0"/>
              <a:t>Implements four queues: 2 x read and 2 x write</a:t>
            </a:r>
          </a:p>
          <a:p>
            <a:pPr lvl="2">
              <a:spcBef>
                <a:spcPts val="300"/>
              </a:spcBef>
            </a:pPr>
            <a:r>
              <a:rPr lang="en-US" altLang="en-US" dirty="0"/>
              <a:t> 1 read and 1 write queue sorted in LBA order, essentially implementing C-SCAN</a:t>
            </a:r>
          </a:p>
          <a:p>
            <a:pPr lvl="2">
              <a:spcBef>
                <a:spcPts val="300"/>
              </a:spcBef>
            </a:pPr>
            <a:r>
              <a:rPr lang="en-US" altLang="en-US" dirty="0"/>
              <a:t>1 read and 1 write queue sorted in FCFS order</a:t>
            </a:r>
          </a:p>
          <a:p>
            <a:pPr lvl="2">
              <a:spcBef>
                <a:spcPts val="300"/>
              </a:spcBef>
            </a:pPr>
            <a:r>
              <a:rPr lang="en-US" altLang="en-US" dirty="0"/>
              <a:t>All I/O requests sent in batch sorted in that queue’s order</a:t>
            </a:r>
          </a:p>
          <a:p>
            <a:pPr lvl="2">
              <a:spcBef>
                <a:spcPts val="300"/>
              </a:spcBef>
            </a:pPr>
            <a:r>
              <a:rPr lang="en-US" altLang="en-US" dirty="0"/>
              <a:t>After each batch, checks if any requests in FCFS older than configured age (default 500ms). If so, LBA queue containing that request is selected for next batch of I/O</a:t>
            </a:r>
          </a:p>
          <a:p>
            <a:pPr>
              <a:spcBef>
                <a:spcPts val="300"/>
              </a:spcBef>
            </a:pPr>
            <a:r>
              <a:rPr lang="en-US" altLang="en-US" dirty="0"/>
              <a:t>In Red Hat Enterprise Linux (RHEL) 7, </a:t>
            </a:r>
            <a:r>
              <a:rPr lang="en-US" altLang="en-US" b="1" dirty="0">
                <a:solidFill>
                  <a:srgbClr val="006699"/>
                </a:solidFill>
                <a:latin typeface="+mj-lt"/>
              </a:rPr>
              <a:t>NOOP</a:t>
            </a:r>
            <a:r>
              <a:rPr lang="en-US" altLang="en-US" dirty="0"/>
              <a:t> and </a:t>
            </a:r>
            <a:r>
              <a:rPr lang="en-US" altLang="en-US" b="1" dirty="0">
                <a:solidFill>
                  <a:srgbClr val="006699"/>
                </a:solidFill>
                <a:latin typeface="+mj-lt"/>
              </a:rPr>
              <a:t>completely</a:t>
            </a:r>
            <a:r>
              <a:rPr lang="en-US" altLang="en-US" b="1" dirty="0">
                <a:solidFill>
                  <a:srgbClr val="3366FF"/>
                </a:solidFill>
              </a:rPr>
              <a:t> </a:t>
            </a:r>
            <a:r>
              <a:rPr lang="en-US" altLang="en-US" b="1" dirty="0">
                <a:solidFill>
                  <a:srgbClr val="006699"/>
                </a:solidFill>
                <a:latin typeface="+mj-lt"/>
              </a:rPr>
              <a:t>fair</a:t>
            </a:r>
            <a:r>
              <a:rPr lang="en-US" altLang="en-US" b="1" dirty="0">
                <a:solidFill>
                  <a:srgbClr val="3366FF"/>
                </a:solidFill>
              </a:rPr>
              <a:t> </a:t>
            </a:r>
            <a:r>
              <a:rPr lang="en-US" altLang="en-US" b="1" dirty="0">
                <a:solidFill>
                  <a:srgbClr val="006699"/>
                </a:solidFill>
                <a:latin typeface="+mj-lt"/>
              </a:rPr>
              <a:t>queueing</a:t>
            </a:r>
            <a:r>
              <a:rPr lang="en-US" altLang="en-US" dirty="0"/>
              <a:t> scheduler (</a:t>
            </a:r>
            <a:r>
              <a:rPr lang="en-US" altLang="en-US" b="1" dirty="0">
                <a:solidFill>
                  <a:srgbClr val="006699"/>
                </a:solidFill>
                <a:latin typeface="+mj-lt"/>
              </a:rPr>
              <a:t>CFQ</a:t>
            </a:r>
            <a:r>
              <a:rPr lang="en-US" altLang="en-US" dirty="0"/>
              <a:t>) also available, defaults vary by storage device</a:t>
            </a:r>
          </a:p>
          <a:p>
            <a:pPr>
              <a:spcBef>
                <a:spcPts val="300"/>
              </a:spcBef>
            </a:pPr>
            <a:endParaRPr lang="en-US" altLang="en-US" dirty="0"/>
          </a:p>
          <a:p>
            <a:pPr>
              <a:spcBef>
                <a:spcPts val="300"/>
              </a:spcBef>
            </a:pPr>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1DFAD2B5-4334-4F2C-9AFC-F39DD7D97FDE}"/>
              </a:ext>
            </a:extLst>
          </p:cNvPr>
          <p:cNvSpPr>
            <a:spLocks noGrp="1" noChangeArrowheads="1"/>
          </p:cNvSpPr>
          <p:nvPr>
            <p:ph type="title"/>
          </p:nvPr>
        </p:nvSpPr>
        <p:spPr>
          <a:xfrm>
            <a:off x="893795" y="234792"/>
            <a:ext cx="7712075" cy="576262"/>
          </a:xfrm>
        </p:spPr>
        <p:txBody>
          <a:bodyPr/>
          <a:lstStyle/>
          <a:p>
            <a:pPr eaLnBrk="1" hangingPunct="1"/>
            <a:r>
              <a:rPr lang="en-US" altLang="en-US" dirty="0"/>
              <a:t>NVM Scheduling</a:t>
            </a:r>
          </a:p>
        </p:txBody>
      </p:sp>
      <p:sp>
        <p:nvSpPr>
          <p:cNvPr id="49154" name="Rectangle 3">
            <a:extLst>
              <a:ext uri="{FF2B5EF4-FFF2-40B4-BE49-F238E27FC236}">
                <a16:creationId xmlns:a16="http://schemas.microsoft.com/office/drawing/2014/main" id="{893B53C6-F852-4B23-8A07-4E004DA21114}"/>
              </a:ext>
            </a:extLst>
          </p:cNvPr>
          <p:cNvSpPr>
            <a:spLocks noGrp="1" noChangeArrowheads="1"/>
          </p:cNvSpPr>
          <p:nvPr>
            <p:ph type="body" idx="1"/>
          </p:nvPr>
        </p:nvSpPr>
        <p:spPr>
          <a:xfrm>
            <a:off x="774823" y="1006661"/>
            <a:ext cx="7831047" cy="3714196"/>
          </a:xfrm>
        </p:spPr>
        <p:txBody>
          <a:bodyPr/>
          <a:lstStyle/>
          <a:p>
            <a:r>
              <a:rPr lang="en-US" altLang="en-US" sz="2000" dirty="0"/>
              <a:t>No disk heads or rotational latency but still room for optimization</a:t>
            </a:r>
          </a:p>
          <a:p>
            <a:r>
              <a:rPr lang="en-US" altLang="en-US" sz="2000" dirty="0"/>
              <a:t>In Read Head Enterprise Linux (RHEL) 7, </a:t>
            </a:r>
            <a:r>
              <a:rPr lang="en-US" altLang="en-US" sz="2000" b="1" dirty="0">
                <a:solidFill>
                  <a:srgbClr val="006699"/>
                </a:solidFill>
                <a:latin typeface="+mj-lt"/>
              </a:rPr>
              <a:t>NOOP</a:t>
            </a:r>
            <a:r>
              <a:rPr lang="en-US" altLang="en-US" sz="2000" dirty="0"/>
              <a:t> (no scheduling) is used but adjacent LBA requests are combined</a:t>
            </a:r>
          </a:p>
          <a:p>
            <a:pPr lvl="1"/>
            <a:r>
              <a:rPr lang="en-US" altLang="en-US" sz="2000" dirty="0"/>
              <a:t>NVM best at random I/O, HDD at sequential</a:t>
            </a:r>
          </a:p>
          <a:p>
            <a:pPr lvl="1"/>
            <a:r>
              <a:rPr lang="en-US" altLang="en-US" sz="2000" dirty="0"/>
              <a:t>Throughput can be similar</a:t>
            </a:r>
          </a:p>
          <a:p>
            <a:pPr lvl="1"/>
            <a:r>
              <a:rPr lang="en-US" altLang="en-US" sz="2000" b="1" dirty="0" err="1">
                <a:solidFill>
                  <a:srgbClr val="006699"/>
                </a:solidFill>
                <a:latin typeface="+mj-lt"/>
              </a:rPr>
              <a:t>Input/Output</a:t>
            </a:r>
            <a:r>
              <a:rPr lang="en-US" altLang="en-US" sz="2000" b="1" dirty="0">
                <a:solidFill>
                  <a:srgbClr val="006699"/>
                </a:solidFill>
                <a:latin typeface="+mj-lt"/>
              </a:rPr>
              <a:t> operations per second </a:t>
            </a:r>
            <a:r>
              <a:rPr lang="en-US" altLang="en-US" sz="2000" dirty="0"/>
              <a:t>(</a:t>
            </a:r>
            <a:r>
              <a:rPr lang="en-US" altLang="en-US" sz="2000" b="1" dirty="0">
                <a:solidFill>
                  <a:srgbClr val="006699"/>
                </a:solidFill>
                <a:latin typeface="+mj-lt"/>
              </a:rPr>
              <a:t>IOPS</a:t>
            </a:r>
            <a:r>
              <a:rPr lang="en-US" altLang="en-US" sz="2000" dirty="0"/>
              <a:t>) much higher with NVM (hundreds of thousands vs hundreds)</a:t>
            </a:r>
          </a:p>
          <a:p>
            <a:pPr lvl="1"/>
            <a:r>
              <a:rPr lang="en-US" altLang="en-US" sz="2000" dirty="0"/>
              <a:t>But </a:t>
            </a:r>
            <a:r>
              <a:rPr lang="en-US" altLang="en-US" sz="2000" b="1" dirty="0">
                <a:solidFill>
                  <a:srgbClr val="006699"/>
                </a:solidFill>
                <a:latin typeface="+mj-lt"/>
              </a:rPr>
              <a:t>write</a:t>
            </a:r>
            <a:r>
              <a:rPr lang="en-US" altLang="en-US" sz="2000" b="1" dirty="0">
                <a:solidFill>
                  <a:srgbClr val="3366FF"/>
                </a:solidFill>
              </a:rPr>
              <a:t> </a:t>
            </a:r>
            <a:r>
              <a:rPr lang="en-US" altLang="en-US" sz="2000" b="1" dirty="0">
                <a:solidFill>
                  <a:srgbClr val="006699"/>
                </a:solidFill>
                <a:latin typeface="+mj-lt"/>
              </a:rPr>
              <a:t>amplification</a:t>
            </a:r>
            <a:r>
              <a:rPr lang="en-US" altLang="en-US" sz="2000" b="1" dirty="0">
                <a:solidFill>
                  <a:srgbClr val="3366FF"/>
                </a:solidFill>
              </a:rPr>
              <a:t> </a:t>
            </a:r>
            <a:r>
              <a:rPr lang="en-US" altLang="en-US" sz="2000" dirty="0"/>
              <a:t>(one write, causing garbage collection and many read/writes) can decrease the performance advantage</a:t>
            </a:r>
          </a:p>
          <a:p>
            <a:endParaRPr lang="en-US"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EEF8F62D-E014-4936-A51D-D2F9E3FB45A6}"/>
              </a:ext>
            </a:extLst>
          </p:cNvPr>
          <p:cNvSpPr>
            <a:spLocks noGrp="1" noChangeArrowheads="1"/>
          </p:cNvSpPr>
          <p:nvPr>
            <p:ph type="title"/>
          </p:nvPr>
        </p:nvSpPr>
        <p:spPr>
          <a:xfrm>
            <a:off x="1052414" y="244122"/>
            <a:ext cx="7712075" cy="576262"/>
          </a:xfrm>
        </p:spPr>
        <p:txBody>
          <a:bodyPr/>
          <a:lstStyle/>
          <a:p>
            <a:pPr eaLnBrk="1" hangingPunct="1"/>
            <a:r>
              <a:rPr lang="en-US" altLang="en-US" dirty="0"/>
              <a:t>Error Detection and Correction</a:t>
            </a:r>
          </a:p>
        </p:txBody>
      </p:sp>
      <p:sp>
        <p:nvSpPr>
          <p:cNvPr id="51202" name="Rectangle 3">
            <a:extLst>
              <a:ext uri="{FF2B5EF4-FFF2-40B4-BE49-F238E27FC236}">
                <a16:creationId xmlns:a16="http://schemas.microsoft.com/office/drawing/2014/main" id="{F9981D89-B27B-43D4-B6B1-D0D04E9D3073}"/>
              </a:ext>
            </a:extLst>
          </p:cNvPr>
          <p:cNvSpPr>
            <a:spLocks noGrp="1" noChangeArrowheads="1"/>
          </p:cNvSpPr>
          <p:nvPr>
            <p:ph type="body" idx="1"/>
          </p:nvPr>
        </p:nvSpPr>
        <p:spPr>
          <a:xfrm>
            <a:off x="762663" y="953497"/>
            <a:ext cx="7916765" cy="5394140"/>
          </a:xfrm>
        </p:spPr>
        <p:txBody>
          <a:bodyPr/>
          <a:lstStyle/>
          <a:p>
            <a:r>
              <a:rPr lang="en-US" altLang="en-US" sz="2000" dirty="0"/>
              <a:t>Fundamental aspect of many parts of computing (memory, networking, storage)</a:t>
            </a:r>
          </a:p>
          <a:p>
            <a:r>
              <a:rPr lang="en-US" altLang="en-US" sz="2000" b="1" dirty="0">
                <a:solidFill>
                  <a:srgbClr val="006699"/>
                </a:solidFill>
                <a:latin typeface="+mj-lt"/>
              </a:rPr>
              <a:t>Error</a:t>
            </a:r>
            <a:r>
              <a:rPr lang="en-US" altLang="en-US" sz="2000" b="1" dirty="0">
                <a:solidFill>
                  <a:srgbClr val="3366FF"/>
                </a:solidFill>
              </a:rPr>
              <a:t> </a:t>
            </a:r>
            <a:r>
              <a:rPr lang="en-US" altLang="en-US" sz="2000" b="1" dirty="0">
                <a:solidFill>
                  <a:srgbClr val="006699"/>
                </a:solidFill>
                <a:latin typeface="+mj-lt"/>
              </a:rPr>
              <a:t>detection</a:t>
            </a:r>
            <a:r>
              <a:rPr lang="en-US" altLang="en-US" sz="2000" b="1" dirty="0">
                <a:solidFill>
                  <a:srgbClr val="3366FF"/>
                </a:solidFill>
              </a:rPr>
              <a:t> </a:t>
            </a:r>
            <a:r>
              <a:rPr lang="en-US" altLang="en-US" sz="2000" dirty="0"/>
              <a:t>determines if there a problem has occurred (for example a bit flipping)</a:t>
            </a:r>
          </a:p>
          <a:p>
            <a:pPr lvl="1"/>
            <a:r>
              <a:rPr lang="en-US" altLang="en-US" sz="2000" dirty="0"/>
              <a:t>If detected, can halt the operation</a:t>
            </a:r>
          </a:p>
          <a:p>
            <a:pPr lvl="1"/>
            <a:r>
              <a:rPr lang="en-US" altLang="en-US" sz="2000" dirty="0"/>
              <a:t>Detection frequently done via parity bit</a:t>
            </a:r>
          </a:p>
          <a:p>
            <a:r>
              <a:rPr lang="en-US" altLang="en-US" sz="2000" dirty="0"/>
              <a:t>Parity one form of </a:t>
            </a:r>
            <a:r>
              <a:rPr lang="en-US" altLang="en-US" sz="2000" b="1" dirty="0">
                <a:solidFill>
                  <a:srgbClr val="006699"/>
                </a:solidFill>
                <a:latin typeface="+mj-lt"/>
              </a:rPr>
              <a:t>checksum</a:t>
            </a:r>
            <a:r>
              <a:rPr lang="en-US" altLang="en-US" sz="2000" dirty="0"/>
              <a:t> – uses modular arithmetic to compute, store, compare values of fixed-length words</a:t>
            </a:r>
          </a:p>
          <a:p>
            <a:pPr lvl="1"/>
            <a:r>
              <a:rPr lang="en-US" altLang="en-US" sz="2000" dirty="0"/>
              <a:t>Another error-detection method common in networking is </a:t>
            </a:r>
            <a:r>
              <a:rPr lang="en-US" altLang="en-US" sz="2000" b="1" dirty="0">
                <a:solidFill>
                  <a:srgbClr val="006699"/>
                </a:solidFill>
                <a:latin typeface="+mj-lt"/>
              </a:rPr>
              <a:t>cyclic</a:t>
            </a:r>
            <a:r>
              <a:rPr lang="en-US" altLang="en-US" sz="2000" b="1" dirty="0">
                <a:solidFill>
                  <a:srgbClr val="3366FF"/>
                </a:solidFill>
              </a:rPr>
              <a:t> </a:t>
            </a:r>
            <a:r>
              <a:rPr lang="en-US" altLang="en-US" sz="2000" b="1" dirty="0">
                <a:solidFill>
                  <a:srgbClr val="006699"/>
                </a:solidFill>
                <a:latin typeface="+mj-lt"/>
              </a:rPr>
              <a:t>redundancy</a:t>
            </a:r>
            <a:r>
              <a:rPr lang="en-US" altLang="en-US" sz="2000" b="1" dirty="0">
                <a:solidFill>
                  <a:srgbClr val="3366FF"/>
                </a:solidFill>
              </a:rPr>
              <a:t> </a:t>
            </a:r>
            <a:r>
              <a:rPr lang="en-US" altLang="en-US" sz="2000" b="1" dirty="0">
                <a:solidFill>
                  <a:srgbClr val="006699"/>
                </a:solidFill>
                <a:latin typeface="+mj-lt"/>
              </a:rPr>
              <a:t>check</a:t>
            </a:r>
            <a:r>
              <a:rPr lang="en-US" altLang="en-US" sz="2000" dirty="0"/>
              <a:t> (</a:t>
            </a:r>
            <a:r>
              <a:rPr lang="en-US" altLang="en-US" sz="2000" b="1" dirty="0">
                <a:solidFill>
                  <a:srgbClr val="006699"/>
                </a:solidFill>
                <a:latin typeface="+mj-lt"/>
              </a:rPr>
              <a:t>CRC</a:t>
            </a:r>
            <a:r>
              <a:rPr lang="en-US" altLang="en-US" sz="2000" dirty="0"/>
              <a:t>) which uses hash function to detect multiple-bit errors</a:t>
            </a:r>
          </a:p>
          <a:p>
            <a:r>
              <a:rPr lang="en-US" altLang="en-US" sz="2000" b="1" dirty="0">
                <a:solidFill>
                  <a:srgbClr val="006699"/>
                </a:solidFill>
                <a:latin typeface="+mj-lt"/>
              </a:rPr>
              <a:t>Error-correction</a:t>
            </a:r>
            <a:r>
              <a:rPr lang="en-US" altLang="en-US" sz="2000" b="1" dirty="0">
                <a:solidFill>
                  <a:srgbClr val="3366FF"/>
                </a:solidFill>
              </a:rPr>
              <a:t> </a:t>
            </a:r>
            <a:r>
              <a:rPr lang="en-US" altLang="en-US" sz="2000" b="1" dirty="0">
                <a:solidFill>
                  <a:srgbClr val="006699"/>
                </a:solidFill>
                <a:latin typeface="+mj-lt"/>
              </a:rPr>
              <a:t>code</a:t>
            </a:r>
            <a:r>
              <a:rPr lang="en-US" altLang="en-US" sz="2000" b="1" dirty="0">
                <a:solidFill>
                  <a:srgbClr val="3366FF"/>
                </a:solidFill>
              </a:rPr>
              <a:t> </a:t>
            </a:r>
            <a:r>
              <a:rPr lang="en-US" altLang="en-US" sz="2000" dirty="0"/>
              <a:t>(</a:t>
            </a:r>
            <a:r>
              <a:rPr lang="en-US" altLang="en-US" sz="2000" b="1" dirty="0">
                <a:solidFill>
                  <a:srgbClr val="006699"/>
                </a:solidFill>
                <a:latin typeface="+mj-lt"/>
              </a:rPr>
              <a:t>ECC</a:t>
            </a:r>
            <a:r>
              <a:rPr lang="en-US" altLang="en-US" sz="2000" dirty="0"/>
              <a:t>) not only detects, but can correct some errors</a:t>
            </a:r>
          </a:p>
          <a:p>
            <a:pPr lvl="1"/>
            <a:r>
              <a:rPr lang="en-US" altLang="en-US" sz="2000" dirty="0"/>
              <a:t>Soft errors correctable, hard errors detected but not corrected</a:t>
            </a:r>
          </a:p>
          <a:p>
            <a:endParaRPr lang="en-US" altLang="en-US" sz="2000" dirty="0"/>
          </a:p>
          <a:p>
            <a:endParaRPr lang="en-US" altLang="en-US" sz="2000" dirty="0"/>
          </a:p>
          <a:p>
            <a:endParaRPr lang="en-US" altLang="en-US" sz="2000" dirty="0"/>
          </a:p>
          <a:p>
            <a:endParaRPr lang="en-US" alt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61149D5-81F6-4C02-B1DB-12319E1551A3}"/>
              </a:ext>
            </a:extLst>
          </p:cNvPr>
          <p:cNvSpPr>
            <a:spLocks noGrp="1" noChangeArrowheads="1"/>
          </p:cNvSpPr>
          <p:nvPr>
            <p:ph type="title"/>
          </p:nvPr>
        </p:nvSpPr>
        <p:spPr>
          <a:xfrm>
            <a:off x="690563" y="242306"/>
            <a:ext cx="7996237" cy="576262"/>
          </a:xfrm>
        </p:spPr>
        <p:txBody>
          <a:bodyPr/>
          <a:lstStyle/>
          <a:p>
            <a:pPr eaLnBrk="1" hangingPunct="1"/>
            <a:r>
              <a:rPr lang="en-US" altLang="en-US" dirty="0"/>
              <a:t>Storage Device Management (1)</a:t>
            </a:r>
          </a:p>
        </p:txBody>
      </p:sp>
      <p:sp>
        <p:nvSpPr>
          <p:cNvPr id="53250" name="Rectangle 3">
            <a:extLst>
              <a:ext uri="{FF2B5EF4-FFF2-40B4-BE49-F238E27FC236}">
                <a16:creationId xmlns:a16="http://schemas.microsoft.com/office/drawing/2014/main" id="{199DF9C6-B7DA-4E0E-BB9E-7A469E0473A2}"/>
              </a:ext>
            </a:extLst>
          </p:cNvPr>
          <p:cNvSpPr>
            <a:spLocks noGrp="1" noChangeArrowheads="1"/>
          </p:cNvSpPr>
          <p:nvPr>
            <p:ph type="body" idx="1"/>
          </p:nvPr>
        </p:nvSpPr>
        <p:spPr>
          <a:xfrm>
            <a:off x="844550" y="944636"/>
            <a:ext cx="7692960" cy="5296675"/>
          </a:xfrm>
        </p:spPr>
        <p:txBody>
          <a:bodyPr/>
          <a:lstStyle/>
          <a:p>
            <a:r>
              <a:rPr lang="en-US" altLang="en-US" sz="2000" b="1" dirty="0">
                <a:solidFill>
                  <a:srgbClr val="006699"/>
                </a:solidFill>
                <a:latin typeface="+mj-lt"/>
              </a:rPr>
              <a:t>Low-level</a:t>
            </a:r>
            <a:r>
              <a:rPr lang="en-US" altLang="en-US" sz="2000" b="1" dirty="0">
                <a:solidFill>
                  <a:srgbClr val="3366FF"/>
                </a:solidFill>
              </a:rPr>
              <a:t> </a:t>
            </a:r>
            <a:r>
              <a:rPr lang="en-US" altLang="en-US" sz="2000" b="1" dirty="0">
                <a:solidFill>
                  <a:srgbClr val="006699"/>
                </a:solidFill>
                <a:latin typeface="+mj-lt"/>
              </a:rPr>
              <a:t>formatting</a:t>
            </a:r>
            <a:r>
              <a:rPr lang="en-US" altLang="en-US" sz="2000" dirty="0"/>
              <a:t>, or </a:t>
            </a:r>
            <a:r>
              <a:rPr lang="en-US" altLang="en-US" sz="2000" b="1" dirty="0">
                <a:solidFill>
                  <a:srgbClr val="006699"/>
                </a:solidFill>
                <a:latin typeface="+mj-lt"/>
              </a:rPr>
              <a:t>physical</a:t>
            </a:r>
            <a:r>
              <a:rPr lang="en-US" altLang="en-US" sz="2000" b="1" dirty="0">
                <a:solidFill>
                  <a:srgbClr val="3366FF"/>
                </a:solidFill>
              </a:rPr>
              <a:t> </a:t>
            </a:r>
            <a:r>
              <a:rPr lang="en-US" altLang="en-US" sz="2000" b="1" dirty="0">
                <a:solidFill>
                  <a:srgbClr val="006699"/>
                </a:solidFill>
                <a:latin typeface="+mj-lt"/>
              </a:rPr>
              <a:t>formatting</a:t>
            </a:r>
            <a:r>
              <a:rPr lang="en-US" altLang="en-US" sz="2000" dirty="0">
                <a:solidFill>
                  <a:srgbClr val="3366FF"/>
                </a:solidFill>
              </a:rPr>
              <a:t> </a:t>
            </a:r>
            <a:r>
              <a:rPr lang="en-US" altLang="en-US" sz="2000" dirty="0"/>
              <a:t>— Dividing a disk into sectors that the disk controller can read and write</a:t>
            </a:r>
          </a:p>
          <a:p>
            <a:pPr lvl="1"/>
            <a:r>
              <a:rPr lang="en-US" altLang="en-US" sz="2000" dirty="0"/>
              <a:t>Each sector can hold header information, plus data, plus error correction code (</a:t>
            </a:r>
            <a:r>
              <a:rPr lang="en-US" altLang="en-US" sz="2000" b="1" dirty="0">
                <a:solidFill>
                  <a:srgbClr val="006699"/>
                </a:solidFill>
                <a:latin typeface="+mj-lt"/>
              </a:rPr>
              <a:t>ECC</a:t>
            </a:r>
            <a:r>
              <a:rPr lang="en-US" altLang="en-US" sz="2000" dirty="0"/>
              <a:t>)</a:t>
            </a:r>
          </a:p>
          <a:p>
            <a:pPr lvl="1"/>
            <a:r>
              <a:rPr lang="en-US" altLang="en-US" sz="2000" dirty="0"/>
              <a:t>Usually 512 bytes of data but can be selectable</a:t>
            </a:r>
          </a:p>
          <a:p>
            <a:r>
              <a:rPr lang="en-US" altLang="en-US" sz="2000" dirty="0"/>
              <a:t>To use a disk to hold files, the operating system still needs to record its own data structures on the disk</a:t>
            </a:r>
          </a:p>
          <a:p>
            <a:pPr lvl="1"/>
            <a:r>
              <a:rPr lang="en-US" altLang="en-US" sz="2000" b="1" dirty="0">
                <a:solidFill>
                  <a:srgbClr val="006699"/>
                </a:solidFill>
                <a:latin typeface="+mj-lt"/>
              </a:rPr>
              <a:t>Partition</a:t>
            </a:r>
            <a:r>
              <a:rPr lang="en-US" altLang="en-US" sz="2000" dirty="0"/>
              <a:t> the disk into one or more groups of cylinders, each treated as a logical disk</a:t>
            </a:r>
          </a:p>
          <a:p>
            <a:pPr lvl="1"/>
            <a:r>
              <a:rPr lang="en-US" altLang="en-US" sz="2000" b="1" dirty="0">
                <a:solidFill>
                  <a:srgbClr val="006699"/>
                </a:solidFill>
                <a:latin typeface="+mj-lt"/>
              </a:rPr>
              <a:t>Logical</a:t>
            </a:r>
            <a:r>
              <a:rPr lang="en-US" altLang="en-US" sz="2000" b="1" dirty="0">
                <a:solidFill>
                  <a:srgbClr val="3366FF"/>
                </a:solidFill>
              </a:rPr>
              <a:t> </a:t>
            </a:r>
            <a:r>
              <a:rPr lang="en-US" altLang="en-US" sz="2000" b="1" dirty="0">
                <a:solidFill>
                  <a:srgbClr val="006699"/>
                </a:solidFill>
                <a:latin typeface="+mj-lt"/>
              </a:rPr>
              <a:t>formatting</a:t>
            </a:r>
            <a:r>
              <a:rPr lang="en-US" altLang="en-US" sz="2000" dirty="0">
                <a:solidFill>
                  <a:srgbClr val="3366FF"/>
                </a:solidFill>
              </a:rPr>
              <a:t> </a:t>
            </a:r>
            <a:r>
              <a:rPr lang="en-US" altLang="en-US" sz="2000" dirty="0"/>
              <a:t>or </a:t>
            </a:r>
            <a:r>
              <a:rPr lang="ja-JP" altLang="en-US" sz="2000" dirty="0"/>
              <a:t>“</a:t>
            </a:r>
            <a:r>
              <a:rPr lang="en-US" altLang="ja-JP" sz="2000" dirty="0"/>
              <a:t>making a file system</a:t>
            </a:r>
            <a:r>
              <a:rPr lang="ja-JP" altLang="en-US" sz="2000" dirty="0"/>
              <a:t>”</a:t>
            </a:r>
            <a:endParaRPr lang="en-US" altLang="ja-JP" sz="2000" dirty="0"/>
          </a:p>
          <a:p>
            <a:pPr lvl="1"/>
            <a:r>
              <a:rPr lang="en-US" altLang="en-US" sz="2000" dirty="0"/>
              <a:t>To increase efficiency most file systems group blocks into </a:t>
            </a:r>
            <a:r>
              <a:rPr lang="en-US" altLang="en-US" sz="2000" b="1" dirty="0">
                <a:solidFill>
                  <a:srgbClr val="006699"/>
                </a:solidFill>
                <a:latin typeface="+mj-lt"/>
              </a:rPr>
              <a:t>clusters</a:t>
            </a:r>
          </a:p>
          <a:p>
            <a:pPr lvl="2"/>
            <a:r>
              <a:rPr lang="en-US" altLang="en-US" sz="2000" dirty="0"/>
              <a:t>Disk I/O done in blocks</a:t>
            </a:r>
          </a:p>
          <a:p>
            <a:pPr lvl="2"/>
            <a:r>
              <a:rPr lang="en-US" altLang="en-US" sz="2000" dirty="0"/>
              <a:t>File I/O done in clusters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41371905-38D3-40B0-A7EC-D34187931DF5}"/>
              </a:ext>
            </a:extLst>
          </p:cNvPr>
          <p:cNvSpPr>
            <a:spLocks noGrp="1" noChangeArrowheads="1"/>
          </p:cNvSpPr>
          <p:nvPr>
            <p:ph type="title"/>
          </p:nvPr>
        </p:nvSpPr>
        <p:spPr>
          <a:xfrm>
            <a:off x="690469" y="241334"/>
            <a:ext cx="8229600" cy="576262"/>
          </a:xfrm>
        </p:spPr>
        <p:txBody>
          <a:bodyPr/>
          <a:lstStyle/>
          <a:p>
            <a:r>
              <a:rPr lang="en-US" altLang="en-US" dirty="0"/>
              <a:t>Storage Device Management (2)</a:t>
            </a:r>
          </a:p>
        </p:txBody>
      </p:sp>
      <p:sp>
        <p:nvSpPr>
          <p:cNvPr id="12291" name="Content Placeholder 2">
            <a:extLst>
              <a:ext uri="{FF2B5EF4-FFF2-40B4-BE49-F238E27FC236}">
                <a16:creationId xmlns:a16="http://schemas.microsoft.com/office/drawing/2014/main" id="{EC594FDB-8832-9F4D-A366-1CD2F4D744D5}"/>
              </a:ext>
            </a:extLst>
          </p:cNvPr>
          <p:cNvSpPr>
            <a:spLocks noGrp="1"/>
          </p:cNvSpPr>
          <p:nvPr>
            <p:ph idx="1"/>
          </p:nvPr>
        </p:nvSpPr>
        <p:spPr>
          <a:xfrm>
            <a:off x="877794" y="995362"/>
            <a:ext cx="7670781" cy="4867275"/>
          </a:xfrm>
        </p:spPr>
        <p:txBody>
          <a:bodyPr/>
          <a:lstStyle/>
          <a:p>
            <a:pPr>
              <a:defRPr/>
            </a:pPr>
            <a:r>
              <a:rPr lang="en-US" altLang="en-US" sz="2000" b="1" dirty="0">
                <a:solidFill>
                  <a:srgbClr val="006699"/>
                </a:solidFill>
                <a:latin typeface="+mj-lt"/>
              </a:rPr>
              <a:t>Root</a:t>
            </a:r>
            <a:r>
              <a:rPr lang="en-US" altLang="en-US" sz="2000" b="1" dirty="0">
                <a:solidFill>
                  <a:srgbClr val="3366FF"/>
                </a:solidFill>
              </a:rPr>
              <a:t> </a:t>
            </a:r>
            <a:r>
              <a:rPr lang="en-US" altLang="en-US" sz="2000" b="1" dirty="0">
                <a:solidFill>
                  <a:srgbClr val="006699"/>
                </a:solidFill>
                <a:latin typeface="+mj-lt"/>
              </a:rPr>
              <a:t>partition</a:t>
            </a:r>
            <a:r>
              <a:rPr lang="en-US" altLang="en-US" sz="2000" b="1" dirty="0">
                <a:solidFill>
                  <a:srgbClr val="3366FF"/>
                </a:solidFill>
              </a:rPr>
              <a:t> </a:t>
            </a:r>
            <a:r>
              <a:rPr lang="en-US" altLang="en-US" sz="2000" dirty="0"/>
              <a:t>contains the OS, other partitions can hold other OSes, other file systems, or be raw</a:t>
            </a:r>
          </a:p>
          <a:p>
            <a:pPr lvl="1">
              <a:defRPr/>
            </a:pPr>
            <a:r>
              <a:rPr lang="en-US" altLang="en-US" sz="2000" b="1" dirty="0">
                <a:solidFill>
                  <a:srgbClr val="006699"/>
                </a:solidFill>
                <a:latin typeface="+mj-lt"/>
              </a:rPr>
              <a:t>Mounted</a:t>
            </a:r>
            <a:r>
              <a:rPr lang="en-US" altLang="en-US" sz="2000" dirty="0"/>
              <a:t> at boot time</a:t>
            </a:r>
          </a:p>
          <a:p>
            <a:pPr lvl="1">
              <a:defRPr/>
            </a:pPr>
            <a:r>
              <a:rPr lang="en-US" altLang="en-US" sz="2000" dirty="0"/>
              <a:t>Other partitions can mount automatically or manually</a:t>
            </a:r>
          </a:p>
          <a:p>
            <a:pPr>
              <a:defRPr/>
            </a:pPr>
            <a:r>
              <a:rPr lang="en-US" altLang="en-US" sz="2000" dirty="0"/>
              <a:t>At mount time, file system consistency checked</a:t>
            </a:r>
          </a:p>
          <a:p>
            <a:pPr lvl="1">
              <a:defRPr/>
            </a:pPr>
            <a:r>
              <a:rPr lang="en-US" altLang="en-US" sz="2000" dirty="0"/>
              <a:t>Is all metadata correct?</a:t>
            </a:r>
          </a:p>
          <a:p>
            <a:pPr lvl="2">
              <a:buFont typeface="Webdings" pitchFamily="2" charset="2"/>
              <a:buChar char="4"/>
              <a:defRPr/>
            </a:pPr>
            <a:r>
              <a:rPr lang="en-US" altLang="en-US" sz="2000" dirty="0"/>
              <a:t>If not, fix it, try again</a:t>
            </a:r>
          </a:p>
          <a:p>
            <a:pPr lvl="2">
              <a:buFont typeface="Webdings" pitchFamily="2" charset="2"/>
              <a:buChar char="4"/>
              <a:defRPr/>
            </a:pPr>
            <a:r>
              <a:rPr lang="en-US" altLang="en-US" sz="2000" dirty="0"/>
              <a:t>If yes, add to mount table, allow access</a:t>
            </a:r>
          </a:p>
          <a:p>
            <a:pPr>
              <a:defRPr/>
            </a:pPr>
            <a:r>
              <a:rPr lang="en-US" altLang="en-US" sz="2000" dirty="0"/>
              <a:t>Boot block can point to boot volume or boot loader set of blocks that contain enough code to know how to load the kernel from the file system</a:t>
            </a:r>
          </a:p>
          <a:p>
            <a:pPr lvl="1">
              <a:defRPr/>
            </a:pPr>
            <a:r>
              <a:rPr lang="en-US" altLang="en-US" sz="2000" dirty="0"/>
              <a:t>Or a boot management program for multi-</a:t>
            </a:r>
            <a:r>
              <a:rPr lang="en-US" altLang="en-US" sz="2000" dirty="0" err="1"/>
              <a:t>os</a:t>
            </a:r>
            <a:r>
              <a:rPr lang="en-US" altLang="en-US" sz="2000" dirty="0"/>
              <a:t> booting</a:t>
            </a:r>
          </a:p>
          <a:p>
            <a:pPr marL="0" indent="0">
              <a:buFont typeface="Monotype Sorts" pitchFamily="2" charset="2"/>
              <a:buNone/>
              <a:defRPr/>
            </a:pPr>
            <a:endParaRPr lang="en-US" alt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081C65AD-451C-4425-BE1A-BC0C489CE2C0}"/>
              </a:ext>
            </a:extLst>
          </p:cNvPr>
          <p:cNvSpPr>
            <a:spLocks noGrp="1" noChangeArrowheads="1"/>
          </p:cNvSpPr>
          <p:nvPr>
            <p:ph type="title"/>
          </p:nvPr>
        </p:nvSpPr>
        <p:spPr>
          <a:xfrm>
            <a:off x="849190" y="242306"/>
            <a:ext cx="7996237" cy="576262"/>
          </a:xfrm>
        </p:spPr>
        <p:txBody>
          <a:bodyPr/>
          <a:lstStyle/>
          <a:p>
            <a:pPr eaLnBrk="1" hangingPunct="1"/>
            <a:r>
              <a:rPr lang="en-US" altLang="en-US" dirty="0"/>
              <a:t>Device Storage Management (3)</a:t>
            </a:r>
          </a:p>
        </p:txBody>
      </p:sp>
      <p:sp>
        <p:nvSpPr>
          <p:cNvPr id="56322" name="Rectangle 3">
            <a:extLst>
              <a:ext uri="{FF2B5EF4-FFF2-40B4-BE49-F238E27FC236}">
                <a16:creationId xmlns:a16="http://schemas.microsoft.com/office/drawing/2014/main" id="{F6AFB42B-5C5B-4BF7-B644-21150D63A422}"/>
              </a:ext>
            </a:extLst>
          </p:cNvPr>
          <p:cNvSpPr>
            <a:spLocks noGrp="1" noChangeArrowheads="1"/>
          </p:cNvSpPr>
          <p:nvPr>
            <p:ph type="body" idx="1"/>
          </p:nvPr>
        </p:nvSpPr>
        <p:spPr>
          <a:xfrm>
            <a:off x="623630" y="891610"/>
            <a:ext cx="8221797" cy="3001293"/>
          </a:xfrm>
        </p:spPr>
        <p:txBody>
          <a:bodyPr/>
          <a:lstStyle/>
          <a:p>
            <a:pPr>
              <a:spcBef>
                <a:spcPts val="300"/>
              </a:spcBef>
            </a:pPr>
            <a:r>
              <a:rPr lang="en-US" altLang="en-US" sz="2000" dirty="0"/>
              <a:t>Raw disk access for applications that want to do their own block management, keep OS out of the way (databases for example)</a:t>
            </a:r>
          </a:p>
          <a:p>
            <a:pPr>
              <a:spcBef>
                <a:spcPts val="300"/>
              </a:spcBef>
            </a:pPr>
            <a:r>
              <a:rPr lang="en-US" altLang="zh-CN" sz="2000" dirty="0"/>
              <a:t>Master boot record (MBR) </a:t>
            </a:r>
            <a:r>
              <a:rPr lang="en-US" altLang="zh-CN" sz="2000" b="0" i="0" dirty="0">
                <a:solidFill>
                  <a:srgbClr val="474747"/>
                </a:solidFill>
                <a:effectLst/>
                <a:latin typeface="Arial" panose="020B0604020202020204" pitchFamily="34" charset="0"/>
              </a:rPr>
              <a:t>is </a:t>
            </a:r>
            <a:r>
              <a:rPr lang="en-US" altLang="zh-CN" sz="2000" b="0" i="0" dirty="0">
                <a:solidFill>
                  <a:srgbClr val="D93025"/>
                </a:solidFill>
                <a:effectLst/>
                <a:latin typeface="Arial" panose="020B0604020202020204" pitchFamily="34" charset="0"/>
              </a:rPr>
              <a:t>a type of boot sector in the first block of partitioned computer mass storage devices</a:t>
            </a:r>
            <a:r>
              <a:rPr lang="en-US" altLang="zh-CN" sz="2000" b="0" i="0" dirty="0">
                <a:solidFill>
                  <a:srgbClr val="474747"/>
                </a:solidFill>
                <a:effectLst/>
                <a:latin typeface="Arial" panose="020B0604020202020204" pitchFamily="34" charset="0"/>
              </a:rPr>
              <a:t> like fixed disks or removable drives</a:t>
            </a:r>
            <a:endParaRPr lang="en-US" altLang="en-US" sz="2000" dirty="0"/>
          </a:p>
          <a:p>
            <a:pPr>
              <a:spcBef>
                <a:spcPts val="300"/>
              </a:spcBef>
            </a:pPr>
            <a:r>
              <a:rPr lang="en-US" altLang="en-US" sz="2000" dirty="0"/>
              <a:t>Boot block initializes system</a:t>
            </a:r>
          </a:p>
          <a:p>
            <a:pPr lvl="1">
              <a:spcBef>
                <a:spcPts val="300"/>
              </a:spcBef>
            </a:pPr>
            <a:r>
              <a:rPr lang="en-US" altLang="en-US" sz="2000" dirty="0"/>
              <a:t>The bootstrap is stored in ROM, firmware</a:t>
            </a:r>
          </a:p>
          <a:p>
            <a:pPr lvl="1">
              <a:spcBef>
                <a:spcPts val="300"/>
              </a:spcBef>
            </a:pPr>
            <a:r>
              <a:rPr lang="en-US" altLang="en-US" sz="2000" b="1" dirty="0">
                <a:solidFill>
                  <a:srgbClr val="006699"/>
                </a:solidFill>
                <a:latin typeface="+mj-lt"/>
              </a:rPr>
              <a:t>Bootstrap</a:t>
            </a:r>
            <a:r>
              <a:rPr lang="en-US" altLang="en-US" sz="2000" b="1" dirty="0">
                <a:solidFill>
                  <a:srgbClr val="3366FF"/>
                </a:solidFill>
              </a:rPr>
              <a:t> </a:t>
            </a:r>
            <a:r>
              <a:rPr lang="en-US" altLang="en-US" sz="2000" b="1" dirty="0">
                <a:solidFill>
                  <a:srgbClr val="006699"/>
                </a:solidFill>
                <a:latin typeface="+mj-lt"/>
              </a:rPr>
              <a:t>loader</a:t>
            </a:r>
            <a:r>
              <a:rPr lang="en-US" altLang="en-US" sz="2000" dirty="0">
                <a:solidFill>
                  <a:srgbClr val="3366FF"/>
                </a:solidFill>
              </a:rPr>
              <a:t> </a:t>
            </a:r>
            <a:r>
              <a:rPr lang="en-US" altLang="en-US" sz="2000" dirty="0"/>
              <a:t>program stored in boot blocks of boot partition</a:t>
            </a:r>
          </a:p>
          <a:p>
            <a:pPr>
              <a:spcBef>
                <a:spcPts val="300"/>
              </a:spcBef>
            </a:pPr>
            <a:r>
              <a:rPr lang="en-US" altLang="en-US" sz="2000" dirty="0"/>
              <a:t>Methods such as </a:t>
            </a:r>
            <a:r>
              <a:rPr lang="en-US" altLang="en-US" sz="2000" b="1" dirty="0">
                <a:solidFill>
                  <a:srgbClr val="006699"/>
                </a:solidFill>
                <a:latin typeface="+mj-lt"/>
              </a:rPr>
              <a:t>sector</a:t>
            </a:r>
            <a:r>
              <a:rPr lang="en-US" altLang="en-US" sz="2000" b="1" dirty="0">
                <a:solidFill>
                  <a:srgbClr val="3366FF"/>
                </a:solidFill>
              </a:rPr>
              <a:t> </a:t>
            </a:r>
            <a:r>
              <a:rPr lang="en-US" altLang="en-US" sz="2000" b="1" dirty="0">
                <a:solidFill>
                  <a:srgbClr val="006699"/>
                </a:solidFill>
                <a:latin typeface="+mj-lt"/>
              </a:rPr>
              <a:t>sparing</a:t>
            </a:r>
            <a:r>
              <a:rPr lang="en-US" altLang="en-US" sz="2000" dirty="0">
                <a:solidFill>
                  <a:srgbClr val="3366FF"/>
                </a:solidFill>
              </a:rPr>
              <a:t> </a:t>
            </a:r>
            <a:r>
              <a:rPr lang="en-US" altLang="en-US" sz="2000" dirty="0"/>
              <a:t>used to handle bad blocks</a:t>
            </a:r>
          </a:p>
        </p:txBody>
      </p:sp>
      <p:grpSp>
        <p:nvGrpSpPr>
          <p:cNvPr id="2" name="组合 1">
            <a:extLst>
              <a:ext uri="{FF2B5EF4-FFF2-40B4-BE49-F238E27FC236}">
                <a16:creationId xmlns:a16="http://schemas.microsoft.com/office/drawing/2014/main" id="{F1ACA6C4-2D03-49B0-E4FE-1A9A68E0BC91}"/>
              </a:ext>
            </a:extLst>
          </p:cNvPr>
          <p:cNvGrpSpPr/>
          <p:nvPr/>
        </p:nvGrpSpPr>
        <p:grpSpPr>
          <a:xfrm>
            <a:off x="2569745" y="3965947"/>
            <a:ext cx="4437110" cy="2702912"/>
            <a:chOff x="5462587" y="1820900"/>
            <a:chExt cx="5493471" cy="3010440"/>
          </a:xfrm>
        </p:grpSpPr>
        <p:pic>
          <p:nvPicPr>
            <p:cNvPr id="56323" name="Picture 5">
              <a:extLst>
                <a:ext uri="{FF2B5EF4-FFF2-40B4-BE49-F238E27FC236}">
                  <a16:creationId xmlns:a16="http://schemas.microsoft.com/office/drawing/2014/main" id="{836D1A4C-0928-4D30-800B-FDF920320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0078" y="1820900"/>
              <a:ext cx="3469721" cy="259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Box 1">
              <a:extLst>
                <a:ext uri="{FF2B5EF4-FFF2-40B4-BE49-F238E27FC236}">
                  <a16:creationId xmlns:a16="http://schemas.microsoft.com/office/drawing/2014/main" id="{C10FCEEE-8703-409F-B410-3198C98BD81F}"/>
                </a:ext>
              </a:extLst>
            </p:cNvPr>
            <p:cNvSpPr txBox="1">
              <a:spLocks noChangeArrowheads="1"/>
            </p:cNvSpPr>
            <p:nvPr/>
          </p:nvSpPr>
          <p:spPr bwMode="auto">
            <a:xfrm>
              <a:off x="5462587" y="4440503"/>
              <a:ext cx="5493471" cy="39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en-US" sz="1300" dirty="0"/>
                <a:t>Booting from secondary storage in Windows</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D1AD4E4D-C902-4D6A-A885-A1EC8283B63A}"/>
              </a:ext>
            </a:extLst>
          </p:cNvPr>
          <p:cNvSpPr>
            <a:spLocks noGrp="1" noChangeArrowheads="1"/>
          </p:cNvSpPr>
          <p:nvPr>
            <p:ph type="title"/>
          </p:nvPr>
        </p:nvSpPr>
        <p:spPr>
          <a:xfrm>
            <a:off x="457200" y="241336"/>
            <a:ext cx="8229600" cy="576262"/>
          </a:xfrm>
        </p:spPr>
        <p:txBody>
          <a:bodyPr/>
          <a:lstStyle/>
          <a:p>
            <a:r>
              <a:rPr lang="en-US" altLang="en-US" dirty="0"/>
              <a:t>Swap-Space Management</a:t>
            </a:r>
          </a:p>
        </p:txBody>
      </p:sp>
      <p:sp>
        <p:nvSpPr>
          <p:cNvPr id="58370" name="Content Placeholder 2">
            <a:extLst>
              <a:ext uri="{FF2B5EF4-FFF2-40B4-BE49-F238E27FC236}">
                <a16:creationId xmlns:a16="http://schemas.microsoft.com/office/drawing/2014/main" id="{2B5E13A3-EFBF-4B0B-90B0-A4D1FBCAB438}"/>
              </a:ext>
            </a:extLst>
          </p:cNvPr>
          <p:cNvSpPr>
            <a:spLocks noGrp="1" noChangeArrowheads="1"/>
          </p:cNvSpPr>
          <p:nvPr>
            <p:ph idx="1"/>
          </p:nvPr>
        </p:nvSpPr>
        <p:spPr>
          <a:xfrm>
            <a:off x="877079" y="929500"/>
            <a:ext cx="7595117" cy="3621236"/>
          </a:xfrm>
        </p:spPr>
        <p:txBody>
          <a:bodyPr/>
          <a:lstStyle/>
          <a:p>
            <a:pPr>
              <a:spcBef>
                <a:spcPts val="300"/>
              </a:spcBef>
            </a:pPr>
            <a:r>
              <a:rPr lang="en-US" altLang="en-US" dirty="0"/>
              <a:t>Used for moving entire processes (swapping), or pages (paging), from DRAM to secondary storage when DRAM not large enough for all processes</a:t>
            </a:r>
          </a:p>
          <a:p>
            <a:pPr>
              <a:spcBef>
                <a:spcPts val="300"/>
              </a:spcBef>
            </a:pPr>
            <a:r>
              <a:rPr lang="en-US" altLang="en-US" dirty="0"/>
              <a:t>Operating system provides </a:t>
            </a:r>
            <a:r>
              <a:rPr lang="en-US" altLang="en-US" b="1" dirty="0">
                <a:solidFill>
                  <a:srgbClr val="006699"/>
                </a:solidFill>
                <a:latin typeface="+mj-lt"/>
              </a:rPr>
              <a:t>swap</a:t>
            </a:r>
            <a:r>
              <a:rPr lang="en-US" altLang="en-US" b="1" dirty="0">
                <a:solidFill>
                  <a:srgbClr val="3366FF"/>
                </a:solidFill>
              </a:rPr>
              <a:t> </a:t>
            </a:r>
            <a:r>
              <a:rPr lang="en-US" altLang="en-US" b="1" dirty="0">
                <a:solidFill>
                  <a:srgbClr val="006699"/>
                </a:solidFill>
                <a:latin typeface="+mj-lt"/>
              </a:rPr>
              <a:t>space</a:t>
            </a:r>
            <a:r>
              <a:rPr lang="en-US" altLang="en-US" b="1" dirty="0">
                <a:solidFill>
                  <a:srgbClr val="3366FF"/>
                </a:solidFill>
              </a:rPr>
              <a:t> </a:t>
            </a:r>
            <a:r>
              <a:rPr lang="en-US" altLang="en-US" b="1" dirty="0">
                <a:solidFill>
                  <a:srgbClr val="006699"/>
                </a:solidFill>
                <a:latin typeface="+mj-lt"/>
              </a:rPr>
              <a:t>management</a:t>
            </a:r>
          </a:p>
          <a:p>
            <a:pPr lvl="1">
              <a:spcBef>
                <a:spcPts val="300"/>
              </a:spcBef>
            </a:pPr>
            <a:r>
              <a:rPr lang="en-US" altLang="en-US" dirty="0"/>
              <a:t>Secondary storage slower than DRAM, so important to optimize performance</a:t>
            </a:r>
          </a:p>
          <a:p>
            <a:pPr lvl="1">
              <a:spcBef>
                <a:spcPts val="300"/>
              </a:spcBef>
            </a:pPr>
            <a:r>
              <a:rPr lang="en-US" altLang="en-US" dirty="0"/>
              <a:t>Usually multiple swap spaces possible – decreasing I/O load on any given device</a:t>
            </a:r>
          </a:p>
          <a:p>
            <a:pPr lvl="1">
              <a:spcBef>
                <a:spcPts val="300"/>
              </a:spcBef>
            </a:pPr>
            <a:r>
              <a:rPr lang="en-US" altLang="en-US" dirty="0"/>
              <a:t>Best to have dedicated devices</a:t>
            </a:r>
          </a:p>
          <a:p>
            <a:pPr lvl="1">
              <a:spcBef>
                <a:spcPts val="300"/>
              </a:spcBef>
            </a:pPr>
            <a:r>
              <a:rPr lang="en-US" altLang="en-US" dirty="0"/>
              <a:t>Can be in raw partition or a file within a file system (for convenience of adding)</a:t>
            </a:r>
          </a:p>
          <a:p>
            <a:pPr lvl="1">
              <a:spcBef>
                <a:spcPts val="300"/>
              </a:spcBef>
            </a:pPr>
            <a:r>
              <a:rPr lang="en-US" altLang="en-US" dirty="0"/>
              <a:t>Data structures for swapping on Linux systems:</a:t>
            </a:r>
          </a:p>
        </p:txBody>
      </p:sp>
      <p:pic>
        <p:nvPicPr>
          <p:cNvPr id="58371" name="Picture 2">
            <a:extLst>
              <a:ext uri="{FF2B5EF4-FFF2-40B4-BE49-F238E27FC236}">
                <a16:creationId xmlns:a16="http://schemas.microsoft.com/office/drawing/2014/main" id="{F476A4A6-069C-42E2-8E64-5716B12C7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4547" y="4662638"/>
            <a:ext cx="4817109" cy="175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E3F1A0B6-E8E8-4842-8C00-B7B20CE8563B}"/>
              </a:ext>
            </a:extLst>
          </p:cNvPr>
          <p:cNvSpPr>
            <a:spLocks noGrp="1" noChangeArrowheads="1"/>
          </p:cNvSpPr>
          <p:nvPr>
            <p:ph type="title"/>
          </p:nvPr>
        </p:nvSpPr>
        <p:spPr>
          <a:xfrm>
            <a:off x="457200" y="243929"/>
            <a:ext cx="8229600" cy="576262"/>
          </a:xfrm>
        </p:spPr>
        <p:txBody>
          <a:bodyPr/>
          <a:lstStyle/>
          <a:p>
            <a:r>
              <a:rPr lang="en-US" altLang="en-US" dirty="0"/>
              <a:t>Storage Attachment</a:t>
            </a:r>
          </a:p>
        </p:txBody>
      </p:sp>
      <p:sp>
        <p:nvSpPr>
          <p:cNvPr id="59394" name="Content Placeholder 2">
            <a:extLst>
              <a:ext uri="{FF2B5EF4-FFF2-40B4-BE49-F238E27FC236}">
                <a16:creationId xmlns:a16="http://schemas.microsoft.com/office/drawing/2014/main" id="{394A12D8-B03D-46F0-9014-B6BE43E8CD71}"/>
              </a:ext>
            </a:extLst>
          </p:cNvPr>
          <p:cNvSpPr>
            <a:spLocks noGrp="1" noChangeArrowheads="1"/>
          </p:cNvSpPr>
          <p:nvPr>
            <p:ph idx="1"/>
          </p:nvPr>
        </p:nvSpPr>
        <p:spPr>
          <a:xfrm>
            <a:off x="719302" y="964682"/>
            <a:ext cx="7967498" cy="4947020"/>
          </a:xfrm>
        </p:spPr>
        <p:txBody>
          <a:bodyPr/>
          <a:lstStyle/>
          <a:p>
            <a:r>
              <a:rPr lang="en-US" altLang="en-US" sz="2000" dirty="0"/>
              <a:t>Computers access storage in three ways</a:t>
            </a:r>
          </a:p>
          <a:p>
            <a:pPr lvl="1"/>
            <a:r>
              <a:rPr lang="en-US" altLang="en-US" sz="2000" dirty="0"/>
              <a:t>Host-attached</a:t>
            </a:r>
          </a:p>
          <a:p>
            <a:pPr lvl="1"/>
            <a:r>
              <a:rPr lang="en-US" altLang="en-US" sz="2000" dirty="0"/>
              <a:t>Network-attached</a:t>
            </a:r>
          </a:p>
          <a:p>
            <a:pPr lvl="1"/>
            <a:r>
              <a:rPr lang="en-US" altLang="en-US" sz="2000" dirty="0"/>
              <a:t>Cloud</a:t>
            </a:r>
          </a:p>
          <a:p>
            <a:r>
              <a:rPr lang="en-US" altLang="en-US" sz="2000" dirty="0"/>
              <a:t>Host attached access through local I/O ports, using one of several technologies</a:t>
            </a:r>
          </a:p>
          <a:p>
            <a:pPr lvl="1"/>
            <a:r>
              <a:rPr lang="en-US" altLang="en-US" sz="2000" dirty="0"/>
              <a:t>To attach many devices, use storage busses such as USB, firewire, thunderbolt</a:t>
            </a:r>
          </a:p>
          <a:p>
            <a:pPr lvl="1"/>
            <a:r>
              <a:rPr lang="en-US" altLang="en-US" sz="2000" dirty="0"/>
              <a:t>High-end systems use </a:t>
            </a:r>
            <a:r>
              <a:rPr lang="en-US" altLang="en-US" sz="2000" b="1" dirty="0">
                <a:solidFill>
                  <a:srgbClr val="006699"/>
                </a:solidFill>
                <a:latin typeface="+mj-lt"/>
              </a:rPr>
              <a:t>fibre</a:t>
            </a:r>
            <a:r>
              <a:rPr lang="en-US" altLang="en-US" sz="2000" b="1" dirty="0">
                <a:solidFill>
                  <a:srgbClr val="3366FF"/>
                </a:solidFill>
              </a:rPr>
              <a:t> </a:t>
            </a:r>
            <a:r>
              <a:rPr lang="en-US" altLang="en-US" sz="2000" b="1" dirty="0">
                <a:solidFill>
                  <a:srgbClr val="006699"/>
                </a:solidFill>
                <a:latin typeface="+mj-lt"/>
              </a:rPr>
              <a:t>channel</a:t>
            </a:r>
            <a:r>
              <a:rPr lang="en-US" altLang="en-US" sz="2000" b="1" dirty="0">
                <a:solidFill>
                  <a:srgbClr val="3366FF"/>
                </a:solidFill>
              </a:rPr>
              <a:t> </a:t>
            </a:r>
            <a:r>
              <a:rPr lang="en-US" altLang="en-US" sz="2000" dirty="0"/>
              <a:t>(</a:t>
            </a:r>
            <a:r>
              <a:rPr lang="en-US" altLang="en-US" sz="2000" b="1" dirty="0">
                <a:solidFill>
                  <a:srgbClr val="006699"/>
                </a:solidFill>
                <a:latin typeface="+mj-lt"/>
              </a:rPr>
              <a:t>FC</a:t>
            </a:r>
            <a:r>
              <a:rPr lang="en-US" altLang="en-US" sz="2000" dirty="0"/>
              <a:t>)</a:t>
            </a:r>
          </a:p>
          <a:p>
            <a:pPr lvl="2"/>
            <a:r>
              <a:rPr lang="en-US" altLang="en-US" sz="2000" dirty="0"/>
              <a:t>High-speed serial architecture using fibre or copper cables</a:t>
            </a:r>
          </a:p>
          <a:p>
            <a:pPr lvl="2"/>
            <a:r>
              <a:rPr lang="en-US" altLang="en-US" sz="2000" dirty="0"/>
              <a:t>Multiple hosts and storage devices can connect to the FC fabric</a:t>
            </a:r>
          </a:p>
          <a:p>
            <a:pPr lvl="2">
              <a:buFont typeface="Webdings" panose="05030102010509060703" pitchFamily="18" charset="2"/>
              <a:buNone/>
            </a:pPr>
            <a:endParaRPr lang="en-US" alt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B0F87042-DCF7-409A-B0EC-35ED3FC82734}"/>
              </a:ext>
            </a:extLst>
          </p:cNvPr>
          <p:cNvSpPr>
            <a:spLocks noGrp="1" noChangeArrowheads="1"/>
          </p:cNvSpPr>
          <p:nvPr>
            <p:ph type="title"/>
          </p:nvPr>
        </p:nvSpPr>
        <p:spPr>
          <a:xfrm>
            <a:off x="908015" y="243929"/>
            <a:ext cx="7704137" cy="576262"/>
          </a:xfrm>
        </p:spPr>
        <p:txBody>
          <a:bodyPr/>
          <a:lstStyle/>
          <a:p>
            <a:pPr eaLnBrk="1" hangingPunct="1"/>
            <a:r>
              <a:rPr lang="en-US" altLang="en-US" dirty="0"/>
              <a:t>Network-Attached Storage</a:t>
            </a:r>
          </a:p>
        </p:txBody>
      </p:sp>
      <p:sp>
        <p:nvSpPr>
          <p:cNvPr id="60418" name="Rectangle 3">
            <a:extLst>
              <a:ext uri="{FF2B5EF4-FFF2-40B4-BE49-F238E27FC236}">
                <a16:creationId xmlns:a16="http://schemas.microsoft.com/office/drawing/2014/main" id="{458B4B3A-F5AD-4126-99C7-0F578359D5AA}"/>
              </a:ext>
            </a:extLst>
          </p:cNvPr>
          <p:cNvSpPr>
            <a:spLocks noGrp="1" noChangeArrowheads="1"/>
          </p:cNvSpPr>
          <p:nvPr>
            <p:ph type="body" idx="1"/>
          </p:nvPr>
        </p:nvSpPr>
        <p:spPr>
          <a:xfrm>
            <a:off x="812322" y="917466"/>
            <a:ext cx="7704136" cy="3293028"/>
          </a:xfrm>
        </p:spPr>
        <p:txBody>
          <a:bodyPr/>
          <a:lstStyle/>
          <a:p>
            <a:pPr>
              <a:spcBef>
                <a:spcPts val="600"/>
              </a:spcBef>
            </a:pPr>
            <a:r>
              <a:rPr lang="en-US" altLang="en-US" sz="2000" dirty="0"/>
              <a:t>Network-attached storage (</a:t>
            </a:r>
            <a:r>
              <a:rPr lang="en-US" altLang="en-US" sz="2000" b="1" dirty="0">
                <a:solidFill>
                  <a:srgbClr val="006699"/>
                </a:solidFill>
                <a:latin typeface="+mj-lt"/>
              </a:rPr>
              <a:t>NAS</a:t>
            </a:r>
            <a:r>
              <a:rPr lang="en-US" altLang="en-US" sz="2000" dirty="0"/>
              <a:t>) is storage made available over a network rather than over a local connection (such as a bus)</a:t>
            </a:r>
          </a:p>
          <a:p>
            <a:pPr lvl="1">
              <a:spcBef>
                <a:spcPts val="600"/>
              </a:spcBef>
            </a:pPr>
            <a:r>
              <a:rPr lang="en-US" altLang="en-US" sz="2000" dirty="0"/>
              <a:t>Remotely attaching to file systems</a:t>
            </a:r>
          </a:p>
          <a:p>
            <a:pPr>
              <a:spcBef>
                <a:spcPts val="600"/>
              </a:spcBef>
            </a:pPr>
            <a:r>
              <a:rPr lang="en-US" altLang="en-US" sz="2000" dirty="0"/>
              <a:t>NFS and CIFS are common protocols</a:t>
            </a:r>
          </a:p>
          <a:p>
            <a:pPr>
              <a:spcBef>
                <a:spcPts val="600"/>
              </a:spcBef>
            </a:pPr>
            <a:r>
              <a:rPr lang="en-US" altLang="en-US" sz="2000" dirty="0"/>
              <a:t>Implemented via remote procedure calls (RPCs) between host and storage over typically TCP or UDP on IP network</a:t>
            </a:r>
          </a:p>
          <a:p>
            <a:pPr>
              <a:spcBef>
                <a:spcPts val="600"/>
              </a:spcBef>
            </a:pPr>
            <a:r>
              <a:rPr lang="en-US" altLang="en-US" sz="2000" b="1" dirty="0">
                <a:solidFill>
                  <a:srgbClr val="006699"/>
                </a:solidFill>
                <a:latin typeface="+mj-lt"/>
              </a:rPr>
              <a:t>iSCSI</a:t>
            </a:r>
            <a:r>
              <a:rPr lang="en-US" altLang="en-US" sz="2000" dirty="0"/>
              <a:t> protocol uses IP network to carry the SCSI protocol</a:t>
            </a:r>
          </a:p>
          <a:p>
            <a:pPr lvl="1">
              <a:spcBef>
                <a:spcPts val="600"/>
              </a:spcBef>
            </a:pPr>
            <a:r>
              <a:rPr lang="en-US" altLang="en-US" sz="2000" dirty="0"/>
              <a:t>Remotely attaching to devices (blocks)</a:t>
            </a:r>
          </a:p>
        </p:txBody>
      </p:sp>
      <p:pic>
        <p:nvPicPr>
          <p:cNvPr id="60419" name="Picture 6">
            <a:extLst>
              <a:ext uri="{FF2B5EF4-FFF2-40B4-BE49-F238E27FC236}">
                <a16:creationId xmlns:a16="http://schemas.microsoft.com/office/drawing/2014/main" id="{C045B8EF-A28E-446A-B14B-6414B024C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9916" y="4505280"/>
            <a:ext cx="4331808" cy="1830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2055AE4C-1163-4015-AFC5-C2F754D78DB8}"/>
              </a:ext>
            </a:extLst>
          </p:cNvPr>
          <p:cNvSpPr>
            <a:spLocks noGrp="1" noChangeArrowheads="1"/>
          </p:cNvSpPr>
          <p:nvPr>
            <p:ph type="title"/>
          </p:nvPr>
        </p:nvSpPr>
        <p:spPr>
          <a:xfrm>
            <a:off x="345230" y="234598"/>
            <a:ext cx="8229600" cy="576262"/>
          </a:xfrm>
        </p:spPr>
        <p:txBody>
          <a:bodyPr/>
          <a:lstStyle/>
          <a:p>
            <a:r>
              <a:rPr lang="en-US" altLang="en-US" dirty="0"/>
              <a:t>Cloud Storage</a:t>
            </a:r>
          </a:p>
        </p:txBody>
      </p:sp>
      <p:sp>
        <p:nvSpPr>
          <p:cNvPr id="62466" name="Content Placeholder 2">
            <a:extLst>
              <a:ext uri="{FF2B5EF4-FFF2-40B4-BE49-F238E27FC236}">
                <a16:creationId xmlns:a16="http://schemas.microsoft.com/office/drawing/2014/main" id="{E81A358E-91DE-4B85-B1FD-2BD30158C8DB}"/>
              </a:ext>
            </a:extLst>
          </p:cNvPr>
          <p:cNvSpPr>
            <a:spLocks noGrp="1" noChangeArrowheads="1"/>
          </p:cNvSpPr>
          <p:nvPr>
            <p:ph idx="1"/>
          </p:nvPr>
        </p:nvSpPr>
        <p:spPr>
          <a:xfrm>
            <a:off x="1072780" y="1000705"/>
            <a:ext cx="7502050" cy="3720152"/>
          </a:xfrm>
        </p:spPr>
        <p:txBody>
          <a:bodyPr/>
          <a:lstStyle/>
          <a:p>
            <a:r>
              <a:rPr lang="en-US" altLang="en-US" sz="2000" dirty="0"/>
              <a:t>Similar to NAS, provides access to storage across a network</a:t>
            </a:r>
          </a:p>
          <a:p>
            <a:pPr lvl="1"/>
            <a:r>
              <a:rPr lang="en-US" altLang="en-US" sz="2000" dirty="0"/>
              <a:t>Unlike NAS, accessed over the Internet or a WAN to remote data center</a:t>
            </a:r>
          </a:p>
          <a:p>
            <a:r>
              <a:rPr lang="en-US" altLang="en-US" sz="2000" dirty="0"/>
              <a:t>NAS presented as just another file system, while cloud storage is API based, with programs using the APIs to provide access</a:t>
            </a:r>
          </a:p>
          <a:p>
            <a:pPr lvl="1"/>
            <a:r>
              <a:rPr lang="en-US" altLang="en-US" sz="2000" dirty="0"/>
              <a:t>Examples include Dropbox, Amazon S3, Microsoft OneDrive, Apple iCloud</a:t>
            </a:r>
          </a:p>
          <a:p>
            <a:pPr lvl="1"/>
            <a:r>
              <a:rPr lang="en-US" altLang="en-US" sz="2000" dirty="0"/>
              <a:t>Use APIs because of latency and failure scenarios (NAS protocols wouldn’t work well)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6B34DF92-B9D5-4FB7-9DCB-02820A4FD826}"/>
              </a:ext>
            </a:extLst>
          </p:cNvPr>
          <p:cNvSpPr>
            <a:spLocks noGrp="1" noChangeArrowheads="1"/>
          </p:cNvSpPr>
          <p:nvPr>
            <p:ph type="title"/>
          </p:nvPr>
        </p:nvSpPr>
        <p:spPr>
          <a:xfrm>
            <a:off x="401214" y="234598"/>
            <a:ext cx="8229600" cy="576262"/>
          </a:xfrm>
        </p:spPr>
        <p:txBody>
          <a:bodyPr/>
          <a:lstStyle/>
          <a:p>
            <a:r>
              <a:rPr lang="en-US" altLang="en-US" dirty="0"/>
              <a:t>Storage Array</a:t>
            </a:r>
          </a:p>
        </p:txBody>
      </p:sp>
      <p:sp>
        <p:nvSpPr>
          <p:cNvPr id="63490" name="Content Placeholder 2">
            <a:extLst>
              <a:ext uri="{FF2B5EF4-FFF2-40B4-BE49-F238E27FC236}">
                <a16:creationId xmlns:a16="http://schemas.microsoft.com/office/drawing/2014/main" id="{1BE141C6-9904-4F24-845A-C7BF0D277BD7}"/>
              </a:ext>
            </a:extLst>
          </p:cNvPr>
          <p:cNvSpPr>
            <a:spLocks noGrp="1" noChangeArrowheads="1"/>
          </p:cNvSpPr>
          <p:nvPr>
            <p:ph idx="1"/>
          </p:nvPr>
        </p:nvSpPr>
        <p:spPr>
          <a:xfrm>
            <a:off x="871195" y="1014781"/>
            <a:ext cx="7610763" cy="4811861"/>
          </a:xfrm>
        </p:spPr>
        <p:txBody>
          <a:bodyPr/>
          <a:lstStyle/>
          <a:p>
            <a:r>
              <a:rPr lang="en-US" altLang="en-US" sz="2000" dirty="0"/>
              <a:t>Can just attach disks, or arrays of disks</a:t>
            </a:r>
          </a:p>
          <a:p>
            <a:r>
              <a:rPr lang="en-US" altLang="en-US" sz="2000" dirty="0"/>
              <a:t>Avoids the NAS drawback of using network bandwidth</a:t>
            </a:r>
          </a:p>
          <a:p>
            <a:r>
              <a:rPr lang="en-US" altLang="en-US" sz="2000" dirty="0"/>
              <a:t>Storage Array has controller(s), provides features to attached host(s)</a:t>
            </a:r>
          </a:p>
          <a:p>
            <a:pPr lvl="1"/>
            <a:r>
              <a:rPr lang="en-US" altLang="en-US" sz="2000" dirty="0"/>
              <a:t>Ports to connect hosts to array</a:t>
            </a:r>
          </a:p>
          <a:p>
            <a:pPr lvl="1"/>
            <a:r>
              <a:rPr lang="en-US" altLang="en-US" sz="2000" dirty="0"/>
              <a:t>Memory, controlling software (sometimes NVRAM, </a:t>
            </a:r>
            <a:r>
              <a:rPr lang="en-US" altLang="en-US" sz="2000" dirty="0" err="1"/>
              <a:t>etc</a:t>
            </a:r>
            <a:r>
              <a:rPr lang="en-US" altLang="en-US" sz="2000" dirty="0"/>
              <a:t>)</a:t>
            </a:r>
          </a:p>
          <a:p>
            <a:pPr lvl="1"/>
            <a:r>
              <a:rPr lang="en-US" altLang="en-US" sz="2000" dirty="0"/>
              <a:t>A few to thousands of disks</a:t>
            </a:r>
          </a:p>
          <a:p>
            <a:pPr lvl="1"/>
            <a:r>
              <a:rPr lang="en-US" altLang="en-US" sz="2000" dirty="0"/>
              <a:t>RAID, hot spares, hot swap (discussed later)</a:t>
            </a:r>
          </a:p>
          <a:p>
            <a:pPr lvl="1"/>
            <a:r>
              <a:rPr lang="en-US" altLang="en-US" sz="2000" dirty="0"/>
              <a:t>Shared storage -&gt; more efficiency</a:t>
            </a:r>
          </a:p>
          <a:p>
            <a:pPr lvl="1"/>
            <a:r>
              <a:rPr lang="en-US" altLang="en-US" sz="2000" dirty="0"/>
              <a:t>Features found in some file systems</a:t>
            </a:r>
          </a:p>
          <a:p>
            <a:pPr lvl="2"/>
            <a:r>
              <a:rPr lang="en-US" altLang="en-US" sz="2000" dirty="0"/>
              <a:t>Snapshots, clones, thin provisioning, replication, deduplication, </a:t>
            </a:r>
            <a:r>
              <a:rPr lang="en-US" altLang="en-US" sz="2000" dirty="0" err="1"/>
              <a:t>etc</a:t>
            </a:r>
            <a:endParaRPr lang="en-US" altLang="en-US" sz="2000" dirty="0"/>
          </a:p>
          <a:p>
            <a:pPr lvl="2">
              <a:buFont typeface="Webdings" panose="05030102010509060703" pitchFamily="18" charset="2"/>
              <a:buNone/>
            </a:pPr>
            <a:endParaRPr lang="en-US"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2F921473-8E50-4EA9-A6A6-E837DC6E6B87}"/>
              </a:ext>
            </a:extLst>
          </p:cNvPr>
          <p:cNvSpPr>
            <a:spLocks noGrp="1" noChangeArrowheads="1"/>
          </p:cNvSpPr>
          <p:nvPr>
            <p:ph type="title"/>
          </p:nvPr>
        </p:nvSpPr>
        <p:spPr>
          <a:xfrm>
            <a:off x="738188" y="248885"/>
            <a:ext cx="7948612" cy="576263"/>
          </a:xfrm>
        </p:spPr>
        <p:txBody>
          <a:bodyPr/>
          <a:lstStyle/>
          <a:p>
            <a:pPr eaLnBrk="1" hangingPunct="1"/>
            <a:r>
              <a:rPr lang="en-US" altLang="en-US" dirty="0"/>
              <a:t>Storage Area Network (1)</a:t>
            </a:r>
          </a:p>
        </p:txBody>
      </p:sp>
      <p:sp>
        <p:nvSpPr>
          <p:cNvPr id="64514" name="Rectangle 3">
            <a:extLst>
              <a:ext uri="{FF2B5EF4-FFF2-40B4-BE49-F238E27FC236}">
                <a16:creationId xmlns:a16="http://schemas.microsoft.com/office/drawing/2014/main" id="{288331C3-ECD3-43D4-A61F-4197634C74D8}"/>
              </a:ext>
            </a:extLst>
          </p:cNvPr>
          <p:cNvSpPr>
            <a:spLocks noGrp="1" noChangeArrowheads="1"/>
          </p:cNvSpPr>
          <p:nvPr>
            <p:ph type="body" idx="1"/>
          </p:nvPr>
        </p:nvSpPr>
        <p:spPr>
          <a:xfrm>
            <a:off x="867748" y="1233488"/>
            <a:ext cx="7708739" cy="914289"/>
          </a:xfrm>
        </p:spPr>
        <p:txBody>
          <a:bodyPr/>
          <a:lstStyle/>
          <a:p>
            <a:r>
              <a:rPr lang="en-US" altLang="en-US" sz="2000" dirty="0"/>
              <a:t>Common in large storage environments</a:t>
            </a:r>
          </a:p>
          <a:p>
            <a:r>
              <a:rPr lang="en-US" altLang="en-US" sz="2000" dirty="0"/>
              <a:t>Multiple hosts attached to multiple storage arrays – flexible</a:t>
            </a:r>
          </a:p>
          <a:p>
            <a:endParaRPr lang="en-US" altLang="en-US" sz="2000" dirty="0"/>
          </a:p>
        </p:txBody>
      </p:sp>
      <p:pic>
        <p:nvPicPr>
          <p:cNvPr id="64515" name="Picture 1" descr="10_03.pdf">
            <a:extLst>
              <a:ext uri="{FF2B5EF4-FFF2-40B4-BE49-F238E27FC236}">
                <a16:creationId xmlns:a16="http://schemas.microsoft.com/office/drawing/2014/main" id="{68120415-D3B9-4A14-A2BD-D0CC74D2FD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59860" y="2643225"/>
            <a:ext cx="6358371" cy="328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3792BFC1-A33F-47C5-8A58-0B056DD32041}"/>
              </a:ext>
            </a:extLst>
          </p:cNvPr>
          <p:cNvSpPr>
            <a:spLocks noGrp="1" noChangeArrowheads="1"/>
          </p:cNvSpPr>
          <p:nvPr>
            <p:ph type="title"/>
          </p:nvPr>
        </p:nvSpPr>
        <p:spPr>
          <a:xfrm>
            <a:off x="881098" y="247880"/>
            <a:ext cx="7805701" cy="576262"/>
          </a:xfrm>
        </p:spPr>
        <p:txBody>
          <a:bodyPr/>
          <a:lstStyle/>
          <a:p>
            <a:r>
              <a:rPr lang="en-US" altLang="en-US" dirty="0"/>
              <a:t>Storage Area Network (2)</a:t>
            </a:r>
          </a:p>
        </p:txBody>
      </p:sp>
      <p:sp>
        <p:nvSpPr>
          <p:cNvPr id="66562" name="Content Placeholder 2">
            <a:extLst>
              <a:ext uri="{FF2B5EF4-FFF2-40B4-BE49-F238E27FC236}">
                <a16:creationId xmlns:a16="http://schemas.microsoft.com/office/drawing/2014/main" id="{4C0EEB29-E143-4007-9C73-3F5EC0AD59D9}"/>
              </a:ext>
            </a:extLst>
          </p:cNvPr>
          <p:cNvSpPr>
            <a:spLocks noGrp="1" noChangeArrowheads="1"/>
          </p:cNvSpPr>
          <p:nvPr>
            <p:ph idx="1"/>
          </p:nvPr>
        </p:nvSpPr>
        <p:spPr>
          <a:xfrm>
            <a:off x="743502" y="879705"/>
            <a:ext cx="7943297" cy="3061957"/>
          </a:xfrm>
        </p:spPr>
        <p:txBody>
          <a:bodyPr/>
          <a:lstStyle/>
          <a:p>
            <a:pPr>
              <a:spcBef>
                <a:spcPts val="600"/>
              </a:spcBef>
            </a:pPr>
            <a:r>
              <a:rPr lang="en-US" altLang="en-US" dirty="0"/>
              <a:t>SAN is one or more storage arrays</a:t>
            </a:r>
          </a:p>
          <a:p>
            <a:pPr lvl="1">
              <a:spcBef>
                <a:spcPts val="600"/>
              </a:spcBef>
            </a:pPr>
            <a:r>
              <a:rPr lang="en-US" altLang="en-US" dirty="0"/>
              <a:t>Connected to one or more Fibre Channel switches or </a:t>
            </a:r>
            <a:r>
              <a:rPr lang="en-US" altLang="en-US" b="1" dirty="0">
                <a:solidFill>
                  <a:srgbClr val="006699"/>
                </a:solidFill>
                <a:latin typeface="+mj-lt"/>
              </a:rPr>
              <a:t>InfiniBand</a:t>
            </a:r>
            <a:r>
              <a:rPr lang="en-US" altLang="en-US" dirty="0"/>
              <a:t> (</a:t>
            </a:r>
            <a:r>
              <a:rPr lang="en-US" altLang="en-US" b="1" dirty="0">
                <a:solidFill>
                  <a:srgbClr val="006699"/>
                </a:solidFill>
                <a:latin typeface="+mj-lt"/>
              </a:rPr>
              <a:t>IB</a:t>
            </a:r>
            <a:r>
              <a:rPr lang="en-US" altLang="en-US" dirty="0"/>
              <a:t>) network</a:t>
            </a:r>
          </a:p>
          <a:p>
            <a:pPr>
              <a:spcBef>
                <a:spcPts val="600"/>
              </a:spcBef>
            </a:pPr>
            <a:r>
              <a:rPr lang="en-US" altLang="en-US" dirty="0"/>
              <a:t>Hosts also attach to the switches</a:t>
            </a:r>
          </a:p>
          <a:p>
            <a:pPr>
              <a:spcBef>
                <a:spcPts val="600"/>
              </a:spcBef>
            </a:pPr>
            <a:r>
              <a:rPr lang="en-US" altLang="en-US" dirty="0"/>
              <a:t>Storage made available via </a:t>
            </a:r>
            <a:r>
              <a:rPr lang="en-US" altLang="en-US" b="1" dirty="0">
                <a:solidFill>
                  <a:srgbClr val="006699"/>
                </a:solidFill>
                <a:latin typeface="+mj-lt"/>
              </a:rPr>
              <a:t>LUN</a:t>
            </a:r>
            <a:r>
              <a:rPr lang="en-US" altLang="en-US" b="1" dirty="0">
                <a:solidFill>
                  <a:srgbClr val="3366FF"/>
                </a:solidFill>
              </a:rPr>
              <a:t> </a:t>
            </a:r>
            <a:r>
              <a:rPr lang="en-US" altLang="en-US" b="1" dirty="0">
                <a:solidFill>
                  <a:srgbClr val="006699"/>
                </a:solidFill>
                <a:latin typeface="+mj-lt"/>
              </a:rPr>
              <a:t>Masking</a:t>
            </a:r>
            <a:r>
              <a:rPr lang="en-US" altLang="en-US" b="1" dirty="0">
                <a:solidFill>
                  <a:srgbClr val="3366FF"/>
                </a:solidFill>
              </a:rPr>
              <a:t> </a:t>
            </a:r>
            <a:r>
              <a:rPr lang="en-US" altLang="en-US" dirty="0"/>
              <a:t>from specific arrays to specific servers</a:t>
            </a:r>
          </a:p>
          <a:p>
            <a:pPr>
              <a:spcBef>
                <a:spcPts val="600"/>
              </a:spcBef>
            </a:pPr>
            <a:r>
              <a:rPr lang="en-US" altLang="en-US" dirty="0"/>
              <a:t>Easy to add or remove storage, add new host and allocate it storage</a:t>
            </a:r>
          </a:p>
          <a:p>
            <a:pPr>
              <a:spcBef>
                <a:spcPts val="600"/>
              </a:spcBef>
            </a:pPr>
            <a:r>
              <a:rPr lang="en-US" altLang="en-US" dirty="0"/>
              <a:t>Why have separate storage networks and communications networks?</a:t>
            </a:r>
          </a:p>
          <a:p>
            <a:pPr lvl="1">
              <a:spcBef>
                <a:spcPts val="600"/>
              </a:spcBef>
            </a:pPr>
            <a:r>
              <a:rPr lang="en-US" altLang="en-US" dirty="0"/>
              <a:t>Consider iSCSI, FCOE</a:t>
            </a:r>
          </a:p>
        </p:txBody>
      </p:sp>
      <p:grpSp>
        <p:nvGrpSpPr>
          <p:cNvPr id="2" name="组合 1">
            <a:extLst>
              <a:ext uri="{FF2B5EF4-FFF2-40B4-BE49-F238E27FC236}">
                <a16:creationId xmlns:a16="http://schemas.microsoft.com/office/drawing/2014/main" id="{6DA12FA2-AD1F-C50D-8858-3A9524CCFAF6}"/>
              </a:ext>
            </a:extLst>
          </p:cNvPr>
          <p:cNvGrpSpPr/>
          <p:nvPr/>
        </p:nvGrpSpPr>
        <p:grpSpPr>
          <a:xfrm>
            <a:off x="3317358" y="3993771"/>
            <a:ext cx="3166878" cy="2560786"/>
            <a:chOff x="5126038" y="2457450"/>
            <a:chExt cx="3452812" cy="2730500"/>
          </a:xfrm>
        </p:grpSpPr>
        <p:pic>
          <p:nvPicPr>
            <p:cNvPr id="66563" name="Picture 2">
              <a:extLst>
                <a:ext uri="{FF2B5EF4-FFF2-40B4-BE49-F238E27FC236}">
                  <a16:creationId xmlns:a16="http://schemas.microsoft.com/office/drawing/2014/main" id="{455B71F6-1896-4AB1-B5F2-A3BEFA927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038" y="2457450"/>
              <a:ext cx="345281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TextBox 3">
              <a:extLst>
                <a:ext uri="{FF2B5EF4-FFF2-40B4-BE49-F238E27FC236}">
                  <a16:creationId xmlns:a16="http://schemas.microsoft.com/office/drawing/2014/main" id="{411C90A2-9CF5-4AB5-BDDE-9E24F2821D19}"/>
                </a:ext>
              </a:extLst>
            </p:cNvPr>
            <p:cNvSpPr txBox="1">
              <a:spLocks noChangeArrowheads="1"/>
            </p:cNvSpPr>
            <p:nvPr/>
          </p:nvSpPr>
          <p:spPr bwMode="auto">
            <a:xfrm>
              <a:off x="5705475" y="4818063"/>
              <a:ext cx="2579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600" dirty="0"/>
                <a:t>A Storage Array</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F2C9344-BA31-5859-F107-D2A37D0FA4B1}"/>
              </a:ext>
            </a:extLst>
          </p:cNvPr>
          <p:cNvSpPr>
            <a:spLocks noGrp="1" noChangeArrowheads="1"/>
          </p:cNvSpPr>
          <p:nvPr>
            <p:ph type="title"/>
          </p:nvPr>
        </p:nvSpPr>
        <p:spPr>
          <a:xfrm>
            <a:off x="771526" y="265814"/>
            <a:ext cx="7761817" cy="555035"/>
          </a:xfrm>
        </p:spPr>
        <p:txBody>
          <a:bodyPr/>
          <a:lstStyle/>
          <a:p>
            <a:pPr eaLnBrk="1" hangingPunct="1"/>
            <a:r>
              <a:rPr lang="en-US" altLang="zh-TW" dirty="0"/>
              <a:t>RAID Structure (1)</a:t>
            </a:r>
          </a:p>
        </p:txBody>
      </p:sp>
      <p:sp>
        <p:nvSpPr>
          <p:cNvPr id="63491" name="Rectangle 3">
            <a:extLst>
              <a:ext uri="{FF2B5EF4-FFF2-40B4-BE49-F238E27FC236}">
                <a16:creationId xmlns:a16="http://schemas.microsoft.com/office/drawing/2014/main" id="{3048D7C0-AB02-10CE-2A5B-1CDD58CAAA1C}"/>
              </a:ext>
            </a:extLst>
          </p:cNvPr>
          <p:cNvSpPr>
            <a:spLocks noGrp="1" noChangeArrowheads="1"/>
          </p:cNvSpPr>
          <p:nvPr>
            <p:ph type="body" idx="1"/>
          </p:nvPr>
        </p:nvSpPr>
        <p:spPr>
          <a:xfrm>
            <a:off x="771526" y="946298"/>
            <a:ext cx="7890933" cy="4795283"/>
          </a:xfrm>
        </p:spPr>
        <p:txBody>
          <a:bodyPr/>
          <a:lstStyle/>
          <a:p>
            <a:r>
              <a:rPr lang="en-US" altLang="zh-TW" sz="2000" dirty="0"/>
              <a:t>RAID – </a:t>
            </a:r>
            <a:r>
              <a:rPr lang="en-US" altLang="zh-CN" sz="2000" dirty="0"/>
              <a:t>R</a:t>
            </a:r>
            <a:r>
              <a:rPr lang="en-US" altLang="zh-TW" sz="2000" dirty="0"/>
              <a:t>edundant array of inexpensive disks</a:t>
            </a:r>
          </a:p>
          <a:p>
            <a:pPr lvl="1"/>
            <a:r>
              <a:rPr lang="en-US" altLang="zh-TW" sz="2000" dirty="0"/>
              <a:t>Multiple disk drives provides reliability via </a:t>
            </a:r>
            <a:r>
              <a:rPr lang="en-US" altLang="zh-TW" sz="2000" b="1" dirty="0">
                <a:solidFill>
                  <a:srgbClr val="3366FF"/>
                </a:solidFill>
              </a:rPr>
              <a:t>redundancy</a:t>
            </a:r>
            <a:endParaRPr lang="en-US" altLang="zh-TW" sz="2000" b="1" dirty="0"/>
          </a:p>
          <a:p>
            <a:r>
              <a:rPr lang="en-US" altLang="zh-TW" sz="2000" dirty="0"/>
              <a:t>Increases the </a:t>
            </a:r>
            <a:r>
              <a:rPr lang="en-US" altLang="zh-TW" sz="2000" b="1" dirty="0">
                <a:solidFill>
                  <a:srgbClr val="3366FF"/>
                </a:solidFill>
              </a:rPr>
              <a:t>mean time to failure</a:t>
            </a:r>
          </a:p>
          <a:p>
            <a:r>
              <a:rPr lang="en-US" altLang="zh-TW" sz="2000" b="1" dirty="0">
                <a:solidFill>
                  <a:srgbClr val="3366FF"/>
                </a:solidFill>
              </a:rPr>
              <a:t>Mean time to repair – </a:t>
            </a:r>
            <a:r>
              <a:rPr lang="en-US" altLang="zh-TW" sz="2000" b="1" dirty="0"/>
              <a:t>E</a:t>
            </a:r>
            <a:r>
              <a:rPr lang="en-US" altLang="zh-TW" sz="2000" dirty="0"/>
              <a:t>xposure time when another failure could cause data loss</a:t>
            </a:r>
          </a:p>
          <a:p>
            <a:r>
              <a:rPr lang="en-US" altLang="zh-TW" sz="2000" b="1" dirty="0">
                <a:solidFill>
                  <a:srgbClr val="3366FF"/>
                </a:solidFill>
              </a:rPr>
              <a:t>Mean time to data loss </a:t>
            </a:r>
            <a:r>
              <a:rPr lang="en-US" altLang="zh-TW" sz="2000" dirty="0"/>
              <a:t>based on above factors</a:t>
            </a:r>
          </a:p>
          <a:p>
            <a:r>
              <a:rPr lang="en-US" altLang="zh-TW" sz="2000" dirty="0"/>
              <a:t>If mirrored disks fail independently, consider disk with 100,000 mean time to failure and 10 hour mean time to repair</a:t>
            </a:r>
          </a:p>
          <a:p>
            <a:pPr lvl="1"/>
            <a:r>
              <a:rPr lang="en-US" altLang="zh-TW" sz="2000" dirty="0"/>
              <a:t>Mean time to data loss is 100, 000</a:t>
            </a:r>
            <a:r>
              <a:rPr lang="en-US" altLang="zh-TW" sz="2000" baseline="30000" dirty="0"/>
              <a:t>2</a:t>
            </a:r>
            <a:r>
              <a:rPr lang="en-US" altLang="zh-TW" sz="2000" dirty="0"/>
              <a:t> / (2 ∗ 10) = 500 ∗ 10</a:t>
            </a:r>
            <a:r>
              <a:rPr lang="en-US" altLang="zh-TW" sz="2000" baseline="30000" dirty="0"/>
              <a:t>6</a:t>
            </a:r>
            <a:r>
              <a:rPr lang="en-US" altLang="zh-TW" sz="2000" dirty="0"/>
              <a:t> hours, or 57,000 years! </a:t>
            </a:r>
          </a:p>
          <a:p>
            <a:r>
              <a:rPr lang="en-US" altLang="zh-TW" sz="2000" dirty="0"/>
              <a:t>Frequently combined with </a:t>
            </a:r>
            <a:r>
              <a:rPr lang="en-US" altLang="zh-TW" sz="2000" b="1" dirty="0">
                <a:solidFill>
                  <a:srgbClr val="3366FF"/>
                </a:solidFill>
              </a:rPr>
              <a:t>NVRAM</a:t>
            </a:r>
            <a:r>
              <a:rPr lang="en-US" altLang="zh-TW" sz="2000" dirty="0">
                <a:solidFill>
                  <a:srgbClr val="3366FF"/>
                </a:solidFill>
              </a:rPr>
              <a:t> </a:t>
            </a:r>
            <a:r>
              <a:rPr lang="en-US" altLang="zh-TW" sz="2000" dirty="0"/>
              <a:t>to improve write performance</a:t>
            </a:r>
          </a:p>
          <a:p>
            <a:r>
              <a:rPr lang="en-US" altLang="zh-TW" sz="2000" dirty="0"/>
              <a:t>RAID is arranged into six different levels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88D76B9F-C792-F59A-AB63-677E393BC535}"/>
              </a:ext>
            </a:extLst>
          </p:cNvPr>
          <p:cNvSpPr>
            <a:spLocks noGrp="1" noChangeArrowheads="1"/>
          </p:cNvSpPr>
          <p:nvPr>
            <p:ph type="title"/>
          </p:nvPr>
        </p:nvSpPr>
        <p:spPr/>
        <p:txBody>
          <a:bodyPr/>
          <a:lstStyle/>
          <a:p>
            <a:pPr eaLnBrk="1" hangingPunct="1"/>
            <a:r>
              <a:rPr lang="en-US" altLang="zh-TW" dirty="0"/>
              <a:t>RAID Structure (2)</a:t>
            </a:r>
          </a:p>
        </p:txBody>
      </p:sp>
      <p:sp>
        <p:nvSpPr>
          <p:cNvPr id="65539" name="Rectangle 3">
            <a:extLst>
              <a:ext uri="{FF2B5EF4-FFF2-40B4-BE49-F238E27FC236}">
                <a16:creationId xmlns:a16="http://schemas.microsoft.com/office/drawing/2014/main" id="{E8E32A23-5EEC-4E0D-EB5D-6E41E8FCADAF}"/>
              </a:ext>
            </a:extLst>
          </p:cNvPr>
          <p:cNvSpPr>
            <a:spLocks noGrp="1" noChangeArrowheads="1"/>
          </p:cNvSpPr>
          <p:nvPr>
            <p:ph type="body" idx="1"/>
          </p:nvPr>
        </p:nvSpPr>
        <p:spPr>
          <a:xfrm>
            <a:off x="930308" y="902002"/>
            <a:ext cx="7604092" cy="5028898"/>
          </a:xfrm>
        </p:spPr>
        <p:txBody>
          <a:bodyPr/>
          <a:lstStyle/>
          <a:p>
            <a:pPr>
              <a:spcBef>
                <a:spcPts val="0"/>
              </a:spcBef>
            </a:pPr>
            <a:r>
              <a:rPr lang="en-US" altLang="zh-TW" sz="2000" dirty="0"/>
              <a:t>Several improvements in disk-use techniques involve the use of multiple disks working cooperatively</a:t>
            </a:r>
          </a:p>
          <a:p>
            <a:pPr>
              <a:spcBef>
                <a:spcPts val="0"/>
              </a:spcBef>
            </a:pPr>
            <a:r>
              <a:rPr lang="en-US" altLang="zh-TW" sz="2000" dirty="0"/>
              <a:t>Disk </a:t>
            </a:r>
            <a:r>
              <a:rPr lang="en-US" altLang="zh-TW" sz="2000" b="1" dirty="0">
                <a:solidFill>
                  <a:srgbClr val="3366FF"/>
                </a:solidFill>
              </a:rPr>
              <a:t>striping</a:t>
            </a:r>
            <a:r>
              <a:rPr lang="en-US" altLang="zh-TW" sz="2000" dirty="0">
                <a:solidFill>
                  <a:srgbClr val="3366FF"/>
                </a:solidFill>
              </a:rPr>
              <a:t> </a:t>
            </a:r>
            <a:r>
              <a:rPr lang="en-US" altLang="zh-TW" sz="2000" dirty="0"/>
              <a:t>uses a group of disks as one storage unit</a:t>
            </a:r>
          </a:p>
          <a:p>
            <a:pPr>
              <a:spcBef>
                <a:spcPts val="0"/>
              </a:spcBef>
            </a:pPr>
            <a:r>
              <a:rPr lang="en-US" altLang="zh-TW" sz="2000" dirty="0"/>
              <a:t>RAID schemes improve performance and improve the reliability of the storage system by storing redundant data</a:t>
            </a:r>
          </a:p>
          <a:p>
            <a:pPr lvl="1">
              <a:spcBef>
                <a:spcPts val="0"/>
              </a:spcBef>
            </a:pPr>
            <a:r>
              <a:rPr lang="en-US" altLang="zh-TW" sz="2000" b="1" dirty="0">
                <a:solidFill>
                  <a:srgbClr val="3366FF"/>
                </a:solidFill>
              </a:rPr>
              <a:t>Mirroring </a:t>
            </a:r>
            <a:r>
              <a:rPr lang="en-US" altLang="zh-TW" sz="2000" dirty="0"/>
              <a:t>or </a:t>
            </a:r>
            <a:r>
              <a:rPr lang="en-US" altLang="zh-TW" sz="2000" b="1" dirty="0">
                <a:solidFill>
                  <a:srgbClr val="3366FF"/>
                </a:solidFill>
              </a:rPr>
              <a:t>shadowing</a:t>
            </a:r>
            <a:r>
              <a:rPr lang="en-US" altLang="zh-TW" sz="2000" dirty="0">
                <a:solidFill>
                  <a:srgbClr val="3366FF"/>
                </a:solidFill>
              </a:rPr>
              <a:t> </a:t>
            </a:r>
            <a:r>
              <a:rPr lang="en-US" altLang="zh-TW" sz="2000" dirty="0"/>
              <a:t>(</a:t>
            </a:r>
            <a:r>
              <a:rPr lang="en-US" altLang="zh-TW" sz="2000" b="1" dirty="0">
                <a:solidFill>
                  <a:srgbClr val="3366FF"/>
                </a:solidFill>
              </a:rPr>
              <a:t>RAID 1</a:t>
            </a:r>
            <a:r>
              <a:rPr lang="en-US" altLang="zh-TW" sz="2000" dirty="0">
                <a:solidFill>
                  <a:srgbClr val="000000"/>
                </a:solidFill>
              </a:rPr>
              <a:t>)</a:t>
            </a:r>
            <a:r>
              <a:rPr lang="en-US" altLang="zh-TW" sz="2000" dirty="0">
                <a:solidFill>
                  <a:srgbClr val="3366FF"/>
                </a:solidFill>
              </a:rPr>
              <a:t> </a:t>
            </a:r>
            <a:r>
              <a:rPr lang="en-US" altLang="zh-TW" sz="2000" dirty="0"/>
              <a:t>keeps duplicate of each disk</a:t>
            </a:r>
          </a:p>
          <a:p>
            <a:pPr lvl="1">
              <a:spcBef>
                <a:spcPts val="0"/>
              </a:spcBef>
            </a:pPr>
            <a:r>
              <a:rPr lang="en-US" altLang="zh-TW" sz="2000" dirty="0"/>
              <a:t>Striped mirrors (</a:t>
            </a:r>
            <a:r>
              <a:rPr lang="en-US" altLang="zh-TW" sz="2000" b="1" dirty="0">
                <a:solidFill>
                  <a:srgbClr val="3366FF"/>
                </a:solidFill>
              </a:rPr>
              <a:t>RAID 1+0</a:t>
            </a:r>
            <a:r>
              <a:rPr lang="en-US" altLang="zh-TW" sz="2000" dirty="0"/>
              <a:t>) or mirrored stripes (</a:t>
            </a:r>
            <a:r>
              <a:rPr lang="en-US" altLang="zh-TW" sz="2000" b="1" dirty="0">
                <a:solidFill>
                  <a:srgbClr val="3366FF"/>
                </a:solidFill>
              </a:rPr>
              <a:t>RAID 0+1</a:t>
            </a:r>
            <a:r>
              <a:rPr lang="en-US" altLang="zh-TW" sz="2000" dirty="0"/>
              <a:t>) provides high performance and high reliability</a:t>
            </a:r>
          </a:p>
          <a:p>
            <a:pPr lvl="1">
              <a:spcBef>
                <a:spcPts val="0"/>
              </a:spcBef>
            </a:pPr>
            <a:r>
              <a:rPr lang="en-US" altLang="zh-TW" sz="2000" b="1" dirty="0">
                <a:solidFill>
                  <a:srgbClr val="3366FF"/>
                </a:solidFill>
              </a:rPr>
              <a:t>Block interleaved parity</a:t>
            </a:r>
            <a:r>
              <a:rPr lang="en-US" altLang="zh-TW" sz="2000" dirty="0">
                <a:solidFill>
                  <a:srgbClr val="3366FF"/>
                </a:solidFill>
              </a:rPr>
              <a:t> </a:t>
            </a:r>
            <a:r>
              <a:rPr lang="en-US" altLang="zh-TW" sz="2000" dirty="0">
                <a:solidFill>
                  <a:srgbClr val="000000"/>
                </a:solidFill>
              </a:rPr>
              <a:t>(</a:t>
            </a:r>
            <a:r>
              <a:rPr lang="en-US" altLang="zh-TW" sz="2000" b="1" dirty="0">
                <a:solidFill>
                  <a:srgbClr val="3366FF"/>
                </a:solidFill>
              </a:rPr>
              <a:t>RAID 4, 5, 6</a:t>
            </a:r>
            <a:r>
              <a:rPr lang="en-US" altLang="zh-TW" sz="2000" dirty="0">
                <a:solidFill>
                  <a:srgbClr val="000000"/>
                </a:solidFill>
              </a:rPr>
              <a:t>)</a:t>
            </a:r>
            <a:r>
              <a:rPr lang="en-US" altLang="zh-TW" sz="2000" dirty="0">
                <a:solidFill>
                  <a:srgbClr val="3366FF"/>
                </a:solidFill>
              </a:rPr>
              <a:t> </a:t>
            </a:r>
            <a:r>
              <a:rPr lang="en-US" altLang="zh-TW" sz="2000" dirty="0"/>
              <a:t>uses much less redundancy</a:t>
            </a:r>
          </a:p>
          <a:p>
            <a:pPr>
              <a:spcBef>
                <a:spcPts val="0"/>
              </a:spcBef>
            </a:pPr>
            <a:r>
              <a:rPr lang="en-US" altLang="zh-TW" sz="2000" dirty="0"/>
              <a:t>RAID within a storage array can still fail if the array fails, so automatic   </a:t>
            </a:r>
            <a:r>
              <a:rPr lang="en-US" altLang="zh-TW" sz="2000" b="1" dirty="0">
                <a:solidFill>
                  <a:srgbClr val="3366FF"/>
                </a:solidFill>
              </a:rPr>
              <a:t>replication</a:t>
            </a:r>
            <a:r>
              <a:rPr lang="en-US" altLang="zh-TW" sz="2000" dirty="0">
                <a:solidFill>
                  <a:srgbClr val="3366FF"/>
                </a:solidFill>
              </a:rPr>
              <a:t> </a:t>
            </a:r>
            <a:r>
              <a:rPr lang="en-US" altLang="zh-TW" sz="2000" dirty="0"/>
              <a:t>of the data between arrays is common</a:t>
            </a:r>
          </a:p>
          <a:p>
            <a:pPr>
              <a:spcBef>
                <a:spcPts val="0"/>
              </a:spcBef>
            </a:pPr>
            <a:r>
              <a:rPr lang="en-US" altLang="zh-TW" sz="2000" dirty="0"/>
              <a:t>Frequently, a small number of </a:t>
            </a:r>
            <a:r>
              <a:rPr lang="en-US" altLang="zh-TW" sz="2000" b="1" dirty="0">
                <a:solidFill>
                  <a:srgbClr val="3366FF"/>
                </a:solidFill>
              </a:rPr>
              <a:t>hot-spare</a:t>
            </a:r>
            <a:r>
              <a:rPr lang="en-US" altLang="zh-TW" sz="2000" dirty="0">
                <a:solidFill>
                  <a:srgbClr val="3366FF"/>
                </a:solidFill>
              </a:rPr>
              <a:t> </a:t>
            </a:r>
            <a:r>
              <a:rPr lang="en-US" altLang="zh-TW" sz="2000" dirty="0"/>
              <a:t>disks are left unallocated, automatically replacing a failed disk and having data rebuilt onto them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AAC146C8-ADC3-293B-B80D-93B5465B6032}"/>
              </a:ext>
            </a:extLst>
          </p:cNvPr>
          <p:cNvSpPr>
            <a:spLocks noGrp="1" noChangeArrowheads="1"/>
          </p:cNvSpPr>
          <p:nvPr>
            <p:ph type="title"/>
          </p:nvPr>
        </p:nvSpPr>
        <p:spPr/>
        <p:txBody>
          <a:bodyPr/>
          <a:lstStyle/>
          <a:p>
            <a:pPr eaLnBrk="1" hangingPunct="1"/>
            <a:r>
              <a:rPr lang="en-US" altLang="zh-TW" dirty="0"/>
              <a:t>RAID Levels (1)</a:t>
            </a:r>
            <a:endParaRPr lang="en-US" altLang="zh-TW" sz="2267" dirty="0"/>
          </a:p>
        </p:txBody>
      </p:sp>
      <p:grpSp>
        <p:nvGrpSpPr>
          <p:cNvPr id="67587" name="组合 2">
            <a:extLst>
              <a:ext uri="{FF2B5EF4-FFF2-40B4-BE49-F238E27FC236}">
                <a16:creationId xmlns:a16="http://schemas.microsoft.com/office/drawing/2014/main" id="{41A88ECD-4282-9242-F30C-D962D554790E}"/>
              </a:ext>
            </a:extLst>
          </p:cNvPr>
          <p:cNvGrpSpPr>
            <a:grpSpLocks/>
          </p:cNvGrpSpPr>
          <p:nvPr/>
        </p:nvGrpSpPr>
        <p:grpSpPr bwMode="auto">
          <a:xfrm>
            <a:off x="3253154" y="2968700"/>
            <a:ext cx="2933700" cy="3298825"/>
            <a:chOff x="2270759" y="1662826"/>
            <a:chExt cx="2956560" cy="3777854"/>
          </a:xfrm>
        </p:grpSpPr>
        <p:pic>
          <p:nvPicPr>
            <p:cNvPr id="67597" name="Picture 1" descr="10_11.pdf">
              <a:extLst>
                <a:ext uri="{FF2B5EF4-FFF2-40B4-BE49-F238E27FC236}">
                  <a16:creationId xmlns:a16="http://schemas.microsoft.com/office/drawing/2014/main" id="{6029859C-D035-5F6F-162B-681A513B2406}"/>
                </a:ext>
              </a:extLst>
            </p:cNvPr>
            <p:cNvPicPr>
              <a:picLocks noChangeAspect="1"/>
            </p:cNvPicPr>
            <p:nvPr/>
          </p:nvPicPr>
          <p:blipFill>
            <a:blip r:embed="rId3">
              <a:extLst>
                <a:ext uri="{28A0092B-C50C-407E-A947-70E740481C1C}">
                  <a14:useLocalDpi xmlns:a14="http://schemas.microsoft.com/office/drawing/2010/main" val="0"/>
                </a:ext>
              </a:extLst>
            </a:blip>
            <a:srcRect l="16614" t="-2132" r="15440" b="88554"/>
            <a:stretch>
              <a:fillRect/>
            </a:stretch>
          </p:blipFill>
          <p:spPr bwMode="auto">
            <a:xfrm>
              <a:off x="2270759" y="4450080"/>
              <a:ext cx="295656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8" name="Picture 5" descr="http://webftp.cogsh.tp.edu.tw/cti573/bcc2012/image/raid.png">
              <a:extLst>
                <a:ext uri="{FF2B5EF4-FFF2-40B4-BE49-F238E27FC236}">
                  <a16:creationId xmlns:a16="http://schemas.microsoft.com/office/drawing/2014/main" id="{1DFCE613-FE42-80EB-0536-441DE43F49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82082" b="60352"/>
            <a:stretch>
              <a:fillRect/>
            </a:stretch>
          </p:blipFill>
          <p:spPr bwMode="auto">
            <a:xfrm>
              <a:off x="2676403" y="1662826"/>
              <a:ext cx="2145273" cy="2909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Rectangle 3">
            <a:extLst>
              <a:ext uri="{FF2B5EF4-FFF2-40B4-BE49-F238E27FC236}">
                <a16:creationId xmlns:a16="http://schemas.microsoft.com/office/drawing/2014/main" id="{2EF3842A-822D-1EC4-1E43-7E5CBCC512B5}"/>
              </a:ext>
            </a:extLst>
          </p:cNvPr>
          <p:cNvSpPr txBox="1">
            <a:spLocks noChangeArrowheads="1"/>
          </p:cNvSpPr>
          <p:nvPr/>
        </p:nvSpPr>
        <p:spPr>
          <a:xfrm>
            <a:off x="1114983" y="955675"/>
            <a:ext cx="7210042" cy="1885049"/>
          </a:xfrm>
          <a:prstGeom prst="rect">
            <a:avLst/>
          </a:prstGeom>
        </p:spPr>
        <p:txBody>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spcBef>
                <a:spcPts val="0"/>
              </a:spcBef>
            </a:pPr>
            <a:r>
              <a:rPr lang="en-US" altLang="zh-CN" sz="2000" b="1" dirty="0">
                <a:solidFill>
                  <a:srgbClr val="EE0000"/>
                </a:solidFill>
              </a:rPr>
              <a:t>RAID 0</a:t>
            </a:r>
            <a:r>
              <a:rPr lang="en-US" altLang="zh-CN" sz="2000" dirty="0"/>
              <a:t> (disk striping) is the process of dividing a body of data into blocks and spreading the data blocks across multiple storage devices, such as hard disk drives (</a:t>
            </a:r>
            <a:r>
              <a:rPr lang="en-US" altLang="zh-CN" sz="2000" dirty="0">
                <a:hlinkClick r:id="rId5">
                  <a:extLst>
                    <a:ext uri="{A12FA001-AC4F-418D-AE19-62706E023703}">
                      <ahyp:hlinkClr xmlns:ahyp="http://schemas.microsoft.com/office/drawing/2018/hyperlinkcolor" val="tx"/>
                    </a:ext>
                  </a:extLst>
                </a:hlinkClick>
              </a:rPr>
              <a:t>HDDs</a:t>
            </a:r>
            <a:r>
              <a:rPr lang="en-US" altLang="zh-CN" sz="2000" dirty="0"/>
              <a:t>) or solid-state drives (</a:t>
            </a:r>
            <a:r>
              <a:rPr lang="en-US" altLang="zh-CN" sz="2000" dirty="0">
                <a:hlinkClick r:id="rId6">
                  <a:extLst>
                    <a:ext uri="{A12FA001-AC4F-418D-AE19-62706E023703}">
                      <ahyp:hlinkClr xmlns:ahyp="http://schemas.microsoft.com/office/drawing/2018/hyperlinkcolor" val="tx"/>
                    </a:ext>
                  </a:extLst>
                </a:hlinkClick>
              </a:rPr>
              <a:t>SSDs</a:t>
            </a:r>
            <a:r>
              <a:rPr lang="en-US" altLang="zh-CN" sz="2000" dirty="0"/>
              <a:t>), in a redundant array of independent disks group</a:t>
            </a:r>
            <a:endParaRPr lang="en-US" altLang="zh-TW" sz="2000" kern="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8612D-D568-0B64-B294-35FA7B8F2AB2}"/>
            </a:ext>
          </a:extLst>
        </p:cNvPr>
        <p:cNvGrpSpPr/>
        <p:nvPr/>
      </p:nvGrpSpPr>
      <p:grpSpPr>
        <a:xfrm>
          <a:off x="0" y="0"/>
          <a:ext cx="0" cy="0"/>
          <a:chOff x="0" y="0"/>
          <a:chExt cx="0" cy="0"/>
        </a:xfrm>
      </p:grpSpPr>
      <p:sp>
        <p:nvSpPr>
          <p:cNvPr id="67586" name="Rectangle 2">
            <a:extLst>
              <a:ext uri="{FF2B5EF4-FFF2-40B4-BE49-F238E27FC236}">
                <a16:creationId xmlns:a16="http://schemas.microsoft.com/office/drawing/2014/main" id="{32002FBC-DC0A-A034-F65C-B3C33EC32952}"/>
              </a:ext>
            </a:extLst>
          </p:cNvPr>
          <p:cNvSpPr>
            <a:spLocks noGrp="1" noChangeArrowheads="1"/>
          </p:cNvSpPr>
          <p:nvPr>
            <p:ph type="title"/>
          </p:nvPr>
        </p:nvSpPr>
        <p:spPr/>
        <p:txBody>
          <a:bodyPr/>
          <a:lstStyle/>
          <a:p>
            <a:pPr eaLnBrk="1" hangingPunct="1"/>
            <a:r>
              <a:rPr lang="en-US" altLang="zh-TW" dirty="0"/>
              <a:t>RAID Levels (2)</a:t>
            </a:r>
            <a:endParaRPr lang="en-US" altLang="zh-TW" sz="2267" dirty="0"/>
          </a:p>
        </p:txBody>
      </p:sp>
      <p:grpSp>
        <p:nvGrpSpPr>
          <p:cNvPr id="67588" name="组合 3">
            <a:extLst>
              <a:ext uri="{FF2B5EF4-FFF2-40B4-BE49-F238E27FC236}">
                <a16:creationId xmlns:a16="http://schemas.microsoft.com/office/drawing/2014/main" id="{7222C1A7-8596-F16B-7D7B-70D43AC25A37}"/>
              </a:ext>
            </a:extLst>
          </p:cNvPr>
          <p:cNvGrpSpPr>
            <a:grpSpLocks/>
          </p:cNvGrpSpPr>
          <p:nvPr/>
        </p:nvGrpSpPr>
        <p:grpSpPr bwMode="auto">
          <a:xfrm>
            <a:off x="3136899" y="3702532"/>
            <a:ext cx="3349377" cy="2878020"/>
            <a:chOff x="2767013" y="1689417"/>
            <a:chExt cx="4351337" cy="3762556"/>
          </a:xfrm>
        </p:grpSpPr>
        <p:pic>
          <p:nvPicPr>
            <p:cNvPr id="67595" name="Picture 1" descr="10_11.pdf">
              <a:extLst>
                <a:ext uri="{FF2B5EF4-FFF2-40B4-BE49-F238E27FC236}">
                  <a16:creationId xmlns:a16="http://schemas.microsoft.com/office/drawing/2014/main" id="{346EC8C9-9792-A0C9-35E1-8D71B839A7ED}"/>
                </a:ext>
              </a:extLst>
            </p:cNvPr>
            <p:cNvPicPr>
              <a:picLocks noChangeAspect="1"/>
            </p:cNvPicPr>
            <p:nvPr/>
          </p:nvPicPr>
          <p:blipFill>
            <a:blip r:embed="rId3">
              <a:extLst>
                <a:ext uri="{28A0092B-C50C-407E-A947-70E740481C1C}">
                  <a14:useLocalDpi xmlns:a14="http://schemas.microsoft.com/office/drawing/2010/main" val="0"/>
                </a:ext>
              </a:extLst>
            </a:blip>
            <a:srcRect t="11864" b="74142"/>
            <a:stretch>
              <a:fillRect/>
            </a:stretch>
          </p:blipFill>
          <p:spPr bwMode="auto">
            <a:xfrm>
              <a:off x="2767013" y="4430892"/>
              <a:ext cx="4351337" cy="1021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6" name="Picture 5" descr="http://webftp.cogsh.tp.edu.tw/cti573/bcc2012/image/raid.png">
              <a:extLst>
                <a:ext uri="{FF2B5EF4-FFF2-40B4-BE49-F238E27FC236}">
                  <a16:creationId xmlns:a16="http://schemas.microsoft.com/office/drawing/2014/main" id="{292ED79B-15CD-7C8E-EF19-FF2DA0BB4B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8579" r="83173" b="22610"/>
            <a:stretch>
              <a:fillRect/>
            </a:stretch>
          </p:blipFill>
          <p:spPr bwMode="auto">
            <a:xfrm>
              <a:off x="3972956" y="1689417"/>
              <a:ext cx="1939449" cy="27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Rectangle 3">
            <a:extLst>
              <a:ext uri="{FF2B5EF4-FFF2-40B4-BE49-F238E27FC236}">
                <a16:creationId xmlns:a16="http://schemas.microsoft.com/office/drawing/2014/main" id="{8E112C2B-A8C1-CA91-3D1E-4E1B77C406C0}"/>
              </a:ext>
            </a:extLst>
          </p:cNvPr>
          <p:cNvSpPr txBox="1">
            <a:spLocks noChangeArrowheads="1"/>
          </p:cNvSpPr>
          <p:nvPr/>
        </p:nvSpPr>
        <p:spPr>
          <a:xfrm>
            <a:off x="905608" y="984003"/>
            <a:ext cx="7604092" cy="2562225"/>
          </a:xfrm>
          <a:prstGeom prst="rect">
            <a:avLst/>
          </a:prstGeom>
        </p:spPr>
        <p:txBody>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spcBef>
                <a:spcPts val="0"/>
              </a:spcBef>
            </a:pPr>
            <a:r>
              <a:rPr lang="en-US" altLang="zh-CN" sz="2000" b="1" dirty="0">
                <a:solidFill>
                  <a:srgbClr val="EE0000"/>
                </a:solidFill>
              </a:rPr>
              <a:t>RAID 1</a:t>
            </a:r>
            <a:r>
              <a:rPr lang="en-US" altLang="zh-CN" sz="2000" dirty="0"/>
              <a:t> consists of an exact copy (or </a:t>
            </a:r>
            <a:r>
              <a:rPr lang="en-US" altLang="zh-CN" sz="2000" dirty="0">
                <a:hlinkClick r:id="rId5" tooltip="Disk mirroring">
                  <a:extLst>
                    <a:ext uri="{A12FA001-AC4F-418D-AE19-62706E023703}">
                      <ahyp:hlinkClr xmlns:ahyp="http://schemas.microsoft.com/office/drawing/2018/hyperlinkcolor" val="tx"/>
                    </a:ext>
                  </a:extLst>
                </a:hlinkClick>
              </a:rPr>
              <a:t>mirror</a:t>
            </a:r>
            <a:r>
              <a:rPr lang="en-US" altLang="zh-CN" sz="2000" dirty="0"/>
              <a:t>) of a set of data on two or more disks; a classic RAID 1 mirrored pair contains two disks. This configuration offers no parity, striping, or spanning of disk space across multiple disks, since the data is mirrored on all disks belonging to the array, and the array can only be as big as the smallest member disk. This layout is useful when read performance or reliability is more important than write performance or the resulting data storage capacity</a:t>
            </a:r>
            <a:endParaRPr lang="en-US" altLang="zh-TW" sz="2000" kern="0" dirty="0"/>
          </a:p>
        </p:txBody>
      </p:sp>
    </p:spTree>
    <p:extLst>
      <p:ext uri="{BB962C8B-B14F-4D97-AF65-F5344CB8AC3E}">
        <p14:creationId xmlns:p14="http://schemas.microsoft.com/office/powerpoint/2010/main" val="39981899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AutoShape 5" descr="http://upload.wikimedia.org/wikipedia/commons/b/bb/RAID_10.svg">
            <a:extLst>
              <a:ext uri="{FF2B5EF4-FFF2-40B4-BE49-F238E27FC236}">
                <a16:creationId xmlns:a16="http://schemas.microsoft.com/office/drawing/2014/main" id="{5364EE96-B531-CFFA-CBE0-39F295BDA1B6}"/>
              </a:ext>
            </a:extLst>
          </p:cNvPr>
          <p:cNvSpPr>
            <a:spLocks noChangeAspect="1" noChangeArrowheads="1"/>
          </p:cNvSpPr>
          <p:nvPr/>
        </p:nvSpPr>
        <p:spPr bwMode="auto">
          <a:xfrm>
            <a:off x="115359" y="-726017"/>
            <a:ext cx="2311400"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zh-TW" altLang="en-US"/>
          </a:p>
        </p:txBody>
      </p:sp>
      <p:grpSp>
        <p:nvGrpSpPr>
          <p:cNvPr id="2" name="组合 1">
            <a:extLst>
              <a:ext uri="{FF2B5EF4-FFF2-40B4-BE49-F238E27FC236}">
                <a16:creationId xmlns:a16="http://schemas.microsoft.com/office/drawing/2014/main" id="{C697DAD8-E092-322F-6291-58DCDE99B427}"/>
              </a:ext>
            </a:extLst>
          </p:cNvPr>
          <p:cNvGrpSpPr/>
          <p:nvPr/>
        </p:nvGrpSpPr>
        <p:grpSpPr>
          <a:xfrm>
            <a:off x="1969558" y="2020186"/>
            <a:ext cx="5891742" cy="4130149"/>
            <a:chOff x="1587500" y="1175809"/>
            <a:chExt cx="6667500" cy="4628091"/>
          </a:xfrm>
        </p:grpSpPr>
        <p:pic>
          <p:nvPicPr>
            <p:cNvPr id="71683" name="Picture 1" descr="10_12.pdf">
              <a:extLst>
                <a:ext uri="{FF2B5EF4-FFF2-40B4-BE49-F238E27FC236}">
                  <a16:creationId xmlns:a16="http://schemas.microsoft.com/office/drawing/2014/main" id="{1C752048-34B1-47D2-8F4B-5BEDE28681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7500" y="1496483"/>
              <a:ext cx="3712633" cy="4237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8" name="Picture 12">
              <a:extLst>
                <a:ext uri="{FF2B5EF4-FFF2-40B4-BE49-F238E27FC236}">
                  <a16:creationId xmlns:a16="http://schemas.microsoft.com/office/drawing/2014/main" id="{238226C8-D9F2-E09C-CD70-3BCB19C13B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0400" y="3463925"/>
              <a:ext cx="2388659"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9" name="Picture 13">
              <a:extLst>
                <a:ext uri="{FF2B5EF4-FFF2-40B4-BE49-F238E27FC236}">
                  <a16:creationId xmlns:a16="http://schemas.microsoft.com/office/drawing/2014/main" id="{C7CE8928-924F-3EAB-D3ED-AD3CABB4F1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6467" y="1175809"/>
              <a:ext cx="2658533" cy="2240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2A3553AA-A323-281A-8E80-6B0AC4D945E5}"/>
              </a:ext>
            </a:extLst>
          </p:cNvPr>
          <p:cNvSpPr txBox="1">
            <a:spLocks noChangeArrowheads="1"/>
          </p:cNvSpPr>
          <p:nvPr/>
        </p:nvSpPr>
        <p:spPr bwMode="auto">
          <a:xfrm>
            <a:off x="905608" y="251437"/>
            <a:ext cx="762879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a:lstStyle>
          <a:p>
            <a:pPr eaLnBrk="1" hangingPunct="1"/>
            <a:r>
              <a:rPr lang="en-US" altLang="zh-TW" kern="0" dirty="0"/>
              <a:t>RAID Levels (3)</a:t>
            </a:r>
            <a:endParaRPr lang="en-US" altLang="zh-TW" sz="2267" kern="0" dirty="0"/>
          </a:p>
        </p:txBody>
      </p:sp>
      <p:sp>
        <p:nvSpPr>
          <p:cNvPr id="4" name="Rectangle 3">
            <a:extLst>
              <a:ext uri="{FF2B5EF4-FFF2-40B4-BE49-F238E27FC236}">
                <a16:creationId xmlns:a16="http://schemas.microsoft.com/office/drawing/2014/main" id="{12C9399E-E7BC-4756-6B27-D6B44A8241A7}"/>
              </a:ext>
            </a:extLst>
          </p:cNvPr>
          <p:cNvSpPr txBox="1">
            <a:spLocks noChangeArrowheads="1"/>
          </p:cNvSpPr>
          <p:nvPr/>
        </p:nvSpPr>
        <p:spPr>
          <a:xfrm>
            <a:off x="1087803" y="1014664"/>
            <a:ext cx="7264401" cy="1005522"/>
          </a:xfrm>
          <a:prstGeom prst="rect">
            <a:avLst/>
          </a:prstGeom>
        </p:spPr>
        <p:txBody>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TW" sz="2000" b="1" dirty="0">
                <a:solidFill>
                  <a:srgbClr val="FF0000"/>
                </a:solidFill>
              </a:rPr>
              <a:t>RAID (0 + 1) and RAID (1 + 0) </a:t>
            </a:r>
            <a:r>
              <a:rPr lang="en-US" altLang="zh-TW" sz="2000" dirty="0"/>
              <a:t>- Striped mirrors (</a:t>
            </a:r>
            <a:r>
              <a:rPr lang="en-US" altLang="zh-TW" sz="2000" b="1" dirty="0">
                <a:solidFill>
                  <a:srgbClr val="3366FF"/>
                </a:solidFill>
              </a:rPr>
              <a:t>RAID 1+0</a:t>
            </a:r>
            <a:r>
              <a:rPr lang="en-US" altLang="zh-TW" sz="2000" dirty="0"/>
              <a:t>) or mirrored stripes (</a:t>
            </a:r>
            <a:r>
              <a:rPr lang="en-US" altLang="zh-TW" sz="2000" b="1" dirty="0">
                <a:solidFill>
                  <a:srgbClr val="3366FF"/>
                </a:solidFill>
              </a:rPr>
              <a:t>RAID 0+1</a:t>
            </a:r>
            <a:r>
              <a:rPr lang="en-US" altLang="zh-TW" sz="2000" dirty="0"/>
              <a:t>) provides high performance and high reliability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BD11-5758-AE04-33E0-B3A5BA535A43}"/>
            </a:ext>
          </a:extLst>
        </p:cNvPr>
        <p:cNvGrpSpPr/>
        <p:nvPr/>
      </p:nvGrpSpPr>
      <p:grpSpPr>
        <a:xfrm>
          <a:off x="0" y="0"/>
          <a:ext cx="0" cy="0"/>
          <a:chOff x="0" y="0"/>
          <a:chExt cx="0" cy="0"/>
        </a:xfrm>
      </p:grpSpPr>
      <p:sp>
        <p:nvSpPr>
          <p:cNvPr id="67586" name="Rectangle 2">
            <a:extLst>
              <a:ext uri="{FF2B5EF4-FFF2-40B4-BE49-F238E27FC236}">
                <a16:creationId xmlns:a16="http://schemas.microsoft.com/office/drawing/2014/main" id="{E4272EB6-907B-DDB0-0A13-A389B9DC13FF}"/>
              </a:ext>
            </a:extLst>
          </p:cNvPr>
          <p:cNvSpPr>
            <a:spLocks noGrp="1" noChangeArrowheads="1"/>
          </p:cNvSpPr>
          <p:nvPr>
            <p:ph type="title"/>
          </p:nvPr>
        </p:nvSpPr>
        <p:spPr/>
        <p:txBody>
          <a:bodyPr/>
          <a:lstStyle/>
          <a:p>
            <a:pPr eaLnBrk="1" hangingPunct="1"/>
            <a:r>
              <a:rPr lang="en-US" altLang="zh-TW" dirty="0"/>
              <a:t>RAID Levels (4)</a:t>
            </a:r>
            <a:endParaRPr lang="en-US" altLang="zh-TW" sz="2267" dirty="0"/>
          </a:p>
        </p:txBody>
      </p:sp>
      <p:grpSp>
        <p:nvGrpSpPr>
          <p:cNvPr id="67589" name="组合 6">
            <a:extLst>
              <a:ext uri="{FF2B5EF4-FFF2-40B4-BE49-F238E27FC236}">
                <a16:creationId xmlns:a16="http://schemas.microsoft.com/office/drawing/2014/main" id="{298387DA-6503-85A9-5D88-3CB484097459}"/>
              </a:ext>
            </a:extLst>
          </p:cNvPr>
          <p:cNvGrpSpPr>
            <a:grpSpLocks/>
          </p:cNvGrpSpPr>
          <p:nvPr/>
        </p:nvGrpSpPr>
        <p:grpSpPr bwMode="auto">
          <a:xfrm>
            <a:off x="3043074" y="3933826"/>
            <a:ext cx="3675225" cy="2543174"/>
            <a:chOff x="3391853" y="2001814"/>
            <a:chExt cx="4728939" cy="3222673"/>
          </a:xfrm>
        </p:grpSpPr>
        <p:pic>
          <p:nvPicPr>
            <p:cNvPr id="67593" name="Picture 1" descr="10_11.pdf">
              <a:extLst>
                <a:ext uri="{FF2B5EF4-FFF2-40B4-BE49-F238E27FC236}">
                  <a16:creationId xmlns:a16="http://schemas.microsoft.com/office/drawing/2014/main" id="{8AEF02AA-4132-08E7-0987-5F2EC3551129}"/>
                </a:ext>
              </a:extLst>
            </p:cNvPr>
            <p:cNvPicPr>
              <a:picLocks noChangeAspect="1"/>
            </p:cNvPicPr>
            <p:nvPr/>
          </p:nvPicPr>
          <p:blipFill>
            <a:blip r:embed="rId3">
              <a:extLst>
                <a:ext uri="{28A0092B-C50C-407E-A947-70E740481C1C}">
                  <a14:useLocalDpi xmlns:a14="http://schemas.microsoft.com/office/drawing/2010/main" val="0"/>
                </a:ext>
              </a:extLst>
            </a:blip>
            <a:srcRect t="26901" b="60358"/>
            <a:stretch>
              <a:fillRect/>
            </a:stretch>
          </p:blipFill>
          <p:spPr bwMode="auto">
            <a:xfrm>
              <a:off x="3580653" y="4294846"/>
              <a:ext cx="4351337" cy="929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4" name="Picture 5" descr="http://webftp.cogsh.tp.edu.tw/cti573/bcc2012/image/raid.png">
              <a:extLst>
                <a:ext uri="{FF2B5EF4-FFF2-40B4-BE49-F238E27FC236}">
                  <a16:creationId xmlns:a16="http://schemas.microsoft.com/office/drawing/2014/main" id="{25A59262-4F01-6C33-444B-B61AFF987C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2830" r="37669" b="67294"/>
            <a:stretch>
              <a:fillRect/>
            </a:stretch>
          </p:blipFill>
          <p:spPr bwMode="auto">
            <a:xfrm>
              <a:off x="3391853" y="2001814"/>
              <a:ext cx="4728939" cy="239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Rectangle 3">
            <a:extLst>
              <a:ext uri="{FF2B5EF4-FFF2-40B4-BE49-F238E27FC236}">
                <a16:creationId xmlns:a16="http://schemas.microsoft.com/office/drawing/2014/main" id="{89ED1D06-FD78-882D-20C3-E084E7C46209}"/>
              </a:ext>
            </a:extLst>
          </p:cNvPr>
          <p:cNvSpPr txBox="1">
            <a:spLocks noChangeArrowheads="1"/>
          </p:cNvSpPr>
          <p:nvPr/>
        </p:nvSpPr>
        <p:spPr>
          <a:xfrm>
            <a:off x="917958" y="981075"/>
            <a:ext cx="7604092" cy="2841625"/>
          </a:xfrm>
          <a:prstGeom prst="rect">
            <a:avLst/>
          </a:prstGeom>
        </p:spPr>
        <p:txBody>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CN" sz="2000" b="1" dirty="0">
                <a:solidFill>
                  <a:srgbClr val="EE0000"/>
                </a:solidFill>
              </a:rPr>
              <a:t>RAID 2</a:t>
            </a:r>
            <a:r>
              <a:rPr lang="en-US" altLang="zh-CN" sz="2000" dirty="0"/>
              <a:t> splits data at the </a:t>
            </a:r>
            <a:r>
              <a:rPr lang="en-US" altLang="zh-CN" sz="2000" dirty="0">
                <a:hlinkClick r:id="rId5" tooltip="Bit">
                  <a:extLst>
                    <a:ext uri="{A12FA001-AC4F-418D-AE19-62706E023703}">
                      <ahyp:hlinkClr xmlns:ahyp="http://schemas.microsoft.com/office/drawing/2018/hyperlinkcolor" val="tx"/>
                    </a:ext>
                  </a:extLst>
                </a:hlinkClick>
              </a:rPr>
              <a:t>bit</a:t>
            </a:r>
            <a:r>
              <a:rPr lang="en-US" altLang="zh-CN" sz="2000" dirty="0"/>
              <a:t> level across multiple disks, unlike most RAID levels, which divide data into blocks. It uses a type of error correction known as </a:t>
            </a:r>
            <a:r>
              <a:rPr lang="en-US" altLang="zh-CN" sz="2000" dirty="0">
                <a:hlinkClick r:id="rId6" tooltip="Hamming code">
                  <a:extLst>
                    <a:ext uri="{A12FA001-AC4F-418D-AE19-62706E023703}">
                      <ahyp:hlinkClr xmlns:ahyp="http://schemas.microsoft.com/office/drawing/2018/hyperlinkcolor" val="tx"/>
                    </a:ext>
                  </a:extLst>
                </a:hlinkClick>
              </a:rPr>
              <a:t>Hamming code</a:t>
            </a:r>
            <a:r>
              <a:rPr lang="en-US" altLang="zh-CN" sz="2000" dirty="0"/>
              <a:t>, which introduces redundancy to detect and correct errors in stored data. The hard drives are synchronized by the controller so they spin in unison, reaching the same position at the same time. Due to this synchronization, the system typically processes only one read or write request at a time, limiting its ability to handle multiple operations concurrently.</a:t>
            </a:r>
          </a:p>
        </p:txBody>
      </p:sp>
    </p:spTree>
    <p:extLst>
      <p:ext uri="{BB962C8B-B14F-4D97-AF65-F5344CB8AC3E}">
        <p14:creationId xmlns:p14="http://schemas.microsoft.com/office/powerpoint/2010/main" val="1067177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65A20-374E-7291-765F-34ACACBDB813}"/>
            </a:ext>
          </a:extLst>
        </p:cNvPr>
        <p:cNvGrpSpPr/>
        <p:nvPr/>
      </p:nvGrpSpPr>
      <p:grpSpPr>
        <a:xfrm>
          <a:off x="0" y="0"/>
          <a:ext cx="0" cy="0"/>
          <a:chOff x="0" y="0"/>
          <a:chExt cx="0" cy="0"/>
        </a:xfrm>
      </p:grpSpPr>
      <p:sp>
        <p:nvSpPr>
          <p:cNvPr id="67586" name="Rectangle 2">
            <a:extLst>
              <a:ext uri="{FF2B5EF4-FFF2-40B4-BE49-F238E27FC236}">
                <a16:creationId xmlns:a16="http://schemas.microsoft.com/office/drawing/2014/main" id="{7A132545-1A2A-D2AB-7770-34BAE3BA5C9D}"/>
              </a:ext>
            </a:extLst>
          </p:cNvPr>
          <p:cNvSpPr>
            <a:spLocks noGrp="1" noChangeArrowheads="1"/>
          </p:cNvSpPr>
          <p:nvPr>
            <p:ph type="title"/>
          </p:nvPr>
        </p:nvSpPr>
        <p:spPr/>
        <p:txBody>
          <a:bodyPr/>
          <a:lstStyle/>
          <a:p>
            <a:pPr eaLnBrk="1" hangingPunct="1"/>
            <a:r>
              <a:rPr lang="en-US" altLang="zh-TW" dirty="0"/>
              <a:t>RAID Levels (5)</a:t>
            </a:r>
            <a:endParaRPr lang="en-US" altLang="zh-TW" sz="2267" dirty="0"/>
          </a:p>
        </p:txBody>
      </p:sp>
      <p:sp>
        <p:nvSpPr>
          <p:cNvPr id="2" name="Rectangle 3">
            <a:extLst>
              <a:ext uri="{FF2B5EF4-FFF2-40B4-BE49-F238E27FC236}">
                <a16:creationId xmlns:a16="http://schemas.microsoft.com/office/drawing/2014/main" id="{68B731C7-71EB-D9F9-D530-B9DB0B5B20CA}"/>
              </a:ext>
            </a:extLst>
          </p:cNvPr>
          <p:cNvSpPr txBox="1">
            <a:spLocks noChangeArrowheads="1"/>
          </p:cNvSpPr>
          <p:nvPr/>
        </p:nvSpPr>
        <p:spPr>
          <a:xfrm>
            <a:off x="917958" y="981075"/>
            <a:ext cx="7604092" cy="2841625"/>
          </a:xfrm>
          <a:prstGeom prst="rect">
            <a:avLst/>
          </a:prstGeom>
        </p:spPr>
        <p:txBody>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CN" sz="2000" b="1" dirty="0">
                <a:solidFill>
                  <a:srgbClr val="EE0000"/>
                </a:solidFill>
              </a:rPr>
              <a:t>RAID 3</a:t>
            </a:r>
            <a:r>
              <a:rPr lang="en-US" altLang="zh-CN" sz="2000" dirty="0"/>
              <a:t>, which is also rarely used in practice, consists of </a:t>
            </a:r>
            <a:r>
              <a:rPr lang="en-US" altLang="zh-CN" sz="2000" dirty="0">
                <a:hlinkClick r:id="rId3" tooltip="Byte">
                  <a:extLst>
                    <a:ext uri="{A12FA001-AC4F-418D-AE19-62706E023703}">
                      <ahyp:hlinkClr xmlns:ahyp="http://schemas.microsoft.com/office/drawing/2018/hyperlinkcolor" val="tx"/>
                    </a:ext>
                  </a:extLst>
                </a:hlinkClick>
              </a:rPr>
              <a:t>byte</a:t>
            </a:r>
            <a:r>
              <a:rPr lang="en-US" altLang="zh-CN" sz="2000" dirty="0"/>
              <a:t>-level striping with a dedicated </a:t>
            </a:r>
            <a:r>
              <a:rPr lang="en-US" altLang="zh-CN" sz="2000" dirty="0">
                <a:hlinkClick r:id="rId4" tooltip="Parity bit">
                  <a:extLst>
                    <a:ext uri="{A12FA001-AC4F-418D-AE19-62706E023703}">
                      <ahyp:hlinkClr xmlns:ahyp="http://schemas.microsoft.com/office/drawing/2018/hyperlinkcolor" val="tx"/>
                    </a:ext>
                  </a:extLst>
                </a:hlinkClick>
              </a:rPr>
              <a:t>parity</a:t>
            </a:r>
            <a:r>
              <a:rPr lang="en-US" altLang="zh-CN" sz="2000" dirty="0"/>
              <a:t> disk. One of the characteristics of RAID 3 is that it generally cannot service multiple requests simultaneously, which happens because any single block of data will, by definition, be spread across all members of the set and will reside in the same physical location on each disk. Therefore, any </a:t>
            </a:r>
            <a:r>
              <a:rPr lang="en-US" altLang="zh-CN" sz="2000" dirty="0">
                <a:hlinkClick r:id="rId5" tooltip="Input/output">
                  <a:extLst>
                    <a:ext uri="{A12FA001-AC4F-418D-AE19-62706E023703}">
                      <ahyp:hlinkClr xmlns:ahyp="http://schemas.microsoft.com/office/drawing/2018/hyperlinkcolor" val="tx"/>
                    </a:ext>
                  </a:extLst>
                </a:hlinkClick>
              </a:rPr>
              <a:t>I/O</a:t>
            </a:r>
            <a:r>
              <a:rPr lang="en-US" altLang="zh-CN" sz="2000" dirty="0"/>
              <a:t> operation requires activity on every disk and usually requires synchronized spindles. </a:t>
            </a:r>
          </a:p>
        </p:txBody>
      </p:sp>
      <p:grpSp>
        <p:nvGrpSpPr>
          <p:cNvPr id="7" name="组合 6">
            <a:extLst>
              <a:ext uri="{FF2B5EF4-FFF2-40B4-BE49-F238E27FC236}">
                <a16:creationId xmlns:a16="http://schemas.microsoft.com/office/drawing/2014/main" id="{ABC18393-AE14-23FB-C8FC-98B2643395E8}"/>
              </a:ext>
            </a:extLst>
          </p:cNvPr>
          <p:cNvGrpSpPr/>
          <p:nvPr/>
        </p:nvGrpSpPr>
        <p:grpSpPr>
          <a:xfrm>
            <a:off x="3044826" y="3764938"/>
            <a:ext cx="3736974" cy="2841625"/>
            <a:chOff x="3121026" y="3840048"/>
            <a:chExt cx="3406774" cy="2586151"/>
          </a:xfrm>
        </p:grpSpPr>
        <p:pic>
          <p:nvPicPr>
            <p:cNvPr id="67591" name="Picture 1" descr="10_11.pdf">
              <a:extLst>
                <a:ext uri="{FF2B5EF4-FFF2-40B4-BE49-F238E27FC236}">
                  <a16:creationId xmlns:a16="http://schemas.microsoft.com/office/drawing/2014/main" id="{B0255B2F-605F-4FC1-EC35-64F33E12D8B7}"/>
                </a:ext>
              </a:extLst>
            </p:cNvPr>
            <p:cNvPicPr>
              <a:picLocks noChangeAspect="1"/>
            </p:cNvPicPr>
            <p:nvPr/>
          </p:nvPicPr>
          <p:blipFill>
            <a:blip r:embed="rId6">
              <a:extLst>
                <a:ext uri="{28A0092B-C50C-407E-A947-70E740481C1C}">
                  <a14:useLocalDpi xmlns:a14="http://schemas.microsoft.com/office/drawing/2010/main" val="0"/>
                </a:ext>
              </a:extLst>
            </a:blip>
            <a:srcRect t="41315" b="44482"/>
            <a:stretch>
              <a:fillRect/>
            </a:stretch>
          </p:blipFill>
          <p:spPr bwMode="auto">
            <a:xfrm>
              <a:off x="3121026" y="5610367"/>
              <a:ext cx="3406774" cy="815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descr="图示&#10;&#10;AI 生成的内容可能不正确。">
              <a:extLst>
                <a:ext uri="{FF2B5EF4-FFF2-40B4-BE49-F238E27FC236}">
                  <a16:creationId xmlns:a16="http://schemas.microsoft.com/office/drawing/2014/main" id="{A562E6EB-36A2-0C99-2710-B446C1C03E77}"/>
                </a:ext>
              </a:extLst>
            </p:cNvPr>
            <p:cNvPicPr>
              <a:picLocks noChangeAspect="1"/>
            </p:cNvPicPr>
            <p:nvPr/>
          </p:nvPicPr>
          <p:blipFill>
            <a:blip r:embed="rId7"/>
            <a:stretch>
              <a:fillRect/>
            </a:stretch>
          </p:blipFill>
          <p:spPr>
            <a:xfrm>
              <a:off x="3652165" y="3840048"/>
              <a:ext cx="2344496" cy="1752970"/>
            </a:xfrm>
            <a:prstGeom prst="rect">
              <a:avLst/>
            </a:prstGeom>
          </p:spPr>
        </p:pic>
      </p:grpSp>
    </p:spTree>
    <p:extLst>
      <p:ext uri="{BB962C8B-B14F-4D97-AF65-F5344CB8AC3E}">
        <p14:creationId xmlns:p14="http://schemas.microsoft.com/office/powerpoint/2010/main" val="2054538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36C92-89F3-DA7B-644D-B544E39ECCF0}"/>
            </a:ext>
          </a:extLst>
        </p:cNvPr>
        <p:cNvGrpSpPr/>
        <p:nvPr/>
      </p:nvGrpSpPr>
      <p:grpSpPr>
        <a:xfrm>
          <a:off x="0" y="0"/>
          <a:ext cx="0" cy="0"/>
          <a:chOff x="0" y="0"/>
          <a:chExt cx="0" cy="0"/>
        </a:xfrm>
      </p:grpSpPr>
      <p:sp>
        <p:nvSpPr>
          <p:cNvPr id="69634" name="Rectangle 2">
            <a:extLst>
              <a:ext uri="{FF2B5EF4-FFF2-40B4-BE49-F238E27FC236}">
                <a16:creationId xmlns:a16="http://schemas.microsoft.com/office/drawing/2014/main" id="{28B03845-18B4-EE12-673F-F557CFF6FC69}"/>
              </a:ext>
            </a:extLst>
          </p:cNvPr>
          <p:cNvSpPr>
            <a:spLocks noGrp="1" noChangeArrowheads="1"/>
          </p:cNvSpPr>
          <p:nvPr>
            <p:ph type="title"/>
          </p:nvPr>
        </p:nvSpPr>
        <p:spPr/>
        <p:txBody>
          <a:bodyPr/>
          <a:lstStyle/>
          <a:p>
            <a:pPr eaLnBrk="1" hangingPunct="1"/>
            <a:r>
              <a:rPr lang="en-US" altLang="zh-TW" dirty="0"/>
              <a:t>RAID Levels (6)</a:t>
            </a:r>
            <a:endParaRPr lang="en-US" altLang="zh-TW" sz="2267" dirty="0"/>
          </a:p>
        </p:txBody>
      </p:sp>
      <p:grpSp>
        <p:nvGrpSpPr>
          <p:cNvPr id="69635" name="组合 2">
            <a:extLst>
              <a:ext uri="{FF2B5EF4-FFF2-40B4-BE49-F238E27FC236}">
                <a16:creationId xmlns:a16="http://schemas.microsoft.com/office/drawing/2014/main" id="{14D57701-66C5-D75F-8FAF-69D563EEE04B}"/>
              </a:ext>
            </a:extLst>
          </p:cNvPr>
          <p:cNvGrpSpPr>
            <a:grpSpLocks/>
          </p:cNvGrpSpPr>
          <p:nvPr/>
        </p:nvGrpSpPr>
        <p:grpSpPr bwMode="auto">
          <a:xfrm>
            <a:off x="2832100" y="3038402"/>
            <a:ext cx="4076700" cy="3256182"/>
            <a:chOff x="4672013" y="3165066"/>
            <a:chExt cx="4351337" cy="3266214"/>
          </a:xfrm>
        </p:grpSpPr>
        <p:pic>
          <p:nvPicPr>
            <p:cNvPr id="69642" name="Picture 1" descr="10_11.pdf">
              <a:extLst>
                <a:ext uri="{FF2B5EF4-FFF2-40B4-BE49-F238E27FC236}">
                  <a16:creationId xmlns:a16="http://schemas.microsoft.com/office/drawing/2014/main" id="{9BD44413-453B-E043-7607-DCF9A24105C5}"/>
                </a:ext>
              </a:extLst>
            </p:cNvPr>
            <p:cNvPicPr>
              <a:picLocks noChangeAspect="1"/>
            </p:cNvPicPr>
            <p:nvPr/>
          </p:nvPicPr>
          <p:blipFill>
            <a:blip r:embed="rId3">
              <a:extLst>
                <a:ext uri="{28A0092B-C50C-407E-A947-70E740481C1C}">
                  <a14:useLocalDpi xmlns:a14="http://schemas.microsoft.com/office/drawing/2010/main" val="0"/>
                </a:ext>
              </a:extLst>
            </a:blip>
            <a:srcRect t="56354" b="30698"/>
            <a:stretch>
              <a:fillRect/>
            </a:stretch>
          </p:blipFill>
          <p:spPr bwMode="auto">
            <a:xfrm>
              <a:off x="4672013" y="5486399"/>
              <a:ext cx="4351337" cy="944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3" name="Picture 5" descr="http://webftp.cogsh.tp.edu.tw/cti573/bcc2012/image/raid.png">
              <a:extLst>
                <a:ext uri="{FF2B5EF4-FFF2-40B4-BE49-F238E27FC236}">
                  <a16:creationId xmlns:a16="http://schemas.microsoft.com/office/drawing/2014/main" id="{C2396768-0838-679F-2026-8C9C017AE3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1060" b="68364"/>
            <a:stretch>
              <a:fillRect/>
            </a:stretch>
          </p:blipFill>
          <p:spPr bwMode="auto">
            <a:xfrm>
              <a:off x="5115344" y="3165066"/>
              <a:ext cx="3464673" cy="2321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Rectangle 3">
            <a:extLst>
              <a:ext uri="{FF2B5EF4-FFF2-40B4-BE49-F238E27FC236}">
                <a16:creationId xmlns:a16="http://schemas.microsoft.com/office/drawing/2014/main" id="{E61CEFEB-65E0-1E7D-C990-F044A598DAB8}"/>
              </a:ext>
            </a:extLst>
          </p:cNvPr>
          <p:cNvSpPr txBox="1">
            <a:spLocks noChangeArrowheads="1"/>
          </p:cNvSpPr>
          <p:nvPr/>
        </p:nvSpPr>
        <p:spPr>
          <a:xfrm>
            <a:off x="810183" y="1014560"/>
            <a:ext cx="7819642" cy="1739274"/>
          </a:xfrm>
          <a:prstGeom prst="rect">
            <a:avLst/>
          </a:prstGeom>
        </p:spPr>
        <p:txBody>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CN" sz="2000" b="1" dirty="0">
                <a:solidFill>
                  <a:srgbClr val="EE0000"/>
                </a:solidFill>
              </a:rPr>
              <a:t>RAID 4</a:t>
            </a:r>
            <a:r>
              <a:rPr lang="en-US" altLang="zh-CN" sz="2000" dirty="0"/>
              <a:t> consists of block-level striping with a dedicated parity disk. As a result of its layout, RAID 4 provides good performance of random reads, while the performance of random writes is low due to the need to write all parity data to a single disk, unless the filesystem is RAID-4-aware and compensates for that. </a:t>
            </a:r>
          </a:p>
        </p:txBody>
      </p:sp>
    </p:spTree>
    <p:extLst>
      <p:ext uri="{BB962C8B-B14F-4D97-AF65-F5344CB8AC3E}">
        <p14:creationId xmlns:p14="http://schemas.microsoft.com/office/powerpoint/2010/main" val="33679728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9D2E7-DC4D-0078-F88E-56008E551845}"/>
            </a:ext>
          </a:extLst>
        </p:cNvPr>
        <p:cNvGrpSpPr/>
        <p:nvPr/>
      </p:nvGrpSpPr>
      <p:grpSpPr>
        <a:xfrm>
          <a:off x="0" y="0"/>
          <a:ext cx="0" cy="0"/>
          <a:chOff x="0" y="0"/>
          <a:chExt cx="0" cy="0"/>
        </a:xfrm>
      </p:grpSpPr>
      <p:sp>
        <p:nvSpPr>
          <p:cNvPr id="69634" name="Rectangle 2">
            <a:extLst>
              <a:ext uri="{FF2B5EF4-FFF2-40B4-BE49-F238E27FC236}">
                <a16:creationId xmlns:a16="http://schemas.microsoft.com/office/drawing/2014/main" id="{753882EC-0D5D-4A71-1166-3CB759C6CDEE}"/>
              </a:ext>
            </a:extLst>
          </p:cNvPr>
          <p:cNvSpPr>
            <a:spLocks noGrp="1" noChangeArrowheads="1"/>
          </p:cNvSpPr>
          <p:nvPr>
            <p:ph type="title"/>
          </p:nvPr>
        </p:nvSpPr>
        <p:spPr/>
        <p:txBody>
          <a:bodyPr/>
          <a:lstStyle/>
          <a:p>
            <a:pPr eaLnBrk="1" hangingPunct="1"/>
            <a:r>
              <a:rPr lang="en-US" altLang="zh-TW" dirty="0"/>
              <a:t>RAID Levels (7)</a:t>
            </a:r>
            <a:endParaRPr lang="en-US" altLang="zh-TW" sz="2267" dirty="0"/>
          </a:p>
        </p:txBody>
      </p:sp>
      <p:grpSp>
        <p:nvGrpSpPr>
          <p:cNvPr id="69637" name="组合 2">
            <a:extLst>
              <a:ext uri="{FF2B5EF4-FFF2-40B4-BE49-F238E27FC236}">
                <a16:creationId xmlns:a16="http://schemas.microsoft.com/office/drawing/2014/main" id="{F60DC912-0EB5-9179-4506-9A78ADDE8E7F}"/>
              </a:ext>
            </a:extLst>
          </p:cNvPr>
          <p:cNvGrpSpPr>
            <a:grpSpLocks/>
          </p:cNvGrpSpPr>
          <p:nvPr/>
        </p:nvGrpSpPr>
        <p:grpSpPr bwMode="auto">
          <a:xfrm>
            <a:off x="2776008" y="3038402"/>
            <a:ext cx="4539192" cy="3413198"/>
            <a:chOff x="4579937" y="3357556"/>
            <a:chExt cx="4351337" cy="3351563"/>
          </a:xfrm>
        </p:grpSpPr>
        <p:pic>
          <p:nvPicPr>
            <p:cNvPr id="69638" name="Picture 1" descr="10_11.pdf">
              <a:extLst>
                <a:ext uri="{FF2B5EF4-FFF2-40B4-BE49-F238E27FC236}">
                  <a16:creationId xmlns:a16="http://schemas.microsoft.com/office/drawing/2014/main" id="{92FA7423-8A90-DA20-D13D-FFD8B072BA57}"/>
                </a:ext>
              </a:extLst>
            </p:cNvPr>
            <p:cNvPicPr>
              <a:picLocks noChangeAspect="1"/>
            </p:cNvPicPr>
            <p:nvPr/>
          </p:nvPicPr>
          <p:blipFill>
            <a:blip r:embed="rId3">
              <a:extLst>
                <a:ext uri="{28A0092B-C50C-407E-A947-70E740481C1C}">
                  <a14:useLocalDpi xmlns:a14="http://schemas.microsoft.com/office/drawing/2010/main" val="0"/>
                </a:ext>
              </a:extLst>
            </a:blip>
            <a:srcRect t="69778" b="14165"/>
            <a:stretch>
              <a:fillRect/>
            </a:stretch>
          </p:blipFill>
          <p:spPr bwMode="auto">
            <a:xfrm>
              <a:off x="4579937" y="5643562"/>
              <a:ext cx="4351337" cy="1065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9" name="Picture 5" descr="http://webftp.cogsh.tp.edu.tw/cti573/bcc2012/image/raid.png">
              <a:extLst>
                <a:ext uri="{FF2B5EF4-FFF2-40B4-BE49-F238E27FC236}">
                  <a16:creationId xmlns:a16="http://schemas.microsoft.com/office/drawing/2014/main" id="{07F7978E-AF35-FBE8-B1BA-BD402D50AC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2041" t="31992" b="34894"/>
            <a:stretch>
              <a:fillRect/>
            </a:stretch>
          </p:blipFill>
          <p:spPr bwMode="auto">
            <a:xfrm>
              <a:off x="5082055" y="3357556"/>
              <a:ext cx="3347102" cy="24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Rectangle 3">
            <a:extLst>
              <a:ext uri="{FF2B5EF4-FFF2-40B4-BE49-F238E27FC236}">
                <a16:creationId xmlns:a16="http://schemas.microsoft.com/office/drawing/2014/main" id="{413F2A77-93B1-148D-C226-590CD8355C09}"/>
              </a:ext>
            </a:extLst>
          </p:cNvPr>
          <p:cNvSpPr txBox="1">
            <a:spLocks noChangeArrowheads="1"/>
          </p:cNvSpPr>
          <p:nvPr/>
        </p:nvSpPr>
        <p:spPr>
          <a:xfrm>
            <a:off x="990398" y="921129"/>
            <a:ext cx="7628793" cy="2023843"/>
          </a:xfrm>
          <a:prstGeom prst="rect">
            <a:avLst/>
          </a:prstGeom>
        </p:spPr>
        <p:txBody>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CN" sz="2000" b="1" dirty="0">
                <a:solidFill>
                  <a:srgbClr val="EE0000"/>
                </a:solidFill>
              </a:rPr>
              <a:t>RAID 5</a:t>
            </a:r>
            <a:r>
              <a:rPr lang="en-US" altLang="zh-CN" sz="2000" dirty="0"/>
              <a:t> consists of block-level striping with distributed parity. Unlike in RAID 4, parity information is distributed among the drives. It requires that all drives but one be present to operate. Upon failure of a single drive, subsequent reads can be calculated from the distributed parity such that no data is lost. RAID 5 requires at least three disks.</a:t>
            </a:r>
          </a:p>
        </p:txBody>
      </p:sp>
    </p:spTree>
    <p:extLst>
      <p:ext uri="{BB962C8B-B14F-4D97-AF65-F5344CB8AC3E}">
        <p14:creationId xmlns:p14="http://schemas.microsoft.com/office/powerpoint/2010/main" val="17300535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98CE6ED7-78C9-11FD-ED70-EC145CEF30FE}"/>
              </a:ext>
            </a:extLst>
          </p:cNvPr>
          <p:cNvSpPr>
            <a:spLocks noGrp="1" noChangeArrowheads="1"/>
          </p:cNvSpPr>
          <p:nvPr>
            <p:ph type="title"/>
          </p:nvPr>
        </p:nvSpPr>
        <p:spPr/>
        <p:txBody>
          <a:bodyPr/>
          <a:lstStyle/>
          <a:p>
            <a:pPr eaLnBrk="1" hangingPunct="1"/>
            <a:r>
              <a:rPr lang="en-US" altLang="zh-TW" dirty="0"/>
              <a:t>RAID Levels (8)</a:t>
            </a:r>
            <a:endParaRPr lang="en-US" altLang="zh-TW" sz="2267" dirty="0"/>
          </a:p>
        </p:txBody>
      </p:sp>
      <p:sp>
        <p:nvSpPr>
          <p:cNvPr id="4" name="Rectangle 3">
            <a:extLst>
              <a:ext uri="{FF2B5EF4-FFF2-40B4-BE49-F238E27FC236}">
                <a16:creationId xmlns:a16="http://schemas.microsoft.com/office/drawing/2014/main" id="{6F7C86F8-9760-0307-6B0B-A721422EED9C}"/>
              </a:ext>
            </a:extLst>
          </p:cNvPr>
          <p:cNvSpPr txBox="1">
            <a:spLocks noChangeArrowheads="1"/>
          </p:cNvSpPr>
          <p:nvPr/>
        </p:nvSpPr>
        <p:spPr>
          <a:xfrm>
            <a:off x="1001031" y="1014560"/>
            <a:ext cx="7628793" cy="1058789"/>
          </a:xfrm>
          <a:prstGeom prst="rect">
            <a:avLst/>
          </a:prstGeom>
        </p:spPr>
        <p:txBody>
          <a:bodyPr/>
          <a:lst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CN" sz="2000" b="1" dirty="0">
                <a:solidFill>
                  <a:srgbClr val="EE0000"/>
                </a:solidFill>
              </a:rPr>
              <a:t>RAID 6</a:t>
            </a:r>
            <a:r>
              <a:rPr lang="en-US" altLang="zh-CN" sz="2000" dirty="0"/>
              <a:t> extends RAID 5 by adding a second parity block; thus, it uses block-level striping with two parity blocks distributed across all member disks. RAID 6 requires at least four disks. </a:t>
            </a:r>
            <a:endParaRPr lang="zh-CN" altLang="en-US" sz="2000" dirty="0"/>
          </a:p>
        </p:txBody>
      </p:sp>
      <p:grpSp>
        <p:nvGrpSpPr>
          <p:cNvPr id="7" name="组合 6">
            <a:extLst>
              <a:ext uri="{FF2B5EF4-FFF2-40B4-BE49-F238E27FC236}">
                <a16:creationId xmlns:a16="http://schemas.microsoft.com/office/drawing/2014/main" id="{5FCA9843-107C-DD5E-FAFA-286A397D158E}"/>
              </a:ext>
            </a:extLst>
          </p:cNvPr>
          <p:cNvGrpSpPr/>
          <p:nvPr/>
        </p:nvGrpSpPr>
        <p:grpSpPr>
          <a:xfrm>
            <a:off x="2526622" y="2354780"/>
            <a:ext cx="4832880" cy="3898900"/>
            <a:chOff x="1104679" y="3091271"/>
            <a:chExt cx="4026959" cy="3145867"/>
          </a:xfrm>
        </p:grpSpPr>
        <p:pic>
          <p:nvPicPr>
            <p:cNvPr id="69640" name="Picture 1" descr="10_11.pdf">
              <a:extLst>
                <a:ext uri="{FF2B5EF4-FFF2-40B4-BE49-F238E27FC236}">
                  <a16:creationId xmlns:a16="http://schemas.microsoft.com/office/drawing/2014/main" id="{058D8CA8-1BE5-1FCC-7E0C-63233927CE69}"/>
                </a:ext>
              </a:extLst>
            </p:cNvPr>
            <p:cNvPicPr>
              <a:picLocks noChangeAspect="1"/>
            </p:cNvPicPr>
            <p:nvPr/>
          </p:nvPicPr>
          <p:blipFill>
            <a:blip r:embed="rId3">
              <a:extLst>
                <a:ext uri="{28A0092B-C50C-407E-A947-70E740481C1C}">
                  <a14:useLocalDpi xmlns:a14="http://schemas.microsoft.com/office/drawing/2010/main" val="0"/>
                </a:ext>
              </a:extLst>
            </a:blip>
            <a:srcRect t="85178"/>
            <a:stretch>
              <a:fillRect/>
            </a:stretch>
          </p:blipFill>
          <p:spPr bwMode="auto">
            <a:xfrm>
              <a:off x="1104679" y="5178371"/>
              <a:ext cx="4026959" cy="1058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descr="图表">
              <a:extLst>
                <a:ext uri="{FF2B5EF4-FFF2-40B4-BE49-F238E27FC236}">
                  <a16:creationId xmlns:a16="http://schemas.microsoft.com/office/drawing/2014/main" id="{50840B40-EB7E-58B8-79D1-E392C60D9E40}"/>
                </a:ext>
              </a:extLst>
            </p:cNvPr>
            <p:cNvPicPr>
              <a:picLocks noChangeAspect="1"/>
            </p:cNvPicPr>
            <p:nvPr/>
          </p:nvPicPr>
          <p:blipFill>
            <a:blip r:embed="rId4"/>
            <a:stretch>
              <a:fillRect/>
            </a:stretch>
          </p:blipFill>
          <p:spPr>
            <a:xfrm>
              <a:off x="1252683" y="3091271"/>
              <a:ext cx="3635554" cy="2205281"/>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6E541872-3CBC-44C0-A969-25FF54CB1A14}"/>
              </a:ext>
            </a:extLst>
          </p:cNvPr>
          <p:cNvSpPr>
            <a:spLocks noGrp="1" noChangeArrowheads="1"/>
          </p:cNvSpPr>
          <p:nvPr>
            <p:ph type="title"/>
          </p:nvPr>
        </p:nvSpPr>
        <p:spPr>
          <a:xfrm>
            <a:off x="457200" y="235568"/>
            <a:ext cx="8229600" cy="576262"/>
          </a:xfrm>
        </p:spPr>
        <p:txBody>
          <a:bodyPr/>
          <a:lstStyle/>
          <a:p>
            <a:pPr eaLnBrk="1" hangingPunct="1"/>
            <a:r>
              <a:rPr lang="en-US" altLang="en-US" dirty="0"/>
              <a:t>Other Features</a:t>
            </a:r>
          </a:p>
        </p:txBody>
      </p:sp>
      <p:sp>
        <p:nvSpPr>
          <p:cNvPr id="75778" name="Content Placeholder 2">
            <a:extLst>
              <a:ext uri="{FF2B5EF4-FFF2-40B4-BE49-F238E27FC236}">
                <a16:creationId xmlns:a16="http://schemas.microsoft.com/office/drawing/2014/main" id="{7A9273D2-0207-4D63-98EF-CA7F43779F65}"/>
              </a:ext>
            </a:extLst>
          </p:cNvPr>
          <p:cNvSpPr>
            <a:spLocks noGrp="1" noChangeArrowheads="1"/>
          </p:cNvSpPr>
          <p:nvPr>
            <p:ph idx="1"/>
          </p:nvPr>
        </p:nvSpPr>
        <p:spPr>
          <a:xfrm>
            <a:off x="823284" y="998357"/>
            <a:ext cx="7863516" cy="4861286"/>
          </a:xfrm>
        </p:spPr>
        <p:txBody>
          <a:bodyPr/>
          <a:lstStyle/>
          <a:p>
            <a:r>
              <a:rPr lang="en-US" altLang="en-US" sz="2000" dirty="0"/>
              <a:t>Regardless of where RAID implemented, other useful features can be added</a:t>
            </a:r>
          </a:p>
          <a:p>
            <a:pPr lvl="1"/>
            <a:r>
              <a:rPr lang="en-US" altLang="en-US" sz="2000" b="1" dirty="0">
                <a:solidFill>
                  <a:srgbClr val="006699"/>
                </a:solidFill>
                <a:latin typeface="+mj-lt"/>
              </a:rPr>
              <a:t>Snapshot</a:t>
            </a:r>
            <a:r>
              <a:rPr lang="en-US" altLang="en-US" sz="2000" dirty="0"/>
              <a:t> is a view of file system before a set of changes take place (i.e. at a point in time)</a:t>
            </a:r>
          </a:p>
          <a:p>
            <a:pPr lvl="2"/>
            <a:r>
              <a:rPr lang="en-US" altLang="en-US" sz="2000" dirty="0"/>
              <a:t>More in Chapter 12</a:t>
            </a:r>
          </a:p>
          <a:p>
            <a:pPr lvl="1"/>
            <a:r>
              <a:rPr lang="en-US" altLang="en-US" sz="2000" dirty="0"/>
              <a:t>Replication is automatic duplication of writes between separate sites</a:t>
            </a:r>
          </a:p>
          <a:p>
            <a:pPr lvl="2"/>
            <a:r>
              <a:rPr lang="en-US" altLang="en-US" sz="2000" dirty="0"/>
              <a:t>For redundancy and disaster recovery</a:t>
            </a:r>
          </a:p>
          <a:p>
            <a:pPr lvl="2"/>
            <a:r>
              <a:rPr lang="en-US" altLang="en-US" sz="2000" dirty="0"/>
              <a:t>Can be synchronous or asynchronous</a:t>
            </a:r>
          </a:p>
          <a:p>
            <a:pPr lvl="1"/>
            <a:r>
              <a:rPr lang="en-US" altLang="en-US" sz="2000" dirty="0"/>
              <a:t>Hot spare disk is unused, automatically used by RAID production if a disk fails to replace the failed disk and rebuild the RAID set if possible</a:t>
            </a:r>
          </a:p>
          <a:p>
            <a:pPr lvl="2"/>
            <a:r>
              <a:rPr lang="en-US" altLang="en-US" sz="2000" dirty="0"/>
              <a:t>Decreases mean time to repair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0AF9224-D539-455B-BFB3-A87BB9E8AFD2}"/>
              </a:ext>
            </a:extLst>
          </p:cNvPr>
          <p:cNvSpPr>
            <a:spLocks noGrp="1" noChangeArrowheads="1"/>
          </p:cNvSpPr>
          <p:nvPr>
            <p:ph type="title"/>
          </p:nvPr>
        </p:nvSpPr>
        <p:spPr>
          <a:xfrm>
            <a:off x="457200" y="232199"/>
            <a:ext cx="8229600" cy="576262"/>
          </a:xfrm>
        </p:spPr>
        <p:txBody>
          <a:bodyPr/>
          <a:lstStyle/>
          <a:p>
            <a:pPr eaLnBrk="1" hangingPunct="1"/>
            <a:r>
              <a:rPr lang="en-US" altLang="en-US" dirty="0"/>
              <a:t>Extensions</a:t>
            </a:r>
          </a:p>
        </p:txBody>
      </p:sp>
      <p:sp>
        <p:nvSpPr>
          <p:cNvPr id="77826" name="Content Placeholder 2">
            <a:extLst>
              <a:ext uri="{FF2B5EF4-FFF2-40B4-BE49-F238E27FC236}">
                <a16:creationId xmlns:a16="http://schemas.microsoft.com/office/drawing/2014/main" id="{48A9828E-6B54-4960-9A78-14C71DBB61F6}"/>
              </a:ext>
            </a:extLst>
          </p:cNvPr>
          <p:cNvSpPr>
            <a:spLocks noGrp="1" noChangeArrowheads="1"/>
          </p:cNvSpPr>
          <p:nvPr>
            <p:ph idx="1"/>
          </p:nvPr>
        </p:nvSpPr>
        <p:spPr>
          <a:xfrm>
            <a:off x="457200" y="1050131"/>
            <a:ext cx="5754689" cy="4944269"/>
          </a:xfrm>
        </p:spPr>
        <p:txBody>
          <a:bodyPr/>
          <a:lstStyle/>
          <a:p>
            <a:pPr>
              <a:spcBef>
                <a:spcPts val="600"/>
              </a:spcBef>
            </a:pPr>
            <a:r>
              <a:rPr lang="en-US" altLang="en-US" sz="2000" dirty="0"/>
              <a:t>RAID alone does not prevent or detect data corruption or other errors, just disk failures</a:t>
            </a:r>
          </a:p>
          <a:p>
            <a:pPr>
              <a:spcBef>
                <a:spcPts val="600"/>
              </a:spcBef>
            </a:pPr>
            <a:r>
              <a:rPr lang="en-US" altLang="en-US" sz="2000" dirty="0"/>
              <a:t>Solaris ZFS adds </a:t>
            </a:r>
            <a:r>
              <a:rPr lang="en-US" altLang="en-US" sz="2000" b="1" dirty="0">
                <a:solidFill>
                  <a:srgbClr val="006699"/>
                </a:solidFill>
                <a:latin typeface="+mj-lt"/>
              </a:rPr>
              <a:t>checksums</a:t>
            </a:r>
            <a:r>
              <a:rPr lang="en-US" altLang="en-US" sz="2000" dirty="0">
                <a:solidFill>
                  <a:srgbClr val="3366FF"/>
                </a:solidFill>
              </a:rPr>
              <a:t> </a:t>
            </a:r>
            <a:r>
              <a:rPr lang="en-US" altLang="en-US" sz="2000" dirty="0"/>
              <a:t>of all data and metadata</a:t>
            </a:r>
          </a:p>
          <a:p>
            <a:pPr>
              <a:spcBef>
                <a:spcPts val="600"/>
              </a:spcBef>
            </a:pPr>
            <a:r>
              <a:rPr lang="en-US" altLang="en-US" sz="2000" dirty="0"/>
              <a:t>Checksums kept with pointer to object, to detect if object is the right one and whether it changed</a:t>
            </a:r>
          </a:p>
          <a:p>
            <a:pPr>
              <a:spcBef>
                <a:spcPts val="600"/>
              </a:spcBef>
            </a:pPr>
            <a:r>
              <a:rPr lang="en-US" altLang="en-US" sz="2000" dirty="0"/>
              <a:t>Can detect and correct data and metadata corruption</a:t>
            </a:r>
          </a:p>
          <a:p>
            <a:pPr>
              <a:spcBef>
                <a:spcPts val="600"/>
              </a:spcBef>
            </a:pPr>
            <a:r>
              <a:rPr lang="en-US" altLang="en-US" sz="2000" dirty="0"/>
              <a:t>ZFS also removes volumes, partitions</a:t>
            </a:r>
          </a:p>
          <a:p>
            <a:pPr lvl="1">
              <a:spcBef>
                <a:spcPts val="600"/>
              </a:spcBef>
            </a:pPr>
            <a:r>
              <a:rPr lang="en-US" altLang="en-US" sz="2000" dirty="0"/>
              <a:t>Disks allocated in </a:t>
            </a:r>
            <a:r>
              <a:rPr lang="en-US" altLang="en-US" sz="2000" b="1" dirty="0">
                <a:solidFill>
                  <a:srgbClr val="006699"/>
                </a:solidFill>
                <a:latin typeface="+mj-lt"/>
              </a:rPr>
              <a:t>pools</a:t>
            </a:r>
          </a:p>
          <a:p>
            <a:pPr lvl="1">
              <a:spcBef>
                <a:spcPts val="600"/>
              </a:spcBef>
            </a:pPr>
            <a:r>
              <a:rPr lang="en-US" altLang="en-US" sz="2000" dirty="0"/>
              <a:t>Filesystems with a pool share that pool, use and release space like </a:t>
            </a:r>
            <a:r>
              <a:rPr lang="en-US" altLang="ja-JP" sz="2000" b="1" dirty="0">
                <a:latin typeface="Courier New" panose="02070309020205020404" pitchFamily="49" charset="0"/>
                <a:cs typeface="Courier New" panose="02070309020205020404" pitchFamily="49" charset="0"/>
              </a:rPr>
              <a:t>malloc()</a:t>
            </a:r>
            <a:r>
              <a:rPr lang="en-US" altLang="ja-JP" sz="2000" dirty="0"/>
              <a:t> and </a:t>
            </a:r>
            <a:r>
              <a:rPr lang="en-US" altLang="ja-JP" sz="2000" b="1" dirty="0">
                <a:latin typeface="Courier New" panose="02070309020205020404" pitchFamily="49" charset="0"/>
                <a:cs typeface="Courier New" panose="02070309020205020404" pitchFamily="49" charset="0"/>
              </a:rPr>
              <a:t>free()</a:t>
            </a:r>
            <a:r>
              <a:rPr lang="en-US" altLang="ja-JP" sz="2000" dirty="0"/>
              <a:t> memory allocate / release calls</a:t>
            </a:r>
          </a:p>
        </p:txBody>
      </p:sp>
      <p:grpSp>
        <p:nvGrpSpPr>
          <p:cNvPr id="2" name="组合 1">
            <a:extLst>
              <a:ext uri="{FF2B5EF4-FFF2-40B4-BE49-F238E27FC236}">
                <a16:creationId xmlns:a16="http://schemas.microsoft.com/office/drawing/2014/main" id="{A7ED2316-FCC9-A561-678A-EF4B00039413}"/>
              </a:ext>
            </a:extLst>
          </p:cNvPr>
          <p:cNvGrpSpPr/>
          <p:nvPr/>
        </p:nvGrpSpPr>
        <p:grpSpPr>
          <a:xfrm>
            <a:off x="6198524" y="1895097"/>
            <a:ext cx="2816225" cy="3228936"/>
            <a:chOff x="5783263" y="2346325"/>
            <a:chExt cx="2816225" cy="3228936"/>
          </a:xfrm>
        </p:grpSpPr>
        <p:pic>
          <p:nvPicPr>
            <p:cNvPr id="77827" name="Picture 1" descr="10_13.pdf">
              <a:extLst>
                <a:ext uri="{FF2B5EF4-FFF2-40B4-BE49-F238E27FC236}">
                  <a16:creationId xmlns:a16="http://schemas.microsoft.com/office/drawing/2014/main" id="{FFC4D95E-5BF1-42FC-8E26-51D1C8BD91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83263" y="2346325"/>
              <a:ext cx="2816225"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TextBox 1">
              <a:extLst>
                <a:ext uri="{FF2B5EF4-FFF2-40B4-BE49-F238E27FC236}">
                  <a16:creationId xmlns:a16="http://schemas.microsoft.com/office/drawing/2014/main" id="{5ADA5CB8-DCB0-44DA-9225-E2E0D20929A2}"/>
                </a:ext>
              </a:extLst>
            </p:cNvPr>
            <p:cNvSpPr txBox="1">
              <a:spLocks noChangeArrowheads="1"/>
            </p:cNvSpPr>
            <p:nvPr/>
          </p:nvSpPr>
          <p:spPr bwMode="auto">
            <a:xfrm>
              <a:off x="6338889" y="5021263"/>
              <a:ext cx="207394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sz="1500" dirty="0"/>
                <a:t>ZFS checksums all metadata and data</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74FFC0FE-3F21-4C41-B071-FC1413734A22}"/>
              </a:ext>
            </a:extLst>
          </p:cNvPr>
          <p:cNvSpPr>
            <a:spLocks noGrp="1" noChangeArrowheads="1"/>
          </p:cNvSpPr>
          <p:nvPr>
            <p:ph type="title"/>
          </p:nvPr>
        </p:nvSpPr>
        <p:spPr>
          <a:xfrm>
            <a:off x="796925" y="238161"/>
            <a:ext cx="7889875" cy="576262"/>
          </a:xfrm>
        </p:spPr>
        <p:txBody>
          <a:bodyPr/>
          <a:lstStyle/>
          <a:p>
            <a:pPr eaLnBrk="1" hangingPunct="1"/>
            <a:r>
              <a:rPr lang="en-US" altLang="en-US" dirty="0"/>
              <a:t>Traditional and Pooled Storage</a:t>
            </a:r>
          </a:p>
        </p:txBody>
      </p:sp>
      <p:grpSp>
        <p:nvGrpSpPr>
          <p:cNvPr id="3" name="组合 2">
            <a:extLst>
              <a:ext uri="{FF2B5EF4-FFF2-40B4-BE49-F238E27FC236}">
                <a16:creationId xmlns:a16="http://schemas.microsoft.com/office/drawing/2014/main" id="{69BAF0A4-5674-DCF8-5897-5414A353029B}"/>
              </a:ext>
            </a:extLst>
          </p:cNvPr>
          <p:cNvGrpSpPr/>
          <p:nvPr/>
        </p:nvGrpSpPr>
        <p:grpSpPr>
          <a:xfrm>
            <a:off x="796925" y="1879600"/>
            <a:ext cx="7769224" cy="2774775"/>
            <a:chOff x="796925" y="1879600"/>
            <a:chExt cx="7769224" cy="2774775"/>
          </a:xfrm>
        </p:grpSpPr>
        <p:pic>
          <p:nvPicPr>
            <p:cNvPr id="79874" name="Picture 1" descr="10_14.pdf">
              <a:extLst>
                <a:ext uri="{FF2B5EF4-FFF2-40B4-BE49-F238E27FC236}">
                  <a16:creationId xmlns:a16="http://schemas.microsoft.com/office/drawing/2014/main" id="{94EEC4A9-1475-4D58-8288-B1931543A81E}"/>
                </a:ext>
              </a:extLst>
            </p:cNvPr>
            <p:cNvPicPr>
              <a:picLocks noChangeAspect="1"/>
            </p:cNvPicPr>
            <p:nvPr/>
          </p:nvPicPr>
          <p:blipFill rotWithShape="1">
            <a:blip r:embed="rId3">
              <a:extLst>
                <a:ext uri="{28A0092B-C50C-407E-A947-70E740481C1C}">
                  <a14:useLocalDpi xmlns:a14="http://schemas.microsoft.com/office/drawing/2010/main" val="0"/>
                </a:ext>
              </a:extLst>
            </a:blip>
            <a:srcRect b="53450"/>
            <a:stretch>
              <a:fillRect/>
            </a:stretch>
          </p:blipFill>
          <p:spPr bwMode="auto">
            <a:xfrm>
              <a:off x="796925" y="1980574"/>
              <a:ext cx="3684588" cy="267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descr="10_14.pdf">
              <a:extLst>
                <a:ext uri="{FF2B5EF4-FFF2-40B4-BE49-F238E27FC236}">
                  <a16:creationId xmlns:a16="http://schemas.microsoft.com/office/drawing/2014/main" id="{AB535C2C-9DDB-F3BA-1B0C-4BFBAEEC58C2}"/>
                </a:ext>
              </a:extLst>
            </p:cNvPr>
            <p:cNvPicPr>
              <a:picLocks noChangeAspect="1"/>
            </p:cNvPicPr>
            <p:nvPr/>
          </p:nvPicPr>
          <p:blipFill rotWithShape="1">
            <a:blip r:embed="rId3">
              <a:extLst>
                <a:ext uri="{28A0092B-C50C-407E-A947-70E740481C1C}">
                  <a14:useLocalDpi xmlns:a14="http://schemas.microsoft.com/office/drawing/2010/main" val="0"/>
                </a:ext>
              </a:extLst>
            </a:blip>
            <a:srcRect t="50602"/>
            <a:stretch>
              <a:fillRect/>
            </a:stretch>
          </p:blipFill>
          <p:spPr bwMode="auto">
            <a:xfrm>
              <a:off x="5148262" y="1879600"/>
              <a:ext cx="3417887" cy="263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87DC666F-9A77-47CE-B530-87DFA2528DBD}"/>
              </a:ext>
            </a:extLst>
          </p:cNvPr>
          <p:cNvSpPr>
            <a:spLocks noGrp="1" noChangeArrowheads="1"/>
          </p:cNvSpPr>
          <p:nvPr>
            <p:ph type="title"/>
          </p:nvPr>
        </p:nvSpPr>
        <p:spPr>
          <a:xfrm>
            <a:off x="954088" y="201613"/>
            <a:ext cx="7732712" cy="576262"/>
          </a:xfrm>
        </p:spPr>
        <p:txBody>
          <a:bodyPr/>
          <a:lstStyle/>
          <a:p>
            <a:pPr eaLnBrk="1" hangingPunct="1"/>
            <a:r>
              <a:rPr lang="en-US" altLang="en-US" dirty="0"/>
              <a:t>Object Storage (1)</a:t>
            </a:r>
          </a:p>
        </p:txBody>
      </p:sp>
      <p:sp>
        <p:nvSpPr>
          <p:cNvPr id="81922" name="Rectangle 3">
            <a:extLst>
              <a:ext uri="{FF2B5EF4-FFF2-40B4-BE49-F238E27FC236}">
                <a16:creationId xmlns:a16="http://schemas.microsoft.com/office/drawing/2014/main" id="{AF89251C-8CD7-46D2-89D3-26FE99134542}"/>
              </a:ext>
            </a:extLst>
          </p:cNvPr>
          <p:cNvSpPr>
            <a:spLocks noGrp="1" noChangeArrowheads="1"/>
          </p:cNvSpPr>
          <p:nvPr>
            <p:ph type="body" idx="1"/>
          </p:nvPr>
        </p:nvSpPr>
        <p:spPr>
          <a:xfrm>
            <a:off x="1182688" y="930109"/>
            <a:ext cx="7275511" cy="4743781"/>
          </a:xfrm>
        </p:spPr>
        <p:txBody>
          <a:bodyPr/>
          <a:lstStyle/>
          <a:p>
            <a:r>
              <a:rPr lang="en-US" altLang="en-US" sz="2000" dirty="0"/>
              <a:t>General-purpose computing, file systems not sufficient for very large scale</a:t>
            </a:r>
          </a:p>
          <a:p>
            <a:r>
              <a:rPr lang="en-US" altLang="en-US" sz="2000" dirty="0"/>
              <a:t>Another approach – start with a storage pool and place objects in it</a:t>
            </a:r>
          </a:p>
          <a:p>
            <a:pPr lvl="1"/>
            <a:r>
              <a:rPr lang="en-US" altLang="en-US" sz="2000" dirty="0"/>
              <a:t>Object just a container of </a:t>
            </a:r>
            <a:r>
              <a:rPr lang="en-US" altLang="en-US" sz="2000" b="1" dirty="0">
                <a:solidFill>
                  <a:srgbClr val="006699"/>
                </a:solidFill>
                <a:latin typeface="+mj-lt"/>
              </a:rPr>
              <a:t>data</a:t>
            </a:r>
          </a:p>
          <a:p>
            <a:pPr lvl="1"/>
            <a:r>
              <a:rPr lang="en-US" altLang="en-US" sz="2000" dirty="0"/>
              <a:t>No way to navigate the pool to find objects (no directory structures, few services</a:t>
            </a:r>
          </a:p>
          <a:p>
            <a:pPr lvl="1"/>
            <a:r>
              <a:rPr lang="en-US" altLang="en-US" sz="2000" dirty="0"/>
              <a:t>Computer-oriented, not user-oriented</a:t>
            </a:r>
          </a:p>
          <a:p>
            <a:r>
              <a:rPr lang="en-US" altLang="en-US" sz="2000" dirty="0"/>
              <a:t>Typical sequence</a:t>
            </a:r>
          </a:p>
          <a:p>
            <a:pPr lvl="1"/>
            <a:r>
              <a:rPr lang="en-US" altLang="en-US" sz="2000" dirty="0"/>
              <a:t>Create an object within the pool, receive an object ID</a:t>
            </a:r>
          </a:p>
          <a:p>
            <a:pPr lvl="1"/>
            <a:r>
              <a:rPr lang="en-US" altLang="en-US" sz="2000" dirty="0"/>
              <a:t>Access object via that ID</a:t>
            </a:r>
          </a:p>
          <a:p>
            <a:pPr lvl="1"/>
            <a:r>
              <a:rPr lang="en-US" altLang="en-US" sz="2000" dirty="0"/>
              <a:t>Delete object via that ID</a:t>
            </a:r>
          </a:p>
        </p:txBody>
      </p:sp>
    </p:spTree>
    <p:extLst>
      <p:ext uri="{BB962C8B-B14F-4D97-AF65-F5344CB8AC3E}">
        <p14:creationId xmlns:p14="http://schemas.microsoft.com/office/powerpoint/2010/main" val="28777159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87DC666F-9A77-47CE-B530-87DFA2528DBD}"/>
              </a:ext>
            </a:extLst>
          </p:cNvPr>
          <p:cNvSpPr>
            <a:spLocks noGrp="1" noChangeArrowheads="1"/>
          </p:cNvSpPr>
          <p:nvPr>
            <p:ph type="title"/>
          </p:nvPr>
        </p:nvSpPr>
        <p:spPr>
          <a:xfrm>
            <a:off x="954088" y="249325"/>
            <a:ext cx="7732712" cy="576262"/>
          </a:xfrm>
        </p:spPr>
        <p:txBody>
          <a:bodyPr/>
          <a:lstStyle/>
          <a:p>
            <a:pPr eaLnBrk="1" hangingPunct="1"/>
            <a:r>
              <a:rPr lang="en-US" altLang="en-US" dirty="0"/>
              <a:t>Object Storage (2)</a:t>
            </a:r>
          </a:p>
        </p:txBody>
      </p:sp>
      <p:sp>
        <p:nvSpPr>
          <p:cNvPr id="81922" name="Rectangle 3">
            <a:extLst>
              <a:ext uri="{FF2B5EF4-FFF2-40B4-BE49-F238E27FC236}">
                <a16:creationId xmlns:a16="http://schemas.microsoft.com/office/drawing/2014/main" id="{AF89251C-8CD7-46D2-89D3-26FE99134542}"/>
              </a:ext>
            </a:extLst>
          </p:cNvPr>
          <p:cNvSpPr>
            <a:spLocks noGrp="1" noChangeArrowheads="1"/>
          </p:cNvSpPr>
          <p:nvPr>
            <p:ph type="body" idx="1"/>
          </p:nvPr>
        </p:nvSpPr>
        <p:spPr>
          <a:xfrm>
            <a:off x="1155391" y="992189"/>
            <a:ext cx="7330106" cy="2894012"/>
          </a:xfrm>
        </p:spPr>
        <p:txBody>
          <a:bodyPr/>
          <a:lstStyle/>
          <a:p>
            <a:r>
              <a:rPr lang="en-US" altLang="en-US" sz="2000" dirty="0"/>
              <a:t>Object storage management software like </a:t>
            </a:r>
            <a:r>
              <a:rPr lang="en-US" altLang="en-US" sz="2000" b="1" dirty="0">
                <a:solidFill>
                  <a:srgbClr val="006699"/>
                </a:solidFill>
                <a:latin typeface="+mj-lt"/>
              </a:rPr>
              <a:t>Hadoop</a:t>
            </a:r>
            <a:r>
              <a:rPr lang="en-US" altLang="en-US" sz="2000" b="1" dirty="0">
                <a:solidFill>
                  <a:srgbClr val="3366FF"/>
                </a:solidFill>
              </a:rPr>
              <a:t> </a:t>
            </a:r>
            <a:r>
              <a:rPr lang="en-US" altLang="en-US" sz="2000" b="1" dirty="0">
                <a:solidFill>
                  <a:srgbClr val="006699"/>
                </a:solidFill>
                <a:latin typeface="+mj-lt"/>
              </a:rPr>
              <a:t>file</a:t>
            </a:r>
            <a:r>
              <a:rPr lang="en-US" altLang="en-US" sz="2000" b="1" dirty="0">
                <a:solidFill>
                  <a:srgbClr val="3366FF"/>
                </a:solidFill>
              </a:rPr>
              <a:t> </a:t>
            </a:r>
            <a:r>
              <a:rPr lang="en-US" altLang="en-US" sz="2000" b="1" dirty="0">
                <a:solidFill>
                  <a:srgbClr val="006699"/>
                </a:solidFill>
                <a:latin typeface="+mj-lt"/>
              </a:rPr>
              <a:t>system</a:t>
            </a:r>
            <a:r>
              <a:rPr lang="en-US" altLang="en-US" sz="2000" b="1" dirty="0">
                <a:solidFill>
                  <a:srgbClr val="3366FF"/>
                </a:solidFill>
              </a:rPr>
              <a:t> </a:t>
            </a:r>
            <a:r>
              <a:rPr lang="en-US" altLang="en-US" sz="2000" dirty="0"/>
              <a:t>(</a:t>
            </a:r>
            <a:r>
              <a:rPr lang="en-US" altLang="en-US" sz="2000" b="1" dirty="0">
                <a:solidFill>
                  <a:srgbClr val="006699"/>
                </a:solidFill>
                <a:latin typeface="+mj-lt"/>
              </a:rPr>
              <a:t>HDFS</a:t>
            </a:r>
            <a:r>
              <a:rPr lang="en-US" altLang="en-US" sz="2000" dirty="0"/>
              <a:t>) and </a:t>
            </a:r>
            <a:r>
              <a:rPr lang="en-US" altLang="en-US" sz="2000" b="1" dirty="0" err="1">
                <a:solidFill>
                  <a:srgbClr val="006699"/>
                </a:solidFill>
                <a:latin typeface="+mj-lt"/>
              </a:rPr>
              <a:t>Ceph</a:t>
            </a:r>
            <a:r>
              <a:rPr lang="en-US" altLang="en-US" sz="2000" dirty="0"/>
              <a:t> determine where to store objects, manages protection</a:t>
            </a:r>
          </a:p>
          <a:p>
            <a:pPr lvl="1"/>
            <a:r>
              <a:rPr lang="en-US" altLang="en-US" sz="2000" dirty="0"/>
              <a:t>Typically by storing N copies, across N systems, in the object storage cluster</a:t>
            </a:r>
          </a:p>
          <a:p>
            <a:pPr lvl="1"/>
            <a:r>
              <a:rPr lang="en-US" altLang="en-US" sz="2000" b="1" dirty="0">
                <a:solidFill>
                  <a:srgbClr val="006699"/>
                </a:solidFill>
                <a:latin typeface="+mj-lt"/>
              </a:rPr>
              <a:t>Horizontally</a:t>
            </a:r>
            <a:r>
              <a:rPr lang="en-US" altLang="en-US" sz="2000" b="1" dirty="0">
                <a:solidFill>
                  <a:srgbClr val="3366FF"/>
                </a:solidFill>
              </a:rPr>
              <a:t> </a:t>
            </a:r>
            <a:r>
              <a:rPr lang="en-US" altLang="en-US" sz="2000" b="1" dirty="0">
                <a:solidFill>
                  <a:srgbClr val="006699"/>
                </a:solidFill>
                <a:latin typeface="+mj-lt"/>
              </a:rPr>
              <a:t>scalable</a:t>
            </a:r>
          </a:p>
          <a:p>
            <a:pPr lvl="1"/>
            <a:r>
              <a:rPr lang="en-US" altLang="en-US" sz="2000" b="1" dirty="0">
                <a:solidFill>
                  <a:srgbClr val="006699"/>
                </a:solidFill>
                <a:latin typeface="+mj-lt"/>
              </a:rPr>
              <a:t>Content</a:t>
            </a:r>
            <a:r>
              <a:rPr lang="en-US" altLang="en-US" sz="2000" b="1" dirty="0">
                <a:solidFill>
                  <a:srgbClr val="3366FF"/>
                </a:solidFill>
              </a:rPr>
              <a:t> </a:t>
            </a:r>
            <a:r>
              <a:rPr lang="en-US" altLang="en-US" sz="2000" b="1" dirty="0">
                <a:solidFill>
                  <a:srgbClr val="006699"/>
                </a:solidFill>
                <a:latin typeface="+mj-lt"/>
              </a:rPr>
              <a:t>addressable</a:t>
            </a:r>
            <a:r>
              <a:rPr lang="en-US" altLang="en-US" sz="2000" dirty="0"/>
              <a:t>, </a:t>
            </a:r>
            <a:r>
              <a:rPr lang="en-US" altLang="en-US" sz="2000" b="1" dirty="0">
                <a:solidFill>
                  <a:srgbClr val="006699"/>
                </a:solidFill>
                <a:latin typeface="+mj-lt"/>
              </a:rPr>
              <a:t>unstructured</a:t>
            </a:r>
          </a:p>
        </p:txBody>
      </p:sp>
    </p:spTree>
    <p:extLst>
      <p:ext uri="{BB962C8B-B14F-4D97-AF65-F5344CB8AC3E}">
        <p14:creationId xmlns:p14="http://schemas.microsoft.com/office/powerpoint/2010/main" val="38468150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C340F071-B686-4B88-AB93-65045C7C1EA8}"/>
              </a:ext>
            </a:extLst>
          </p:cNvPr>
          <p:cNvSpPr>
            <a:spLocks noGrp="1" noChangeArrowheads="1"/>
          </p:cNvSpPr>
          <p:nvPr>
            <p:ph type="ctrTitle"/>
          </p:nvPr>
        </p:nvSpPr>
        <p:spPr/>
        <p:txBody>
          <a:bodyPr/>
          <a:lstStyle/>
          <a:p>
            <a:pPr eaLnBrk="1" hangingPunct="1"/>
            <a:r>
              <a:rPr lang="en-US" altLang="en-US"/>
              <a:t>End of Chapter 11</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17039</TotalTime>
  <Words>3989</Words>
  <Application>Microsoft Office PowerPoint</Application>
  <PresentationFormat>全屏显示(4:3)</PresentationFormat>
  <Paragraphs>375</Paragraphs>
  <Slides>51</Slides>
  <Notes>39</Notes>
  <HiddenSlides>1</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51</vt:i4>
      </vt:variant>
    </vt:vector>
  </HeadingPairs>
  <TitlesOfParts>
    <vt:vector size="62" baseType="lpstr">
      <vt:lpstr>Monotype Sorts</vt:lpstr>
      <vt:lpstr>ＭＳ Ｐゴシック</vt:lpstr>
      <vt:lpstr>Arial</vt:lpstr>
      <vt:lpstr>Courier New</vt:lpstr>
      <vt:lpstr>Helvetica</vt:lpstr>
      <vt:lpstr>Symbol</vt:lpstr>
      <vt:lpstr>Times New Roman</vt:lpstr>
      <vt:lpstr>Verdana</vt:lpstr>
      <vt:lpstr>Webdings</vt:lpstr>
      <vt:lpstr>Wingdings</vt:lpstr>
      <vt:lpstr>os-8</vt:lpstr>
      <vt:lpstr>Chapter 11  Mass-Storage Systems</vt:lpstr>
      <vt:lpstr>Outline</vt:lpstr>
      <vt:lpstr>Objectives</vt:lpstr>
      <vt:lpstr>Overview of Mass Storage Structure</vt:lpstr>
      <vt:lpstr>Moving-head Disk Mechanism</vt:lpstr>
      <vt:lpstr>Hard Disk Drives</vt:lpstr>
      <vt:lpstr>Hard Disk Performance</vt:lpstr>
      <vt:lpstr>The First Commercial Disk Drive</vt:lpstr>
      <vt:lpstr>Nonvolatile Memory Devices (1)</vt:lpstr>
      <vt:lpstr>Nonvolatile Memory Devices (2)</vt:lpstr>
      <vt:lpstr>NAND Flash Controller Algorithms</vt:lpstr>
      <vt:lpstr>Volatile Memory</vt:lpstr>
      <vt:lpstr>Magnetic Tape</vt:lpstr>
      <vt:lpstr>Disk Structure</vt:lpstr>
      <vt:lpstr>Disk Attachment</vt:lpstr>
      <vt:lpstr>Address Mapping</vt:lpstr>
      <vt:lpstr>Disk Scheduling (1)</vt:lpstr>
      <vt:lpstr>Disk Scheduling (2)</vt:lpstr>
      <vt:lpstr>Disk Scheduling (3)</vt:lpstr>
      <vt:lpstr>FCFS</vt:lpstr>
      <vt:lpstr>SCAN</vt:lpstr>
      <vt:lpstr>C-SCAN</vt:lpstr>
      <vt:lpstr>Selecting a Disk-Scheduling Algorithm</vt:lpstr>
      <vt:lpstr>NVM Scheduling</vt:lpstr>
      <vt:lpstr>Error Detection and Correction</vt:lpstr>
      <vt:lpstr>Storage Device Management (1)</vt:lpstr>
      <vt:lpstr>Storage Device Management (2)</vt:lpstr>
      <vt:lpstr>Device Storage Management (3)</vt:lpstr>
      <vt:lpstr>Swap-Space Management</vt:lpstr>
      <vt:lpstr>Storage Attachment</vt:lpstr>
      <vt:lpstr>Network-Attached Storage</vt:lpstr>
      <vt:lpstr>Cloud Storage</vt:lpstr>
      <vt:lpstr>Storage Array</vt:lpstr>
      <vt:lpstr>Storage Area Network (1)</vt:lpstr>
      <vt:lpstr>Storage Area Network (2)</vt:lpstr>
      <vt:lpstr>RAID Structure (1)</vt:lpstr>
      <vt:lpstr>RAID Structure (2)</vt:lpstr>
      <vt:lpstr>RAID Levels (1)</vt:lpstr>
      <vt:lpstr>RAID Levels (2)</vt:lpstr>
      <vt:lpstr>PowerPoint 演示文稿</vt:lpstr>
      <vt:lpstr>RAID Levels (4)</vt:lpstr>
      <vt:lpstr>RAID Levels (5)</vt:lpstr>
      <vt:lpstr>RAID Levels (6)</vt:lpstr>
      <vt:lpstr>RAID Levels (7)</vt:lpstr>
      <vt:lpstr>RAID Levels (8)</vt:lpstr>
      <vt:lpstr>Other Features</vt:lpstr>
      <vt:lpstr>Extensions</vt:lpstr>
      <vt:lpstr>Traditional and Pooled Storage</vt:lpstr>
      <vt:lpstr>Object Storage (1)</vt:lpstr>
      <vt:lpstr>Object Storage (2)</vt:lpstr>
      <vt:lpstr>End of Chapter 11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251</cp:revision>
  <cp:lastPrinted>2013-09-10T17:57:57Z</cp:lastPrinted>
  <dcterms:created xsi:type="dcterms:W3CDTF">2011-01-13T23:43:38Z</dcterms:created>
  <dcterms:modified xsi:type="dcterms:W3CDTF">2025-11-20T01:16:31Z</dcterms:modified>
</cp:coreProperties>
</file>