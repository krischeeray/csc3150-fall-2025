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1"/>
  </p:notesMasterIdLst>
  <p:handoutMasterIdLst>
    <p:handoutMasterId r:id="rId32"/>
  </p:handoutMasterIdLst>
  <p:sldIdLst>
    <p:sldId id="330" r:id="rId2"/>
    <p:sldId id="347" r:id="rId3"/>
    <p:sldId id="348" r:id="rId4"/>
    <p:sldId id="417" r:id="rId5"/>
    <p:sldId id="349" r:id="rId6"/>
    <p:sldId id="350" r:id="rId7"/>
    <p:sldId id="352" r:id="rId8"/>
    <p:sldId id="354" r:id="rId9"/>
    <p:sldId id="356" r:id="rId10"/>
    <p:sldId id="357" r:id="rId11"/>
    <p:sldId id="359" r:id="rId12"/>
    <p:sldId id="413" r:id="rId13"/>
    <p:sldId id="361" r:id="rId14"/>
    <p:sldId id="419" r:id="rId15"/>
    <p:sldId id="423" r:id="rId16"/>
    <p:sldId id="363" r:id="rId17"/>
    <p:sldId id="438" r:id="rId18"/>
    <p:sldId id="364" r:id="rId19"/>
    <p:sldId id="408" r:id="rId20"/>
    <p:sldId id="404" r:id="rId21"/>
    <p:sldId id="403" r:id="rId22"/>
    <p:sldId id="375" r:id="rId23"/>
    <p:sldId id="426" r:id="rId24"/>
    <p:sldId id="427" r:id="rId25"/>
    <p:sldId id="374" r:id="rId26"/>
    <p:sldId id="429" r:id="rId27"/>
    <p:sldId id="430" r:id="rId28"/>
    <p:sldId id="376" r:id="rId29"/>
    <p:sldId id="437" r:id="rId30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3" autoAdjust="0"/>
    <p:restoredTop sz="94667"/>
  </p:normalViewPr>
  <p:slideViewPr>
    <p:cSldViewPr snapToGrid="0">
      <p:cViewPr varScale="1">
        <p:scale>
          <a:sx n="63" d="100"/>
          <a:sy n="63" d="100"/>
        </p:scale>
        <p:origin x="1284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48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37BB01D-B0D0-4671-8FE7-094A3CF416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C49927E-475C-4CE6-A5F7-A2AEC03D2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4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2B20D6A-74B8-4F94-A917-6CF1BD9CF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701675"/>
            <a:ext cx="4681537" cy="3511550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BD16ED7-7618-4443-A1AB-1EEB7BDAC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448175"/>
            <a:ext cx="5662613" cy="4213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926" tIns="46963" rIns="93926" bIns="46963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0530582-34A1-40CB-B831-D1F3E3C92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9CF4A8B-5951-4925-B7B5-B6A118709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7E33B51-0000-42AD-B920-0A0E39C03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1A2DA55-94B7-44EA-9189-4528FAFDB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6646A39-9D9C-4576-B76B-C83B690BB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615B404-9F60-46B3-9E39-216C9321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61F88E3-AC2E-45D7-A9AF-5C1FFFB92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064BE0D-CEB9-40CC-8FCE-AE12BD2F3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FB1ABE3-7495-4F27-8466-A83A6316E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AB51EC2-9DAA-4A25-97D8-1FD619E54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4EFBA2C-B5AE-4069-BF8B-611B0CEA7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EE8AC62-1D2C-4420-B345-3BE889F06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AE2A917-F902-400B-80B0-70693664D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AC34C9B-39B2-47DE-ACC5-054B5690C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12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5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B055665-1FCA-46DF-8ADA-AFDB187E5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E89632E-64C1-4EC9-810C-0427E363D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ACF7734-5D09-4080-A5F3-33EF4697B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239A3F8-049F-4A8D-93CB-7DD9B1942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78391D3-ADD6-4090-9893-F708D7093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6B622F6-6930-47DF-9588-CC13ADD7E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63EBCDF-9BF5-4BA4-A046-5EF9DC6D4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89D0B39-6328-4D25-9200-1051CE46B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9334B8E-3D1F-4D13-A54E-BFE97B363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4D753E-0D96-484D-AE41-DA069EC6D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20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097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EC14F13-9940-464D-96E0-6B1495E786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2062C8DA-575B-421A-8D26-AE1E16BBC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A55C65A-3BB8-4C4D-AEA1-3229F021DC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1570280-4FF2-4E66-8C6A-EFD1536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66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49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15195095-D590-3D45-BD5D-ED99265E4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E035EE4-E459-A34D-828B-D98F62D8E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319447EE-770B-4239-87AE-891B3223C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6267CC3E-EC1E-46E0-9E0F-27020BA348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564640"/>
            <a:ext cx="8458200" cy="1397318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1 </a:t>
            </a:r>
            <a:r>
              <a:rPr lang="zh-CN" altLang="en-US" dirty="0"/>
              <a:t>：</a:t>
            </a:r>
            <a:r>
              <a:rPr lang="en-US" altLang="en-US" dirty="0"/>
              <a:t> Introduction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76E12C-0A8F-49FF-8988-D53352F14B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3200"/>
            <a:ext cx="803433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002EA22-F1BB-4F36-8EAD-4A3CBBBFD9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75908" y="978307"/>
            <a:ext cx="6655980" cy="4530725"/>
          </a:xfrm>
        </p:spPr>
        <p:txBody>
          <a:bodyPr/>
          <a:lstStyle/>
          <a:p>
            <a:r>
              <a:rPr lang="en-US" altLang="en-US" sz="2000" dirty="0"/>
              <a:t>What Operating Systems Do</a:t>
            </a:r>
          </a:p>
          <a:p>
            <a:r>
              <a:rPr lang="en-US" altLang="en-US" sz="2000" dirty="0"/>
              <a:t>Computer-System Organization</a:t>
            </a:r>
          </a:p>
          <a:p>
            <a:r>
              <a:rPr lang="en-US" altLang="en-US" sz="2000" dirty="0"/>
              <a:t>Computer-System Architecture</a:t>
            </a:r>
          </a:p>
          <a:p>
            <a:r>
              <a:rPr lang="en-US" altLang="en-US" sz="2000" dirty="0"/>
              <a:t>Operating-System Operations</a:t>
            </a:r>
          </a:p>
          <a:p>
            <a:r>
              <a:rPr lang="en-US" altLang="en-US" sz="2000" dirty="0"/>
              <a:t>Resource Management</a:t>
            </a:r>
          </a:p>
          <a:p>
            <a:r>
              <a:rPr lang="en-US" altLang="en-US" sz="2000" dirty="0"/>
              <a:t>Security and Protection</a:t>
            </a:r>
          </a:p>
          <a:p>
            <a:r>
              <a:rPr lang="en-US" altLang="en-US" sz="2000" dirty="0"/>
              <a:t>Virtualization</a:t>
            </a:r>
          </a:p>
          <a:p>
            <a:r>
              <a:rPr lang="en-US" altLang="en-US" sz="2000" dirty="0"/>
              <a:t>Distributed Systems</a:t>
            </a:r>
          </a:p>
          <a:p>
            <a:r>
              <a:rPr lang="en-US" altLang="en-US" sz="2000" dirty="0"/>
              <a:t>Kernel Data Structures</a:t>
            </a:r>
          </a:p>
          <a:p>
            <a:r>
              <a:rPr lang="en-US" altLang="en-US" sz="2000" dirty="0"/>
              <a:t>Computing Environments</a:t>
            </a:r>
          </a:p>
          <a:p>
            <a:r>
              <a:rPr lang="en-US" altLang="en-US" sz="2000" dirty="0"/>
              <a:t>Free/Libre and Open-Source Operating Systems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2776" y="957042"/>
            <a:ext cx="7666038" cy="3359777"/>
          </a:xfrm>
        </p:spPr>
        <p:txBody>
          <a:bodyPr/>
          <a:lstStyle/>
          <a:p>
            <a:r>
              <a:rPr lang="en-US" altLang="en-US" sz="2000" dirty="0"/>
              <a:t>Describe the general organization of a computer system and the role of interrupts</a:t>
            </a:r>
          </a:p>
          <a:p>
            <a:r>
              <a:rPr lang="en-US" altLang="en-US" sz="2000" dirty="0"/>
              <a:t>Describe the components in a modern, multiprocessor computer system</a:t>
            </a:r>
          </a:p>
          <a:p>
            <a:r>
              <a:rPr lang="en-US" altLang="en-US" sz="2000" dirty="0"/>
              <a:t>Illustrate the transition from user mode to kernel mode</a:t>
            </a:r>
          </a:p>
          <a:p>
            <a:r>
              <a:rPr lang="en-US" altLang="en-US" sz="2000" dirty="0"/>
              <a:t>Discuss how operating systems are used in various computing environments</a:t>
            </a:r>
          </a:p>
          <a:p>
            <a:r>
              <a:rPr lang="en-US" altLang="en-US" sz="2000" dirty="0"/>
              <a:t>Provide examples of free and open-source operating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05022" y="186939"/>
            <a:ext cx="7030906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What Does Operating System Mean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39702" y="1031470"/>
            <a:ext cx="6687879" cy="3827609"/>
          </a:xfrm>
        </p:spPr>
        <p:txBody>
          <a:bodyPr/>
          <a:lstStyle/>
          <a:p>
            <a:r>
              <a:rPr lang="en-US" altLang="en-US" sz="2000" dirty="0"/>
              <a:t>An operating system is “fill in the blanks”</a:t>
            </a:r>
          </a:p>
          <a:p>
            <a:r>
              <a:rPr lang="en-US" altLang="en-US" sz="2000" dirty="0"/>
              <a:t>What about:</a:t>
            </a:r>
          </a:p>
          <a:p>
            <a:pPr lvl="1"/>
            <a:r>
              <a:rPr lang="en-US" altLang="en-US" sz="2000" dirty="0"/>
              <a:t>Car </a:t>
            </a:r>
          </a:p>
          <a:p>
            <a:pPr lvl="1"/>
            <a:r>
              <a:rPr lang="en-US" altLang="en-US" sz="2000" dirty="0"/>
              <a:t>Airplane</a:t>
            </a:r>
          </a:p>
          <a:p>
            <a:pPr lvl="1"/>
            <a:r>
              <a:rPr lang="en-US" altLang="en-US" sz="2000" dirty="0"/>
              <a:t>Printer</a:t>
            </a:r>
          </a:p>
          <a:p>
            <a:pPr lvl="1"/>
            <a:r>
              <a:rPr lang="en-US" altLang="en-US" sz="2000" dirty="0"/>
              <a:t>Washing Machine</a:t>
            </a:r>
          </a:p>
          <a:p>
            <a:pPr lvl="1"/>
            <a:r>
              <a:rPr lang="en-US" altLang="en-US" sz="2000" dirty="0"/>
              <a:t>Toaster</a:t>
            </a:r>
          </a:p>
          <a:p>
            <a:pPr lvl="1"/>
            <a:r>
              <a:rPr lang="en-US" altLang="en-US" sz="2000" dirty="0"/>
              <a:t>Compiler</a:t>
            </a:r>
          </a:p>
          <a:p>
            <a:pPr lvl="1"/>
            <a:r>
              <a:rPr lang="en-US" altLang="en-US" sz="2000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132303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AAE997-54FD-41EF-972D-B4CCB9B189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39702" y="198438"/>
            <a:ext cx="734709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an Operating System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36D9CA-D38B-456F-A12D-3CBF399EED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23014" y="1085481"/>
            <a:ext cx="7963786" cy="4666733"/>
          </a:xfrm>
        </p:spPr>
        <p:txBody>
          <a:bodyPr/>
          <a:lstStyle/>
          <a:p>
            <a:r>
              <a:rPr lang="en-US" altLang="en-US" sz="2000" dirty="0"/>
              <a:t>A program that acts as an intermediary between a user of a computer and the computer hardware, including the following functions</a:t>
            </a:r>
          </a:p>
          <a:p>
            <a:pPr lvl="1"/>
            <a:r>
              <a:rPr lang="en-US" altLang="en-US" sz="2000" dirty="0"/>
              <a:t>Process management</a:t>
            </a:r>
          </a:p>
          <a:p>
            <a:pPr lvl="1"/>
            <a:r>
              <a:rPr lang="en-US" altLang="en-US" sz="2000" dirty="0"/>
              <a:t>Memory management</a:t>
            </a:r>
          </a:p>
          <a:p>
            <a:pPr lvl="1"/>
            <a:r>
              <a:rPr lang="en-US" altLang="en-US" sz="2000" dirty="0"/>
              <a:t>File management</a:t>
            </a:r>
          </a:p>
          <a:p>
            <a:pPr lvl="1"/>
            <a:r>
              <a:rPr lang="en-US" altLang="en-US" sz="2000" dirty="0"/>
              <a:t>I/O management</a:t>
            </a:r>
          </a:p>
          <a:p>
            <a:endParaRPr lang="en-US" altLang="en-US" sz="2000" dirty="0"/>
          </a:p>
          <a:p>
            <a:r>
              <a:rPr lang="en-US" altLang="en-US" sz="2000" dirty="0"/>
              <a:t>Operating system goals</a:t>
            </a:r>
          </a:p>
          <a:p>
            <a:pPr lvl="1"/>
            <a:r>
              <a:rPr lang="en-US" altLang="en-US" dirty="0"/>
              <a:t>Execute user programs and make the solving of user problems easier</a:t>
            </a:r>
          </a:p>
          <a:p>
            <a:pPr lvl="1"/>
            <a:r>
              <a:rPr lang="en-US" altLang="en-US" dirty="0"/>
              <a:t>Make the computer system convenient to use</a:t>
            </a:r>
          </a:p>
          <a:p>
            <a:pPr lvl="1"/>
            <a:r>
              <a:rPr lang="en-US" altLang="en-US" dirty="0"/>
              <a:t>Use the computer hardware in an efficient manner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A1BED6-5944-4DA0-B6E3-EB3BCCB8AC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201613"/>
            <a:ext cx="75326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Structure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7EAB00C-F0C3-EAE1-AB6B-103BCF2A6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135" y="4039412"/>
            <a:ext cx="3625701" cy="2570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3">
            <a:extLst>
              <a:ext uri="{FF2B5EF4-FFF2-40B4-BE49-F238E27FC236}">
                <a16:creationId xmlns:a16="http://schemas.microsoft.com/office/drawing/2014/main" id="{DA4DDCE4-1C30-412E-839F-FB2BB84F3F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71870" y="832773"/>
            <a:ext cx="7702218" cy="32075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Computer system can be divided into four components: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Hardware – provides basic computing resources</a:t>
            </a:r>
          </a:p>
          <a:p>
            <a:pPr lvl="2">
              <a:spcBef>
                <a:spcPts val="0"/>
              </a:spcBef>
            </a:pPr>
            <a:r>
              <a:rPr lang="en-US" altLang="en-US" dirty="0"/>
              <a:t>CPU, memory, I/O devices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Operating system</a:t>
            </a:r>
          </a:p>
          <a:p>
            <a:pPr lvl="2">
              <a:spcBef>
                <a:spcPts val="0"/>
              </a:spcBef>
            </a:pPr>
            <a:r>
              <a:rPr lang="en-US" altLang="en-US" dirty="0"/>
              <a:t>Controls and coordinates use of hardware among various applications and users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Application programs – define the ways in which the system resources are used to solve the computing problems of the users</a:t>
            </a:r>
          </a:p>
          <a:p>
            <a:pPr lvl="2">
              <a:spcBef>
                <a:spcPts val="0"/>
              </a:spcBef>
            </a:pPr>
            <a:r>
              <a:rPr lang="en-US" altLang="en-US" dirty="0"/>
              <a:t>Word processors, compilers, web browsers, database systems, video games, etc.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Users - People, machines, other computers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69E77BD-F295-4D5C-88FB-9C1F0C2DF6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126413" cy="576262"/>
          </a:xfrm>
        </p:spPr>
        <p:txBody>
          <a:bodyPr/>
          <a:lstStyle/>
          <a:p>
            <a:r>
              <a:rPr lang="en-US" altLang="en-US" dirty="0"/>
              <a:t>What Operating Systems Do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CFEE02D0-0B66-42F3-A811-C29D1CE4B68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42260" y="1010092"/>
            <a:ext cx="8431619" cy="489097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Depends on the point of view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Users want convenience,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ease of use </a:t>
            </a:r>
            <a:r>
              <a:rPr lang="en-US" altLang="en-US" sz="2000" dirty="0">
                <a:latin typeface="+mn-ea"/>
                <a:ea typeface="+mn-ea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good performance 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latin typeface="+mn-ea"/>
                <a:ea typeface="+mn-ea"/>
              </a:rPr>
              <a:t>Don</a:t>
            </a:r>
            <a:r>
              <a:rPr lang="ja-JP" altLang="en-US" dirty="0">
                <a:latin typeface="+mn-ea"/>
                <a:ea typeface="+mn-ea"/>
              </a:rPr>
              <a:t>’</a:t>
            </a:r>
            <a:r>
              <a:rPr lang="en-US" altLang="ja-JP" dirty="0">
                <a:latin typeface="+mn-ea"/>
                <a:ea typeface="+mn-ea"/>
              </a:rPr>
              <a:t>t care about </a:t>
            </a:r>
            <a:r>
              <a:rPr lang="en-US" altLang="ja-JP" b="1" dirty="0">
                <a:solidFill>
                  <a:srgbClr val="006699"/>
                </a:solidFill>
                <a:latin typeface="+mn-ea"/>
                <a:ea typeface="+mn-ea"/>
              </a:rPr>
              <a:t>resource utilization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The shared computer such as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mainframe</a:t>
            </a:r>
            <a:r>
              <a:rPr lang="en-US" altLang="en-US" sz="2000" dirty="0">
                <a:latin typeface="+mn-ea"/>
                <a:ea typeface="+mn-ea"/>
              </a:rPr>
              <a:t> or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minicomputer</a:t>
            </a:r>
            <a:r>
              <a:rPr lang="en-US" altLang="en-US" sz="2000" dirty="0">
                <a:latin typeface="+mn-ea"/>
                <a:ea typeface="+mn-ea"/>
              </a:rPr>
              <a:t> must keep all users happy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latin typeface="+mn-ea"/>
                <a:ea typeface="+mn-ea"/>
              </a:rPr>
              <a:t>OS is a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resource allocator </a:t>
            </a:r>
            <a:r>
              <a:rPr lang="en-US" altLang="en-US" dirty="0">
                <a:latin typeface="+mn-ea"/>
                <a:ea typeface="+mn-ea"/>
              </a:rPr>
              <a:t>and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control program </a:t>
            </a:r>
            <a:r>
              <a:rPr lang="en-US" altLang="en-US" dirty="0">
                <a:latin typeface="+mn-ea"/>
                <a:ea typeface="+mn-ea"/>
              </a:rPr>
              <a:t>making efficient use of HW and managing execution of user programs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Users of dedicate systems such as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workstations</a:t>
            </a:r>
            <a:r>
              <a:rPr lang="en-US" altLang="en-US" sz="2000" dirty="0">
                <a:latin typeface="+mn-ea"/>
                <a:ea typeface="+mn-ea"/>
              </a:rPr>
              <a:t> have dedicated resources but frequently use shared resources from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servers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+mn-ea"/>
                <a:ea typeface="+mn-ea"/>
              </a:rPr>
              <a:t>Mobile devices like smartphones and tablets are resource poor,  optimized for usability and battery life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solidFill>
                  <a:srgbClr val="000000"/>
                </a:solidFill>
                <a:latin typeface="+mn-ea"/>
                <a:ea typeface="+mn-ea"/>
              </a:rPr>
              <a:t>Mobile user interfaces such as touch screens, voice recognition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+mn-ea"/>
                <a:ea typeface="+mn-ea"/>
              </a:rPr>
              <a:t>Some computers have little or no user interface, such as embedded computers in devices and automobiles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solidFill>
                  <a:srgbClr val="000000"/>
                </a:solidFill>
                <a:latin typeface="+mn-ea"/>
                <a:ea typeface="+mn-ea"/>
              </a:rPr>
              <a:t>Run primarily without user intervention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ED09A12-D842-4736-945B-046894987E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75326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</a:t>
            </a:r>
            <a:r>
              <a:rPr kumimoji="1" lang="en-US" altLang="en-US" dirty="0"/>
              <a:t>st</a:t>
            </a:r>
            <a:r>
              <a:rPr lang="en-US" altLang="en-US" dirty="0"/>
              <a:t>em Definition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BF6D041-5778-4E18-B7CE-FFE8B9C424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9972" y="946296"/>
            <a:ext cx="7814932" cy="4965406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No universally accepted definition</a:t>
            </a:r>
          </a:p>
          <a:p>
            <a:pPr lvl="1"/>
            <a:r>
              <a:rPr lang="en-US" altLang="ja-JP" sz="2000" dirty="0">
                <a:latin typeface="+mn-ea"/>
                <a:ea typeface="+mn-ea"/>
              </a:rPr>
              <a:t>Everything a vendor ships when you order an operating system is a good approximation, b</a:t>
            </a:r>
            <a:r>
              <a:rPr lang="en-US" altLang="en-US" sz="2000" dirty="0">
                <a:latin typeface="+mn-ea"/>
                <a:ea typeface="+mn-ea"/>
              </a:rPr>
              <a:t>ut varies wildly</a:t>
            </a:r>
          </a:p>
          <a:p>
            <a:r>
              <a:rPr lang="en-US" altLang="ja-JP" sz="2000" dirty="0">
                <a:latin typeface="+mn-ea"/>
                <a:ea typeface="+mn-ea"/>
              </a:rPr>
              <a:t>The one program running at all times on the computer is the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</a:rPr>
              <a:t>kernel, </a:t>
            </a:r>
            <a:r>
              <a:rPr lang="en-US" altLang="ja-JP" sz="2000" dirty="0">
                <a:latin typeface="+mn-ea"/>
                <a:ea typeface="+mn-ea"/>
              </a:rPr>
              <a:t>part of the operating system</a:t>
            </a:r>
          </a:p>
          <a:p>
            <a:r>
              <a:rPr lang="en-US" altLang="ja-JP" sz="2000" dirty="0">
                <a:latin typeface="+mn-ea"/>
                <a:ea typeface="+mn-ea"/>
              </a:rPr>
              <a:t>Everything else is either</a:t>
            </a:r>
          </a:p>
          <a:p>
            <a:pPr lvl="1"/>
            <a:r>
              <a:rPr lang="en-US" altLang="ja-JP" sz="2000" dirty="0">
                <a:latin typeface="+mn-ea"/>
                <a:ea typeface="+mn-ea"/>
              </a:rPr>
              <a:t>A </a:t>
            </a:r>
            <a:r>
              <a:rPr lang="en-US" altLang="ja-JP" sz="2000" b="1" i="1" dirty="0">
                <a:solidFill>
                  <a:srgbClr val="006699"/>
                </a:solidFill>
                <a:latin typeface="+mn-ea"/>
                <a:ea typeface="+mn-ea"/>
              </a:rPr>
              <a:t>system program</a:t>
            </a:r>
            <a:r>
              <a:rPr lang="en-US" altLang="ja-JP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ja-JP" sz="2000" dirty="0">
                <a:latin typeface="+mn-ea"/>
                <a:ea typeface="+mn-ea"/>
              </a:rPr>
              <a:t>(ships with the operating system, but not part of the kernel) , or</a:t>
            </a:r>
          </a:p>
          <a:p>
            <a:pPr lvl="1"/>
            <a:r>
              <a:rPr lang="en-US" altLang="ja-JP" sz="2000" dirty="0">
                <a:latin typeface="+mn-ea"/>
                <a:ea typeface="+mn-ea"/>
              </a:rPr>
              <a:t>An </a:t>
            </a:r>
            <a:r>
              <a:rPr lang="en-US" altLang="ja-JP" sz="2000" b="1" i="1" dirty="0">
                <a:solidFill>
                  <a:srgbClr val="006699"/>
                </a:solidFill>
                <a:latin typeface="+mn-ea"/>
                <a:ea typeface="+mn-ea"/>
              </a:rPr>
              <a:t>application program</a:t>
            </a:r>
            <a:r>
              <a:rPr lang="en-US" altLang="ja-JP" sz="2000" dirty="0">
                <a:latin typeface="+mn-ea"/>
                <a:ea typeface="+mn-ea"/>
              </a:rPr>
              <a:t>, all programs not associated with the operating system</a:t>
            </a:r>
          </a:p>
          <a:p>
            <a:r>
              <a:rPr lang="en-US" altLang="en-US" sz="2000" dirty="0">
                <a:latin typeface="+mn-ea"/>
                <a:ea typeface="+mn-ea"/>
              </a:rPr>
              <a:t>Today’s OSes for general purpose and mobile computing also include </a:t>
            </a:r>
            <a:r>
              <a:rPr lang="en-US" altLang="en-US" sz="2000" b="1" i="1" dirty="0">
                <a:solidFill>
                  <a:srgbClr val="006699"/>
                </a:solidFill>
                <a:latin typeface="+mn-ea"/>
                <a:ea typeface="+mn-ea"/>
              </a:rPr>
              <a:t>middleware</a:t>
            </a:r>
            <a:r>
              <a:rPr lang="en-US" altLang="en-US" sz="2000" dirty="0">
                <a:latin typeface="+mn-ea"/>
                <a:ea typeface="+mn-ea"/>
              </a:rPr>
              <a:t> – a set of software frameworks that provide additional services to application developers such as databases, multimedia, graphics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0E04BB2-CAE4-47E7-A8ED-B827B1313F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8363" y="214313"/>
            <a:ext cx="763905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Organization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74700" y="1031468"/>
            <a:ext cx="7837672" cy="1865312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Computer-system operation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One or more CPUs, device controllers connect through common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bus</a:t>
            </a:r>
            <a:r>
              <a:rPr lang="en-US" altLang="en-US" sz="2000" dirty="0">
                <a:latin typeface="+mn-ea"/>
                <a:ea typeface="+mn-ea"/>
              </a:rPr>
              <a:t> providing access to shared memory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Concurrent execution of CPUs and devices competing for memory cycles</a:t>
            </a:r>
          </a:p>
          <a:p>
            <a:pPr lvl="1"/>
            <a:endParaRPr lang="en-US" altLang="en-US" sz="2000" dirty="0">
              <a:latin typeface="+mn-ea"/>
              <a:ea typeface="+mn-ea"/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D0CB787C-9399-460E-B386-5CC6E671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026" y="3098800"/>
            <a:ext cx="621665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633364A-2762-4B99-8AB9-6D18C2AFCC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20663"/>
            <a:ext cx="760571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Computer-System Operations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864A599-FF25-49B5-8AA3-7045B629D1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0462" y="1208089"/>
            <a:ext cx="8176438" cy="3614958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I/O devices and the CPU can execute concurrently</a:t>
            </a:r>
          </a:p>
          <a:p>
            <a:r>
              <a:rPr lang="en-US" altLang="en-US" sz="2000" dirty="0">
                <a:latin typeface="+mn-ea"/>
                <a:ea typeface="+mn-ea"/>
              </a:rPr>
              <a:t>Each device controller is in charge of a particular device type</a:t>
            </a:r>
          </a:p>
          <a:p>
            <a:r>
              <a:rPr lang="en-US" altLang="en-US" sz="2000" dirty="0">
                <a:latin typeface="+mn-ea"/>
                <a:ea typeface="+mn-ea"/>
              </a:rPr>
              <a:t>Each device controller has a local buffer</a:t>
            </a:r>
          </a:p>
          <a:p>
            <a:r>
              <a:rPr lang="en-US" altLang="en-US" sz="2000" dirty="0">
                <a:latin typeface="+mn-ea"/>
                <a:ea typeface="+mn-ea"/>
              </a:rPr>
              <a:t>Each device controller type has an operating system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device driver</a:t>
            </a:r>
            <a:r>
              <a:rPr lang="en-US" altLang="en-US" sz="2000" dirty="0">
                <a:latin typeface="+mn-ea"/>
                <a:ea typeface="+mn-ea"/>
              </a:rPr>
              <a:t> to manage it</a:t>
            </a:r>
          </a:p>
          <a:p>
            <a:r>
              <a:rPr lang="en-US" altLang="en-US" sz="2000" dirty="0">
                <a:latin typeface="+mn-ea"/>
                <a:ea typeface="+mn-ea"/>
              </a:rPr>
              <a:t>CPU moves data from main memory to local buffers and vice versa</a:t>
            </a:r>
          </a:p>
          <a:p>
            <a:r>
              <a:rPr lang="en-US" altLang="en-US" sz="2000" dirty="0">
                <a:latin typeface="+mn-ea"/>
                <a:ea typeface="+mn-ea"/>
              </a:rPr>
              <a:t>I/O is from the device to local buffer of controller</a:t>
            </a:r>
          </a:p>
          <a:p>
            <a:r>
              <a:rPr lang="en-US" altLang="en-US" sz="2000" dirty="0">
                <a:latin typeface="+mn-ea"/>
                <a:ea typeface="+mn-ea"/>
              </a:rPr>
              <a:t>Device controller informs CPU that it has finished its operation by causing an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interrupt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49E83DD-FDA1-45E4-88D0-BF9195BD72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3625" y="215900"/>
            <a:ext cx="7515225" cy="533400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 Handling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D3C56CA-14C9-45EF-B0B3-BE810695D0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978302"/>
            <a:ext cx="7772400" cy="4736698"/>
          </a:xfrm>
        </p:spPr>
        <p:txBody>
          <a:bodyPr/>
          <a:lstStyle/>
          <a:p>
            <a:r>
              <a:rPr lang="en-US" altLang="en-US" sz="2000" dirty="0"/>
              <a:t>The operating system preserves the state of the CPU by storing the registers and the program counter</a:t>
            </a:r>
          </a:p>
          <a:p>
            <a:r>
              <a:rPr lang="en-US" altLang="en-US" sz="2000" dirty="0"/>
              <a:t>Determines which type of interrupt has occurred</a:t>
            </a:r>
          </a:p>
          <a:p>
            <a:r>
              <a:rPr lang="en-US" altLang="en-US" sz="2000" dirty="0"/>
              <a:t>Separate segments of code determine what action should be taken for each type of interrupt</a:t>
            </a:r>
          </a:p>
          <a:p>
            <a:r>
              <a:rPr lang="en-US" altLang="en-US" sz="2000" dirty="0">
                <a:latin typeface="+mn-ea"/>
              </a:rPr>
              <a:t>Interrupt transfers control to the interrupt service routine generally, through the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interrupt vector</a:t>
            </a:r>
            <a:r>
              <a:rPr lang="en-US" altLang="en-US" sz="2000" dirty="0">
                <a:latin typeface="+mn-ea"/>
              </a:rPr>
              <a:t>, which contains the addresses of all the service routines</a:t>
            </a:r>
          </a:p>
          <a:p>
            <a:r>
              <a:rPr lang="en-US" altLang="en-US" sz="2000" dirty="0">
                <a:latin typeface="+mn-ea"/>
              </a:rPr>
              <a:t>Interrupt architecture must save the address of the interrupted instruction</a:t>
            </a:r>
            <a:endParaRPr lang="en-US" altLang="en-US" sz="2000" i="1" dirty="0">
              <a:latin typeface="+mn-ea"/>
            </a:endParaRPr>
          </a:p>
          <a:p>
            <a:r>
              <a:rPr lang="en-US" altLang="en-US" sz="2000" dirty="0">
                <a:latin typeface="+mn-ea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trap</a:t>
            </a:r>
            <a:r>
              <a:rPr lang="en-US" altLang="en-US" sz="2000" dirty="0">
                <a:latin typeface="+mn-ea"/>
              </a:rPr>
              <a:t> or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exception </a:t>
            </a:r>
            <a:r>
              <a:rPr lang="en-US" altLang="en-US" sz="2000" dirty="0">
                <a:latin typeface="+mn-ea"/>
              </a:rPr>
              <a:t>is a software-generated interrupt caused either by an error or a user request</a:t>
            </a:r>
          </a:p>
          <a:p>
            <a:r>
              <a:rPr lang="en-US" altLang="en-US" sz="2000" dirty="0">
                <a:latin typeface="+mn-ea"/>
              </a:rPr>
              <a:t>An operating system is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interrupt driven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378DBB6-3E76-4D5D-BCF4-7322E5DC03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1168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Interrupt-Drive I/O Cycle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E86048AC-75FB-4CAE-AB8A-81F852B9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117" y="925286"/>
            <a:ext cx="5632608" cy="555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C952A8-C6F2-4247-AAA6-A0FD865283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725"/>
            <a:ext cx="8099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Structure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0AB73B-055F-4D5D-997B-F04836742E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59143" y="1020724"/>
            <a:ext cx="7440575" cy="51461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Two methods for I/O handling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Synchronous - After I/O starts, control returns to user program only upon I/O completion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Wait instruction idles the CPU until the next interrupt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Wait loop (contention for memory access)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At most one I/O request is outstanding at a time, no simultaneous I/O processing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Asynchronous - After I/O starts, control returns to user program without waiting for I/O completion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System call </a:t>
            </a:r>
            <a:r>
              <a:rPr lang="en-US" altLang="en-US" dirty="0">
                <a:latin typeface="+mn-ea"/>
                <a:ea typeface="+mn-ea"/>
              </a:rPr>
              <a:t>– request to the OS to allow user to wait for I/O completion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Device-status table </a:t>
            </a:r>
            <a:r>
              <a:rPr lang="en-US" altLang="en-US" dirty="0">
                <a:latin typeface="+mn-ea"/>
                <a:ea typeface="+mn-ea"/>
              </a:rPr>
              <a:t>contains entry for each I/O device indicating its type, address, and state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OS indexes into I/O device table to determine device status and to modify table entry to include interrupt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96D48A8-E934-4737-801F-5300BF99F5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Startup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671F379-5298-4D0E-A99C-F90AC46109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23017" y="988933"/>
            <a:ext cx="7882503" cy="4477147"/>
          </a:xfrm>
        </p:spPr>
        <p:txBody>
          <a:bodyPr/>
          <a:lstStyle/>
          <a:p>
            <a:r>
              <a:rPr lang="en-US" altLang="zh-CN" sz="2000" b="1" dirty="0">
                <a:solidFill>
                  <a:srgbClr val="0070C0"/>
                </a:solidFill>
                <a:latin typeface="+mn-ea"/>
                <a:ea typeface="+mn-ea"/>
              </a:rPr>
              <a:t>Bootstrap loader (Bootloader) </a:t>
            </a:r>
            <a:r>
              <a:rPr lang="en-US" altLang="zh-CN" sz="2000" dirty="0">
                <a:latin typeface="+mn-ea"/>
                <a:ea typeface="+mn-ea"/>
              </a:rPr>
              <a:t>– A</a:t>
            </a:r>
            <a:r>
              <a:rPr lang="en-US" altLang="zh-CN" sz="2000" dirty="0"/>
              <a:t> fundamental computer program responsible for initiating the boot process of a computer and loading the operating system </a:t>
            </a:r>
          </a:p>
          <a:p>
            <a:pPr lvl="1"/>
            <a:r>
              <a:rPr lang="en-US" altLang="zh-CN" sz="2000" dirty="0">
                <a:latin typeface="+mn-ea"/>
                <a:ea typeface="+mn-ea"/>
              </a:rPr>
              <a:t>A small program that places the operating system of a computer into memory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Typically stored in ROM or EPROM, generally known as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firmware</a:t>
            </a:r>
          </a:p>
          <a:p>
            <a:pPr lvl="1"/>
            <a:r>
              <a:rPr lang="en-US" altLang="zh-CN" dirty="0">
                <a:latin typeface="+mn-ea"/>
                <a:ea typeface="+mn-ea"/>
              </a:rPr>
              <a:t>When a computer powers up or restarts, the BIOS performs some initial tests and then transfers control to the master book record, where the bootstrap loader resides </a:t>
            </a:r>
          </a:p>
          <a:p>
            <a:pPr lvl="3">
              <a:buClr>
                <a:srgbClr val="FF0000"/>
              </a:buClr>
            </a:pPr>
            <a:r>
              <a:rPr lang="en-US" altLang="en-US" dirty="0">
                <a:latin typeface="+mn-ea"/>
                <a:ea typeface="+mn-ea"/>
              </a:rPr>
              <a:t>Initialize all aspects of a system</a:t>
            </a:r>
          </a:p>
          <a:p>
            <a:pPr lvl="3">
              <a:buClr>
                <a:srgbClr val="FF0000"/>
              </a:buClr>
            </a:pPr>
            <a:r>
              <a:rPr lang="en-US" altLang="en-US" dirty="0">
                <a:latin typeface="+mn-ea"/>
                <a:ea typeface="+mn-ea"/>
              </a:rPr>
              <a:t>Load and execute operating system kernel</a:t>
            </a:r>
          </a:p>
          <a:p>
            <a:pPr lvl="1"/>
            <a:r>
              <a:rPr lang="en-US" altLang="zh-CN" dirty="0">
                <a:latin typeface="+mn-ea"/>
                <a:ea typeface="+mn-ea"/>
              </a:rPr>
              <a:t>Most new computers ship with boot loaders for some version of Windows or macOS</a:t>
            </a:r>
            <a:endParaRPr lang="en-US" altLang="zh-CN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0568288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 (1)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1687" y="1143002"/>
            <a:ext cx="7735887" cy="341836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Main memory – only large storage media that the CPU can access directly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Random access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Volatile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In the form of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Dynamic Random-Access Memory (DRAM)</a:t>
            </a:r>
          </a:p>
          <a:p>
            <a:r>
              <a:rPr lang="en-US" altLang="en-US" sz="2000" dirty="0">
                <a:latin typeface="+mn-ea"/>
                <a:ea typeface="+mn-ea"/>
              </a:rPr>
              <a:t>Secondary storage – extension of main memory that provides large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nonvolatile </a:t>
            </a:r>
            <a:r>
              <a:rPr lang="en-US" altLang="en-US" sz="2000" dirty="0">
                <a:latin typeface="+mn-ea"/>
                <a:ea typeface="+mn-ea"/>
              </a:rPr>
              <a:t>storage capacity</a:t>
            </a:r>
          </a:p>
        </p:txBody>
      </p:sp>
    </p:spTree>
    <p:extLst>
      <p:ext uri="{BB962C8B-B14F-4D97-AF65-F5344CB8AC3E}">
        <p14:creationId xmlns:p14="http://schemas.microsoft.com/office/powerpoint/2010/main" val="1975106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 (2)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63599" y="1099455"/>
            <a:ext cx="7673975" cy="409230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Hard Disk Drives 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HDD</a:t>
            </a:r>
            <a:r>
              <a:rPr lang="en-US" altLang="en-US" sz="2000" dirty="0">
                <a:latin typeface="+mn-ea"/>
                <a:ea typeface="+mn-ea"/>
              </a:rPr>
              <a:t>) – rigid metal or glass platters covered with magnetic recording material 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Disk surface is logically divided into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 tracks</a:t>
            </a:r>
            <a:r>
              <a:rPr lang="en-US" altLang="en-US" sz="2000" dirty="0">
                <a:latin typeface="+mn-ea"/>
                <a:ea typeface="+mn-ea"/>
              </a:rPr>
              <a:t>, which are subdivided into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sectors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The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disk controller </a:t>
            </a:r>
            <a:r>
              <a:rPr lang="en-US" altLang="en-US" sz="2000" dirty="0">
                <a:latin typeface="+mn-ea"/>
                <a:ea typeface="+mn-ea"/>
              </a:rPr>
              <a:t>determines the logical interaction between the device and the computer 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Non-volatile memory</a:t>
            </a:r>
            <a:r>
              <a:rPr lang="en-US" altLang="en-US" sz="2000" dirty="0">
                <a:latin typeface="+mn-ea"/>
                <a:ea typeface="+mn-ea"/>
              </a:rPr>
              <a:t> 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NVM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devices– faster than hard disks, nonvolatile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Various technologies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Become more popular as capacity and performance increases, price drops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>
            <a:extLst>
              <a:ext uri="{FF2B5EF4-FFF2-40B4-BE49-F238E27FC236}">
                <a16:creationId xmlns:a16="http://schemas.microsoft.com/office/drawing/2014/main" id="{9399C31D-3B45-4819-86D3-3562EEC74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7738" y="203200"/>
            <a:ext cx="7851775" cy="576263"/>
          </a:xfrm>
        </p:spPr>
        <p:txBody>
          <a:bodyPr/>
          <a:lstStyle/>
          <a:p>
            <a:r>
              <a:rPr lang="en-US" altLang="en-US" sz="3000"/>
              <a:t>Storage Definitions and Notation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C8D8D-292B-2943-B449-B924F9BB88F3}"/>
              </a:ext>
            </a:extLst>
          </p:cNvPr>
          <p:cNvSpPr/>
          <p:nvPr/>
        </p:nvSpPr>
        <p:spPr bwMode="auto">
          <a:xfrm>
            <a:off x="806755" y="896422"/>
            <a:ext cx="7530489" cy="5344890"/>
          </a:xfrm>
          <a:prstGeom prst="rect">
            <a:avLst/>
          </a:prstGeom>
          <a:solidFill>
            <a:srgbClr val="CEEB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basic unit of computer storage is the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bit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A bit can contain one of two 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values, 0 and 1. All other storage in a computer is based on collections of bits.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Given enough bits, it is amazing how many things a computer can represent: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numbers, letters, images, movies, sounds, documents, and programs, to name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few.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is 8 bits, and on most computers it is the smallest convenient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chunk of storage. For example, most computers don’t have an instruction to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move a bit but do have one to move a byte. A less common term is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word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which is a given computer architecture’s native unit of data. A word is made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 of one or more bytes. For example, a computer that has 64-bit registers and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64-bit memory addressing typically has 64-bit (8-byte) words. A computer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executes many operations in its native word size rather than a byte at a time.</a:t>
            </a:r>
          </a:p>
          <a:p>
            <a:pPr algn="just">
              <a:defRPr/>
            </a:pPr>
            <a:endParaRPr lang="en-US" sz="17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Computer storage, along with most computer throughput, is generally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measured and manipulated in bytes and collections of bytes.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kilobyte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KB , is 1,024 bytes;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megabyte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 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 bytes;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gigabyte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 bytes;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terabyte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 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 bytes; and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petabyte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 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bytes. Computer manufacturers often round off these numbers and say that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megabyte is 1 million bytes and a gigabyte is 1 billion bytes. Networking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measurements are an exception to this general rule; they are given in bits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(because networks move data a bit at a time).</a:t>
            </a:r>
          </a:p>
          <a:p>
            <a:pPr>
              <a:defRPr/>
            </a:pPr>
            <a:endParaRPr lang="en-US" sz="17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1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0644225-21A8-4691-99DE-5A23AE5833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211138"/>
            <a:ext cx="7661275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Hierarchy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703547F-8757-4059-B0DB-0941113BB6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87730" y="1124628"/>
            <a:ext cx="7463790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Storage systems organized in hierarchy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Speed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Cost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Volatility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Caching</a:t>
            </a:r>
            <a:r>
              <a:rPr lang="en-US" altLang="en-US" sz="2000" dirty="0">
                <a:latin typeface="+mn-ea"/>
                <a:ea typeface="+mn-ea"/>
              </a:rPr>
              <a:t> – Copy information into faster storage system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Main memory can be viewed as a cache for secondary storage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Device Driver </a:t>
            </a:r>
            <a:r>
              <a:rPr lang="en-US" altLang="en-US" sz="2000" dirty="0">
                <a:latin typeface="+mn-ea"/>
                <a:ea typeface="+mn-ea"/>
              </a:rPr>
              <a:t>for each device controller to manage I/O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Provide uniform interface between controller and kernel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C8143CB-221D-4E46-ACB1-F240385D00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126413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Storage-Device Hierarchy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96241ED2-B618-4D08-8846-8009538A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1455738"/>
            <a:ext cx="7483475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C0638B96-DF2B-4D8C-9A35-46ABC3264B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5025" y="212725"/>
            <a:ext cx="7702550" cy="576263"/>
          </a:xfrm>
        </p:spPr>
        <p:txBody>
          <a:bodyPr/>
          <a:lstStyle/>
          <a:p>
            <a:r>
              <a:rPr lang="en-US" altLang="en-US"/>
              <a:t>How a Modern Computer Works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36EBA43-3FCE-8A5C-C6D3-7455B3687B45}"/>
              </a:ext>
            </a:extLst>
          </p:cNvPr>
          <p:cNvGrpSpPr/>
          <p:nvPr/>
        </p:nvGrpSpPr>
        <p:grpSpPr>
          <a:xfrm>
            <a:off x="1978025" y="1352550"/>
            <a:ext cx="5122863" cy="4553010"/>
            <a:chOff x="1978025" y="1352550"/>
            <a:chExt cx="5122863" cy="4553010"/>
          </a:xfrm>
        </p:grpSpPr>
        <p:sp>
          <p:nvSpPr>
            <p:cNvPr id="44035" name="TextBox 3">
              <a:extLst>
                <a:ext uri="{FF2B5EF4-FFF2-40B4-BE49-F238E27FC236}">
                  <a16:creationId xmlns:a16="http://schemas.microsoft.com/office/drawing/2014/main" id="{07234D76-D26C-4251-8F66-89C4244B1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646" y="5505450"/>
              <a:ext cx="38915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Verdana" panose="020B0604030504040204" pitchFamily="34" charset="0"/>
                </a:rPr>
                <a:t>A Von Neumann architecture</a:t>
              </a:r>
            </a:p>
          </p:txBody>
        </p:sp>
        <p:pic>
          <p:nvPicPr>
            <p:cNvPr id="44036" name="Picture 2">
              <a:extLst>
                <a:ext uri="{FF2B5EF4-FFF2-40B4-BE49-F238E27FC236}">
                  <a16:creationId xmlns:a16="http://schemas.microsoft.com/office/drawing/2014/main" id="{BDD5B21A-1DF1-4FBF-8A3A-8CDE974C3C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8025" y="1352550"/>
              <a:ext cx="5122863" cy="408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F26148-599A-4FED-894F-9887604055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0763" y="212725"/>
            <a:ext cx="7553325" cy="576263"/>
          </a:xfrm>
        </p:spPr>
        <p:txBody>
          <a:bodyPr/>
          <a:lstStyle/>
          <a:p>
            <a:pPr eaLnBrk="1" hangingPunct="1"/>
            <a:r>
              <a:rPr lang="en-US" altLang="en-US"/>
              <a:t>Direct Memory Access Structure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24405CB-DFA7-47F8-A3F1-1424947399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084630"/>
            <a:ext cx="7767638" cy="2195512"/>
          </a:xfrm>
        </p:spPr>
        <p:txBody>
          <a:bodyPr/>
          <a:lstStyle/>
          <a:p>
            <a:r>
              <a:rPr lang="en-US" altLang="en-US" sz="2000" dirty="0"/>
              <a:t>Used for high-speed I/O devices able to transmit information at close to memory speeds</a:t>
            </a:r>
          </a:p>
          <a:p>
            <a:r>
              <a:rPr lang="en-US" altLang="en-US" sz="2000" dirty="0"/>
              <a:t>Device controller transfers blocks of data from buffer storage directly to main memory without CPU intervention</a:t>
            </a:r>
          </a:p>
          <a:p>
            <a:r>
              <a:rPr lang="en-US" altLang="en-US" sz="2000" dirty="0"/>
              <a:t>Only one interrupt is generated per block, rather than the one interrupt per byte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1B55AAF-FB23-6662-C1D4-12813770E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821" y="3468307"/>
            <a:ext cx="4001179" cy="28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93F34F-C9FD-4545-B67F-0AFEB04F0A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350" y="195263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Operations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CA3B3A3-4D5F-45EB-B9C7-25CB392E86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052623"/>
            <a:ext cx="7670800" cy="364696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Bootstrap program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 simple code to initialize the system, and load the kernel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Starts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system daemons </a:t>
            </a:r>
            <a:r>
              <a:rPr lang="en-US" altLang="en-US" sz="2000" dirty="0">
                <a:latin typeface="+mn-ea"/>
                <a:ea typeface="+mn-ea"/>
              </a:rPr>
              <a:t>(services provided outside of the kernel)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Kernel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interrupt driven </a:t>
            </a:r>
            <a:r>
              <a:rPr lang="en-US" altLang="en-US" sz="2000" dirty="0">
                <a:latin typeface="+mn-ea"/>
                <a:ea typeface="+mn-ea"/>
              </a:rPr>
              <a:t>(hardware and software)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Hardware interrupt by one of the devices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Software interrupt (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exception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or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trap</a:t>
            </a:r>
            <a:r>
              <a:rPr lang="en-US" altLang="en-US" dirty="0">
                <a:latin typeface="+mn-ea"/>
                <a:ea typeface="+mn-ea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+mn-ea"/>
                <a:ea typeface="+mn-ea"/>
              </a:rPr>
              <a:t>Software error (e.g., division by zero)</a:t>
            </a:r>
            <a:endParaRPr lang="en-US" altLang="en-US" sz="16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+mn-ea"/>
                <a:ea typeface="+mn-ea"/>
              </a:rPr>
              <a:t>Request for operating system service – </a:t>
            </a:r>
            <a:r>
              <a:rPr lang="en-US" altLang="en-US" sz="1600" b="1" dirty="0">
                <a:solidFill>
                  <a:srgbClr val="006699"/>
                </a:solidFill>
                <a:latin typeface="+mn-ea"/>
                <a:ea typeface="+mn-ea"/>
              </a:rPr>
              <a:t>system call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+mn-ea"/>
                <a:ea typeface="+mn-ea"/>
              </a:rPr>
              <a:t>Other process problems include infinite loop, processes modifying each other or the operating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Multiprogramming (Batch System)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031358"/>
            <a:ext cx="7616825" cy="256244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Single user cannot always keep CPU and I/O devices busy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Multiprogramming organizes jobs (code and data) so CPU always has one to execute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A subset of total jobs in system is kept in memory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One job selected and run via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job scheduling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When job has to wait (for I/O for example), OS switches to another job</a:t>
            </a:r>
          </a:p>
        </p:txBody>
      </p:sp>
    </p:spTree>
    <p:extLst>
      <p:ext uri="{BB962C8B-B14F-4D97-AF65-F5344CB8AC3E}">
        <p14:creationId xmlns:p14="http://schemas.microsoft.com/office/powerpoint/2010/main" val="387765787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(Timesharing)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0789" y="1061366"/>
            <a:ext cx="7862422" cy="411007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 logical extension of Batch systems– the CPU switches jobs so frequently that users can interact with each job while it is running, creating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interactive</a:t>
            </a:r>
            <a:r>
              <a:rPr lang="en-US" altLang="en-US" sz="2000" dirty="0">
                <a:latin typeface="+mn-ea"/>
                <a:ea typeface="+mn-ea"/>
              </a:rPr>
              <a:t> computing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Response time </a:t>
            </a:r>
            <a:r>
              <a:rPr lang="en-US" altLang="en-US" sz="2000" dirty="0">
                <a:latin typeface="+mn-ea"/>
                <a:ea typeface="+mn-ea"/>
              </a:rPr>
              <a:t>should be &lt; 1 second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Each user has at least one program executing in memory </a:t>
            </a:r>
            <a:r>
              <a:rPr lang="en-US" altLang="en-US" sz="2000" dirty="0">
                <a:latin typeface="+mn-ea"/>
                <a:ea typeface="+mn-ea"/>
                <a:sym typeface="Wingdings 3" panose="05040102010807070707" pitchFamily="18" charset="2"/>
              </a:rPr>
              <a:t>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CPU scheduling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  <a:sym typeface="Wingdings 3" panose="05040102010807070707" pitchFamily="18" charset="2"/>
              </a:rPr>
              <a:t>If processes do no</a:t>
            </a:r>
            <a:r>
              <a:rPr lang="en-US" altLang="ja-JP" sz="2000" dirty="0">
                <a:latin typeface="+mn-ea"/>
                <a:ea typeface="+mn-ea"/>
                <a:sym typeface="Wingdings 3" panose="05040102010807070707" pitchFamily="18" charset="2"/>
              </a:rPr>
              <a:t>t fit in memory,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swapping</a:t>
            </a:r>
            <a:r>
              <a:rPr lang="en-US" altLang="ja-JP" sz="2000" dirty="0">
                <a:latin typeface="+mn-ea"/>
                <a:ea typeface="+mn-ea"/>
                <a:sym typeface="Wingdings 3" panose="05040102010807070707" pitchFamily="18" charset="2"/>
              </a:rPr>
              <a:t> moves them in and out to run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Virtual memory </a:t>
            </a:r>
            <a:r>
              <a:rPr lang="en-US" altLang="en-US" sz="2000" dirty="0">
                <a:latin typeface="+mn-ea"/>
                <a:ea typeface="+mn-ea"/>
                <a:sym typeface="Wingdings 3" panose="05040102010807070707" pitchFamily="18" charset="2"/>
              </a:rPr>
              <a:t>allows execution of processes not completely in memory</a:t>
            </a:r>
          </a:p>
        </p:txBody>
      </p:sp>
    </p:spTree>
    <p:extLst>
      <p:ext uri="{BB962C8B-B14F-4D97-AF65-F5344CB8AC3E}">
        <p14:creationId xmlns:p14="http://schemas.microsoft.com/office/powerpoint/2010/main" val="199077126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290B74C-531F-48AF-B9FC-4141DDA686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Memory Layout for Multiprogrammed System</a:t>
            </a:r>
          </a:p>
        </p:txBody>
      </p:sp>
      <p:pic>
        <p:nvPicPr>
          <p:cNvPr id="63491" name="Picture 2">
            <a:extLst>
              <a:ext uri="{FF2B5EF4-FFF2-40B4-BE49-F238E27FC236}">
                <a16:creationId xmlns:a16="http://schemas.microsoft.com/office/drawing/2014/main" id="{3AC87D33-03C5-4AAE-9C92-B651FC40A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633" y="1842136"/>
            <a:ext cx="2672733" cy="4225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D21A6DAA-B45A-D962-7647-E6E74BB95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031358"/>
            <a:ext cx="7616825" cy="38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kern="0" dirty="0"/>
              <a:t>Each process may use different size of memory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866BADE-D230-495A-94F4-5193A1998D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9513" y="19843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Dual-Mode Operation (1)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85FC6BD-4EBE-4675-8C44-D83682A4CA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9781" y="1052624"/>
            <a:ext cx="7378995" cy="321103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</a:rPr>
              <a:t>Dual-mode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</a:rPr>
              <a:t>kernel mode </a:t>
            </a:r>
          </a:p>
          <a:p>
            <a:pPr>
              <a:lnSpc>
                <a:spcPct val="90000"/>
              </a:lnSpc>
            </a:pPr>
            <a:endParaRPr lang="en-US" altLang="en-US" sz="2000" b="1" dirty="0">
              <a:solidFill>
                <a:srgbClr val="006699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</a:rPr>
              <a:t>Mode bit </a:t>
            </a:r>
            <a:r>
              <a:rPr lang="en-US" altLang="en-US" sz="2000" dirty="0"/>
              <a:t>provided by hardware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 distinguish when system is running user code or kernel code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a user is running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“user”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kernel code is executing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“kernel”</a:t>
            </a:r>
          </a:p>
        </p:txBody>
      </p:sp>
    </p:spTree>
    <p:extLst>
      <p:ext uri="{BB962C8B-B14F-4D97-AF65-F5344CB8AC3E}">
        <p14:creationId xmlns:p14="http://schemas.microsoft.com/office/powerpoint/2010/main" val="3654188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 dirty="0"/>
              <a:t>Dual-Mode Operation (2)</a:t>
            </a:r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577B7B49-686A-43F8-AEBF-B723806A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29" y="3054128"/>
            <a:ext cx="8033821" cy="238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7DEC67E-FC90-1292-6E8E-43159DC66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1" y="1031358"/>
            <a:ext cx="7924799" cy="177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dirty="0">
                <a:sym typeface="Wingdings" panose="05000000000000000000" pitchFamily="2" charset="2"/>
              </a:rPr>
              <a:t>How do we guarantee that user does not explicitly set the mode bit to “kernel”?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 call changes mode to kernel, return from call resets it to user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Some instructions designated as </a:t>
            </a:r>
            <a:r>
              <a:rPr lang="en-US" altLang="en-US" sz="2000" b="1" dirty="0">
                <a:solidFill>
                  <a:srgbClr val="006699"/>
                </a:solidFill>
              </a:rPr>
              <a:t>privileged</a:t>
            </a:r>
            <a:r>
              <a:rPr lang="en-US" altLang="en-US" sz="2000" dirty="0"/>
              <a:t>, only executable in kernel mode</a:t>
            </a:r>
          </a:p>
        </p:txBody>
      </p:sp>
    </p:spTree>
    <p:extLst>
      <p:ext uri="{BB962C8B-B14F-4D97-AF65-F5344CB8AC3E}">
        <p14:creationId xmlns:p14="http://schemas.microsoft.com/office/powerpoint/2010/main" val="4218784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 dirty="0"/>
              <a:t>Timer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9297C259-8FFF-444B-B901-A11F92099A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93750" y="1060450"/>
            <a:ext cx="7781925" cy="2817813"/>
          </a:xfrm>
        </p:spPr>
        <p:txBody>
          <a:bodyPr/>
          <a:lstStyle/>
          <a:p>
            <a:r>
              <a:rPr lang="en-US" altLang="en-US" sz="2000" dirty="0"/>
              <a:t>Timer to prevent infinite loop (or process hogging resources)</a:t>
            </a:r>
          </a:p>
          <a:p>
            <a:pPr lvl="1"/>
            <a:r>
              <a:rPr lang="en-US" altLang="en-US" dirty="0"/>
              <a:t>Timer is set to interrupt the computer after some time period</a:t>
            </a:r>
          </a:p>
          <a:p>
            <a:pPr lvl="1"/>
            <a:r>
              <a:rPr lang="en-US" altLang="en-US" dirty="0"/>
              <a:t>Keep a counter that is decremented by the physical clock</a:t>
            </a:r>
          </a:p>
          <a:p>
            <a:pPr lvl="1"/>
            <a:r>
              <a:rPr lang="en-US" altLang="en-US" dirty="0"/>
              <a:t>Operating system set the counter (privileged instruction)</a:t>
            </a:r>
          </a:p>
          <a:p>
            <a:pPr lvl="1"/>
            <a:r>
              <a:rPr lang="en-US" altLang="en-US" dirty="0"/>
              <a:t>When counter zero generate an interrupt</a:t>
            </a:r>
          </a:p>
          <a:p>
            <a:pPr lvl="1"/>
            <a:r>
              <a:rPr lang="en-US" altLang="en-US" dirty="0"/>
              <a:t>Set up before scheduling process to regain control or terminate program that exceeds allotted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11957</TotalTime>
  <Words>1926</Words>
  <Application>Microsoft Office PowerPoint</Application>
  <PresentationFormat>全屏显示(4:3)</PresentationFormat>
  <Paragraphs>204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Helvetica</vt:lpstr>
      <vt:lpstr>Arial</vt:lpstr>
      <vt:lpstr>Times New Roman</vt:lpstr>
      <vt:lpstr>Verdana</vt:lpstr>
      <vt:lpstr>Webdings</vt:lpstr>
      <vt:lpstr>Wingdings</vt:lpstr>
      <vt:lpstr>Wingdings 3</vt:lpstr>
      <vt:lpstr>os-8</vt:lpstr>
      <vt:lpstr>Chapter 1 ： Introduction (1)</vt:lpstr>
      <vt:lpstr>Introduction</vt:lpstr>
      <vt:lpstr>Objectives</vt:lpstr>
      <vt:lpstr>What Does Operating System Mean</vt:lpstr>
      <vt:lpstr>What is an Operating System</vt:lpstr>
      <vt:lpstr>Computer System Structure</vt:lpstr>
      <vt:lpstr>What Operating Systems Do</vt:lpstr>
      <vt:lpstr>Operating System Definition</vt:lpstr>
      <vt:lpstr>Computer System Organization</vt:lpstr>
      <vt:lpstr>Computer-System Operations</vt:lpstr>
      <vt:lpstr>Interrupt Handling</vt:lpstr>
      <vt:lpstr>Interrupt-Drive I/O Cycle</vt:lpstr>
      <vt:lpstr>I/O Structure</vt:lpstr>
      <vt:lpstr>Computer Startup</vt:lpstr>
      <vt:lpstr>Storage Structure (1)</vt:lpstr>
      <vt:lpstr>Storage Structure (2)</vt:lpstr>
      <vt:lpstr>Storage Definitions and Notation Review</vt:lpstr>
      <vt:lpstr>Storage Hierarchy</vt:lpstr>
      <vt:lpstr>Storage-Device Hierarchy</vt:lpstr>
      <vt:lpstr>How a Modern Computer Works</vt:lpstr>
      <vt:lpstr>Direct Memory Access Structure</vt:lpstr>
      <vt:lpstr>Operating System Operations</vt:lpstr>
      <vt:lpstr>Multiprogramming (Batch System)</vt:lpstr>
      <vt:lpstr>Multitasking (Timesharing)</vt:lpstr>
      <vt:lpstr>Memory Layout for Multiprogrammed System</vt:lpstr>
      <vt:lpstr>Dual-Mode Operation (1)</vt:lpstr>
      <vt:lpstr>Dual-Mode Operation (2)</vt:lpstr>
      <vt:lpstr>Timer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Prof. Chung Yehching (SDS)</cp:lastModifiedBy>
  <cp:revision>311</cp:revision>
  <cp:lastPrinted>2001-06-14T13:58:17Z</cp:lastPrinted>
  <dcterms:created xsi:type="dcterms:W3CDTF">2011-01-13T23:43:38Z</dcterms:created>
  <dcterms:modified xsi:type="dcterms:W3CDTF">2025-09-10T04:24:57Z</dcterms:modified>
</cp:coreProperties>
</file>