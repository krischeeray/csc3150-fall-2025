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8"/>
  </p:notesMasterIdLst>
  <p:handoutMasterIdLst>
    <p:handoutMasterId r:id="rId39"/>
  </p:handoutMasterIdLst>
  <p:sldIdLst>
    <p:sldId id="330" r:id="rId2"/>
    <p:sldId id="521" r:id="rId3"/>
    <p:sldId id="522" r:id="rId4"/>
    <p:sldId id="523" r:id="rId5"/>
    <p:sldId id="524" r:id="rId6"/>
    <p:sldId id="525" r:id="rId7"/>
    <p:sldId id="479" r:id="rId8"/>
    <p:sldId id="473" r:id="rId9"/>
    <p:sldId id="476" r:id="rId10"/>
    <p:sldId id="445" r:id="rId11"/>
    <p:sldId id="446" r:id="rId12"/>
    <p:sldId id="447" r:id="rId13"/>
    <p:sldId id="448" r:id="rId14"/>
    <p:sldId id="518" r:id="rId15"/>
    <p:sldId id="520" r:id="rId16"/>
    <p:sldId id="451" r:id="rId17"/>
    <p:sldId id="496" r:id="rId18"/>
    <p:sldId id="497" r:id="rId19"/>
    <p:sldId id="498" r:id="rId20"/>
    <p:sldId id="455" r:id="rId21"/>
    <p:sldId id="507" r:id="rId22"/>
    <p:sldId id="509" r:id="rId23"/>
    <p:sldId id="508" r:id="rId24"/>
    <p:sldId id="510" r:id="rId25"/>
    <p:sldId id="457" r:id="rId26"/>
    <p:sldId id="511" r:id="rId27"/>
    <p:sldId id="512" r:id="rId28"/>
    <p:sldId id="513" r:id="rId29"/>
    <p:sldId id="458" r:id="rId30"/>
    <p:sldId id="459" r:id="rId31"/>
    <p:sldId id="460" r:id="rId32"/>
    <p:sldId id="461" r:id="rId33"/>
    <p:sldId id="462" r:id="rId34"/>
    <p:sldId id="477" r:id="rId35"/>
    <p:sldId id="463" r:id="rId36"/>
    <p:sldId id="467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59" d="100"/>
          <a:sy n="59" d="100"/>
        </p:scale>
        <p:origin x="152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533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A1752F3-9769-4F81-A848-54098A15C8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29CD1A-AE72-4F61-8821-1DA62212AA59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831E14A-C331-4555-A8C3-1457C596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ABAF6A-CE19-4868-B5E3-A38DB65B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35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4D3C1504-DE2D-4887-8827-E09054DAE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F11701-DA1F-421D-A56C-66611BA250E3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F122118-23A7-4491-BF21-7CA9F458B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BB2CE-B3E7-43A0-B4C8-E70E2791B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39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7DE31E6-8C1D-4E43-8FC9-1E2F3766DE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BBD69-54AE-4751-B982-30356D027400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E8DB144-017B-4356-8EB3-B56BEAA00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FA50972-E87E-46C7-B77B-BB77C65B2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8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67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 : Processes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2113" y="258861"/>
            <a:ext cx="7326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588" y="1144200"/>
            <a:ext cx="7029677" cy="4762529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Suppose that we wanted to provide a solution to the consumer-producer problem that fills 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all</a:t>
            </a: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the buffers. </a:t>
            </a:r>
          </a:p>
          <a:p>
            <a:r>
              <a:rPr lang="en-US" altLang="en-US" sz="2000" dirty="0">
                <a:latin typeface="+mn-ea"/>
                <a:ea typeface="+mn-ea"/>
              </a:rPr>
              <a:t>We can do so by having an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that keeps track of the number of full buffers.  </a:t>
            </a:r>
          </a:p>
          <a:p>
            <a:r>
              <a:rPr lang="en-US" altLang="en-US" sz="2000" dirty="0">
                <a:latin typeface="+mn-ea"/>
                <a:ea typeface="+mn-ea"/>
              </a:rPr>
              <a:t>Initially,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set to 0. 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incremented by the producer after it produces a new buffer.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integer </a:t>
            </a:r>
            <a:r>
              <a:rPr lang="en-US" altLang="en-US" sz="2000" b="1" dirty="0">
                <a:latin typeface="+mn-ea"/>
                <a:ea typeface="+mn-ea"/>
              </a:rPr>
              <a:t>counter</a:t>
            </a:r>
            <a:r>
              <a:rPr lang="en-US" altLang="en-US" sz="2000" dirty="0">
                <a:latin typeface="+mn-ea"/>
                <a:ea typeface="+mn-ea"/>
              </a:rPr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41892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FBA2318-657D-42C6-AB7B-E9BBF4DA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1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Producer 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32980AD2-3FC6-4309-A775-93AFA5595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2356" y="1258888"/>
            <a:ext cx="6999288" cy="3701732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BUFFER_SIZE) 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b="1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in = (in + 1) % BUFFER_SIZE;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counter++;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9934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F7414AA-B215-4A20-88A1-C865671BE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2081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Consumer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7E5C80C-620B-4BAE-A990-B50235C7D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6390" y="1262063"/>
            <a:ext cx="6931219" cy="3847147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20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1193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06958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Race Condition (1)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1380" y="1132205"/>
            <a:ext cx="7755430" cy="462851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b="1" dirty="0">
                <a:solidFill>
                  <a:srgbClr val="000000"/>
                </a:solidFill>
                <a:latin typeface="+mn-ea"/>
                <a:ea typeface="+mn-ea"/>
              </a:rPr>
              <a:t>counter++ </a:t>
            </a:r>
            <a:r>
              <a:rPr lang="en-US" altLang="en-US" dirty="0">
                <a:latin typeface="+mn-ea"/>
                <a:ea typeface="+mn-ea"/>
              </a:rPr>
              <a:t>could be implemented as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b="1" dirty="0">
                <a:latin typeface="+mn-ea"/>
                <a:ea typeface="+mn-ea"/>
              </a:rPr>
              <a:t>    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counter</a:t>
            </a:r>
            <a:b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     register1 = register1 + 1</a:t>
            </a:r>
            <a:b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     counter = register1</a:t>
            </a:r>
            <a:endParaRPr lang="en-US" altLang="en-US" dirty="0">
              <a:solidFill>
                <a:srgbClr val="0000FF"/>
              </a:solidFill>
              <a:latin typeface="+mn-ea"/>
              <a:ea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b="1" dirty="0">
                <a:solidFill>
                  <a:srgbClr val="000000"/>
                </a:solidFill>
                <a:latin typeface="+mn-ea"/>
                <a:ea typeface="+mn-ea"/>
              </a:rPr>
              <a:t>counter--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could be implemented as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b="1" dirty="0">
                <a:latin typeface="+mn-ea"/>
                <a:ea typeface="+mn-ea"/>
              </a:rPr>
              <a:t>    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counter</a:t>
            </a:r>
            <a:b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    register2 = register2 - 1</a:t>
            </a:r>
            <a:b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     counter = register2</a:t>
            </a:r>
            <a:endParaRPr lang="en-US" altLang="en-US" dirty="0">
              <a:solidFill>
                <a:schemeClr val="tx2"/>
              </a:solidFill>
              <a:latin typeface="+mn-ea"/>
              <a:ea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+mn-ea"/>
                <a:ea typeface="+mn-ea"/>
              </a:rPr>
              <a:t>Consider this execution interleaving with </a:t>
            </a:r>
            <a:r>
              <a:rPr lang="ja-JP" altLang="en-US" dirty="0">
                <a:latin typeface="+mn-ea"/>
                <a:ea typeface="+mn-ea"/>
              </a:rPr>
              <a:t>“</a:t>
            </a:r>
            <a:r>
              <a:rPr lang="en-US" altLang="ja-JP" dirty="0">
                <a:latin typeface="+mn-ea"/>
                <a:ea typeface="+mn-ea"/>
              </a:rPr>
              <a:t>count = 5</a:t>
            </a:r>
            <a:r>
              <a:rPr lang="ja-JP" altLang="en-US" dirty="0">
                <a:latin typeface="+mn-ea"/>
                <a:ea typeface="+mn-ea"/>
              </a:rPr>
              <a:t>”</a:t>
            </a:r>
            <a:r>
              <a:rPr lang="en-US" altLang="ja-JP" dirty="0">
                <a:latin typeface="+mn-ea"/>
                <a:ea typeface="+mn-ea"/>
              </a:rPr>
              <a:t> initially: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S0: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counter       	 </a:t>
            </a:r>
            <a:r>
              <a:rPr lang="en-US" altLang="en-US" dirty="0">
                <a:latin typeface="+mn-ea"/>
                <a:ea typeface="+mn-ea"/>
              </a:rPr>
              <a:t>{register1 = 5}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S1: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register1 = register1 + 1	 </a:t>
            </a:r>
            <a:r>
              <a:rPr lang="en-US" altLang="en-US" dirty="0">
                <a:latin typeface="+mn-ea"/>
                <a:ea typeface="+mn-ea"/>
              </a:rPr>
              <a:t>{register1 = 6}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S2: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counter</a:t>
            </a:r>
            <a:r>
              <a:rPr lang="en-US" altLang="en-US" b="1" dirty="0">
                <a:latin typeface="+mn-ea"/>
                <a:ea typeface="+mn-ea"/>
              </a:rPr>
              <a:t>       	 </a:t>
            </a:r>
            <a:r>
              <a:rPr lang="en-US" altLang="en-US" dirty="0">
                <a:latin typeface="+mn-ea"/>
                <a:ea typeface="+mn-ea"/>
              </a:rPr>
              <a:t>{register2 = 5}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S3: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register2 = register2 – 1 </a:t>
            </a:r>
            <a:r>
              <a:rPr lang="en-US" altLang="en-US" dirty="0">
                <a:latin typeface="+mn-ea"/>
                <a:ea typeface="+mn-ea"/>
              </a:rPr>
              <a:t>{register2 = 4}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S4: producer execute </a:t>
            </a:r>
            <a:r>
              <a:rPr lang="en-US" altLang="en-US" b="1" dirty="0">
                <a:solidFill>
                  <a:srgbClr val="0000FF"/>
                </a:solidFill>
                <a:latin typeface="+mn-ea"/>
                <a:ea typeface="+mn-ea"/>
              </a:rPr>
              <a:t>counter = register1         	 </a:t>
            </a:r>
            <a:r>
              <a:rPr lang="en-US" altLang="en-US" dirty="0">
                <a:latin typeface="+mn-ea"/>
                <a:ea typeface="+mn-ea"/>
              </a:rPr>
              <a:t>{counter = 6}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  S5: consumer execute </a:t>
            </a:r>
            <a:r>
              <a:rPr lang="en-US" altLang="en-US" b="1" dirty="0">
                <a:solidFill>
                  <a:schemeClr val="tx2"/>
                </a:solidFill>
                <a:latin typeface="+mn-ea"/>
                <a:ea typeface="+mn-ea"/>
              </a:rPr>
              <a:t>counter = register2      	 </a:t>
            </a:r>
            <a:r>
              <a:rPr lang="en-US" altLang="en-US" dirty="0">
                <a:latin typeface="+mn-ea"/>
                <a:ea typeface="+mn-ea"/>
              </a:rPr>
              <a:t>{counter = 4}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410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>
            <a:extLst>
              <a:ext uri="{FF2B5EF4-FFF2-40B4-BE49-F238E27FC236}">
                <a16:creationId xmlns:a16="http://schemas.microsoft.com/office/drawing/2014/main" id="{8C101D6F-C0EC-4766-8D52-60E1DFA55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Race Condition (2)</a:t>
            </a:r>
          </a:p>
        </p:txBody>
      </p:sp>
      <p:sp>
        <p:nvSpPr>
          <p:cNvPr id="17410" name="Rectangle 1027">
            <a:extLst>
              <a:ext uri="{FF2B5EF4-FFF2-40B4-BE49-F238E27FC236}">
                <a16:creationId xmlns:a16="http://schemas.microsoft.com/office/drawing/2014/main" id="{338D3C38-85C1-4063-A149-971FC47DC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5640" y="922111"/>
            <a:ext cx="7881160" cy="127244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Question – why was there no race condition in the first solution (where at most N – 1) buffers can be filled?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More in Chapter 6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C03BEB9-F3B8-5F01-4B7E-503066384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4540" y="2315142"/>
            <a:ext cx="5714999" cy="4234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item </a:t>
            </a:r>
            <a:r>
              <a:rPr lang="en-US" altLang="en-US" sz="1500" b="1" kern="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500" b="1" kern="0" dirty="0">
                <a:latin typeface="Courier New" panose="02070309020205020404" pitchFamily="49" charset="0"/>
              </a:rPr>
              <a:t>;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while (true) {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	; /* do nothing */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buffer[in] = </a:t>
            </a:r>
            <a:r>
              <a:rPr lang="en-US" altLang="en-US" sz="1500" b="1" kern="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500" b="1" kern="0" dirty="0">
                <a:latin typeface="Courier New" panose="02070309020205020404" pitchFamily="49" charset="0"/>
              </a:rPr>
              <a:t>;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}</a:t>
            </a:r>
            <a:r>
              <a:rPr lang="en-US" altLang="en-US" sz="1500" kern="0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endParaRPr lang="en-US" altLang="en-US" sz="1500" kern="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item </a:t>
            </a:r>
            <a:r>
              <a:rPr lang="en-US" altLang="en-US" sz="1500" b="1" kern="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500" b="1" kern="0" dirty="0">
                <a:latin typeface="Courier New" panose="02070309020205020404" pitchFamily="49" charset="0"/>
              </a:rPr>
              <a:t>; 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while (true) {</a:t>
            </a:r>
            <a:br>
              <a:rPr lang="en-US" altLang="en-US" sz="1500" b="1" kern="0" dirty="0">
                <a:latin typeface="Courier New" panose="02070309020205020404" pitchFamily="49" charset="0"/>
              </a:rPr>
            </a:br>
            <a:r>
              <a:rPr lang="en-US" altLang="en-US" sz="1500" b="1" kern="0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1500" b="1" kern="0" dirty="0">
                <a:latin typeface="Courier New" panose="02070309020205020404" pitchFamily="49" charset="0"/>
              </a:rPr>
            </a:br>
            <a:r>
              <a:rPr lang="en-US" altLang="en-US" sz="1500" b="1" kern="0" dirty="0">
                <a:latin typeface="Courier New" panose="02070309020205020404" pitchFamily="49" charset="0"/>
              </a:rPr>
              <a:t>	</a:t>
            </a:r>
            <a:r>
              <a:rPr lang="en-US" altLang="en-US" sz="1500" b="1" kern="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500" b="1" kern="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out = (out + 1) % BUFFER_SIZE;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endParaRPr lang="en-US" altLang="en-US" sz="1500" b="1" kern="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b="1" kern="0" dirty="0">
                <a:latin typeface="Courier New" panose="02070309020205020404" pitchFamily="49" charset="0"/>
              </a:rPr>
              <a:t>}</a:t>
            </a:r>
            <a:endParaRPr lang="en-US" altLang="en-US" sz="1500" kern="0" dirty="0">
              <a:latin typeface="Monaco"/>
            </a:endParaRPr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endParaRPr lang="en-US" altLang="en-US" sz="1500" kern="0" dirty="0"/>
          </a:p>
          <a:p>
            <a:pPr>
              <a:spcBef>
                <a:spcPts val="0"/>
              </a:spcBef>
              <a:buFont typeface="Monotype Sorts" pitchFamily="-84" charset="2"/>
              <a:buNone/>
            </a:pPr>
            <a:r>
              <a:rPr lang="en-US" altLang="en-US" sz="1500" kern="0" dirty="0"/>
              <a:t>	</a:t>
            </a:r>
          </a:p>
          <a:p>
            <a:pPr marL="7167563" lvl="4">
              <a:spcBef>
                <a:spcPts val="0"/>
              </a:spcBef>
              <a:buFontTx/>
              <a:buNone/>
            </a:pPr>
            <a:endParaRPr lang="en-US" altLang="en-US" sz="1500" kern="0" dirty="0"/>
          </a:p>
        </p:txBody>
      </p:sp>
    </p:spTree>
    <p:extLst>
      <p:ext uri="{BB962C8B-B14F-4D97-AF65-F5344CB8AC3E}">
        <p14:creationId xmlns:p14="http://schemas.microsoft.com/office/powerpoint/2010/main" val="22392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2114" y="242789"/>
            <a:ext cx="7338061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IPC – Message Passing (1)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3565" y="1018858"/>
            <a:ext cx="6236870" cy="30741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send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i="1" dirty="0">
                <a:latin typeface="+mn-ea"/>
                <a:ea typeface="+mn-ea"/>
              </a:rPr>
              <a:t>message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latin typeface="+mn-ea"/>
                <a:ea typeface="+mn-ea"/>
              </a:rPr>
              <a:t>receive</a:t>
            </a:r>
            <a:r>
              <a:rPr lang="en-US" altLang="en-US" sz="2000" dirty="0">
                <a:latin typeface="+mn-ea"/>
                <a:ea typeface="+mn-ea"/>
              </a:rPr>
              <a:t>(</a:t>
            </a:r>
            <a:r>
              <a:rPr lang="en-US" altLang="en-US" sz="2000" i="1" dirty="0">
                <a:latin typeface="+mn-ea"/>
                <a:ea typeface="+mn-ea"/>
              </a:rPr>
              <a:t>message</a:t>
            </a:r>
            <a:r>
              <a:rPr lang="en-US" altLang="en-US" sz="2000" dirty="0">
                <a:latin typeface="+mn-ea"/>
                <a:ea typeface="+mn-ea"/>
              </a:rPr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The</a:t>
            </a:r>
            <a:r>
              <a:rPr lang="en-US" altLang="en-US" sz="2000" i="1" dirty="0">
                <a:latin typeface="+mn-ea"/>
                <a:ea typeface="+mn-ea"/>
              </a:rPr>
              <a:t> message</a:t>
            </a:r>
            <a:r>
              <a:rPr lang="en-US" altLang="en-US" sz="2000" dirty="0">
                <a:latin typeface="+mn-ea"/>
                <a:ea typeface="+mn-ea"/>
              </a:rPr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IPC – Message Passing (2)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613650" cy="46749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If processes </a:t>
            </a:r>
            <a:r>
              <a:rPr lang="en-US" altLang="en-US" sz="2000" i="1" dirty="0"/>
              <a:t>P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Q</a:t>
            </a:r>
            <a:r>
              <a:rPr lang="en-US" altLang="en-US" sz="2000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Establish a </a:t>
            </a:r>
            <a:r>
              <a:rPr lang="en-US" altLang="en-US" sz="2000" b="1" i="1" dirty="0"/>
              <a:t>communication</a:t>
            </a:r>
            <a:r>
              <a:rPr lang="en-US" altLang="en-US" sz="2000" b="1" dirty="0"/>
              <a:t> </a:t>
            </a:r>
            <a:r>
              <a:rPr lang="en-US" altLang="en-US" sz="2000" b="1" i="1" dirty="0"/>
              <a:t>link</a:t>
            </a:r>
            <a:r>
              <a:rPr lang="en-US" altLang="en-US" sz="2000" b="1" dirty="0"/>
              <a:t> </a:t>
            </a:r>
            <a:r>
              <a:rPr lang="en-US" altLang="en-US" sz="2000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Implementation issues:</a:t>
            </a:r>
          </a:p>
          <a:p>
            <a:pPr lvl="1"/>
            <a:r>
              <a:rPr lang="en-US" altLang="en-US" sz="2000" dirty="0"/>
              <a:t>How are links established?</a:t>
            </a:r>
          </a:p>
          <a:p>
            <a:pPr lvl="1"/>
            <a:r>
              <a:rPr lang="en-US" altLang="en-US" sz="2000" dirty="0"/>
              <a:t>Can a link be associated with more than two processes?</a:t>
            </a:r>
          </a:p>
          <a:p>
            <a:pPr lvl="1"/>
            <a:r>
              <a:rPr lang="en-US" altLang="en-US" sz="2000" dirty="0"/>
              <a:t>How many links can there be between every pair of communicating processes?</a:t>
            </a:r>
          </a:p>
          <a:p>
            <a:pPr lvl="1"/>
            <a:r>
              <a:rPr lang="en-US" altLang="en-US" sz="2000" dirty="0"/>
              <a:t>What is the capacity of a link?</a:t>
            </a:r>
          </a:p>
          <a:p>
            <a:pPr lvl="1"/>
            <a:r>
              <a:rPr lang="en-US" altLang="en-US" sz="2000" dirty="0"/>
              <a:t>Is the size of a message that the link can accommodate fixed or variable?</a:t>
            </a:r>
          </a:p>
          <a:p>
            <a:pPr lvl="1"/>
            <a:r>
              <a:rPr lang="en-US" altLang="en-US" sz="2000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716" y="250500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0171" y="925830"/>
            <a:ext cx="6938010" cy="31775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Automatic or explicit buffering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799" y="236224"/>
            <a:ext cx="5671458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781925" cy="3760333"/>
          </a:xfrm>
        </p:spPr>
        <p:txBody>
          <a:bodyPr/>
          <a:lstStyle/>
          <a:p>
            <a:r>
              <a:rPr lang="en-US" altLang="en-US" sz="2000" dirty="0"/>
              <a:t>Processes must name each other explicitly: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 (</a:t>
            </a:r>
            <a:r>
              <a:rPr lang="en-US" altLang="en-US" sz="2000" i="1" dirty="0"/>
              <a:t>P, message</a:t>
            </a:r>
            <a:r>
              <a:rPr lang="en-US" altLang="en-US" sz="2000" dirty="0"/>
              <a:t>) – send a message to process P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Q, message</a:t>
            </a:r>
            <a:r>
              <a:rPr lang="en-US" altLang="en-US" sz="2000" dirty="0"/>
              <a:t>) – receive a message from process Q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Links are established automatically</a:t>
            </a:r>
          </a:p>
          <a:p>
            <a:pPr lvl="1"/>
            <a:r>
              <a:rPr lang="en-US" altLang="en-US" sz="2000" dirty="0"/>
              <a:t>A link is associated with exactly one pair of communicating processes</a:t>
            </a:r>
          </a:p>
          <a:p>
            <a:pPr lvl="1"/>
            <a:r>
              <a:rPr lang="en-US" altLang="en-US" sz="2000" dirty="0"/>
              <a:t>Between each pair there exists exactly one link</a:t>
            </a:r>
          </a:p>
          <a:p>
            <a:pPr lvl="1"/>
            <a:r>
              <a:rPr lang="en-US" altLang="en-US" sz="2000" dirty="0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8429" y="185186"/>
            <a:ext cx="6531428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Indirect Communication (1)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2"/>
            <a:ext cx="7397583" cy="4452937"/>
          </a:xfrm>
        </p:spPr>
        <p:txBody>
          <a:bodyPr/>
          <a:lstStyle/>
          <a:p>
            <a:r>
              <a:rPr lang="en-US" altLang="en-US" sz="2000" dirty="0"/>
              <a:t>Messages are directed and received from mailboxes (also referred to as ports)</a:t>
            </a:r>
          </a:p>
          <a:p>
            <a:pPr lvl="1"/>
            <a:r>
              <a:rPr lang="en-US" altLang="en-US" sz="2000" dirty="0"/>
              <a:t>Each mailbox has a unique id</a:t>
            </a:r>
          </a:p>
          <a:p>
            <a:pPr lvl="1"/>
            <a:r>
              <a:rPr lang="en-US" altLang="en-US" sz="2000" dirty="0"/>
              <a:t>Processes can communicate only if they share a mailbox</a:t>
            </a:r>
          </a:p>
          <a:p>
            <a:r>
              <a:rPr lang="en-US" altLang="en-US" sz="2000" dirty="0"/>
              <a:t>Properties of communication link</a:t>
            </a:r>
          </a:p>
          <a:p>
            <a:pPr lvl="1"/>
            <a:r>
              <a:rPr lang="en-US" altLang="en-US" sz="2000" dirty="0"/>
              <a:t>Link established only if processes share a common mailbox</a:t>
            </a:r>
          </a:p>
          <a:p>
            <a:pPr lvl="1"/>
            <a:r>
              <a:rPr lang="en-US" altLang="en-US" sz="2000" dirty="0"/>
              <a:t>A link may be associated with many processes</a:t>
            </a:r>
          </a:p>
          <a:p>
            <a:pPr lvl="1"/>
            <a:r>
              <a:rPr lang="en-US" altLang="en-US" sz="2000" dirty="0"/>
              <a:t>Each pair of processes may share several communication links</a:t>
            </a:r>
          </a:p>
          <a:p>
            <a:pPr lvl="1"/>
            <a:r>
              <a:rPr lang="en-US" altLang="en-US" sz="2000" dirty="0"/>
              <a:t>Link may be unidirectional or bi-directional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1" y="1135063"/>
            <a:ext cx="7358380" cy="3284537"/>
          </a:xfrm>
        </p:spPr>
        <p:txBody>
          <a:bodyPr/>
          <a:lstStyle/>
          <a:p>
            <a:r>
              <a:rPr lang="en-US" altLang="en-US" sz="2000" dirty="0"/>
              <a:t>Operations</a:t>
            </a:r>
          </a:p>
          <a:p>
            <a:pPr lvl="1"/>
            <a:r>
              <a:rPr lang="en-US" altLang="en-US" sz="2000" dirty="0"/>
              <a:t>Create a new mailbox (port)</a:t>
            </a:r>
          </a:p>
          <a:p>
            <a:pPr lvl="1"/>
            <a:r>
              <a:rPr lang="en-US" altLang="en-US" sz="2000" dirty="0"/>
              <a:t>Send and receive messages through mailbox</a:t>
            </a:r>
          </a:p>
          <a:p>
            <a:pPr lvl="1"/>
            <a:r>
              <a:rPr lang="en-US" altLang="en-US" sz="2000" dirty="0"/>
              <a:t>Delete a mailbox</a:t>
            </a:r>
          </a:p>
          <a:p>
            <a:r>
              <a:rPr lang="en-US" altLang="en-US" sz="2000" dirty="0"/>
              <a:t>Primitives are defined as: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send</a:t>
            </a:r>
            <a:r>
              <a:rPr lang="en-US" altLang="en-US" sz="2000" dirty="0"/>
              <a:t>(</a:t>
            </a:r>
            <a:r>
              <a:rPr lang="en-US" altLang="en-US" sz="2000" i="1" dirty="0"/>
              <a:t>A, message</a:t>
            </a:r>
            <a:r>
              <a:rPr lang="en-US" altLang="en-US" sz="2000" dirty="0"/>
              <a:t>) – send a message to mailbox A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</a:rPr>
              <a:t>receive</a:t>
            </a:r>
            <a:r>
              <a:rPr lang="en-US" altLang="en-US" sz="2000" dirty="0"/>
              <a:t>(</a:t>
            </a:r>
            <a:r>
              <a:rPr lang="en-US" altLang="en-US" sz="2000" i="1" dirty="0"/>
              <a:t>A, message</a:t>
            </a:r>
            <a:r>
              <a:rPr lang="en-US" altLang="en-US" sz="2000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5200" y="162972"/>
            <a:ext cx="7006459" cy="58814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Indirect Communication (2)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7346950" cy="4530725"/>
          </a:xfrm>
        </p:spPr>
        <p:txBody>
          <a:bodyPr/>
          <a:lstStyle/>
          <a:p>
            <a:r>
              <a:rPr lang="en-US" altLang="en-US" sz="2000" dirty="0"/>
              <a:t>Mailbox sharing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share mailbox A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, sends;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 receive</a:t>
            </a:r>
          </a:p>
          <a:p>
            <a:pPr lvl="1"/>
            <a:r>
              <a:rPr lang="en-US" altLang="en-US" sz="2000" dirty="0"/>
              <a:t>Who gets the message?</a:t>
            </a:r>
          </a:p>
          <a:p>
            <a:r>
              <a:rPr lang="en-US" altLang="en-US" sz="2000" dirty="0"/>
              <a:t>Solutions</a:t>
            </a:r>
          </a:p>
          <a:p>
            <a:pPr lvl="1"/>
            <a:r>
              <a:rPr lang="en-US" altLang="en-US" sz="2000" dirty="0"/>
              <a:t>Allow a link to be associated with at most two processes</a:t>
            </a:r>
          </a:p>
          <a:p>
            <a:pPr lvl="1"/>
            <a:r>
              <a:rPr lang="en-US" altLang="en-US" sz="2000" dirty="0"/>
              <a:t>Allow only one process at a time to execute a receive operation</a:t>
            </a:r>
          </a:p>
          <a:p>
            <a:pPr lvl="1"/>
            <a:r>
              <a:rPr lang="en-US" altLang="en-US" sz="2000" dirty="0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424" y="227141"/>
            <a:ext cx="6706176" cy="576263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Indirect Communication (3)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5195" y="178957"/>
            <a:ext cx="6792686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561175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sz="2000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3081" y="1092835"/>
            <a:ext cx="7312660" cy="4885055"/>
          </a:xfrm>
        </p:spPr>
        <p:txBody>
          <a:bodyPr/>
          <a:lstStyle/>
          <a:p>
            <a:r>
              <a:rPr lang="en-US" altLang="en-US" sz="2000" dirty="0"/>
              <a:t>Producer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2000" dirty="0">
                <a:cs typeface="Courier New" panose="02070309020205020404" pitchFamily="49" charset="0"/>
              </a:rPr>
              <a:t>           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send(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kumimoji="0"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Consumer</a:t>
            </a:r>
          </a:p>
          <a:p>
            <a:pPr>
              <a:spcBef>
                <a:spcPct val="0"/>
              </a:spcBef>
              <a:buClrTx/>
              <a:buSzTx/>
              <a:buFont typeface="Monotype Sorts" pitchFamily="-84" charset="2"/>
              <a:buNone/>
            </a:pPr>
            <a:r>
              <a:rPr lang="en-US" altLang="en-US" sz="2000" dirty="0"/>
              <a:t>            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(true) {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receive(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</a:t>
            </a:r>
            <a:r>
              <a:rPr kumimoji="0"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b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sz="2000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4521" y="163459"/>
            <a:ext cx="7810879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Producer-Consumer: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99244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8710" y="1233488"/>
            <a:ext cx="7280910" cy="4530725"/>
          </a:xfrm>
        </p:spPr>
        <p:txBody>
          <a:bodyPr/>
          <a:lstStyle/>
          <a:p>
            <a:r>
              <a:rPr lang="en-US" altLang="en-US" sz="2000" dirty="0"/>
              <a:t>Queue of messages attached to the link.</a:t>
            </a:r>
          </a:p>
          <a:p>
            <a:r>
              <a:rPr lang="en-US" altLang="en-US" sz="2000" dirty="0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1.</a:t>
            </a:r>
            <a:r>
              <a:rPr lang="en-US" altLang="en-US" sz="2000" dirty="0"/>
              <a:t>	Zero capacity – no messages are queued on a link.</a:t>
            </a:r>
            <a:br>
              <a:rPr lang="en-US" altLang="en-US" sz="2000" dirty="0"/>
            </a:br>
            <a:r>
              <a:rPr lang="en-US" altLang="en-US" sz="2000" dirty="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2.</a:t>
            </a:r>
            <a:r>
              <a:rPr lang="en-US" altLang="en-US" sz="2000" dirty="0"/>
              <a:t>	Bounded capacity – finite length of </a:t>
            </a:r>
            <a:r>
              <a:rPr lang="en-US" altLang="en-US" sz="2000" i="1" dirty="0"/>
              <a:t>n</a:t>
            </a:r>
            <a:r>
              <a:rPr lang="en-US" altLang="en-US" sz="2000" dirty="0"/>
              <a:t> messages</a:t>
            </a:r>
            <a:br>
              <a:rPr lang="en-US" altLang="en-US" sz="2000" dirty="0"/>
            </a:br>
            <a:r>
              <a:rPr lang="en-US" altLang="en-US" sz="2000" dirty="0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CC6600"/>
                </a:solidFill>
              </a:rPr>
              <a:t>3.</a:t>
            </a:r>
            <a:r>
              <a:rPr lang="en-US" altLang="en-US" sz="2000" dirty="0"/>
              <a:t>	Unbounded capacity – infinite length </a:t>
            </a:r>
            <a:br>
              <a:rPr lang="en-US" altLang="en-US" sz="2000" dirty="0"/>
            </a:br>
            <a:r>
              <a:rPr lang="en-US" altLang="en-US" sz="2000" dirty="0"/>
              <a:t>Sender never waits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 sz="3600" dirty="0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6787" y="1233488"/>
            <a:ext cx="7521575" cy="4530725"/>
          </a:xfrm>
        </p:spPr>
        <p:txBody>
          <a:bodyPr/>
          <a:lstStyle/>
          <a:p>
            <a:r>
              <a:rPr lang="en-US" altLang="en-US" dirty="0">
                <a:latin typeface="+mn-ea"/>
                <a:ea typeface="+mn-ea"/>
              </a:rPr>
              <a:t>POSIX Shared Memory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Process first creates shared memory segment</a:t>
            </a:r>
            <a:br>
              <a:rPr lang="en-US" altLang="en-US" dirty="0">
                <a:latin typeface="+mn-ea"/>
                <a:ea typeface="+mn-ea"/>
              </a:rPr>
            </a:br>
            <a:r>
              <a:rPr lang="en-US" altLang="en-US" b="1" dirty="0" err="1">
                <a:latin typeface="+mn-ea"/>
                <a:ea typeface="+mn-ea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+mn-ea"/>
                <a:ea typeface="+mn-ea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+mn-ea"/>
                <a:ea typeface="+mn-ea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+mn-ea"/>
                <a:ea typeface="+mn-ea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Also used to open an existing segment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+mn-ea"/>
                <a:ea typeface="+mn-ea"/>
              </a:rPr>
              <a:t>	            </a:t>
            </a:r>
            <a:r>
              <a:rPr lang="en-US" altLang="en-US" b="1" dirty="0" err="1">
                <a:latin typeface="+mn-ea"/>
                <a:ea typeface="+mn-ea"/>
              </a:rPr>
              <a:t>ftruncate</a:t>
            </a:r>
            <a:r>
              <a:rPr lang="en-US" altLang="en-US" b="1" dirty="0">
                <a:latin typeface="+mn-ea"/>
                <a:ea typeface="+mn-ea"/>
              </a:rPr>
              <a:t>(</a:t>
            </a:r>
            <a:r>
              <a:rPr lang="en-US" altLang="en-US" b="1" dirty="0" err="1">
                <a:latin typeface="+mn-ea"/>
                <a:ea typeface="+mn-ea"/>
              </a:rPr>
              <a:t>shm_fd</a:t>
            </a:r>
            <a:r>
              <a:rPr lang="en-US" altLang="en-US" b="1" dirty="0">
                <a:latin typeface="+mn-ea"/>
                <a:ea typeface="+mn-ea"/>
              </a:rPr>
              <a:t>, 4096); 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Use </a:t>
            </a:r>
            <a:r>
              <a:rPr lang="en-US" altLang="en-US" b="1" dirty="0" err="1">
                <a:latin typeface="+mn-ea"/>
                <a:ea typeface="+mn-ea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+mn-ea"/>
                <a:ea typeface="+mn-ea"/>
                <a:cs typeface="Courier New" panose="02070309020205020404" pitchFamily="49" charset="0"/>
              </a:rPr>
              <a:t>() </a:t>
            </a:r>
            <a:r>
              <a:rPr lang="en-US" altLang="en-US" dirty="0">
                <a:latin typeface="+mn-ea"/>
                <a:ea typeface="+mn-ea"/>
              </a:rPr>
              <a:t>to memory-map a file pointer to the shared memory object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Reading and writing to shared memory is done by using the pointer returned by </a:t>
            </a:r>
            <a:r>
              <a:rPr lang="en-US" altLang="en-US" b="1" dirty="0" err="1">
                <a:latin typeface="+mn-ea"/>
                <a:ea typeface="+mn-ea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+mn-ea"/>
                <a:ea typeface="+mn-ea"/>
                <a:cs typeface="Courier New" panose="02070309020205020404" pitchFamily="49" charset="0"/>
              </a:rPr>
              <a:t>()</a:t>
            </a:r>
            <a:r>
              <a:rPr lang="en-US" altLang="en-US" dirty="0">
                <a:latin typeface="+mn-ea"/>
                <a:ea typeface="+mn-ea"/>
              </a:rPr>
              <a:t>.</a:t>
            </a:r>
            <a:br>
              <a:rPr lang="en-US" altLang="en-US" dirty="0">
                <a:latin typeface="+mn-ea"/>
                <a:ea typeface="+mn-ea"/>
              </a:rPr>
            </a:br>
            <a:br>
              <a:rPr lang="en-US" altLang="en-US" dirty="0">
                <a:latin typeface="+mn-ea"/>
                <a:ea typeface="+mn-ea"/>
              </a:rPr>
            </a:br>
            <a:endParaRPr lang="en-US" altLang="en-US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 sz="3600" dirty="0"/>
              <a:t>IPC POSIX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91" y="880428"/>
            <a:ext cx="5029200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 sz="3600" dirty="0"/>
              <a:t>IPC POSIX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4" y="892175"/>
            <a:ext cx="5131435" cy="566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950595"/>
            <a:ext cx="7645400" cy="5221605"/>
          </a:xfrm>
        </p:spPr>
        <p:txBody>
          <a:bodyPr/>
          <a:lstStyle/>
          <a:p>
            <a:r>
              <a:rPr lang="en-US" altLang="en-US" sz="2000" dirty="0"/>
              <a:t>Mach communication is message based</a:t>
            </a:r>
          </a:p>
          <a:p>
            <a:pPr lvl="1"/>
            <a:r>
              <a:rPr lang="en-US" altLang="en-US" sz="2000" dirty="0"/>
              <a:t>Even system calls are messages</a:t>
            </a:r>
          </a:p>
          <a:p>
            <a:pPr lvl="1"/>
            <a:r>
              <a:rPr lang="en-US" altLang="en-US" sz="2000" dirty="0"/>
              <a:t>Each task gets two ports at creation  - Kernel and Notify</a:t>
            </a:r>
          </a:p>
          <a:p>
            <a:pPr lvl="1"/>
            <a:r>
              <a:rPr lang="en-US" altLang="en-US" sz="2000" dirty="0"/>
              <a:t>Messages are sent and received using the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sz="2000" b="1" dirty="0">
                <a:latin typeface="Courier New" panose="02070309020205020404" pitchFamily="49" charset="0"/>
              </a:rPr>
              <a:t>() </a:t>
            </a:r>
            <a:r>
              <a:rPr lang="en-US" altLang="en-US" sz="2000" dirty="0"/>
              <a:t>function</a:t>
            </a:r>
          </a:p>
          <a:p>
            <a:pPr lvl="1"/>
            <a:r>
              <a:rPr lang="en-US" altLang="en-US" sz="2000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  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sz="2000" dirty="0"/>
              <a:t>Send and receive are flexible; for example four options if mailbox full:</a:t>
            </a:r>
          </a:p>
          <a:p>
            <a:pPr lvl="2"/>
            <a:r>
              <a:rPr lang="en-US" altLang="en-US" sz="2000" dirty="0"/>
              <a:t>Wait indefinitely</a:t>
            </a:r>
          </a:p>
          <a:p>
            <a:pPr lvl="2"/>
            <a:r>
              <a:rPr lang="en-US" altLang="en-US" sz="2000" dirty="0"/>
              <a:t>Wait at most n milliseconds</a:t>
            </a:r>
          </a:p>
          <a:p>
            <a:pPr lvl="2"/>
            <a:r>
              <a:rPr lang="en-US" altLang="en-US" sz="2000" dirty="0"/>
              <a:t>Return immediately</a:t>
            </a:r>
          </a:p>
          <a:p>
            <a:pPr lvl="2"/>
            <a:r>
              <a:rPr lang="en-US" altLang="en-US" sz="2000" dirty="0"/>
              <a:t>Temporarily cache a message</a:t>
            </a:r>
          </a:p>
          <a:p>
            <a:pPr lvl="1"/>
            <a:endParaRPr lang="en-US" altLang="en-US" sz="20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17415A41-B77C-44C2-A3A9-F61E201A8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Mach Messages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1448A0B1-912B-4A5D-AA68-2FA59417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514" y="1148443"/>
            <a:ext cx="498565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#include&lt;mach/mach.h&gt;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struct message {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>
                <a:latin typeface="Courier New" panose="02070309020205020404" pitchFamily="49" charset="0"/>
              </a:rPr>
              <a:t>	</a:t>
            </a:r>
            <a:r>
              <a:rPr kumimoji="0" lang="en-US" altLang="en-US" sz="2000" b="1" dirty="0" err="1">
                <a:latin typeface="Courier New" panose="02070309020205020404" pitchFamily="49" charset="0"/>
              </a:rPr>
              <a:t>mach_msg_header_t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header;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	int data;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Courier New" panose="02070309020205020404" pitchFamily="49" charset="0"/>
              </a:rPr>
              <a:t>};</a:t>
            </a:r>
            <a:br>
              <a:rPr kumimoji="0" lang="en-US" altLang="en-US" sz="2000" b="1" dirty="0">
                <a:latin typeface="Courier New" panose="02070309020205020404" pitchFamily="49" charset="0"/>
              </a:rPr>
            </a:br>
            <a:br>
              <a:rPr kumimoji="0" lang="en-US" altLang="en-US" sz="2000" b="1" dirty="0">
                <a:latin typeface="Courier New" panose="02070309020205020404" pitchFamily="49" charset="0"/>
              </a:rPr>
            </a:b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client;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 err="1">
                <a:latin typeface="Courier New" panose="02070309020205020404" pitchFamily="49" charset="0"/>
              </a:rPr>
              <a:t>mach</a:t>
            </a:r>
            <a:r>
              <a:rPr kumimoji="0" lang="en-US" altLang="en-US" sz="2000" b="1" dirty="0">
                <a:latin typeface="Courier New" panose="02070309020205020404" pitchFamily="49" charset="0"/>
              </a:rPr>
              <a:t> port t server;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3CD3F126-E414-445F-91C4-4B40C1B15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063" y="225425"/>
            <a:ext cx="7526337" cy="576263"/>
          </a:xfrm>
        </p:spPr>
        <p:txBody>
          <a:bodyPr/>
          <a:lstStyle/>
          <a:p>
            <a:r>
              <a:rPr lang="en-US" altLang="en-US" sz="3600" dirty="0"/>
              <a:t>Mach Message Passing - Server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1E944D3E-85FF-4626-840A-0177C14FA6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82"/>
          <a:stretch>
            <a:fillRect/>
          </a:stretch>
        </p:blipFill>
        <p:spPr bwMode="auto">
          <a:xfrm>
            <a:off x="1145041" y="1002166"/>
            <a:ext cx="7569157" cy="384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BAB29CD7-9B87-4A97-899F-BD574BE8E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25425"/>
            <a:ext cx="7639050" cy="576263"/>
          </a:xfrm>
        </p:spPr>
        <p:txBody>
          <a:bodyPr/>
          <a:lstStyle/>
          <a:p>
            <a:r>
              <a:rPr lang="en-US" altLang="en-US" sz="3600" dirty="0"/>
              <a:t>Mach Message Passing - Client</a:t>
            </a:r>
          </a:p>
        </p:txBody>
      </p:sp>
      <p:pic>
        <p:nvPicPr>
          <p:cNvPr id="105475" name="Picture 2">
            <a:extLst>
              <a:ext uri="{FF2B5EF4-FFF2-40B4-BE49-F238E27FC236}">
                <a16:creationId xmlns:a16="http://schemas.microsoft.com/office/drawing/2014/main" id="{14AE9FBD-1D09-463A-8495-50DD2E8C51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5" r="5064" b="3780"/>
          <a:stretch>
            <a:fillRect/>
          </a:stretch>
        </p:blipFill>
        <p:spPr bwMode="auto">
          <a:xfrm>
            <a:off x="1224824" y="971453"/>
            <a:ext cx="7309576" cy="491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7565390" cy="4869497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Message-passing centric via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advanced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local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procedure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call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LPC</a:t>
            </a:r>
            <a:r>
              <a:rPr lang="en-US" altLang="en-US" sz="2000" b="1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en-US" altLang="en-US" sz="2000" dirty="0">
                <a:latin typeface="+mn-ea"/>
                <a:ea typeface="+mn-ea"/>
              </a:rPr>
              <a:t> facility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Only works between processes on the same system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Uses ports (like mailboxes) to establish and maintain communication channels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Communication works as follows: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opens a handle to the subsystem’</a:t>
            </a:r>
            <a:r>
              <a:rPr lang="en-US" altLang="ja-JP" sz="2000" dirty="0">
                <a:latin typeface="+mn-ea"/>
                <a:ea typeface="+mn-ea"/>
              </a:rPr>
              <a:t>s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connection</a:t>
            </a:r>
            <a:r>
              <a:rPr lang="en-US" altLang="ja-JP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port</a:t>
            </a:r>
            <a:r>
              <a:rPr lang="en-US" altLang="ja-JP" sz="2000" dirty="0">
                <a:latin typeface="+mn-ea"/>
                <a:ea typeface="+mn-ea"/>
              </a:rPr>
              <a:t> object.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sends a connection request.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server creates two private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communication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ports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and returns the handle to one of them to the client.</a:t>
            </a:r>
          </a:p>
          <a:p>
            <a:pPr lvl="2"/>
            <a:r>
              <a:rPr lang="en-US" altLang="en-US" sz="2000" dirty="0">
                <a:latin typeface="+mn-ea"/>
                <a:ea typeface="+mn-ea"/>
              </a:rPr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 sz="3600" dirty="0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0080" y="1154113"/>
            <a:ext cx="8229600" cy="4503737"/>
          </a:xfrm>
        </p:spPr>
        <p:txBody>
          <a:bodyPr/>
          <a:lstStyle/>
          <a:p>
            <a:r>
              <a:rPr lang="en-US" altLang="en-US" sz="2000" dirty="0"/>
              <a:t>Acts as a conduit allowing two processes to communicate</a:t>
            </a:r>
          </a:p>
          <a:p>
            <a:r>
              <a:rPr lang="en-US" altLang="en-US" sz="2000" dirty="0"/>
              <a:t>Issues:</a:t>
            </a:r>
          </a:p>
          <a:p>
            <a:pPr lvl="1"/>
            <a:r>
              <a:rPr lang="en-US" altLang="en-US" sz="2000" dirty="0"/>
              <a:t>Is communication unidirectional or bidirectional?</a:t>
            </a:r>
          </a:p>
          <a:p>
            <a:pPr lvl="1"/>
            <a:r>
              <a:rPr lang="en-US" altLang="en-US" sz="2000" dirty="0"/>
              <a:t>In the case of two-way communication, is it half or full-duplex?</a:t>
            </a:r>
          </a:p>
          <a:p>
            <a:pPr lvl="1"/>
            <a:r>
              <a:rPr lang="en-US" altLang="en-US" sz="2000" dirty="0"/>
              <a:t>Must there exist a relationship (i.e., </a:t>
            </a:r>
            <a:r>
              <a:rPr lang="en-US" altLang="en-US" sz="2000" b="1" i="1" dirty="0"/>
              <a:t>parent-child</a:t>
            </a:r>
            <a:r>
              <a:rPr lang="en-US" altLang="en-US" sz="2000" dirty="0"/>
              <a:t>) between the communicating processes?</a:t>
            </a:r>
          </a:p>
          <a:p>
            <a:pPr lvl="1"/>
            <a:r>
              <a:rPr lang="en-US" altLang="en-US" sz="2000" dirty="0"/>
              <a:t>Can the pipes be used over a network?</a:t>
            </a:r>
          </a:p>
          <a:p>
            <a:r>
              <a:rPr lang="en-US" altLang="en-US" sz="2000" b="1" dirty="0"/>
              <a:t>Ordinary pipes </a:t>
            </a:r>
            <a:r>
              <a:rPr lang="en-US" altLang="en-US" sz="2000" dirty="0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sz="2000" b="1" dirty="0"/>
              <a:t>Named pipes </a:t>
            </a:r>
            <a:r>
              <a:rPr lang="en-US" altLang="en-US" sz="2000" dirty="0"/>
              <a:t>– can be accessed without a parent-child relationship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sz="3600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5626" y="1066482"/>
            <a:ext cx="8012748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293" y="3188969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 sz="3600" dirty="0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 sz="2000" dirty="0"/>
              <a:t>Named Pipes are more powerful than ordinary pipes</a:t>
            </a:r>
          </a:p>
          <a:p>
            <a:r>
              <a:rPr lang="en-US" altLang="en-US" sz="2000" dirty="0"/>
              <a:t>Communication is bidirectional</a:t>
            </a:r>
          </a:p>
          <a:p>
            <a:r>
              <a:rPr lang="en-US" altLang="en-US" sz="2000" dirty="0"/>
              <a:t>No parent-child relationship is necessary between the communicating processes</a:t>
            </a:r>
          </a:p>
          <a:p>
            <a:r>
              <a:rPr lang="en-US" altLang="en-US" sz="2000" dirty="0"/>
              <a:t>Several processes can use the named pipe for communication</a:t>
            </a:r>
          </a:p>
          <a:p>
            <a:r>
              <a:rPr lang="en-US" altLang="en-US" sz="2000" dirty="0"/>
              <a:t>Provided on both UNIX and Windows systems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4409" y="236538"/>
            <a:ext cx="8001953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08710" y="1233488"/>
            <a:ext cx="6574790" cy="4530725"/>
          </a:xfrm>
        </p:spPr>
        <p:txBody>
          <a:bodyPr/>
          <a:lstStyle/>
          <a:p>
            <a:r>
              <a:rPr lang="en-US" altLang="en-US" sz="2000" dirty="0"/>
              <a:t>Sockets</a:t>
            </a:r>
          </a:p>
          <a:p>
            <a:r>
              <a:rPr lang="en-US" altLang="en-US" sz="2000" dirty="0"/>
              <a:t>Remote Procedure Calls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913370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socket</a:t>
            </a:r>
            <a:r>
              <a:rPr lang="en-US" altLang="en-US" sz="2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en-US" sz="2000" dirty="0">
                <a:latin typeface="+mn-ea"/>
                <a:ea typeface="+mn-ea"/>
              </a:rPr>
              <a:t>is defined as an endpoint for communication</a:t>
            </a:r>
          </a:p>
          <a:p>
            <a:r>
              <a:rPr lang="en-US" altLang="en-US" sz="2000" dirty="0">
                <a:latin typeface="+mn-ea"/>
                <a:ea typeface="+mn-ea"/>
              </a:rPr>
              <a:t>Concatenation of IP address and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port</a:t>
            </a:r>
            <a:r>
              <a:rPr lang="en-US" altLang="en-US" sz="2000" dirty="0">
                <a:latin typeface="+mn-ea"/>
                <a:ea typeface="+mn-ea"/>
              </a:rPr>
              <a:t> – a number included at start of message packet to differentiate network services on a host</a:t>
            </a:r>
          </a:p>
          <a:p>
            <a:r>
              <a:rPr lang="en-US" altLang="en-US" sz="2000" dirty="0">
                <a:latin typeface="+mn-ea"/>
                <a:ea typeface="+mn-ea"/>
              </a:rPr>
              <a:t>The socket </a:t>
            </a:r>
            <a:r>
              <a:rPr lang="en-US" altLang="en-US" sz="2000" b="1" dirty="0">
                <a:latin typeface="+mn-ea"/>
                <a:ea typeface="+mn-ea"/>
              </a:rPr>
              <a:t>161.25.19.8:1625</a:t>
            </a:r>
            <a:r>
              <a:rPr lang="en-US" altLang="en-US" sz="2000" dirty="0">
                <a:latin typeface="+mn-ea"/>
                <a:ea typeface="+mn-ea"/>
              </a:rPr>
              <a:t> refers to port </a:t>
            </a:r>
            <a:r>
              <a:rPr lang="en-US" altLang="en-US" sz="2000" b="1" dirty="0">
                <a:latin typeface="+mn-ea"/>
                <a:ea typeface="+mn-ea"/>
              </a:rPr>
              <a:t>1625</a:t>
            </a:r>
            <a:r>
              <a:rPr lang="en-US" altLang="en-US" sz="2000" dirty="0">
                <a:latin typeface="+mn-ea"/>
                <a:ea typeface="+mn-ea"/>
              </a:rPr>
              <a:t> on host </a:t>
            </a:r>
            <a:r>
              <a:rPr lang="en-US" altLang="en-US" sz="2000" b="1" dirty="0">
                <a:latin typeface="+mn-ea"/>
                <a:ea typeface="+mn-ea"/>
              </a:rPr>
              <a:t>161.25.19.8</a:t>
            </a:r>
          </a:p>
          <a:p>
            <a:r>
              <a:rPr lang="en-US" altLang="en-US" sz="2000" dirty="0">
                <a:latin typeface="+mn-ea"/>
                <a:ea typeface="+mn-ea"/>
              </a:rPr>
              <a:t>Communication consists between a pair of sockets</a:t>
            </a:r>
          </a:p>
          <a:p>
            <a:r>
              <a:rPr lang="en-US" altLang="en-US" sz="2000" dirty="0">
                <a:latin typeface="+mn-ea"/>
                <a:ea typeface="+mn-ea"/>
              </a:rPr>
              <a:t>All ports below 1024 are </a:t>
            </a:r>
            <a:r>
              <a:rPr lang="en-US" altLang="en-US" sz="2000" b="1" i="1" dirty="0">
                <a:latin typeface="+mn-ea"/>
                <a:ea typeface="+mn-ea"/>
              </a:rPr>
              <a:t>well known</a:t>
            </a:r>
            <a:r>
              <a:rPr lang="en-US" altLang="en-US" sz="2000" dirty="0">
                <a:latin typeface="+mn-ea"/>
                <a:ea typeface="+mn-ea"/>
              </a:rPr>
              <a:t>, used for standard services</a:t>
            </a:r>
          </a:p>
          <a:p>
            <a:r>
              <a:rPr lang="en-US" altLang="en-US" sz="2000" dirty="0">
                <a:latin typeface="+mn-ea"/>
                <a:ea typeface="+mn-ea"/>
              </a:rPr>
              <a:t>Special IP address 127.0.0.1 (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loopback</a:t>
            </a:r>
            <a:r>
              <a:rPr lang="en-US" altLang="en-US" sz="2000" dirty="0">
                <a:latin typeface="+mn-ea"/>
                <a:ea typeface="+mn-ea"/>
              </a:rPr>
              <a:t>) to refer to system on which process is running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FC83E3D-06F7-F1E8-3732-E82713589F25}"/>
              </a:ext>
            </a:extLst>
          </p:cNvPr>
          <p:cNvGrpSpPr/>
          <p:nvPr/>
        </p:nvGrpSpPr>
        <p:grpSpPr>
          <a:xfrm>
            <a:off x="838203" y="2194228"/>
            <a:ext cx="7848597" cy="4326316"/>
            <a:chOff x="761999" y="2222275"/>
            <a:chExt cx="7848597" cy="4326316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B73F85EC-5465-C3D9-AE78-74B3E12202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" r="7894"/>
            <a:stretch>
              <a:fillRect/>
            </a:stretch>
          </p:blipFill>
          <p:spPr bwMode="auto">
            <a:xfrm>
              <a:off x="4800596" y="2322080"/>
              <a:ext cx="3810000" cy="4089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C7D7D29-026A-179F-EC80-3B93EC99C0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0" r="4551" b="1869"/>
            <a:stretch>
              <a:fillRect/>
            </a:stretch>
          </p:blipFill>
          <p:spPr bwMode="auto">
            <a:xfrm>
              <a:off x="761999" y="2222275"/>
              <a:ext cx="4005943" cy="4326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8314" y="896558"/>
            <a:ext cx="7173686" cy="129767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en-US" sz="1600" dirty="0"/>
              <a:t>Three types of sockets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1600" b="1" dirty="0">
                <a:solidFill>
                  <a:srgbClr val="006699"/>
                </a:solidFill>
              </a:rPr>
              <a:t>Connection-oriented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(</a:t>
            </a:r>
            <a:r>
              <a:rPr lang="en-US" altLang="en-US" sz="1600" b="1" dirty="0">
                <a:solidFill>
                  <a:srgbClr val="006699"/>
                </a:solidFill>
              </a:rPr>
              <a:t>TCP </a:t>
            </a:r>
            <a:r>
              <a:rPr lang="en-US" altLang="zh-CN" sz="1600" b="1" dirty="0">
                <a:solidFill>
                  <a:srgbClr val="0070C0"/>
                </a:solidFill>
              </a:rPr>
              <a:t>Transmission Control Protocol</a:t>
            </a:r>
            <a:r>
              <a:rPr lang="en-US" altLang="en-US" sz="1600" dirty="0"/>
              <a:t>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1600" b="1" dirty="0">
                <a:solidFill>
                  <a:srgbClr val="006699"/>
                </a:solidFill>
              </a:rPr>
              <a:t>Connectionless</a:t>
            </a:r>
            <a:r>
              <a:rPr lang="en-US" altLang="en-US" sz="1600" dirty="0"/>
              <a:t> (</a:t>
            </a:r>
            <a:r>
              <a:rPr lang="en-US" altLang="en-US" sz="1600" b="1" dirty="0">
                <a:solidFill>
                  <a:srgbClr val="006699"/>
                </a:solidFill>
              </a:rPr>
              <a:t>UDP </a:t>
            </a:r>
            <a:r>
              <a:rPr lang="en-US" altLang="zh-CN" sz="1600" b="1" dirty="0">
                <a:solidFill>
                  <a:srgbClr val="006699"/>
                </a:solidFill>
              </a:rPr>
              <a:t>User Datagram </a:t>
            </a:r>
            <a:r>
              <a:rPr lang="en-US" altLang="zh-CN" sz="1600" b="1" dirty="0" err="1">
                <a:solidFill>
                  <a:srgbClr val="006699"/>
                </a:solidFill>
              </a:rPr>
              <a:t>Prorocal</a:t>
            </a:r>
            <a:r>
              <a:rPr lang="en-US" altLang="zh-CN" sz="1600" b="1" dirty="0">
                <a:solidFill>
                  <a:srgbClr val="006699"/>
                </a:solidFill>
              </a:rPr>
              <a:t> </a:t>
            </a:r>
            <a:r>
              <a:rPr lang="en-US" altLang="en-US" sz="1600" dirty="0"/>
              <a:t>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1600" b="1" dirty="0" err="1"/>
              <a:t>MulticastSocket</a:t>
            </a:r>
            <a:r>
              <a:rPr lang="en-US" altLang="en-US" sz="1600" dirty="0"/>
              <a:t> class – data can be sent to multiple recipients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6416" y="233363"/>
            <a:ext cx="672964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Remote Procedure Calls (1)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957944"/>
            <a:ext cx="7654925" cy="4321628"/>
          </a:xfrm>
        </p:spPr>
        <p:txBody>
          <a:bodyPr/>
          <a:lstStyle/>
          <a:p>
            <a:r>
              <a:rPr lang="en-US" altLang="en-US" sz="2000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sz="2000" dirty="0"/>
              <a:t>Again uses ports for service differentiation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sz="2000" dirty="0"/>
              <a:t> – client-side proxy for the actual procedure on the server</a:t>
            </a:r>
          </a:p>
          <a:p>
            <a:r>
              <a:rPr lang="en-US" altLang="en-US" sz="2000" dirty="0"/>
              <a:t>The client-side stub locates the server 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sz="2000" dirty="0"/>
              <a:t> the parameters</a:t>
            </a:r>
          </a:p>
          <a:p>
            <a:r>
              <a:rPr lang="en-US" altLang="en-US" sz="2000" dirty="0"/>
              <a:t>The server-side stub receives this message, unpacks the marshalled parameters, and performs the procedure on the server</a:t>
            </a:r>
          </a:p>
          <a:p>
            <a:r>
              <a:rPr lang="en-US" altLang="en-US" sz="2000" dirty="0"/>
              <a:t>On Windows, stub code compile from specification written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sz="2000" dirty="0"/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4629" y="241073"/>
            <a:ext cx="6411685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Remote Procedure Calls (2)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4599" y="883420"/>
            <a:ext cx="8035745" cy="2219009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>
              <a:spcBef>
                <a:spcPts val="300"/>
              </a:spcBef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Remote communication has more failure scenarios than local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02F0E9-2E4B-8271-E9DE-8391156D8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0996" y="3139077"/>
            <a:ext cx="6324059" cy="320729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876980"/>
            <a:ext cx="4789714" cy="576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16708</TotalTime>
  <Words>1965</Words>
  <Application>Microsoft Office PowerPoint</Application>
  <PresentationFormat>全屏显示(4:3)</PresentationFormat>
  <Paragraphs>250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Monaco</vt:lpstr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3 : Processes (2)</vt:lpstr>
      <vt:lpstr>What about Filling all the Buffers?</vt:lpstr>
      <vt:lpstr>Producer </vt:lpstr>
      <vt:lpstr>Consumer</vt:lpstr>
      <vt:lpstr>Race Condition (1)</vt:lpstr>
      <vt:lpstr>Race Condition (2)</vt:lpstr>
      <vt:lpstr>IPC – Message Passing (1)</vt:lpstr>
      <vt:lpstr>IPC – Message Passing (2)</vt:lpstr>
      <vt:lpstr>Implementation of Communication Link</vt:lpstr>
      <vt:lpstr>Direct Communication</vt:lpstr>
      <vt:lpstr>Indirect Communication (1)</vt:lpstr>
      <vt:lpstr>Indirect Communication (2)</vt:lpstr>
      <vt:lpstr>Indirect Communication (3)</vt:lpstr>
      <vt:lpstr>Synchronization</vt:lpstr>
      <vt:lpstr>Producer-Consumer: Message Passing</vt:lpstr>
      <vt:lpstr>Buffering</vt:lpstr>
      <vt:lpstr>Examples of IPC Systems - POSIX</vt:lpstr>
      <vt:lpstr>IPC POSIX Producer</vt:lpstr>
      <vt:lpstr>IPC POSIX Consumer</vt:lpstr>
      <vt:lpstr>Examples of IPC Systems - Mach</vt:lpstr>
      <vt:lpstr>Mach Messages</vt:lpstr>
      <vt:lpstr>Mach Message Passing - Server</vt:lpstr>
      <vt:lpstr>Mach Message Passing - Client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Remote Procedure Calls (1)</vt:lpstr>
      <vt:lpstr>Remote Procedure Calls (2)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380</cp:revision>
  <cp:lastPrinted>2013-10-02T18:16:40Z</cp:lastPrinted>
  <dcterms:created xsi:type="dcterms:W3CDTF">2011-01-13T23:43:38Z</dcterms:created>
  <dcterms:modified xsi:type="dcterms:W3CDTF">2025-10-13T21:03:38Z</dcterms:modified>
</cp:coreProperties>
</file>