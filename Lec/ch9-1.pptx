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6"/>
  </p:notesMasterIdLst>
  <p:handoutMasterIdLst>
    <p:handoutMasterId r:id="rId37"/>
  </p:handout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404" r:id="rId13"/>
    <p:sldId id="342" r:id="rId14"/>
    <p:sldId id="343" r:id="rId15"/>
    <p:sldId id="348" r:id="rId16"/>
    <p:sldId id="399" r:id="rId17"/>
    <p:sldId id="349" r:id="rId18"/>
    <p:sldId id="350" r:id="rId19"/>
    <p:sldId id="351" r:id="rId20"/>
    <p:sldId id="352" r:id="rId21"/>
    <p:sldId id="353" r:id="rId22"/>
    <p:sldId id="360" r:id="rId23"/>
    <p:sldId id="361" r:id="rId24"/>
    <p:sldId id="362" r:id="rId25"/>
    <p:sldId id="363" r:id="rId26"/>
    <p:sldId id="419" r:id="rId27"/>
    <p:sldId id="365" r:id="rId28"/>
    <p:sldId id="366" r:id="rId29"/>
    <p:sldId id="367" r:id="rId30"/>
    <p:sldId id="400" r:id="rId31"/>
    <p:sldId id="368" r:id="rId32"/>
    <p:sldId id="369" r:id="rId33"/>
    <p:sldId id="370" r:id="rId34"/>
    <p:sldId id="395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56" d="100"/>
          <a:sy n="56" d="100"/>
        </p:scale>
        <p:origin x="1560" y="3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</a:t>
            </a:r>
            <a:br>
              <a:rPr lang="en-US" altLang="en-US" dirty="0"/>
            </a:br>
            <a:r>
              <a:rPr lang="en-US" altLang="en-US" dirty="0"/>
              <a:t>Main Memory (1)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sz="2000" dirty="0"/>
              <a:t>Background</a:t>
            </a:r>
          </a:p>
          <a:p>
            <a:r>
              <a:rPr lang="en-US" altLang="en-US" sz="2000" dirty="0"/>
              <a:t>Contiguous Memory Allocation</a:t>
            </a:r>
          </a:p>
          <a:p>
            <a:r>
              <a:rPr lang="en-US" altLang="en-US" sz="2000" dirty="0"/>
              <a:t>Paging</a:t>
            </a:r>
          </a:p>
          <a:p>
            <a:r>
              <a:rPr lang="en-US" altLang="en-US" sz="2000" dirty="0"/>
              <a:t>Structure of the Page Table</a:t>
            </a:r>
          </a:p>
          <a:p>
            <a:r>
              <a:rPr lang="en-US" altLang="en-US" sz="2000" dirty="0"/>
              <a:t>Swapping</a:t>
            </a:r>
          </a:p>
          <a:p>
            <a:r>
              <a:rPr lang="en-US" altLang="en-US" sz="2000" dirty="0"/>
              <a:t>Example: The Intel 32 and 64-bit Architectures</a:t>
            </a:r>
          </a:p>
          <a:p>
            <a:r>
              <a:rPr lang="en-US" altLang="en-US" sz="2000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sz="2000" dirty="0"/>
              <a:t>To provide a detailed description of various ways of organizing memory hardware</a:t>
            </a:r>
          </a:p>
          <a:p>
            <a:r>
              <a:rPr lang="en-US" altLang="en-US" sz="2000" dirty="0"/>
              <a:t>To discuss various memory-management techniques, </a:t>
            </a:r>
          </a:p>
          <a:p>
            <a:r>
              <a:rPr lang="en-US" altLang="en-US" sz="2000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sz="2000" dirty="0"/>
              <a:t>Program must be brought (from disk)  into memory and placed within a process for it to be run</a:t>
            </a:r>
          </a:p>
          <a:p>
            <a:r>
              <a:rPr lang="en-US" altLang="en-US" sz="2000" dirty="0"/>
              <a:t>Main memory and registers are only storage CPU can access directly</a:t>
            </a:r>
          </a:p>
          <a:p>
            <a:r>
              <a:rPr lang="en-US" altLang="en-US" sz="2000" dirty="0"/>
              <a:t>Memory unit only sees a stream of:</a:t>
            </a:r>
          </a:p>
          <a:p>
            <a:pPr lvl="1"/>
            <a:r>
              <a:rPr lang="en-US" altLang="en-US" sz="2000" dirty="0"/>
              <a:t>addresses + read requests, or </a:t>
            </a:r>
          </a:p>
          <a:p>
            <a:pPr lvl="1"/>
            <a:r>
              <a:rPr lang="en-US" altLang="en-US" sz="2000" dirty="0"/>
              <a:t>address + data and write requests</a:t>
            </a:r>
          </a:p>
          <a:p>
            <a:r>
              <a:rPr lang="en-US" altLang="en-US" sz="2000" dirty="0"/>
              <a:t>Register access is done in one CPU clock (or less)</a:t>
            </a:r>
          </a:p>
          <a:p>
            <a:r>
              <a:rPr lang="en-US" altLang="en-US" sz="2000" dirty="0"/>
              <a:t>Main memory can take many cycles, causing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sits between main memory and CPU registers</a:t>
            </a:r>
          </a:p>
          <a:p>
            <a:r>
              <a:rPr lang="en-US" altLang="en-US" sz="2000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679794" cy="1673193"/>
          </a:xfrm>
        </p:spPr>
        <p:txBody>
          <a:bodyPr/>
          <a:lstStyle/>
          <a:p>
            <a:r>
              <a:rPr lang="en-US" altLang="en-US" sz="2000" dirty="0"/>
              <a:t>Need to ensure that a process can access only those addresses in its address space.</a:t>
            </a:r>
          </a:p>
          <a:p>
            <a:r>
              <a:rPr lang="en-US" altLang="en-US" sz="2000" dirty="0"/>
              <a:t>We can provide this protection by using  a pair of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and</a:t>
            </a:r>
            <a:r>
              <a:rPr lang="en-US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sz="2000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20" y="304545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2"/>
            <a:ext cx="7380514" cy="4818697"/>
          </a:xfrm>
        </p:spPr>
        <p:txBody>
          <a:bodyPr/>
          <a:lstStyle/>
          <a:p>
            <a:r>
              <a:rPr lang="en-US" altLang="en-US" sz="2000" dirty="0"/>
              <a:t>CPU must check every memory access generated in user mode to be sure it is between base and limit for that user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instructions to loading the base and limit registers are privileged 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15" y="221615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938848"/>
            <a:ext cx="7688424" cy="5210492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kumimoji="0" lang="en-US" altLang="en-US" sz="2000" dirty="0"/>
              <a:t>Programs on disk, ready to be brought into memory to execute form an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>
              <a:spcBef>
                <a:spcPts val="300"/>
              </a:spcBef>
            </a:pPr>
            <a:r>
              <a:rPr kumimoji="0" lang="en-US" altLang="en-US" sz="2000" dirty="0"/>
              <a:t>Without support, must be loaded into address 0000</a:t>
            </a:r>
          </a:p>
          <a:p>
            <a:pPr>
              <a:spcBef>
                <a:spcPts val="300"/>
              </a:spcBef>
            </a:pPr>
            <a:r>
              <a:rPr kumimoji="0" lang="en-US" altLang="en-US" sz="2000" dirty="0"/>
              <a:t>Inconvenient to have first user process physical address always at 0000 </a:t>
            </a:r>
          </a:p>
          <a:p>
            <a:pPr lvl="1">
              <a:spcBef>
                <a:spcPts val="300"/>
              </a:spcBef>
            </a:pPr>
            <a:r>
              <a:rPr kumimoji="0" lang="en-US" altLang="en-US" sz="2000" dirty="0"/>
              <a:t>How can it not be?</a:t>
            </a:r>
            <a:endParaRPr lang="en-US" altLang="en-US" sz="2000" dirty="0"/>
          </a:p>
          <a:p>
            <a:pPr>
              <a:spcBef>
                <a:spcPts val="300"/>
              </a:spcBef>
            </a:pPr>
            <a:r>
              <a:rPr kumimoji="0" lang="en-US" altLang="en-US" sz="2000" dirty="0"/>
              <a:t>Addresses represented in different ways at different stages of a program</a:t>
            </a:r>
            <a:r>
              <a:rPr kumimoji="0" lang="ja-JP" altLang="en-US" sz="2000" dirty="0"/>
              <a:t>’</a:t>
            </a:r>
            <a:r>
              <a:rPr kumimoji="0" lang="en-US" altLang="ja-JP" sz="2000" dirty="0"/>
              <a:t>s life</a:t>
            </a:r>
          </a:p>
          <a:p>
            <a:pPr lvl="1">
              <a:spcBef>
                <a:spcPts val="300"/>
              </a:spcBef>
            </a:pPr>
            <a:r>
              <a:rPr kumimoji="0" lang="en-US" altLang="en-US" sz="2000" dirty="0"/>
              <a:t>Source code addresses usually symbolic</a:t>
            </a:r>
          </a:p>
          <a:p>
            <a:pPr lvl="1">
              <a:spcBef>
                <a:spcPts val="300"/>
              </a:spcBef>
            </a:pPr>
            <a:r>
              <a:rPr kumimoji="0" lang="en-US" altLang="en-US" sz="2000" dirty="0"/>
              <a:t>Compiled code addresses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sz="2000" b="1" dirty="0">
                <a:solidFill>
                  <a:srgbClr val="0000FF"/>
                </a:solidFill>
              </a:rPr>
              <a:t> </a:t>
            </a:r>
            <a:r>
              <a:rPr kumimoji="0" lang="en-US" altLang="en-US" sz="2000" dirty="0"/>
              <a:t>to relocatable addresses</a:t>
            </a:r>
          </a:p>
          <a:p>
            <a:pPr lvl="2">
              <a:spcBef>
                <a:spcPts val="300"/>
              </a:spcBef>
            </a:pPr>
            <a:r>
              <a:rPr kumimoji="0" lang="en-US" altLang="en-US" sz="2000" dirty="0"/>
              <a:t>i.e., </a:t>
            </a:r>
            <a:r>
              <a:rPr kumimoji="0" lang="ja-JP" altLang="en-US" sz="2000" dirty="0"/>
              <a:t>“</a:t>
            </a:r>
            <a:r>
              <a:rPr kumimoji="0" lang="en-US" altLang="ja-JP" sz="2000" dirty="0"/>
              <a:t>14 bytes from beginning of this module</a:t>
            </a:r>
            <a:r>
              <a:rPr kumimoji="0" lang="ja-JP" altLang="en-US" sz="2000" dirty="0"/>
              <a:t>”</a:t>
            </a:r>
            <a:endParaRPr kumimoji="0" lang="en-US" altLang="ja-JP" sz="2000" dirty="0"/>
          </a:p>
          <a:p>
            <a:pPr lvl="1">
              <a:spcBef>
                <a:spcPts val="300"/>
              </a:spcBef>
            </a:pPr>
            <a:r>
              <a:rPr kumimoji="0" lang="en-US" altLang="en-US" sz="2000" dirty="0"/>
              <a:t>Linker or loader will bind relocatable addresses to absolute addresses</a:t>
            </a:r>
          </a:p>
          <a:p>
            <a:pPr lvl="2">
              <a:spcBef>
                <a:spcPts val="300"/>
              </a:spcBef>
            </a:pPr>
            <a:r>
              <a:rPr kumimoji="0" lang="en-US" altLang="en-US" sz="2000" dirty="0"/>
              <a:t>i.e., 74014</a:t>
            </a:r>
          </a:p>
          <a:p>
            <a:pPr lvl="1">
              <a:spcBef>
                <a:spcPts val="300"/>
              </a:spcBef>
            </a:pPr>
            <a:r>
              <a:rPr kumimoji="0" lang="en-US" altLang="en-US" sz="2000" dirty="0"/>
              <a:t>Each binding maps one address space to another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040130"/>
            <a:ext cx="7665488" cy="4480560"/>
          </a:xfrm>
        </p:spPr>
        <p:txBody>
          <a:bodyPr/>
          <a:lstStyle/>
          <a:p>
            <a:r>
              <a:rPr kumimoji="0" lang="en-US" altLang="en-US" sz="2000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sz="2000" b="1" dirty="0"/>
              <a:t>Compile time</a:t>
            </a:r>
            <a:r>
              <a:rPr lang="en-US" altLang="en-US" sz="2000" dirty="0"/>
              <a:t>:  If memory location known a priori,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sz="2000" dirty="0"/>
              <a:t>can be generated; must recompile code if starting location changes</a:t>
            </a:r>
          </a:p>
          <a:p>
            <a:pPr lvl="1"/>
            <a:r>
              <a:rPr lang="en-US" altLang="en-US" sz="2000" b="1" dirty="0"/>
              <a:t>Load time</a:t>
            </a:r>
            <a:r>
              <a:rPr lang="en-US" altLang="en-US" sz="2000" dirty="0"/>
              <a:t>:  Must generate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sz="2000" dirty="0"/>
              <a:t>if memory location is not known at compile time</a:t>
            </a:r>
          </a:p>
          <a:p>
            <a:pPr lvl="1"/>
            <a:r>
              <a:rPr lang="en-US" altLang="en-US" sz="2000" b="1" dirty="0"/>
              <a:t>Execution time</a:t>
            </a:r>
            <a:r>
              <a:rPr lang="en-US" altLang="en-US" sz="2000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sz="2000" dirty="0"/>
              <a:t>Need hardware support for address maps (e.g., base and limit</a:t>
            </a:r>
            <a:r>
              <a:rPr lang="en-US" altLang="en-US" sz="2000" i="1" dirty="0"/>
              <a:t> </a:t>
            </a:r>
            <a:r>
              <a:rPr lang="en-US" altLang="en-US" sz="2000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873" y="994410"/>
            <a:ext cx="2860254" cy="530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019492"/>
            <a:ext cx="7702615" cy="4992687"/>
          </a:xfrm>
        </p:spPr>
        <p:txBody>
          <a:bodyPr/>
          <a:lstStyle/>
          <a:p>
            <a:r>
              <a:rPr lang="en-US" altLang="en-US" sz="2000" dirty="0"/>
              <a:t>The concept of a logical address space that is bound to a separate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central to proper memory management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generated by the CPU; also referred to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address seen by the memory unit</a:t>
            </a:r>
          </a:p>
          <a:p>
            <a:r>
              <a:rPr lang="en-US" altLang="en-US" sz="2000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the set of all logical addresses generated by a program</a:t>
            </a: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the set of all physical addresses generated by a program</a:t>
            </a:r>
          </a:p>
          <a:p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1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7457" y="1056162"/>
            <a:ext cx="7623108" cy="3355818"/>
          </a:xfrm>
        </p:spPr>
        <p:txBody>
          <a:bodyPr/>
          <a:lstStyle/>
          <a:p>
            <a:r>
              <a:rPr lang="en-US" altLang="en-US" sz="2000" dirty="0"/>
              <a:t>Hardware device that at run time maps virtual to physical address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dirty="0"/>
              <a:t>Many methods possible, covered in the rest of this chapter</a:t>
            </a:r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154" y="1923098"/>
            <a:ext cx="6313975" cy="2294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970" y="3366534"/>
            <a:ext cx="4526280" cy="31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(2)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81539"/>
            <a:ext cx="7955280" cy="290179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en-US" dirty="0"/>
              <a:t>Consider simple scheme. which is  a generalization of the base-register scheme</a:t>
            </a:r>
          </a:p>
          <a:p>
            <a:pPr marL="285750" lvl="1">
              <a:spcBef>
                <a:spcPts val="0"/>
              </a:spcBef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spcBef>
                <a:spcPts val="0"/>
              </a:spcBef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spcBef>
                <a:spcPts val="0"/>
              </a:spcBef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spcBef>
                <a:spcPts val="0"/>
              </a:spcBef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spcBef>
                <a:spcPts val="0"/>
              </a:spcBef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429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854" y="970598"/>
            <a:ext cx="7669764" cy="538448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system libraries and program code combined by the loader into the binary program image</a:t>
            </a:r>
          </a:p>
          <a:p>
            <a:r>
              <a:rPr lang="en-US" altLang="en-US" sz="2000" dirty="0"/>
              <a:t>Dynamic linking –linking postponed until execution time</a:t>
            </a:r>
          </a:p>
          <a:p>
            <a:r>
              <a:rPr lang="en-US" altLang="en-US" sz="2000" dirty="0"/>
              <a:t>Small piece of code,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sz="2000" dirty="0"/>
              <a:t>, used to locate the appropriate memory-resident library routine</a:t>
            </a:r>
          </a:p>
          <a:p>
            <a:r>
              <a:rPr lang="en-US" altLang="en-US" sz="2000" dirty="0"/>
              <a:t>Stub replaces itself with the address of the routine, and executes the routine</a:t>
            </a:r>
          </a:p>
          <a:p>
            <a:r>
              <a:rPr lang="en-US" altLang="en-US" sz="2000" dirty="0"/>
              <a:t>Operating system checks if routine is in processes</a:t>
            </a:r>
            <a:r>
              <a:rPr lang="ja-JP" altLang="en-US" sz="2000" dirty="0"/>
              <a:t>’</a:t>
            </a:r>
            <a:r>
              <a:rPr lang="en-US" altLang="ja-JP" sz="2000" dirty="0"/>
              <a:t> memory address</a:t>
            </a:r>
          </a:p>
          <a:p>
            <a:pPr lvl="1"/>
            <a:r>
              <a:rPr lang="en-US" altLang="en-US" sz="2000" dirty="0"/>
              <a:t>If not in address space, add to address space</a:t>
            </a:r>
          </a:p>
          <a:p>
            <a:r>
              <a:rPr lang="en-US" altLang="en-US" sz="2000" dirty="0"/>
              <a:t>Dynamic linking is particularly useful for libraries</a:t>
            </a:r>
          </a:p>
          <a:p>
            <a:r>
              <a:rPr lang="en-US" altLang="en-US" sz="2000" dirty="0"/>
              <a:t>System also 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sz="2000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sz="2000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(1)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934325" cy="3557587"/>
          </a:xfrm>
        </p:spPr>
        <p:txBody>
          <a:bodyPr/>
          <a:lstStyle/>
          <a:p>
            <a:r>
              <a:rPr lang="en-US" altLang="en-US" sz="2000" dirty="0"/>
              <a:t>Main memory must support both OS and user processes</a:t>
            </a:r>
          </a:p>
          <a:p>
            <a:r>
              <a:rPr lang="en-US" altLang="en-US" sz="2000" dirty="0"/>
              <a:t>Limited resource, must allocate efficiently</a:t>
            </a:r>
          </a:p>
          <a:p>
            <a:r>
              <a:rPr lang="en-US" altLang="en-US" sz="2000" dirty="0"/>
              <a:t>Contiguous allocation is one early method</a:t>
            </a:r>
          </a:p>
          <a:p>
            <a:r>
              <a:rPr lang="en-US" altLang="en-US" sz="2000" dirty="0"/>
              <a:t>Main memory usually into two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2000" dirty="0"/>
              <a:t>Resident operating system, usually held in low memory with interrupt vector</a:t>
            </a:r>
          </a:p>
          <a:p>
            <a:pPr lvl="1"/>
            <a:r>
              <a:rPr lang="en-US" altLang="en-US" sz="2000" dirty="0"/>
              <a:t>User processes then held in high memory</a:t>
            </a:r>
          </a:p>
          <a:p>
            <a:pPr lvl="1"/>
            <a:r>
              <a:rPr lang="en-US" altLang="en-US" sz="2000" dirty="0"/>
              <a:t>Each process contained in single contiguous section of memory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(2)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3109912"/>
          </a:xfrm>
        </p:spPr>
        <p:txBody>
          <a:bodyPr/>
          <a:lstStyle/>
          <a:p>
            <a:r>
              <a:rPr lang="en-US" altLang="en-US" sz="2000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sz="2000" dirty="0"/>
              <a:t>Base register contains value of smallest physical address</a:t>
            </a:r>
          </a:p>
          <a:p>
            <a:pPr lvl="1"/>
            <a:r>
              <a:rPr lang="en-US" altLang="en-US" sz="2000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sz="2000" dirty="0"/>
              <a:t>MMU maps logical address </a:t>
            </a:r>
            <a:r>
              <a:rPr lang="en-US" altLang="en-US" sz="2000" i="1" dirty="0"/>
              <a:t>dynamically</a:t>
            </a:r>
          </a:p>
          <a:p>
            <a:pPr lvl="1"/>
            <a:r>
              <a:rPr lang="en-US" altLang="en-US" sz="2000" dirty="0"/>
              <a:t>Can then allow actions such as kernel code being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and kernel changing size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42" y="1347787"/>
            <a:ext cx="7584297" cy="3765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9837" y="935037"/>
            <a:ext cx="8438113" cy="3511233"/>
          </a:xfrm>
        </p:spPr>
        <p:txBody>
          <a:bodyPr/>
          <a:lstStyle/>
          <a:p>
            <a:r>
              <a:rPr lang="en-US" altLang="en-US" sz="2000" dirty="0"/>
              <a:t>Multiple-partition allocation</a:t>
            </a:r>
          </a:p>
          <a:p>
            <a:pPr lvl="1"/>
            <a:r>
              <a:rPr lang="en-US" altLang="en-US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dirty="0"/>
              <a:t> – block of available memory; holes of various size are scattered throughout memory</a:t>
            </a:r>
          </a:p>
          <a:p>
            <a:pPr lvl="1"/>
            <a:r>
              <a:rPr lang="en-US" altLang="en-US" dirty="0"/>
              <a:t>When a process arrives, it is allocated memory from a hole large enough to accommodate it</a:t>
            </a:r>
          </a:p>
          <a:p>
            <a:pPr lvl="1"/>
            <a:r>
              <a:rPr lang="en-US" altLang="en-US" dirty="0"/>
              <a:t>Process exiting frees its partition, adjacent free partitions combined</a:t>
            </a:r>
          </a:p>
          <a:p>
            <a:pPr lvl="1"/>
            <a:r>
              <a:rPr lang="en-US" altLang="en-US" dirty="0"/>
              <a:t>Operating system maintains information about:</a:t>
            </a:r>
            <a:br>
              <a:rPr lang="en-US" altLang="en-US" dirty="0"/>
            </a:br>
            <a:r>
              <a:rPr lang="en-US" altLang="en-US" dirty="0"/>
              <a:t>a) allocated partitions    b) free partitions </a:t>
            </a:r>
            <a:r>
              <a:rPr lang="en-US" altLang="en-US" sz="2000" dirty="0"/>
              <a:t>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57" y="4678887"/>
            <a:ext cx="5733733" cy="170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 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5097" y="1397359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sz="2000" dirty="0"/>
              <a:t>:  Allocate the </a:t>
            </a:r>
            <a:r>
              <a:rPr lang="en-US" altLang="en-US" sz="2000" b="1" i="1" dirty="0"/>
              <a:t>first</a:t>
            </a:r>
            <a:r>
              <a:rPr lang="en-US" altLang="en-US" sz="2000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sz="2000" dirty="0"/>
              <a:t>:  Allocate the </a:t>
            </a:r>
            <a:r>
              <a:rPr lang="en-US" altLang="en-US" sz="2000" b="1" i="1" dirty="0"/>
              <a:t>smallest</a:t>
            </a:r>
            <a:r>
              <a:rPr lang="en-US" altLang="en-US" sz="2000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sz="2000" dirty="0"/>
              <a:t>:  Allocate the </a:t>
            </a:r>
            <a:r>
              <a:rPr lang="en-US" altLang="en-US" sz="2000" b="1" i="1" dirty="0"/>
              <a:t>largest</a:t>
            </a:r>
            <a:r>
              <a:rPr lang="en-US" altLang="en-US" sz="2000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916" y="945645"/>
            <a:ext cx="6181490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</a:t>
            </a:r>
            <a:r>
              <a:rPr lang="en-US" altLang="en-US" sz="2000" dirty="0">
                <a:latin typeface="Helvetica" panose="020B0604020202020204" pitchFamily="34" charset="0"/>
              </a:rPr>
              <a:t>satisfy</a:t>
            </a:r>
            <a:r>
              <a:rPr lang="en-US" altLang="en-US" dirty="0">
                <a:latin typeface="Helvetica" panose="020B0604020202020204" pitchFamily="34" charset="0"/>
              </a:rPr>
              <a:t>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953" y="4054055"/>
            <a:ext cx="7222121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000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 (1)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897255"/>
            <a:ext cx="7663186" cy="2785678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total memory space exists to satisfy a request, but it is not contiguous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allocated memory may be slightly larger than requested memory; this size difference is memory internal to a partition, but not being used</a:t>
            </a:r>
          </a:p>
          <a:p>
            <a:pPr>
              <a:spcBef>
                <a:spcPts val="600"/>
              </a:spcBef>
            </a:pPr>
            <a:r>
              <a:rPr lang="en-US" altLang="en-US" sz="2000" dirty="0"/>
              <a:t>First fit analysis reveals that given </a:t>
            </a:r>
            <a:r>
              <a:rPr lang="en-US" altLang="en-US" sz="2000" i="1" dirty="0"/>
              <a:t>N</a:t>
            </a:r>
            <a:r>
              <a:rPr lang="en-US" altLang="en-US" sz="2000" dirty="0"/>
              <a:t> blocks allocated, 0.5 </a:t>
            </a:r>
            <a:r>
              <a:rPr lang="en-US" altLang="en-US" sz="2000" i="1" dirty="0"/>
              <a:t>N</a:t>
            </a:r>
            <a:r>
              <a:rPr lang="en-US" altLang="en-US" sz="2000" dirty="0"/>
              <a:t> blocks lost to fragmentation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/>
              <a:t>1/3 may be unusable -&gt;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A7398E0-2613-9799-6880-6F6452DD2F90}"/>
              </a:ext>
            </a:extLst>
          </p:cNvPr>
          <p:cNvGrpSpPr/>
          <p:nvPr/>
        </p:nvGrpSpPr>
        <p:grpSpPr>
          <a:xfrm>
            <a:off x="1196038" y="3767546"/>
            <a:ext cx="3263575" cy="2670288"/>
            <a:chOff x="1196038" y="3828598"/>
            <a:chExt cx="3263575" cy="267028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5C9E505-D86F-4D7C-C348-6E185EF5D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808" r="37383"/>
            <a:stretch>
              <a:fillRect/>
            </a:stretch>
          </p:blipFill>
          <p:spPr>
            <a:xfrm>
              <a:off x="1196038" y="3828598"/>
              <a:ext cx="3263575" cy="2362512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420FB5E-0ADC-0249-6482-08A3ADF531FC}"/>
                </a:ext>
              </a:extLst>
            </p:cNvPr>
            <p:cNvSpPr txBox="1"/>
            <p:nvPr/>
          </p:nvSpPr>
          <p:spPr>
            <a:xfrm>
              <a:off x="1500188" y="6191109"/>
              <a:ext cx="29594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b="1" dirty="0">
                  <a:solidFill>
                    <a:srgbClr val="006699"/>
                  </a:solidFill>
                  <a:latin typeface="+mj-lt"/>
                </a:rPr>
                <a:t>External</a:t>
              </a:r>
              <a:r>
                <a:rPr lang="en-US" altLang="en-US" sz="1400" b="1" dirty="0">
                  <a:solidFill>
                    <a:srgbClr val="3366FF"/>
                  </a:solidFill>
                </a:rPr>
                <a:t> </a:t>
              </a:r>
              <a:r>
                <a:rPr lang="en-US" altLang="en-US" sz="1400" b="1" dirty="0">
                  <a:solidFill>
                    <a:srgbClr val="006699"/>
                  </a:solidFill>
                  <a:latin typeface="+mj-lt"/>
                </a:rPr>
                <a:t>Fragmentation</a:t>
              </a:r>
              <a:r>
                <a:rPr lang="en-US" altLang="en-US" sz="1400" dirty="0">
                  <a:solidFill>
                    <a:srgbClr val="3366FF"/>
                  </a:solidFill>
                </a:rPr>
                <a:t> </a:t>
              </a:r>
              <a:endParaRPr lang="zh-CN" altLang="en-US" sz="14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4ED6744-B121-E3D7-FC20-E84AD8434488}"/>
              </a:ext>
            </a:extLst>
          </p:cNvPr>
          <p:cNvGrpSpPr/>
          <p:nvPr/>
        </p:nvGrpSpPr>
        <p:grpSpPr>
          <a:xfrm>
            <a:off x="4829895" y="3811493"/>
            <a:ext cx="3266514" cy="2649201"/>
            <a:chOff x="4532715" y="3811493"/>
            <a:chExt cx="3266514" cy="264920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478550F-1B23-6208-CC6B-EC670AA7F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0508"/>
            <a:stretch>
              <a:fillRect/>
            </a:stretch>
          </p:blipFill>
          <p:spPr>
            <a:xfrm>
              <a:off x="4532715" y="3811493"/>
              <a:ext cx="3266514" cy="2362512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80E8AC5-5833-1AF4-EECC-83462B9AA1EC}"/>
                </a:ext>
              </a:extLst>
            </p:cNvPr>
            <p:cNvSpPr txBox="1"/>
            <p:nvPr/>
          </p:nvSpPr>
          <p:spPr>
            <a:xfrm>
              <a:off x="4878213" y="6152917"/>
              <a:ext cx="26765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b="1" dirty="0">
                  <a:solidFill>
                    <a:srgbClr val="006699"/>
                  </a:solidFill>
                  <a:latin typeface="+mj-lt"/>
                </a:rPr>
                <a:t>Internal</a:t>
              </a:r>
              <a:r>
                <a:rPr lang="en-US" altLang="en-US" sz="1400" b="1" dirty="0">
                  <a:solidFill>
                    <a:srgbClr val="3366FF"/>
                  </a:solidFill>
                </a:rPr>
                <a:t> </a:t>
              </a:r>
              <a:r>
                <a:rPr lang="en-US" altLang="en-US" sz="1400" b="1" dirty="0">
                  <a:solidFill>
                    <a:srgbClr val="006699"/>
                  </a:solidFill>
                  <a:latin typeface="+mj-lt"/>
                </a:rPr>
                <a:t>Fragmentation</a:t>
              </a:r>
              <a:r>
                <a:rPr lang="en-US" altLang="en-US" sz="1400" dirty="0">
                  <a:solidFill>
                    <a:srgbClr val="3366FF"/>
                  </a:solidFill>
                </a:rPr>
                <a:t> </a:t>
              </a:r>
              <a:endParaRPr lang="zh-CN" altLang="en-US" sz="14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(2)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3966527"/>
          </a:xfrm>
        </p:spPr>
        <p:txBody>
          <a:bodyPr/>
          <a:lstStyle/>
          <a:p>
            <a:r>
              <a:rPr lang="en-US" altLang="en-US" sz="2000" dirty="0"/>
              <a:t>Reduce external fragmentation by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sz="2000" dirty="0"/>
              <a:t>Shuffle memory contents to place all free memory together in one large block</a:t>
            </a:r>
          </a:p>
          <a:p>
            <a:pPr lvl="1"/>
            <a:r>
              <a:rPr lang="en-US" altLang="en-US" sz="2000" dirty="0"/>
              <a:t>Compaction is possible </a:t>
            </a:r>
            <a:r>
              <a:rPr lang="en-US" altLang="en-US" sz="2000" i="1" dirty="0"/>
              <a:t>only</a:t>
            </a:r>
            <a:r>
              <a:rPr lang="en-US" altLang="en-US" sz="2000" dirty="0"/>
              <a:t> if relocation is dynamic, and is done at execution time</a:t>
            </a:r>
          </a:p>
          <a:p>
            <a:pPr lvl="1"/>
            <a:r>
              <a:rPr lang="en-US" altLang="en-US" sz="2000" dirty="0"/>
              <a:t>I/O problem</a:t>
            </a:r>
          </a:p>
          <a:p>
            <a:pPr lvl="2"/>
            <a:r>
              <a:rPr lang="en-US" altLang="en-US" sz="2000" dirty="0"/>
              <a:t>Latch job in memory while it is involved in I/O</a:t>
            </a:r>
          </a:p>
          <a:p>
            <a:pPr lvl="2"/>
            <a:r>
              <a:rPr lang="en-US" altLang="en-US" sz="2000" dirty="0"/>
              <a:t>Do I/O only into OS buffers</a:t>
            </a:r>
          </a:p>
          <a:p>
            <a:r>
              <a:rPr lang="en-US" altLang="en-US" sz="2000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93872"/>
            <a:ext cx="7683500" cy="4270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7701" y="134937"/>
            <a:ext cx="5664201" cy="644525"/>
          </a:xfrm>
        </p:spPr>
        <p:txBody>
          <a:bodyPr/>
          <a:lstStyle/>
          <a:p>
            <a:pPr eaLnBrk="1" hangingPunct="1"/>
            <a:r>
              <a:rPr lang="en-US" altLang="en-US" dirty="0"/>
              <a:t>Paging Model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D79BA4-20E8-73F0-D260-B0697E4EAF9D}"/>
              </a:ext>
            </a:extLst>
          </p:cNvPr>
          <p:cNvGrpSpPr/>
          <p:nvPr/>
        </p:nvGrpSpPr>
        <p:grpSpPr>
          <a:xfrm>
            <a:off x="1917701" y="1075790"/>
            <a:ext cx="5588000" cy="5325010"/>
            <a:chOff x="1714501" y="859890"/>
            <a:chExt cx="4344987" cy="5138219"/>
          </a:xfrm>
        </p:grpSpPr>
        <p:pic>
          <p:nvPicPr>
            <p:cNvPr id="28675" name="Picture 1030">
              <a:extLst>
                <a:ext uri="{FF2B5EF4-FFF2-40B4-BE49-F238E27FC236}">
                  <a16:creationId xmlns:a16="http://schemas.microsoft.com/office/drawing/2014/main" id="{A17EFDC3-16BC-41C6-9509-A548649291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986"/>
            <a:stretch/>
          </p:blipFill>
          <p:spPr bwMode="auto">
            <a:xfrm>
              <a:off x="4408489" y="859890"/>
              <a:ext cx="1650999" cy="5138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1030">
              <a:extLst>
                <a:ext uri="{FF2B5EF4-FFF2-40B4-BE49-F238E27FC236}">
                  <a16:creationId xmlns:a16="http://schemas.microsoft.com/office/drawing/2014/main" id="{E910BEB1-9DD9-F969-D40D-208C3CD2C8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817" t="16127" r="38557" b="50011"/>
            <a:stretch/>
          </p:blipFill>
          <p:spPr bwMode="auto">
            <a:xfrm>
              <a:off x="1714501" y="1282700"/>
              <a:ext cx="1244600" cy="173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Picture 1030">
              <a:extLst>
                <a:ext uri="{FF2B5EF4-FFF2-40B4-BE49-F238E27FC236}">
                  <a16:creationId xmlns:a16="http://schemas.microsoft.com/office/drawing/2014/main" id="{316D7263-2845-D390-0F23-057E746617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218" r="81039" b="38888"/>
            <a:stretch/>
          </p:blipFill>
          <p:spPr bwMode="auto">
            <a:xfrm>
              <a:off x="3365501" y="1282700"/>
              <a:ext cx="1042988" cy="271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24" y="926305"/>
            <a:ext cx="7604449" cy="728661"/>
          </a:xfrm>
        </p:spPr>
        <p:txBody>
          <a:bodyPr/>
          <a:lstStyle/>
          <a:p>
            <a:r>
              <a:rPr lang="en-US" altLang="en-US" sz="2000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1769214"/>
            <a:ext cx="3581400" cy="4463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411" y="152608"/>
            <a:ext cx="7669529" cy="636588"/>
          </a:xfrm>
        </p:spPr>
        <p:txBody>
          <a:bodyPr/>
          <a:lstStyle/>
          <a:p>
            <a:r>
              <a:rPr lang="en-US" altLang="en-US" sz="28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837744" cy="4633912"/>
          </a:xfrm>
        </p:spPr>
        <p:txBody>
          <a:bodyPr/>
          <a:lstStyle/>
          <a:p>
            <a:r>
              <a:rPr lang="en-US" altLang="en-US" sz="2000" dirty="0"/>
              <a:t>Page size = 2,048 bytes</a:t>
            </a:r>
          </a:p>
          <a:p>
            <a:r>
              <a:rPr lang="en-US" altLang="en-US" sz="2000" dirty="0"/>
              <a:t>Process size = 72,766 bytes</a:t>
            </a:r>
          </a:p>
          <a:p>
            <a:r>
              <a:rPr lang="en-US" altLang="en-US" sz="2000" dirty="0"/>
              <a:t>35 pages + 1,086 bytes</a:t>
            </a:r>
          </a:p>
          <a:p>
            <a:r>
              <a:rPr lang="en-US" altLang="en-US" sz="2000" dirty="0"/>
              <a:t>Internal fragmentation of 2,048 - 1,086 = 962 bytes</a:t>
            </a:r>
          </a:p>
          <a:p>
            <a:r>
              <a:rPr lang="en-US" altLang="en-US" sz="2000" dirty="0"/>
              <a:t>Worst case fragmentation = 1 frame – 1 byte</a:t>
            </a:r>
          </a:p>
          <a:p>
            <a:r>
              <a:rPr lang="en-US" altLang="en-US" sz="2000" dirty="0"/>
              <a:t>On average fragmentation = 1 / 2 frame size</a:t>
            </a:r>
          </a:p>
          <a:p>
            <a:r>
              <a:rPr lang="en-US" altLang="en-US" sz="2000" dirty="0"/>
              <a:t>So small frame sizes desirable?</a:t>
            </a:r>
          </a:p>
          <a:p>
            <a:r>
              <a:rPr lang="en-US" altLang="en-US" sz="2000" dirty="0"/>
              <a:t>But each page table entry takes memory to track</a:t>
            </a:r>
          </a:p>
          <a:p>
            <a:r>
              <a:rPr lang="en-US" altLang="en-US" sz="2000" dirty="0"/>
              <a:t>Page sizes growing over time</a:t>
            </a:r>
          </a:p>
          <a:p>
            <a:pPr lvl="1"/>
            <a:r>
              <a:rPr lang="en-US" altLang="en-US" sz="2000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sz="2000" dirty="0"/>
              <a:t>Page table is kept in main memory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points to the page table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indicates size of the page table</a:t>
            </a:r>
          </a:p>
          <a:p>
            <a:r>
              <a:rPr lang="en-US" altLang="en-US" sz="2000" dirty="0"/>
              <a:t>In this scheme every data/instruction access requires two memory accesses</a:t>
            </a:r>
          </a:p>
          <a:p>
            <a:pPr lvl="1"/>
            <a:r>
              <a:rPr lang="en-US" altLang="en-US" sz="2000" dirty="0"/>
              <a:t>One for the page table and one for the data / instruction</a:t>
            </a:r>
          </a:p>
          <a:p>
            <a:r>
              <a:rPr lang="en-US" altLang="en-US" sz="2000" dirty="0"/>
              <a:t>The two-memory access problem can be solved by the use of a special fast-lookup hardware cache called 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sz="2000" dirty="0"/>
              <a:t>) (also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2000" dirty="0"/>
              <a:t>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710819" cy="3768725"/>
          </a:xfrm>
        </p:spPr>
        <p:txBody>
          <a:bodyPr/>
          <a:lstStyle/>
          <a:p>
            <a:r>
              <a:rPr lang="en-US" altLang="en-US" sz="2000" dirty="0"/>
              <a:t>Some TLBs store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sz="2000" dirty="0"/>
              <a:t>Otherwise need to flush at every context switch</a:t>
            </a:r>
          </a:p>
          <a:p>
            <a:r>
              <a:rPr lang="en-US" altLang="en-US" sz="2000" dirty="0"/>
              <a:t>TLBs typically small (64 to 1,024 entries)</a:t>
            </a:r>
          </a:p>
          <a:p>
            <a:r>
              <a:rPr lang="en-US" altLang="en-US" sz="2000" dirty="0"/>
              <a:t>On a TLB miss, value is loaded into the TLB for faster access next time</a:t>
            </a:r>
          </a:p>
          <a:p>
            <a:pPr lvl="1"/>
            <a:r>
              <a:rPr lang="en-US" altLang="en-US" sz="2000" dirty="0"/>
              <a:t>Replacement policies must be considered</a:t>
            </a:r>
          </a:p>
          <a:p>
            <a:pPr lvl="1"/>
            <a:r>
              <a:rPr lang="en-US" altLang="en-US" sz="2000" dirty="0"/>
              <a:t>Some entries can be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for permanent fast access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4439" y="1211263"/>
            <a:ext cx="7312401" cy="4483100"/>
          </a:xfrm>
        </p:spPr>
        <p:txBody>
          <a:bodyPr/>
          <a:lstStyle/>
          <a:p>
            <a:r>
              <a:rPr lang="en-US" altLang="en-US" sz="2000" dirty="0"/>
              <a:t>Associative memory – parallel search 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r>
              <a:rPr lang="en-US" altLang="en-US" sz="2000" dirty="0"/>
              <a:t>Address translation (p, d)</a:t>
            </a:r>
          </a:p>
          <a:p>
            <a:pPr marL="627063" lvl="1"/>
            <a:r>
              <a:rPr lang="en-US" altLang="en-US" sz="2000" dirty="0"/>
              <a:t>If p is in associative register, get frame # out</a:t>
            </a:r>
          </a:p>
          <a:p>
            <a:pPr marL="627063" lvl="1"/>
            <a:r>
              <a:rPr lang="en-US" altLang="en-US" sz="2000" dirty="0"/>
              <a:t>Otherwise get frame # from page table in memory</a:t>
            </a:r>
          </a:p>
          <a:p>
            <a:pPr marL="627063" lvl="1"/>
            <a:endParaRPr lang="en-US" altLang="en-US" sz="2000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1838325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284287"/>
            <a:ext cx="6675119" cy="5045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948690"/>
            <a:ext cx="7772400" cy="539496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An </a:t>
            </a:r>
            <a:r>
              <a:rPr lang="en-US" altLang="en-US" sz="2000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sz="2000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sz="2000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sz="2000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sz="2000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sz="2000" dirty="0">
                <a:sym typeface="Symbol" pitchFamily="18" charset="2"/>
              </a:rPr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sz="2000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	               EAT = </a:t>
            </a:r>
            <a:r>
              <a:rPr lang="en-US" altLang="en-US" sz="2000" dirty="0">
                <a:sym typeface="Symbol" pitchFamily="18" charset="2"/>
              </a:rPr>
              <a:t>0.80 x 10 + 0.20 x 20 = 12 </a:t>
            </a:r>
            <a:r>
              <a:rPr lang="en-US" altLang="en-US" sz="2000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sz="2000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sz="2000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sz="20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Take a Break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12893</TotalTime>
  <Words>1945</Words>
  <Application>Microsoft Office PowerPoint</Application>
  <PresentationFormat>全屏显示(4:3)</PresentationFormat>
  <Paragraphs>261</Paragraphs>
  <Slides>34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Monotype Sorts</vt:lpstr>
      <vt:lpstr>Arial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9 Main Memory (1)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(1)</vt:lpstr>
      <vt:lpstr>Memory-Management Unit (2)</vt:lpstr>
      <vt:lpstr>Dynamic Loading</vt:lpstr>
      <vt:lpstr>Dynamic Linking</vt:lpstr>
      <vt:lpstr>Contiguous Allocation (1)</vt:lpstr>
      <vt:lpstr>Contiguous Allocation (2)</vt:lpstr>
      <vt:lpstr>Hardware Support for Relocation and Limit Registers</vt:lpstr>
      <vt:lpstr> Variable Partition</vt:lpstr>
      <vt:lpstr>Dynamic Storage Allocation Problem</vt:lpstr>
      <vt:lpstr>Fragmentation (1)</vt:lpstr>
      <vt:lpstr>Fragmentation (2)</vt:lpstr>
      <vt:lpstr>Paging</vt:lpstr>
      <vt:lpstr>Address Translation Scheme</vt:lpstr>
      <vt:lpstr>Paging Hardware</vt:lpstr>
      <vt:lpstr>Paging Model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Prof. Chung Yehching (SDS)</cp:lastModifiedBy>
  <cp:revision>360</cp:revision>
  <cp:lastPrinted>2013-09-30T19:34:56Z</cp:lastPrinted>
  <dcterms:created xsi:type="dcterms:W3CDTF">2011-01-13T23:43:38Z</dcterms:created>
  <dcterms:modified xsi:type="dcterms:W3CDTF">2025-10-29T19:39:12Z</dcterms:modified>
</cp:coreProperties>
</file>