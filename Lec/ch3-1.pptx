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7"/>
  </p:notesMasterIdLst>
  <p:handoutMasterIdLst>
    <p:handoutMasterId r:id="rId38"/>
  </p:handoutMasterIdLst>
  <p:sldIdLst>
    <p:sldId id="330" r:id="rId2"/>
    <p:sldId id="411" r:id="rId3"/>
    <p:sldId id="412" r:id="rId4"/>
    <p:sldId id="413" r:id="rId5"/>
    <p:sldId id="468" r:id="rId6"/>
    <p:sldId id="414" r:id="rId7"/>
    <p:sldId id="499" r:id="rId8"/>
    <p:sldId id="415" r:id="rId9"/>
    <p:sldId id="417" r:id="rId10"/>
    <p:sldId id="419" r:id="rId11"/>
    <p:sldId id="469" r:id="rId12"/>
    <p:sldId id="421" r:id="rId13"/>
    <p:sldId id="422" r:id="rId14"/>
    <p:sldId id="423" r:id="rId15"/>
    <p:sldId id="500" r:id="rId16"/>
    <p:sldId id="501" r:id="rId17"/>
    <p:sldId id="426" r:id="rId18"/>
    <p:sldId id="428" r:id="rId19"/>
    <p:sldId id="429" r:id="rId20"/>
    <p:sldId id="431" r:id="rId21"/>
    <p:sldId id="430" r:id="rId22"/>
    <p:sldId id="432" r:id="rId23"/>
    <p:sldId id="478" r:id="rId24"/>
    <p:sldId id="434" r:id="rId25"/>
    <p:sldId id="471" r:id="rId26"/>
    <p:sldId id="502" r:id="rId27"/>
    <p:sldId id="435" r:id="rId28"/>
    <p:sldId id="436" r:id="rId29"/>
    <p:sldId id="437" r:id="rId30"/>
    <p:sldId id="516" r:id="rId31"/>
    <p:sldId id="503" r:id="rId32"/>
    <p:sldId id="490" r:id="rId33"/>
    <p:sldId id="491" r:id="rId34"/>
    <p:sldId id="492" r:id="rId35"/>
    <p:sldId id="526" r:id="rId36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0" autoAdjust="0"/>
    <p:restoredTop sz="94635"/>
  </p:normalViewPr>
  <p:slideViewPr>
    <p:cSldViewPr snapToGrid="0">
      <p:cViewPr varScale="1">
        <p:scale>
          <a:sx n="59" d="100"/>
          <a:sy n="59" d="100"/>
        </p:scale>
        <p:origin x="1520" y="5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BA12DC8-9922-4E6E-BC02-F6A63767218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E72947A-FE2E-4445-85D8-C03306D26DD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C64A7CC0-6DD4-4720-82BF-E4908F4AFFA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BE9BEEC-119C-420C-8C74-AFCA5FA1C4C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896B91AD-C34E-4B05-8D9C-1014E5F01E3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715B35B-6971-4CC0-B4FB-95B01BCF42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A02FF1F-3F52-47A2-B35E-EBB0E228297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2612CE7-EF94-4293-9356-A0763F4E73E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43BD7482-5C58-44F9-A08E-BFE34494D0D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AC6369B-F957-4079-90E1-CA217ED505C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D62366FD-3440-43D4-A730-7A55A662E4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73B872E8-FDB0-4502-A51A-B7A4A00AC4E7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CDEF1EC1-A032-4256-A5B8-82331B81B1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B6FBBD-AF90-4377-83FA-2F3819AD38A1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DCEB876-7853-4EC8-86DE-2233D519AA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1317CDD3-494C-45D9-A8EF-4B0E12327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0DF96DF-3F74-4EB3-AA2E-7D9494973A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2557FD8-EB60-4E74-935E-C71DFE670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BCFB357-A457-418B-BC82-12A7792871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AC72817-56C5-4C77-BF6F-D63723000C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730F164-3563-441D-A2BB-9ECF873C6B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8081F0E-1362-4F6F-BE70-E88D6BFB0B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FB97593-0041-4772-A59B-E780BE22D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77EF500-B7A4-4BC7-84F3-DC9FCA5B5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55D7E6C-E4BC-4E16-83B1-ED424A3548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6D47F81-B4E3-449F-BAFA-037C273646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9F52C5D-9955-47A2-9EA6-38FEB66EF3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6218432-9C5A-4AD0-9E05-B77965972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F878B3E-8479-4A7F-B924-0DB8314B23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282D934-92EA-49D5-A68F-69E0FE530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9AB2CB0-7084-4003-8F6F-84F247F5EB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808F682-D9AD-4570-A2CA-1F45861E4D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3D975521-C031-44A8-80BF-39B38B75F0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A3DECD5-2795-49AC-8BF6-9DFEFF419D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BB1EDE5-9E4C-42E1-B87C-545C7237B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24A6F99-D8AD-44C9-8834-3BFC2627FE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A783162-EACC-46A4-B314-BFAA15B50D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DCB06C7-C4C1-4DF4-AE1C-75C2D1E2FA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19DD103-275F-46A0-BEB3-576DC18D62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9ADCDDC-7641-41D4-AAB2-2DC5DA9547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FCFEC24-8D51-4AAB-8657-81C987750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FAB513B-E127-4650-9171-574B0AF722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40D38BF-69C0-4827-8412-7858C3DF17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44858F79-C01D-482F-8DDE-C80780DD0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EC96916-1BAE-4A4E-BF94-2604763DB9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FEBB5C8-282F-4906-80B9-C81D701613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17605DEB-C81B-41F2-ABA8-D21CD717FA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20811E7-D32E-4B74-9C5E-4F2EBBA715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CADFF460-F732-4F8E-9BEC-BDC62B69C0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427A0BF-8535-41FD-9918-F0C0C2585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97FF49F-1D45-469B-875E-F2DC1DDA4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49FD0D0-FC60-49A7-A825-489FF222C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6060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6C03FFC-61A1-4E2B-BB58-CEF8239A97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E1C4ACA0-7908-4D31-AF21-00AD91730D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74A77185-263F-40EF-B517-050039163E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93895C72-BFF8-4918-95C2-8FFB7A879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599F2A1A-F415-4861-9317-8DF50F438D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68EDBADE-A031-473C-85B2-8404A6820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03A7F482-09C8-4234-BA8B-E06C784513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F97F5174-3BAF-4B1B-846E-3DB7430B29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46F678B6-0AFA-4070-84E8-E0DDD2DCB2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607DE2B4-6350-4A16-8897-F8F2804C1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B8301404-D876-4FA9-9859-EB43354FAF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B83674B-F150-4C3E-831A-26B553169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4F8BBD9-185E-425D-9763-2A1219F950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C11B4F24-2CE2-4D89-BDF4-88019FD32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8254272E-8B5C-40B4-A4EA-B3AC215586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9D1E1BBA-BF49-429D-819D-3CEAF021F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431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8239251B-FC33-4D40-B148-0129E1B72A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17AC1CC3-87E4-46BB-A172-67B5A6F5F1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9012D2EB-E5CC-432C-AA35-77EFC9F894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03456285-A128-4E7C-BB44-15A078AAE0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0D856385-0064-4BB9-8988-5686214725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889C8C6F-0009-4DC3-B43A-17955C7C84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B49629EB-AB81-479E-8FE7-E7DEFE8390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F6953B83-564C-41A0-B89B-0BB8D611BF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D6E874EA-6D46-4D5A-A67E-32C6E4712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DC88E0-05A8-4892-B21E-9326A8D3E05F}" type="slidenum">
              <a:rPr lang="en-US" altLang="en-US" smtClean="0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6CF1BC6-EF44-430B-853A-1916C3A57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BC5144-BC73-40F2-9D46-6DC1B56AC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393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F785276E-E512-431C-9863-60C16073997B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A16CBBBC-832D-4981-B7BE-1E6129BC1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ECCF6664-2599-48D7-AF8C-34B0B9441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C5EC98FB-CBB8-449B-A94E-B0B58773A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F334230E-B06E-4011-9947-832BC9534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25BFB58C-5B52-429B-BF7C-2A3DD468A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D3E76B3A-1933-415B-8018-61828BE85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568F85F6-D2B1-49C8-8F26-5A6CD47E8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>
              <a:defRPr/>
            </a:pPr>
            <a:endParaRPr lang="x-none" altLang="x-none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68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006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660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687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90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732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39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029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386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9121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9995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4B7DADE-05C1-4235-BC95-7FD16DF5A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2C13949F-D9D1-4EE3-9FC6-AFE9404AE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5425"/>
            <a:ext cx="80772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156033E-2A1D-44DE-9E54-71D4B4B6E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90575" y="1233488"/>
            <a:ext cx="7743825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4A806BF-A0C0-4368-AD58-420F34B3A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8CA0CBE-E7DB-4B13-BE0C-81E2F34D25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66E26E9-18B9-458C-AE7B-19180B81E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CCFF09E-8C15-497C-99D4-D11290D2D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332EE4A3-5FFF-44B0-9A59-5F8CE7D75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x-none" sz="1000" b="1">
                <a:solidFill>
                  <a:srgbClr val="006699"/>
                </a:solidFill>
                <a:latin typeface="Helvetica" charset="0"/>
              </a:rPr>
              <a:t>3.</a:t>
            </a:r>
            <a:fld id="{A6EDADC4-5648-406C-94CA-EDDB863B04E2}" type="slidenum">
              <a:rPr lang="en-US" altLang="x-none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x-none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4AE1926B-ED4A-404A-BC01-96D11B8A4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0963" y="6613525"/>
            <a:ext cx="2713037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32010AC7-36CA-437D-BB87-25E8B15E0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59447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09E176C0-BBA8-45C3-9F79-40005E1FF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15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1" r:id="rId8"/>
    <p:sldLayoutId id="2147484212" r:id="rId9"/>
    <p:sldLayoutId id="2147484213" r:id="rId10"/>
    <p:sldLayoutId id="214748421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BD8569B-4861-4CBE-8902-C2DD5C49C8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71475" y="1831975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Chapter 3 </a:t>
            </a:r>
            <a:r>
              <a:rPr lang="zh-CN" altLang="en-US"/>
              <a:t>： </a:t>
            </a:r>
            <a:r>
              <a:rPr lang="en-US" altLang="en-US"/>
              <a:t>Processes (1)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3F2AA79-94D9-4276-9C41-F8DFF30014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44650" y="228600"/>
            <a:ext cx="6380163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C7B4A6B-A9B9-465A-90EA-66F5770523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1688" y="1149350"/>
            <a:ext cx="7791450" cy="3822700"/>
          </a:xfrm>
        </p:spPr>
        <p:txBody>
          <a:bodyPr/>
          <a:lstStyle/>
          <a:p>
            <a:r>
              <a:rPr lang="en-US" altLang="en-US" sz="2000" dirty="0"/>
              <a:t>Process Concept</a:t>
            </a:r>
          </a:p>
          <a:p>
            <a:r>
              <a:rPr lang="en-US" altLang="en-US" sz="2000" dirty="0"/>
              <a:t>Process Scheduling</a:t>
            </a:r>
          </a:p>
          <a:p>
            <a:r>
              <a:rPr lang="en-US" altLang="en-US" sz="2000" dirty="0"/>
              <a:t>Operations on Processes</a:t>
            </a:r>
          </a:p>
          <a:p>
            <a:r>
              <a:rPr lang="en-US" altLang="en-US" sz="2000" dirty="0"/>
              <a:t>Interprocess Communication</a:t>
            </a:r>
          </a:p>
          <a:p>
            <a:r>
              <a:rPr lang="en-US" altLang="en-US" sz="2000" dirty="0"/>
              <a:t>IPC in Shared-Memory Systems</a:t>
            </a:r>
          </a:p>
          <a:p>
            <a:r>
              <a:rPr lang="en-US" altLang="en-US" sz="2000" dirty="0"/>
              <a:t>IPC in Message-Passing Systems</a:t>
            </a:r>
          </a:p>
          <a:p>
            <a:r>
              <a:rPr lang="en-US" altLang="en-US" sz="2000" dirty="0"/>
              <a:t>Examples of IPC Systems</a:t>
            </a:r>
          </a:p>
          <a:p>
            <a:r>
              <a:rPr lang="en-US" altLang="en-US" sz="2000" dirty="0"/>
              <a:t>Communication in Client-Server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8163CEC-73A6-4E96-880E-3A57C5F4B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A0DD2938-EA4E-48BC-A833-20DE32AC1B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50228" y="1138238"/>
            <a:ext cx="8229600" cy="4530725"/>
          </a:xfrm>
        </p:spPr>
        <p:txBody>
          <a:bodyPr/>
          <a:lstStyle/>
          <a:p>
            <a:r>
              <a:rPr lang="en-US" altLang="en-US" sz="2000" dirty="0"/>
              <a:t>Identify the separate components of a process and illustrate how they are represented and scheduled in an operating system.</a:t>
            </a:r>
          </a:p>
          <a:p>
            <a:r>
              <a:rPr lang="en-US" altLang="en-US" sz="2000" dirty="0"/>
              <a:t>Describe how processes are created and terminated in an operating system, including developing programs using the appropriate system calls that perform these operations.</a:t>
            </a:r>
          </a:p>
          <a:p>
            <a:r>
              <a:rPr lang="en-US" altLang="en-US" sz="2000" dirty="0"/>
              <a:t>Describe and contrast </a:t>
            </a:r>
            <a:r>
              <a:rPr lang="en-US" altLang="en-US" sz="2000" dirty="0" err="1"/>
              <a:t>interprocess</a:t>
            </a:r>
            <a:r>
              <a:rPr lang="en-US" altLang="en-US" sz="2000" dirty="0"/>
              <a:t> communication using shared memory and message passing.</a:t>
            </a:r>
          </a:p>
          <a:p>
            <a:r>
              <a:rPr lang="en-US" altLang="en-US" sz="2000" dirty="0"/>
              <a:t>Design programs that uses pipes and POSIX shared memory to perform </a:t>
            </a:r>
            <a:r>
              <a:rPr lang="en-US" altLang="en-US" sz="2000" dirty="0" err="1"/>
              <a:t>interprocess</a:t>
            </a:r>
            <a:r>
              <a:rPr lang="en-US" altLang="en-US" sz="2000" dirty="0"/>
              <a:t> communication.</a:t>
            </a:r>
          </a:p>
          <a:p>
            <a:r>
              <a:rPr lang="en-US" altLang="en-US" sz="2000" dirty="0"/>
              <a:t>Describe client-server communication using sockets and remote procedure calls.</a:t>
            </a:r>
          </a:p>
          <a:p>
            <a:r>
              <a:rPr lang="en-US" altLang="en-US" sz="2000" dirty="0"/>
              <a:t>Design kernel modules that interact with the Linux operating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7E8AE27-E50C-40A0-B477-CFFEC3475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388" y="222250"/>
            <a:ext cx="610711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Concept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D446FCF-843C-4B0E-B66C-D60BED2777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1180" y="1049564"/>
            <a:ext cx="8135620" cy="475887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latin typeface="+mn-ea"/>
                <a:ea typeface="+mn-ea"/>
              </a:rPr>
              <a:t>An operating system executes a variety of programs that run as a process.</a:t>
            </a: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Process</a:t>
            </a:r>
            <a:r>
              <a:rPr lang="en-US" altLang="en-US" sz="2000" dirty="0">
                <a:latin typeface="+mn-ea"/>
                <a:ea typeface="+mn-ea"/>
              </a:rPr>
              <a:t> – a program in execution; process execution must progress in sequential fashion. No parallel execution of instructions of a  single process</a:t>
            </a:r>
          </a:p>
          <a:p>
            <a:r>
              <a:rPr lang="en-US" altLang="en-US" sz="2000" dirty="0">
                <a:latin typeface="+mn-ea"/>
                <a:ea typeface="+mn-ea"/>
              </a:rPr>
              <a:t>Multiple parts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The program code, also called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text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section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Current activity including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program</a:t>
            </a:r>
            <a:r>
              <a:rPr lang="en-US" altLang="en-US" sz="2000" b="1" dirty="0"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counter</a:t>
            </a:r>
            <a:r>
              <a:rPr lang="en-US" altLang="en-US" sz="2000" dirty="0">
                <a:latin typeface="+mn-ea"/>
                <a:ea typeface="+mn-ea"/>
              </a:rPr>
              <a:t>, processor registers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Stack</a:t>
            </a:r>
            <a:r>
              <a:rPr lang="en-US" altLang="en-US" sz="2000" b="1" dirty="0"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containing temporary data</a:t>
            </a:r>
          </a:p>
          <a:p>
            <a:pPr lvl="2"/>
            <a:r>
              <a:rPr lang="en-US" altLang="en-US" sz="2000" dirty="0">
                <a:latin typeface="+mn-ea"/>
                <a:ea typeface="+mn-ea"/>
              </a:rPr>
              <a:t>Function parameters, return addresses, local variables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Data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section</a:t>
            </a:r>
            <a:r>
              <a:rPr lang="en-US" altLang="en-US" sz="2000" b="1" dirty="0"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containing global variables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Heap</a:t>
            </a:r>
            <a:r>
              <a:rPr lang="en-US" altLang="en-US" sz="2000" b="1" dirty="0"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containing memory dynamically allocated during run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9FB78B1-A72C-494F-9718-8FF44F750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388" y="230188"/>
            <a:ext cx="6107112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Concept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B99AC1A-7079-467A-A88A-5DCC86E364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750" y="1203325"/>
            <a:ext cx="7721600" cy="4595132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Program is </a:t>
            </a:r>
            <a:r>
              <a:rPr lang="en-US" altLang="en-US" sz="2000" b="1" dirty="0">
                <a:latin typeface="+mn-ea"/>
                <a:ea typeface="+mn-ea"/>
              </a:rPr>
              <a:t>passive</a:t>
            </a:r>
            <a:r>
              <a:rPr lang="en-US" altLang="en-US" sz="2000" dirty="0">
                <a:latin typeface="+mn-ea"/>
                <a:ea typeface="+mn-ea"/>
              </a:rPr>
              <a:t> entity stored on disk (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executable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file</a:t>
            </a:r>
            <a:r>
              <a:rPr lang="en-US" altLang="en-US" sz="2000" dirty="0">
                <a:latin typeface="+mn-ea"/>
                <a:ea typeface="+mn-ea"/>
              </a:rPr>
              <a:t>); process is </a:t>
            </a:r>
            <a:r>
              <a:rPr lang="en-US" altLang="en-US" sz="2000" b="1" dirty="0">
                <a:latin typeface="+mn-ea"/>
                <a:ea typeface="+mn-ea"/>
              </a:rPr>
              <a:t>active</a:t>
            </a:r>
            <a:r>
              <a:rPr lang="en-US" altLang="en-US" sz="2000" b="1" i="1" dirty="0">
                <a:latin typeface="+mn-ea"/>
                <a:ea typeface="+mn-ea"/>
              </a:rPr>
              <a:t> 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Program becomes process when an executable file is loaded into memory</a:t>
            </a:r>
          </a:p>
          <a:p>
            <a:r>
              <a:rPr lang="en-US" altLang="en-US" sz="2000" dirty="0">
                <a:latin typeface="+mn-ea"/>
                <a:ea typeface="+mn-ea"/>
              </a:rPr>
              <a:t>Execution of program started via GUI mouse clicks, command line entry of its name, etc.</a:t>
            </a:r>
          </a:p>
          <a:p>
            <a:r>
              <a:rPr lang="en-US" altLang="en-US" sz="2000" dirty="0">
                <a:latin typeface="+mn-ea"/>
                <a:ea typeface="+mn-ea"/>
              </a:rPr>
              <a:t>One program can be several processes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Consider multiple users executing the same program</a:t>
            </a:r>
          </a:p>
          <a:p>
            <a:pPr>
              <a:lnSpc>
                <a:spcPct val="90000"/>
              </a:lnSpc>
            </a:pPr>
            <a:endParaRPr lang="en-US" altLang="en-US" sz="2000" dirty="0">
              <a:latin typeface="+mn-ea"/>
              <a:ea typeface="+mn-ea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AFA67C-5037-4199-ADB3-2B949804BC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22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in Memory</a:t>
            </a:r>
          </a:p>
        </p:txBody>
      </p:sp>
      <p:pic>
        <p:nvPicPr>
          <p:cNvPr id="15363" name="Picture 1">
            <a:extLst>
              <a:ext uri="{FF2B5EF4-FFF2-40B4-BE49-F238E27FC236}">
                <a16:creationId xmlns:a16="http://schemas.microsoft.com/office/drawing/2014/main" id="{56913459-B2A5-4780-A47A-63C55AF8C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1595438"/>
            <a:ext cx="2655888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5F0918BC-EE47-4B64-B75C-97D41C08DC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2967" y="196397"/>
            <a:ext cx="7227889" cy="576263"/>
          </a:xfrm>
        </p:spPr>
        <p:txBody>
          <a:bodyPr/>
          <a:lstStyle/>
          <a:p>
            <a:r>
              <a:rPr lang="en-US" altLang="en-US" dirty="0"/>
              <a:t>Memory Layout of a C Program</a:t>
            </a:r>
          </a:p>
        </p:txBody>
      </p:sp>
      <p:pic>
        <p:nvPicPr>
          <p:cNvPr id="17411" name="Picture 1">
            <a:extLst>
              <a:ext uri="{FF2B5EF4-FFF2-40B4-BE49-F238E27FC236}">
                <a16:creationId xmlns:a16="http://schemas.microsoft.com/office/drawing/2014/main" id="{E58EFC16-5ABF-4B34-B546-50AB9FB81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701800"/>
            <a:ext cx="7227888" cy="343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890CFA9-9E5C-4419-8C0A-3AE15BC75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0488" y="228600"/>
            <a:ext cx="6251575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State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24CBB90-3DD4-48C6-830E-D5B680DA8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1507" y="886959"/>
            <a:ext cx="7720330" cy="3254375"/>
          </a:xfrm>
        </p:spPr>
        <p:txBody>
          <a:bodyPr/>
          <a:lstStyle/>
          <a:p>
            <a:r>
              <a:rPr lang="en-US" altLang="en-US" sz="2200" dirty="0">
                <a:latin typeface="+mn-ea"/>
                <a:ea typeface="+mn-ea"/>
              </a:rPr>
              <a:t>As a process executes, it changes </a:t>
            </a:r>
            <a:r>
              <a:rPr lang="en-US" altLang="en-US" sz="2200" b="1" dirty="0">
                <a:solidFill>
                  <a:srgbClr val="006699"/>
                </a:solidFill>
                <a:latin typeface="+mn-ea"/>
                <a:ea typeface="+mn-ea"/>
              </a:rPr>
              <a:t>state</a:t>
            </a:r>
          </a:p>
          <a:p>
            <a:pPr lvl="1"/>
            <a:r>
              <a:rPr lang="en-US" altLang="en-US" sz="2000" b="1" dirty="0">
                <a:latin typeface="+mn-ea"/>
                <a:ea typeface="+mn-ea"/>
              </a:rPr>
              <a:t>New</a:t>
            </a:r>
            <a:r>
              <a:rPr lang="en-US" altLang="en-US" sz="2000" dirty="0">
                <a:latin typeface="+mn-ea"/>
                <a:ea typeface="+mn-ea"/>
              </a:rPr>
              <a:t>:  The process is being created</a:t>
            </a:r>
          </a:p>
          <a:p>
            <a:pPr lvl="1"/>
            <a:r>
              <a:rPr lang="en-US" altLang="en-US" sz="2000" b="1" dirty="0">
                <a:latin typeface="+mn-ea"/>
                <a:ea typeface="+mn-ea"/>
              </a:rPr>
              <a:t>Running</a:t>
            </a:r>
            <a:r>
              <a:rPr lang="en-US" altLang="en-US" sz="2000" dirty="0">
                <a:latin typeface="+mn-ea"/>
                <a:ea typeface="+mn-ea"/>
              </a:rPr>
              <a:t>:  Instructions are being executed</a:t>
            </a:r>
          </a:p>
          <a:p>
            <a:pPr lvl="1"/>
            <a:r>
              <a:rPr lang="en-US" altLang="en-US" sz="2000" b="1" dirty="0">
                <a:latin typeface="+mn-ea"/>
                <a:ea typeface="+mn-ea"/>
              </a:rPr>
              <a:t>Waiting</a:t>
            </a:r>
            <a:r>
              <a:rPr lang="en-US" altLang="en-US" sz="2000" dirty="0">
                <a:latin typeface="+mn-ea"/>
                <a:ea typeface="+mn-ea"/>
              </a:rPr>
              <a:t>:  The process is waiting for some event to occur</a:t>
            </a:r>
          </a:p>
          <a:p>
            <a:pPr lvl="1"/>
            <a:r>
              <a:rPr lang="en-US" altLang="en-US" sz="2000" b="1" dirty="0">
                <a:latin typeface="+mn-ea"/>
                <a:ea typeface="+mn-ea"/>
              </a:rPr>
              <a:t>Ready</a:t>
            </a:r>
            <a:r>
              <a:rPr lang="en-US" altLang="en-US" sz="2000" dirty="0">
                <a:latin typeface="+mn-ea"/>
                <a:ea typeface="+mn-ea"/>
              </a:rPr>
              <a:t>:  The process is waiting to be assigned to a processor</a:t>
            </a:r>
          </a:p>
          <a:p>
            <a:pPr lvl="1"/>
            <a:r>
              <a:rPr lang="en-US" altLang="en-US" sz="2000" b="1" dirty="0">
                <a:latin typeface="+mn-ea"/>
                <a:ea typeface="+mn-ea"/>
              </a:rPr>
              <a:t>Terminated</a:t>
            </a:r>
            <a:r>
              <a:rPr lang="en-US" altLang="en-US" sz="2000" dirty="0">
                <a:latin typeface="+mn-ea"/>
                <a:ea typeface="+mn-ea"/>
              </a:rPr>
              <a:t>:  The process has finished execution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DED2E8-AB34-A2C6-F7FB-DCEDE74397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022" y="3884670"/>
            <a:ext cx="5923784" cy="2309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C14ED24-AEFF-4F38-8076-4F8FF58C3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6813" y="193903"/>
            <a:ext cx="75199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Control Block (PCB)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EEAF946-6112-4200-8913-ED1F42CE1E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9573" y="1126638"/>
            <a:ext cx="6685597" cy="4434920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Information associated with each process (also called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task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control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block</a:t>
            </a:r>
            <a:r>
              <a:rPr lang="en-US" altLang="en-US" sz="2000" dirty="0">
                <a:latin typeface="+mn-ea"/>
                <a:ea typeface="+mn-ea"/>
              </a:rPr>
              <a:t>), including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Process state – running, waiting, etc.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Program counter – location of instruction to next execute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CPU registers – contents of all process-centric registers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CPU scheduling information- priorities, scheduling queue pointers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Memory-management information – memory allocated to the process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Accounting information – CPU used, clock time elapsed since start, time limits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I/O status information – I/O devices allocated to process, list of open files</a:t>
            </a:r>
          </a:p>
        </p:txBody>
      </p:sp>
      <p:pic>
        <p:nvPicPr>
          <p:cNvPr id="22532" name="Picture 1">
            <a:extLst>
              <a:ext uri="{FF2B5EF4-FFF2-40B4-BE49-F238E27FC236}">
                <a16:creationId xmlns:a16="http://schemas.microsoft.com/office/drawing/2014/main" id="{4C1B42D7-9239-4535-8C25-EF8AF0D92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170" y="1605052"/>
            <a:ext cx="1839882" cy="2989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8D9066D-6E62-480A-A448-F88C6FB24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1400" y="230188"/>
            <a:ext cx="7383463" cy="576262"/>
          </a:xfrm>
        </p:spPr>
        <p:txBody>
          <a:bodyPr/>
          <a:lstStyle/>
          <a:p>
            <a:pPr eaLnBrk="1" hangingPunct="1"/>
            <a:r>
              <a:rPr lang="en-US" altLang="en-US"/>
              <a:t>Threads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FE53719-71CB-4158-A535-768E646E48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1539" y="1059091"/>
            <a:ext cx="7533323" cy="3124289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So far, process has a single thread of execution</a:t>
            </a:r>
          </a:p>
          <a:p>
            <a:r>
              <a:rPr lang="en-US" altLang="en-US" sz="2000" dirty="0">
                <a:latin typeface="+mn-ea"/>
                <a:ea typeface="+mn-ea"/>
              </a:rPr>
              <a:t>Consider having multiple program counters per process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Multiple locations can execute at once</a:t>
            </a:r>
          </a:p>
          <a:p>
            <a:pPr lvl="2"/>
            <a:r>
              <a:rPr lang="en-US" altLang="en-US" sz="2000" dirty="0">
                <a:latin typeface="+mn-ea"/>
                <a:ea typeface="+mn-ea"/>
              </a:rPr>
              <a:t>Multiple threads of control -&gt; </a:t>
            </a:r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threads</a:t>
            </a:r>
          </a:p>
          <a:p>
            <a:r>
              <a:rPr lang="en-US" altLang="en-US" sz="2000" dirty="0">
                <a:latin typeface="+mn-ea"/>
                <a:ea typeface="+mn-ea"/>
              </a:rPr>
              <a:t>Must then have storage for thread details, multiple program counters in PCB</a:t>
            </a:r>
          </a:p>
          <a:p>
            <a:r>
              <a:rPr lang="en-US" altLang="en-US" sz="2000" dirty="0">
                <a:latin typeface="+mn-ea"/>
                <a:ea typeface="+mn-ea"/>
              </a:rPr>
              <a:t>Explore in detail in Chapter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249B161E-EAED-4DCF-B609-D8AB274D03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438" y="228600"/>
            <a:ext cx="8005762" cy="576263"/>
          </a:xfrm>
        </p:spPr>
        <p:txBody>
          <a:bodyPr/>
          <a:lstStyle/>
          <a:p>
            <a:r>
              <a:rPr lang="en-US" altLang="en-US"/>
              <a:t>Process Representation in Linux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1363C44F-7AD0-4380-824D-C4E77F3B34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90575" y="1233489"/>
            <a:ext cx="7743825" cy="2744152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 dirty="0"/>
              <a:t>Represented by the C structure </a:t>
            </a:r>
            <a:r>
              <a:rPr lang="en-US" altLang="en-US" dirty="0" err="1">
                <a:latin typeface="Courier New" panose="02070309020205020404" pitchFamily="49" charset="0"/>
              </a:rPr>
              <a:t>task_struct</a:t>
            </a:r>
            <a:endParaRPr lang="en-US" altLang="en-US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br>
              <a:rPr lang="en-US" altLang="en-US" dirty="0">
                <a:latin typeface="Courier New" panose="02070309020205020404" pitchFamily="49" charset="0"/>
              </a:rPr>
            </a:br>
            <a:r>
              <a:rPr lang="en-US" altLang="en-US" sz="1600" dirty="0" err="1">
                <a:latin typeface="Courier New" panose="02070309020205020404" pitchFamily="49" charset="0"/>
              </a:rPr>
              <a:t>pid</a:t>
            </a:r>
            <a:r>
              <a:rPr lang="en-US" altLang="en-US" sz="1600" dirty="0">
                <a:latin typeface="Courier New" panose="02070309020205020404" pitchFamily="49" charset="0"/>
              </a:rPr>
              <a:t> </a:t>
            </a:r>
            <a:r>
              <a:rPr lang="en-US" altLang="en-US" sz="1600" dirty="0" err="1">
                <a:latin typeface="Courier New" panose="02070309020205020404" pitchFamily="49" charset="0"/>
              </a:rPr>
              <a:t>t_pid</a:t>
            </a:r>
            <a:r>
              <a:rPr lang="en-US" altLang="en-US" sz="1600" dirty="0">
                <a:latin typeface="Courier New" panose="02070309020205020404" pitchFamily="49" charset="0"/>
              </a:rPr>
              <a:t>; 			/* process identifier */ </a:t>
            </a:r>
            <a:br>
              <a:rPr lang="en-US" altLang="en-US" sz="1600" dirty="0">
                <a:latin typeface="Courier New" panose="02070309020205020404" pitchFamily="49" charset="0"/>
              </a:rPr>
            </a:br>
            <a:r>
              <a:rPr lang="en-US" altLang="en-US" sz="1600" dirty="0">
                <a:latin typeface="Courier New" panose="02070309020205020404" pitchFamily="49" charset="0"/>
              </a:rPr>
              <a:t>long state; 			/* state of the process */ </a:t>
            </a:r>
            <a:br>
              <a:rPr lang="en-US" altLang="en-US" sz="1600" dirty="0">
                <a:latin typeface="Courier New" panose="02070309020205020404" pitchFamily="49" charset="0"/>
              </a:rPr>
            </a:br>
            <a:r>
              <a:rPr lang="en-US" altLang="en-US" sz="1600" dirty="0">
                <a:latin typeface="Courier New" panose="02070309020205020404" pitchFamily="49" charset="0"/>
              </a:rPr>
              <a:t>unsigned int </a:t>
            </a:r>
            <a:r>
              <a:rPr lang="en-US" altLang="en-US" sz="1600" dirty="0" err="1">
                <a:latin typeface="Courier New" panose="02070309020205020404" pitchFamily="49" charset="0"/>
              </a:rPr>
              <a:t>time_slice</a:t>
            </a:r>
            <a:r>
              <a:rPr lang="en-US" altLang="en-US" sz="1600" dirty="0">
                <a:latin typeface="Courier New" panose="02070309020205020404" pitchFamily="49" charset="0"/>
              </a:rPr>
              <a:t> 	/* scheduling information */ </a:t>
            </a:r>
            <a:br>
              <a:rPr lang="en-US" altLang="en-US" sz="1600" dirty="0">
                <a:latin typeface="Courier New" panose="02070309020205020404" pitchFamily="49" charset="0"/>
              </a:rPr>
            </a:br>
            <a:r>
              <a:rPr lang="en-US" altLang="en-US" sz="1600" dirty="0">
                <a:latin typeface="Courier New" panose="02070309020205020404" pitchFamily="49" charset="0"/>
              </a:rPr>
              <a:t>struct </a:t>
            </a:r>
            <a:r>
              <a:rPr lang="en-US" altLang="en-US" sz="1600" dirty="0" err="1">
                <a:latin typeface="Courier New" panose="02070309020205020404" pitchFamily="49" charset="0"/>
              </a:rPr>
              <a:t>task_struct</a:t>
            </a:r>
            <a:r>
              <a:rPr lang="en-US" altLang="en-US" sz="1600" dirty="0">
                <a:latin typeface="Courier New" panose="02070309020205020404" pitchFamily="49" charset="0"/>
              </a:rPr>
              <a:t> *parent;/* this process</a:t>
            </a:r>
            <a:r>
              <a:rPr lang="ja-JP" altLang="en-US" sz="1600" dirty="0">
                <a:latin typeface="Courier New" panose="02070309020205020404" pitchFamily="49" charset="0"/>
              </a:rPr>
              <a:t>’</a:t>
            </a:r>
            <a:r>
              <a:rPr lang="en-US" altLang="ja-JP" sz="1600" dirty="0">
                <a:latin typeface="Courier New" panose="02070309020205020404" pitchFamily="49" charset="0"/>
              </a:rPr>
              <a:t>s parent */ </a:t>
            </a:r>
            <a:br>
              <a:rPr lang="en-US" altLang="ja-JP" sz="1600" dirty="0">
                <a:latin typeface="Courier New" panose="02070309020205020404" pitchFamily="49" charset="0"/>
              </a:rPr>
            </a:br>
            <a:r>
              <a:rPr lang="en-US" altLang="ja-JP" sz="1600" dirty="0">
                <a:latin typeface="Courier New" panose="02070309020205020404" pitchFamily="49" charset="0"/>
              </a:rPr>
              <a:t>struct </a:t>
            </a:r>
            <a:r>
              <a:rPr lang="en-US" altLang="ja-JP" sz="1600" dirty="0" err="1">
                <a:latin typeface="Courier New" panose="02070309020205020404" pitchFamily="49" charset="0"/>
              </a:rPr>
              <a:t>list_head</a:t>
            </a:r>
            <a:r>
              <a:rPr lang="en-US" altLang="ja-JP" sz="1600" dirty="0">
                <a:latin typeface="Courier New" panose="02070309020205020404" pitchFamily="49" charset="0"/>
              </a:rPr>
              <a:t> children; /* this process</a:t>
            </a:r>
            <a:r>
              <a:rPr lang="ja-JP" altLang="en-US" sz="1600" dirty="0">
                <a:latin typeface="Courier New" panose="02070309020205020404" pitchFamily="49" charset="0"/>
              </a:rPr>
              <a:t>’</a:t>
            </a:r>
            <a:r>
              <a:rPr lang="en-US" altLang="ja-JP" sz="1600" dirty="0">
                <a:latin typeface="Courier New" panose="02070309020205020404" pitchFamily="49" charset="0"/>
              </a:rPr>
              <a:t>s children */ </a:t>
            </a:r>
            <a:br>
              <a:rPr lang="en-US" altLang="ja-JP" sz="1600" dirty="0">
                <a:latin typeface="Courier New" panose="02070309020205020404" pitchFamily="49" charset="0"/>
              </a:rPr>
            </a:br>
            <a:r>
              <a:rPr lang="en-US" altLang="ja-JP" sz="1600" dirty="0">
                <a:latin typeface="Courier New" panose="02070309020205020404" pitchFamily="49" charset="0"/>
              </a:rPr>
              <a:t>struct </a:t>
            </a:r>
            <a:r>
              <a:rPr lang="en-US" altLang="ja-JP" sz="1600" dirty="0" err="1">
                <a:latin typeface="Courier New" panose="02070309020205020404" pitchFamily="49" charset="0"/>
              </a:rPr>
              <a:t>files_struct</a:t>
            </a:r>
            <a:r>
              <a:rPr lang="en-US" altLang="ja-JP" sz="1600" dirty="0">
                <a:latin typeface="Courier New" panose="02070309020205020404" pitchFamily="49" charset="0"/>
              </a:rPr>
              <a:t> *files;/* list of open files */ </a:t>
            </a:r>
            <a:br>
              <a:rPr lang="en-US" altLang="ja-JP" sz="1600" dirty="0">
                <a:latin typeface="Courier New" panose="02070309020205020404" pitchFamily="49" charset="0"/>
              </a:rPr>
            </a:br>
            <a:r>
              <a:rPr lang="en-US" altLang="ja-JP" sz="1600" dirty="0">
                <a:latin typeface="Courier New" panose="02070309020205020404" pitchFamily="49" charset="0"/>
              </a:rPr>
              <a:t>struct </a:t>
            </a:r>
            <a:r>
              <a:rPr lang="en-US" altLang="ja-JP" sz="1600" dirty="0" err="1">
                <a:latin typeface="Courier New" panose="02070309020205020404" pitchFamily="49" charset="0"/>
              </a:rPr>
              <a:t>mm_struct</a:t>
            </a:r>
            <a:r>
              <a:rPr lang="en-US" altLang="ja-JP" sz="1600" dirty="0">
                <a:latin typeface="Courier New" panose="02070309020205020404" pitchFamily="49" charset="0"/>
              </a:rPr>
              <a:t> *mm; 	/* address space of this process */</a:t>
            </a:r>
            <a:endParaRPr lang="en-US" altLang="en-US" sz="1600" dirty="0">
              <a:latin typeface="Courier New" panose="02070309020205020404" pitchFamily="49" charset="0"/>
            </a:endParaRPr>
          </a:p>
        </p:txBody>
      </p:sp>
      <p:pic>
        <p:nvPicPr>
          <p:cNvPr id="26628" name="Picture 1">
            <a:extLst>
              <a:ext uri="{FF2B5EF4-FFF2-40B4-BE49-F238E27FC236}">
                <a16:creationId xmlns:a16="http://schemas.microsoft.com/office/drawing/2014/main" id="{93AD06B9-FDEF-4097-849B-AE5BDEF25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825" y="4243385"/>
            <a:ext cx="5767900" cy="1985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6D14E00-AC36-46B6-804B-3B1E61B7A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72132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Scheduling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D9E4484-1299-4947-B075-F0D9269BB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0070" y="1119417"/>
            <a:ext cx="8435340" cy="3839445"/>
          </a:xfrm>
        </p:spPr>
        <p:txBody>
          <a:bodyPr/>
          <a:lstStyle/>
          <a:p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Process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scheduler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selects among available processes for next execution on CPU core</a:t>
            </a:r>
          </a:p>
          <a:p>
            <a:r>
              <a:rPr lang="en-US" altLang="en-US" sz="2000" dirty="0">
                <a:latin typeface="+mn-ea"/>
                <a:ea typeface="+mn-ea"/>
              </a:rPr>
              <a:t>Goal -- Maximize CPU use, quickly switch processes onto CPU core</a:t>
            </a:r>
          </a:p>
          <a:p>
            <a:r>
              <a:rPr lang="en-US" altLang="en-US" sz="2000" dirty="0">
                <a:latin typeface="+mn-ea"/>
                <a:ea typeface="+mn-ea"/>
              </a:rPr>
              <a:t>Maintains </a:t>
            </a:r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scheduling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queues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of processes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queue</a:t>
            </a:r>
            <a:r>
              <a:rPr lang="en-US" altLang="en-US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dirty="0">
                <a:latin typeface="+mn-ea"/>
                <a:ea typeface="+mn-ea"/>
              </a:rPr>
              <a:t>– set of all processes residing in main memory, ready and waiting to execute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Wait</a:t>
            </a:r>
            <a:r>
              <a:rPr lang="en-US" altLang="en-US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queues</a:t>
            </a:r>
            <a:r>
              <a:rPr lang="en-US" altLang="en-US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dirty="0">
                <a:latin typeface="+mn-ea"/>
                <a:ea typeface="+mn-ea"/>
              </a:rPr>
              <a:t>– set of processes waiting for an event (i.e., I/O)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Processes migrate among the various queues</a:t>
            </a:r>
          </a:p>
          <a:p>
            <a:pPr marL="0" indent="0">
              <a:buNone/>
            </a:pPr>
            <a:endParaRPr lang="en-US" altLang="en-US" sz="20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9FFB59-5D7F-4075-B911-2B593B517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4725" y="349250"/>
            <a:ext cx="7591425" cy="457200"/>
          </a:xfrm>
        </p:spPr>
        <p:txBody>
          <a:bodyPr/>
          <a:lstStyle/>
          <a:p>
            <a:pPr eaLnBrk="1" hangingPunct="1"/>
            <a:r>
              <a:rPr lang="en-US" altLang="en-US"/>
              <a:t>Ready and Wait Queues</a:t>
            </a:r>
          </a:p>
        </p:txBody>
      </p:sp>
      <p:pic>
        <p:nvPicPr>
          <p:cNvPr id="29699" name="Picture 1">
            <a:extLst>
              <a:ext uri="{FF2B5EF4-FFF2-40B4-BE49-F238E27FC236}">
                <a16:creationId xmlns:a16="http://schemas.microsoft.com/office/drawing/2014/main" id="{BCBD9C55-CB2E-45AE-A528-0022312EC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033" y="1406207"/>
            <a:ext cx="6801432" cy="404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8DB7F06-1635-4E8A-B106-08B7519EA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7413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Representation of Process Scheduling</a:t>
            </a:r>
          </a:p>
        </p:txBody>
      </p:sp>
      <p:pic>
        <p:nvPicPr>
          <p:cNvPr id="31747" name="Picture 2">
            <a:extLst>
              <a:ext uri="{FF2B5EF4-FFF2-40B4-BE49-F238E27FC236}">
                <a16:creationId xmlns:a16="http://schemas.microsoft.com/office/drawing/2014/main" id="{A0A8D57B-B011-4BA3-A330-AE3AFD4CB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13" y="1194276"/>
            <a:ext cx="7744535" cy="4469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294884C-D89B-43C5-8278-E1AFFD1E5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2963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CPU Switch From Process to Process</a:t>
            </a:r>
          </a:p>
        </p:txBody>
      </p:sp>
      <p:sp>
        <p:nvSpPr>
          <p:cNvPr id="33795" name="TextBox 1">
            <a:extLst>
              <a:ext uri="{FF2B5EF4-FFF2-40B4-BE49-F238E27FC236}">
                <a16:creationId xmlns:a16="http://schemas.microsoft.com/office/drawing/2014/main" id="{2AC6A249-89C1-4E3A-A92E-5E91F7A23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963" y="922338"/>
            <a:ext cx="759237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  <a:buClr>
                <a:srgbClr val="C00000"/>
              </a:buClr>
              <a:buSzTx/>
            </a:pPr>
            <a:r>
              <a:rPr kumimoji="0" lang="en-US" altLang="en-US" sz="2000" dirty="0">
                <a:latin typeface="Verdana" panose="020B0604030504040204" pitchFamily="34" charset="0"/>
              </a:rPr>
              <a:t>A </a:t>
            </a:r>
            <a:r>
              <a:rPr kumimoji="0" lang="en-US" altLang="en-US" sz="2000" b="1" dirty="0">
                <a:latin typeface="Verdana" panose="020B0604030504040204" pitchFamily="34" charset="0"/>
              </a:rPr>
              <a:t>context switch </a:t>
            </a:r>
            <a:r>
              <a:rPr kumimoji="0" lang="en-US" altLang="en-US" sz="2000" dirty="0">
                <a:latin typeface="Verdana" panose="020B0604030504040204" pitchFamily="34" charset="0"/>
              </a:rPr>
              <a:t>occurs when the CPU  switches from one process to another.</a:t>
            </a:r>
          </a:p>
        </p:txBody>
      </p:sp>
      <p:pic>
        <p:nvPicPr>
          <p:cNvPr id="33796" name="Picture 1">
            <a:extLst>
              <a:ext uri="{FF2B5EF4-FFF2-40B4-BE49-F238E27FC236}">
                <a16:creationId xmlns:a16="http://schemas.microsoft.com/office/drawing/2014/main" id="{81BF3499-8F25-4834-B5FB-DDAE90411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391" y="1780486"/>
            <a:ext cx="5764848" cy="471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69EF2C8-62D9-4AD3-A3DB-7E8B03141F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38" y="23177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Context Switch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FE77FD9-7213-4CFD-BE76-B9508F46FB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4076" y="1108075"/>
            <a:ext cx="7739062" cy="4413494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When CPU switches to another process, the system must </a:t>
            </a:r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save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the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state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of the old process and load the </a:t>
            </a:r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saved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state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for the new process via a </a:t>
            </a:r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context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switch</a:t>
            </a:r>
          </a:p>
          <a:p>
            <a:r>
              <a:rPr lang="en-US" altLang="en-US" sz="2000" b="1" kern="1200" dirty="0">
                <a:solidFill>
                  <a:srgbClr val="006699"/>
                </a:solidFill>
                <a:latin typeface="+mn-ea"/>
                <a:ea typeface="+mn-ea"/>
                <a:cs typeface="+mn-cs"/>
              </a:rPr>
              <a:t>Context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of a process represented in the PCB</a:t>
            </a:r>
          </a:p>
          <a:p>
            <a:r>
              <a:rPr lang="en-US" altLang="en-US" sz="2000" dirty="0">
                <a:latin typeface="+mn-ea"/>
                <a:ea typeface="+mn-ea"/>
              </a:rPr>
              <a:t>Context-switch time is pure overhead; the system does no useful work while switching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The more complex the OS and the PCB </a:t>
            </a:r>
            <a:r>
              <a:rPr lang="en-US" altLang="en-US" sz="2000" dirty="0">
                <a:latin typeface="+mn-ea"/>
                <a:ea typeface="+mn-ea"/>
                <a:sym typeface="Wingdings" panose="05000000000000000000" pitchFamily="2" charset="2"/>
              </a:rPr>
              <a:t> the </a:t>
            </a:r>
            <a:r>
              <a:rPr lang="en-US" altLang="en-US" sz="2000" dirty="0">
                <a:latin typeface="+mn-ea"/>
                <a:ea typeface="+mn-ea"/>
              </a:rPr>
              <a:t>longer the context switch</a:t>
            </a:r>
          </a:p>
          <a:p>
            <a:r>
              <a:rPr lang="en-US" altLang="en-US" sz="2000" dirty="0">
                <a:latin typeface="+mn-ea"/>
                <a:ea typeface="+mn-ea"/>
              </a:rPr>
              <a:t>Time dependent on hardware support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Some hardware provides multiple sets of registers per CPU </a:t>
            </a:r>
            <a:r>
              <a:rPr lang="en-US" altLang="en-US" sz="2000" dirty="0">
                <a:latin typeface="+mn-ea"/>
                <a:ea typeface="+mn-ea"/>
                <a:sym typeface="Wingdings" panose="05000000000000000000" pitchFamily="2" charset="2"/>
              </a:rPr>
              <a:t></a:t>
            </a:r>
            <a:r>
              <a:rPr lang="en-US" altLang="en-US" sz="2000" dirty="0">
                <a:latin typeface="+mn-ea"/>
                <a:ea typeface="+mn-ea"/>
              </a:rPr>
              <a:t> multiple contexts loaded at once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1BBC0AC-B98E-4CA8-AAF2-66A00A4CE0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51610" y="225670"/>
            <a:ext cx="648081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Multitasking in Mobile Systems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3CFFB47D-06A3-4D85-B582-64A48F2C12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4370" y="1042511"/>
            <a:ext cx="8035290" cy="4772978"/>
          </a:xfrm>
        </p:spPr>
        <p:txBody>
          <a:bodyPr/>
          <a:lstStyle/>
          <a:p>
            <a:r>
              <a:rPr lang="en-US" altLang="en-US" sz="2000" dirty="0"/>
              <a:t>Some mobile systems (e.g., early version of iOS)  allow only one process to run, others suspended</a:t>
            </a:r>
          </a:p>
          <a:p>
            <a:r>
              <a:rPr lang="en-US" altLang="en-US" sz="2000" dirty="0"/>
              <a:t>Due to screen real estate, user interface limits iOS provides for a </a:t>
            </a:r>
          </a:p>
          <a:p>
            <a:pPr lvl="1"/>
            <a:r>
              <a:rPr lang="en-US" altLang="en-US" dirty="0"/>
              <a:t>Single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foreground</a:t>
            </a:r>
            <a:r>
              <a:rPr lang="en-US" altLang="en-US" dirty="0"/>
              <a:t> process- controlled via user interface</a:t>
            </a:r>
          </a:p>
          <a:p>
            <a:pPr lvl="1"/>
            <a:r>
              <a:rPr lang="en-US" altLang="en-US" dirty="0"/>
              <a:t>Multiple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background</a:t>
            </a:r>
            <a:r>
              <a:rPr lang="en-US" altLang="en-US" dirty="0"/>
              <a:t> processes– in memory, running, but not on the display, and with limits</a:t>
            </a:r>
          </a:p>
          <a:p>
            <a:pPr lvl="1"/>
            <a:r>
              <a:rPr lang="en-US" altLang="en-US" dirty="0"/>
              <a:t>Limits include single, short task, receiving notification of events, specific long-running tasks like audio playback</a:t>
            </a:r>
          </a:p>
          <a:p>
            <a:r>
              <a:rPr lang="en-US" altLang="en-US" sz="2000" dirty="0"/>
              <a:t>Android runs foreground and background, with fewer limits</a:t>
            </a:r>
          </a:p>
          <a:p>
            <a:pPr lvl="1"/>
            <a:r>
              <a:rPr lang="en-US" altLang="en-US" dirty="0"/>
              <a:t>Background process uses a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service</a:t>
            </a:r>
            <a:r>
              <a:rPr lang="en-US" altLang="en-US" dirty="0"/>
              <a:t> to perform tasks</a:t>
            </a:r>
          </a:p>
          <a:p>
            <a:pPr lvl="1"/>
            <a:r>
              <a:rPr lang="en-US" altLang="en-US" dirty="0"/>
              <a:t>Service can keep running even if background process is suspended</a:t>
            </a:r>
          </a:p>
          <a:p>
            <a:pPr lvl="1"/>
            <a:r>
              <a:rPr lang="en-US" altLang="en-US" dirty="0"/>
              <a:t>Service has no user interface, small memory use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D9C18A1-E10D-464E-ADF5-DBECC2503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74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Operations on Processes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EED5598-4581-4F9D-8CEF-0D1A5A554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313" y="1233489"/>
            <a:ext cx="7381875" cy="1372552"/>
          </a:xfrm>
        </p:spPr>
        <p:txBody>
          <a:bodyPr/>
          <a:lstStyle/>
          <a:p>
            <a:r>
              <a:rPr lang="en-US" altLang="en-US" sz="2000" dirty="0"/>
              <a:t>System must provide mechanisms for</a:t>
            </a:r>
          </a:p>
          <a:p>
            <a:pPr lvl="1"/>
            <a:r>
              <a:rPr lang="en-US" altLang="en-US" sz="2000" dirty="0"/>
              <a:t> Process creation</a:t>
            </a:r>
          </a:p>
          <a:p>
            <a:pPr lvl="1"/>
            <a:r>
              <a:rPr lang="en-US" altLang="en-US" sz="2000" dirty="0"/>
              <a:t> Process termination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072917A-2F04-4923-8279-E4AEA8CC4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4715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Creation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D7F79436-9B7B-4340-B99C-8D1E088896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4074" y="1169989"/>
            <a:ext cx="7832726" cy="4202112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Parent</a:t>
            </a:r>
            <a:r>
              <a:rPr lang="en-US" altLang="en-US" sz="2000" b="1" dirty="0"/>
              <a:t> </a:t>
            </a:r>
            <a:r>
              <a:rPr lang="en-US" altLang="en-US" sz="2000" dirty="0"/>
              <a:t>process create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children</a:t>
            </a:r>
            <a:r>
              <a:rPr lang="en-US" altLang="en-US" sz="2000" b="1" dirty="0"/>
              <a:t> </a:t>
            </a:r>
            <a:r>
              <a:rPr lang="en-US" altLang="en-US" sz="2000" dirty="0"/>
              <a:t>processes, which, in turn create other processes, forming 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tree</a:t>
            </a:r>
            <a:r>
              <a:rPr lang="en-US" altLang="en-US" sz="2000" dirty="0"/>
              <a:t> of processes</a:t>
            </a:r>
          </a:p>
          <a:p>
            <a:r>
              <a:rPr lang="en-US" altLang="en-US" sz="2000" dirty="0"/>
              <a:t>Generally, process identified and managed via a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identifier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pid</a:t>
            </a:r>
            <a:r>
              <a:rPr lang="en-US" altLang="en-US" sz="2000" dirty="0"/>
              <a:t>)</a:t>
            </a:r>
          </a:p>
          <a:p>
            <a:r>
              <a:rPr lang="en-US" altLang="en-US" sz="2000" dirty="0"/>
              <a:t>Resource sharing options</a:t>
            </a:r>
          </a:p>
          <a:p>
            <a:pPr lvl="1"/>
            <a:r>
              <a:rPr lang="en-US" altLang="en-US" dirty="0"/>
              <a:t>Parent and children share all resources</a:t>
            </a:r>
          </a:p>
          <a:p>
            <a:pPr lvl="1"/>
            <a:r>
              <a:rPr lang="en-US" altLang="en-US" dirty="0"/>
              <a:t>Children share subset of parent</a:t>
            </a:r>
            <a:r>
              <a:rPr lang="ja-JP" altLang="en-US" dirty="0"/>
              <a:t>’</a:t>
            </a:r>
            <a:r>
              <a:rPr lang="en-US" altLang="ja-JP" dirty="0"/>
              <a:t>s resources</a:t>
            </a:r>
          </a:p>
          <a:p>
            <a:pPr lvl="1"/>
            <a:r>
              <a:rPr lang="en-US" altLang="en-US" dirty="0"/>
              <a:t>Parent and child share no resources</a:t>
            </a:r>
          </a:p>
          <a:p>
            <a:r>
              <a:rPr lang="en-US" altLang="en-US" sz="2000" dirty="0"/>
              <a:t>Execution options</a:t>
            </a:r>
          </a:p>
          <a:p>
            <a:pPr lvl="1"/>
            <a:r>
              <a:rPr lang="en-US" altLang="en-US" dirty="0"/>
              <a:t>Parent and children execute concurrently</a:t>
            </a:r>
          </a:p>
          <a:p>
            <a:pPr lvl="1"/>
            <a:r>
              <a:rPr lang="en-US" altLang="en-US" dirty="0"/>
              <a:t>Parent waits until children terminate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AE43D30-47DB-4A10-9067-ED0817C05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9975" y="2174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Creation (Cont.)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A61E917-5669-429F-AA78-E90F2FCB8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213" y="904874"/>
            <a:ext cx="7800975" cy="3008630"/>
          </a:xfrm>
        </p:spPr>
        <p:txBody>
          <a:bodyPr/>
          <a:lstStyle/>
          <a:p>
            <a:r>
              <a:rPr lang="en-US" altLang="en-US" sz="2000" dirty="0"/>
              <a:t>Address space</a:t>
            </a:r>
          </a:p>
          <a:p>
            <a:pPr lvl="1"/>
            <a:r>
              <a:rPr lang="en-US" altLang="en-US" dirty="0"/>
              <a:t>Child duplicate of parent</a:t>
            </a:r>
          </a:p>
          <a:p>
            <a:pPr lvl="1"/>
            <a:r>
              <a:rPr lang="en-US" altLang="en-US" dirty="0"/>
              <a:t>Child has a program loaded into it</a:t>
            </a:r>
          </a:p>
          <a:p>
            <a:r>
              <a:rPr lang="en-US" altLang="en-US" sz="2000" dirty="0"/>
              <a:t>UNIX examples</a:t>
            </a:r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system call creates new process</a:t>
            </a:r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exec()</a:t>
            </a:r>
            <a:r>
              <a:rPr lang="en-US" altLang="en-US" sz="2000" dirty="0"/>
              <a:t> </a:t>
            </a:r>
            <a:r>
              <a:rPr lang="en-US" altLang="en-US" dirty="0"/>
              <a:t>system call used after 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/>
              <a:t> </a:t>
            </a:r>
            <a:r>
              <a:rPr lang="en-US" altLang="en-US" dirty="0"/>
              <a:t>to replace the process</a:t>
            </a:r>
            <a:r>
              <a:rPr lang="ja-JP" altLang="en-US" dirty="0"/>
              <a:t>’</a:t>
            </a:r>
            <a:r>
              <a:rPr lang="en-US" altLang="ja-JP" dirty="0"/>
              <a:t> memory space with a new program</a:t>
            </a:r>
          </a:p>
          <a:p>
            <a:pPr lvl="1"/>
            <a:r>
              <a:rPr lang="en-US" altLang="en-US" dirty="0"/>
              <a:t>Parent process calls </a:t>
            </a:r>
            <a:r>
              <a:rPr lang="en-US" altLang="en-US" sz="2000" b="1" dirty="0"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waiting for the child to terminate</a:t>
            </a:r>
          </a:p>
        </p:txBody>
      </p:sp>
      <p:pic>
        <p:nvPicPr>
          <p:cNvPr id="46084" name="Picture 1">
            <a:extLst>
              <a:ext uri="{FF2B5EF4-FFF2-40B4-BE49-F238E27FC236}">
                <a16:creationId xmlns:a16="http://schemas.microsoft.com/office/drawing/2014/main" id="{568A0721-FDA4-4095-BD34-B36CF2AB0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13" y="4446270"/>
            <a:ext cx="7615405" cy="1531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39237D4-E7AC-45FA-BF2A-B2DEBB1756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6988" y="222250"/>
            <a:ext cx="7259637" cy="576263"/>
          </a:xfrm>
        </p:spPr>
        <p:txBody>
          <a:bodyPr/>
          <a:lstStyle/>
          <a:p>
            <a:pPr eaLnBrk="1" hangingPunct="1"/>
            <a:r>
              <a:rPr lang="en-US" altLang="en-US"/>
              <a:t>A Tree of Processes in Linux</a:t>
            </a:r>
          </a:p>
        </p:txBody>
      </p:sp>
      <p:pic>
        <p:nvPicPr>
          <p:cNvPr id="44035" name="Picture 1">
            <a:extLst>
              <a:ext uri="{FF2B5EF4-FFF2-40B4-BE49-F238E27FC236}">
                <a16:creationId xmlns:a16="http://schemas.microsoft.com/office/drawing/2014/main" id="{EA22965C-6F67-436A-9A7E-32781923A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701800"/>
            <a:ext cx="7985125" cy="343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3909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E1AA525-61E4-4CE5-B1B8-BBEC4CC5E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695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 Program Forking Separate Process</a:t>
            </a:r>
          </a:p>
        </p:txBody>
      </p:sp>
      <p:pic>
        <p:nvPicPr>
          <p:cNvPr id="48131" name="Picture 5" descr="Screen Shot 2012-12-04 at 11.21.10 AM.png">
            <a:extLst>
              <a:ext uri="{FF2B5EF4-FFF2-40B4-BE49-F238E27FC236}">
                <a16:creationId xmlns:a16="http://schemas.microsoft.com/office/drawing/2014/main" id="{D4AAA5E2-276C-448A-B064-DFAFD90230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138" y="969963"/>
            <a:ext cx="6038850" cy="56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9" name="Picture 1" descr="Screen Shot 2012-12-04 at 11.23.48 AM.png">
            <a:extLst>
              <a:ext uri="{FF2B5EF4-FFF2-40B4-BE49-F238E27FC236}">
                <a16:creationId xmlns:a16="http://schemas.microsoft.com/office/drawing/2014/main" id="{92929ABB-1259-4492-BE46-EE3BC21BF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209" y="914248"/>
            <a:ext cx="5505676" cy="563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78" name="Rectangle 2">
            <a:extLst>
              <a:ext uri="{FF2B5EF4-FFF2-40B4-BE49-F238E27FC236}">
                <a16:creationId xmlns:a16="http://schemas.microsoft.com/office/drawing/2014/main" id="{0F4113AE-3A57-4A41-B077-3753934F4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6163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/>
              <a:t>Creating a Separate Process via Windows API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3A2AC5D-C916-47B2-8787-ACB9BD2F9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Termination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AB8093C-E173-4473-A450-3BC8EBA8D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0738" y="1127981"/>
            <a:ext cx="7431722" cy="3814133"/>
          </a:xfrm>
        </p:spPr>
        <p:txBody>
          <a:bodyPr/>
          <a:lstStyle/>
          <a:p>
            <a:r>
              <a:rPr lang="en-US" altLang="en-US" sz="2000" dirty="0"/>
              <a:t>Process executes last statement and then asks the operating system to delete it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exit()</a:t>
            </a:r>
            <a:r>
              <a:rPr lang="en-US" altLang="en-US" sz="2000" dirty="0"/>
              <a:t> system call.</a:t>
            </a:r>
          </a:p>
          <a:p>
            <a:pPr lvl="1"/>
            <a:r>
              <a:rPr lang="en-US" altLang="en-US" dirty="0"/>
              <a:t>Returns  status data from child to parent (via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Process</a:t>
            </a:r>
            <a:r>
              <a:rPr lang="ja-JP" altLang="en-US" dirty="0"/>
              <a:t>’</a:t>
            </a:r>
            <a:r>
              <a:rPr lang="en-US" altLang="ja-JP" dirty="0"/>
              <a:t> resources are deallocated by operating system</a:t>
            </a:r>
            <a:endParaRPr lang="en-US" altLang="en-US" dirty="0"/>
          </a:p>
          <a:p>
            <a:r>
              <a:rPr lang="en-US" altLang="en-US" dirty="0"/>
              <a:t>Parent may terminate the execution of children processes 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abort()</a:t>
            </a:r>
            <a:r>
              <a:rPr lang="en-US" altLang="en-US" sz="2000" dirty="0"/>
              <a:t> </a:t>
            </a:r>
            <a:r>
              <a:rPr lang="en-US" altLang="en-US" dirty="0"/>
              <a:t>system call.  Some reasons for doing so:</a:t>
            </a:r>
          </a:p>
          <a:p>
            <a:pPr lvl="1"/>
            <a:r>
              <a:rPr lang="en-US" altLang="en-US" dirty="0"/>
              <a:t>Child has exceeded allocated resources</a:t>
            </a:r>
          </a:p>
          <a:p>
            <a:pPr lvl="1"/>
            <a:r>
              <a:rPr lang="en-US" altLang="en-US" dirty="0"/>
              <a:t>Task assigned to child is no longer required</a:t>
            </a:r>
          </a:p>
          <a:p>
            <a:pPr lvl="1"/>
            <a:r>
              <a:rPr lang="en-US" altLang="en-US" dirty="0"/>
              <a:t>The parent is exiting, and the operating systems does not allow  a child to continue if its parent terminates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0622719-68BE-4BB0-B168-1A3AE8D09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4816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Termination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7E8DAD2-CD54-4141-B861-1A2932EF06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908" y="781417"/>
            <a:ext cx="7033724" cy="4787045"/>
          </a:xfrm>
        </p:spPr>
        <p:txBody>
          <a:bodyPr/>
          <a:lstStyle/>
          <a:p>
            <a:pPr marL="457200" lvl="1" indent="0">
              <a:buNone/>
            </a:pPr>
            <a:endParaRPr lang="en-US" altLang="en-US" sz="800" dirty="0"/>
          </a:p>
          <a:p>
            <a:r>
              <a:rPr lang="en-US" altLang="en-US" dirty="0"/>
              <a:t>Some operating systems do not allow child to exists if its parent has terminated.  If a process terminates, then all its children must also be terminated.</a:t>
            </a:r>
          </a:p>
          <a:p>
            <a:pPr lvl="1"/>
            <a:r>
              <a:rPr lang="en-US" altLang="en-US" b="1" dirty="0"/>
              <a:t>cascading termination.  </a:t>
            </a:r>
            <a:r>
              <a:rPr lang="en-US" altLang="en-US" dirty="0"/>
              <a:t>All children, grandchildren, etc.,  are  terminated.</a:t>
            </a:r>
            <a:endParaRPr lang="en-US" altLang="en-US" b="1" dirty="0"/>
          </a:p>
          <a:p>
            <a:pPr lvl="1"/>
            <a:r>
              <a:rPr lang="en-US" altLang="en-US" dirty="0"/>
              <a:t>The termination is initiated by the operating system.</a:t>
            </a:r>
            <a:endParaRPr lang="en-US" altLang="en-US" b="1" dirty="0"/>
          </a:p>
          <a:p>
            <a:r>
              <a:rPr lang="en-US" altLang="en-US" dirty="0"/>
              <a:t>The parent process may wait for termination of a child process by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system call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. </a:t>
            </a:r>
            <a:r>
              <a:rPr lang="en-US" altLang="en-US" dirty="0"/>
              <a:t>The call returns status information and the pid of the terminated process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pid = wait(&amp;status); </a:t>
            </a:r>
          </a:p>
          <a:p>
            <a:r>
              <a:rPr lang="en-US" altLang="en-US" dirty="0"/>
              <a:t>If no parent waiting (did not invoke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) process is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zombie</a:t>
            </a:r>
          </a:p>
          <a:p>
            <a:r>
              <a:rPr lang="en-US" altLang="en-US" dirty="0"/>
              <a:t>If parent terminated without invoking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, process is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orphan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CCF9DC54-118C-447A-A3AB-7C2E98996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0952" y="196118"/>
            <a:ext cx="7449392" cy="576263"/>
          </a:xfrm>
        </p:spPr>
        <p:txBody>
          <a:bodyPr/>
          <a:lstStyle/>
          <a:p>
            <a:r>
              <a:rPr lang="en-US" altLang="en-US" sz="3000" dirty="0"/>
              <a:t>Android Process Importance Hierarchy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8675C949-6A9A-4638-902C-843874920E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9150" y="1100969"/>
            <a:ext cx="7743825" cy="3962522"/>
          </a:xfrm>
        </p:spPr>
        <p:txBody>
          <a:bodyPr/>
          <a:lstStyle/>
          <a:p>
            <a:r>
              <a:rPr lang="en-US" altLang="en-US" sz="2000" dirty="0"/>
              <a:t>Mobile operating systems often have to terminate processes to reclaim system resources such as memory. From </a:t>
            </a:r>
            <a:r>
              <a:rPr lang="en-US" altLang="en-US" sz="2000" b="1" dirty="0"/>
              <a:t>most</a:t>
            </a:r>
            <a:r>
              <a:rPr lang="en-US" altLang="en-US" sz="2000" dirty="0"/>
              <a:t> to </a:t>
            </a:r>
            <a:r>
              <a:rPr lang="en-US" altLang="en-US" sz="2000" b="1" dirty="0"/>
              <a:t>least</a:t>
            </a:r>
            <a:r>
              <a:rPr lang="en-US" altLang="en-US" sz="2000" dirty="0"/>
              <a:t> important:</a:t>
            </a:r>
          </a:p>
          <a:p>
            <a:pPr lvl="1"/>
            <a:r>
              <a:rPr lang="en-US" altLang="en-US" sz="2000" dirty="0"/>
              <a:t>Foreground process</a:t>
            </a:r>
          </a:p>
          <a:p>
            <a:pPr lvl="1"/>
            <a:r>
              <a:rPr lang="en-US" altLang="en-US" sz="2000" dirty="0"/>
              <a:t>Visible process</a:t>
            </a:r>
          </a:p>
          <a:p>
            <a:pPr lvl="1"/>
            <a:r>
              <a:rPr lang="en-US" altLang="en-US" sz="2000" dirty="0"/>
              <a:t>Service process</a:t>
            </a:r>
          </a:p>
          <a:p>
            <a:pPr lvl="1"/>
            <a:r>
              <a:rPr lang="en-US" altLang="en-US" sz="2000" dirty="0"/>
              <a:t>Background process</a:t>
            </a:r>
          </a:p>
          <a:p>
            <a:pPr lvl="1"/>
            <a:r>
              <a:rPr lang="en-US" altLang="en-US" sz="2000" dirty="0"/>
              <a:t>Empty process</a:t>
            </a:r>
          </a:p>
          <a:p>
            <a:r>
              <a:rPr lang="en-US" altLang="en-US" sz="2000" dirty="0"/>
              <a:t>Android will begin terminating processes that are least important.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D6E94F8E-122F-4FED-9B3D-FD01E28458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2347" y="143364"/>
            <a:ext cx="7997825" cy="576263"/>
          </a:xfrm>
        </p:spPr>
        <p:txBody>
          <a:bodyPr/>
          <a:lstStyle/>
          <a:p>
            <a:r>
              <a:rPr lang="en-US" altLang="en-US" sz="2800" dirty="0" err="1"/>
              <a:t>Multiprocess</a:t>
            </a:r>
            <a:r>
              <a:rPr lang="en-US" altLang="en-US" sz="2800" dirty="0"/>
              <a:t> Architecture – Chrome Browser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360D7C25-6ED1-40E0-9C1E-876BC3EC89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5975" y="908612"/>
            <a:ext cx="7892596" cy="3489217"/>
          </a:xfrm>
        </p:spPr>
        <p:txBody>
          <a:bodyPr/>
          <a:lstStyle/>
          <a:p>
            <a:r>
              <a:rPr lang="en-US" altLang="en-US" dirty="0"/>
              <a:t>Many web browsers ran as single process (some still do)</a:t>
            </a:r>
          </a:p>
          <a:p>
            <a:pPr lvl="1"/>
            <a:r>
              <a:rPr lang="en-US" altLang="en-US" dirty="0"/>
              <a:t>If one web site causes trouble, entire browser can hang or crash</a:t>
            </a:r>
          </a:p>
          <a:p>
            <a:r>
              <a:rPr lang="en-US" altLang="en-US" dirty="0"/>
              <a:t>Google Chrome Browser is </a:t>
            </a:r>
            <a:r>
              <a:rPr lang="en-US" altLang="en-US" dirty="0" err="1"/>
              <a:t>multiprocess</a:t>
            </a:r>
            <a:r>
              <a:rPr lang="en-US" altLang="en-US" dirty="0"/>
              <a:t> with 3 different types of processes: 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Browser</a:t>
            </a:r>
            <a:r>
              <a:rPr lang="en-US" altLang="en-US" dirty="0"/>
              <a:t> process manages user interface, disk and network I/O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Renderer</a:t>
            </a:r>
            <a:r>
              <a:rPr lang="en-US" altLang="en-US" dirty="0"/>
              <a:t> process renders web pages, deals with HTML, </a:t>
            </a:r>
            <a:r>
              <a:rPr lang="en-US" altLang="en-US" dirty="0" err="1"/>
              <a:t>Javascript</a:t>
            </a:r>
            <a:r>
              <a:rPr lang="en-US" altLang="en-US" dirty="0"/>
              <a:t>. A new renderer created for each website opened</a:t>
            </a:r>
          </a:p>
          <a:p>
            <a:pPr lvl="2"/>
            <a:r>
              <a:rPr lang="en-US" altLang="en-US" dirty="0"/>
              <a:t>Runs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sandbox</a:t>
            </a:r>
            <a:r>
              <a:rPr lang="en-US" altLang="en-US" dirty="0"/>
              <a:t> restricting disk and network I/O, minimizing effect of security exploits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Plug-in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process for each type of plug-in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pic>
        <p:nvPicPr>
          <p:cNvPr id="57348" name="Picture 1">
            <a:extLst>
              <a:ext uri="{FF2B5EF4-FFF2-40B4-BE49-F238E27FC236}">
                <a16:creationId xmlns:a16="http://schemas.microsoft.com/office/drawing/2014/main" id="{FC10B725-AB13-417A-BEE0-FCE2190A3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921" y="4506686"/>
            <a:ext cx="7544703" cy="1522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09D0E5E8-A027-43B0-871E-ED73DF85B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1713" y="130054"/>
            <a:ext cx="7485062" cy="576262"/>
          </a:xfrm>
        </p:spPr>
        <p:txBody>
          <a:bodyPr/>
          <a:lstStyle/>
          <a:p>
            <a:r>
              <a:rPr lang="en-US" altLang="en-US" dirty="0"/>
              <a:t>Interprocess Communication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2EF26BE1-FCB0-440F-8834-E9B667D36D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1212" y="1154113"/>
            <a:ext cx="7841297" cy="4530725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Processes within a system may be </a:t>
            </a:r>
            <a:r>
              <a:rPr lang="en-US" altLang="en-US" sz="2000" b="1" i="1" dirty="0">
                <a:latin typeface="+mn-ea"/>
                <a:ea typeface="+mn-ea"/>
              </a:rPr>
              <a:t>independent</a:t>
            </a:r>
            <a:r>
              <a:rPr lang="en-US" altLang="en-US" sz="2000" b="1" dirty="0"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or </a:t>
            </a:r>
            <a:r>
              <a:rPr lang="en-US" altLang="en-US" sz="2000" b="1" i="1" dirty="0">
                <a:latin typeface="+mn-ea"/>
                <a:ea typeface="+mn-ea"/>
              </a:rPr>
              <a:t>cooperating</a:t>
            </a:r>
          </a:p>
          <a:p>
            <a:r>
              <a:rPr lang="en-US" altLang="en-US" sz="2000" dirty="0">
                <a:latin typeface="+mn-ea"/>
                <a:ea typeface="+mn-ea"/>
              </a:rPr>
              <a:t>Cooperating process can affect or be affected by other processes, including sharing data</a:t>
            </a:r>
          </a:p>
          <a:p>
            <a:r>
              <a:rPr lang="en-US" altLang="en-US" sz="2000" dirty="0">
                <a:latin typeface="+mn-ea"/>
                <a:ea typeface="+mn-ea"/>
              </a:rPr>
              <a:t>Reasons for cooperating processes: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Information sharing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Computation speedup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Modularity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Convenience	</a:t>
            </a:r>
          </a:p>
          <a:p>
            <a:r>
              <a:rPr lang="en-US" altLang="en-US" sz="2000" dirty="0">
                <a:latin typeface="+mn-ea"/>
                <a:ea typeface="+mn-ea"/>
              </a:rPr>
              <a:t>Cooperating processes need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interprocess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communication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IPC</a:t>
            </a:r>
            <a:r>
              <a:rPr lang="en-US" altLang="en-US" sz="2000" dirty="0">
                <a:latin typeface="+mn-ea"/>
                <a:ea typeface="+mn-ea"/>
              </a:rPr>
              <a:t>)</a:t>
            </a:r>
          </a:p>
          <a:p>
            <a:r>
              <a:rPr lang="en-US" altLang="en-US" sz="2000" dirty="0">
                <a:latin typeface="+mn-ea"/>
                <a:ea typeface="+mn-ea"/>
              </a:rPr>
              <a:t>Two models of IPC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memory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Message passing</a:t>
            </a:r>
          </a:p>
          <a:p>
            <a:pPr lvl="1"/>
            <a:endParaRPr lang="en-US" altLang="en-US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24006AF-9462-4FD7-8602-D757042B9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Communications Models 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00F33A6-EE27-346B-C88D-BC4BB0E803A1}"/>
              </a:ext>
            </a:extLst>
          </p:cNvPr>
          <p:cNvGrpSpPr/>
          <p:nvPr/>
        </p:nvGrpSpPr>
        <p:grpSpPr>
          <a:xfrm>
            <a:off x="1441450" y="1268730"/>
            <a:ext cx="6833870" cy="4894898"/>
            <a:chOff x="1612900" y="1556384"/>
            <a:chExt cx="6246813" cy="4458654"/>
          </a:xfrm>
        </p:grpSpPr>
        <p:sp>
          <p:nvSpPr>
            <p:cNvPr id="61443" name="Rectangle 3">
              <a:extLst>
                <a:ext uri="{FF2B5EF4-FFF2-40B4-BE49-F238E27FC236}">
                  <a16:creationId xmlns:a16="http://schemas.microsoft.com/office/drawing/2014/main" id="{00B4232E-A93C-4613-91D0-E8A0948B6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7381" y="1556384"/>
              <a:ext cx="2411730" cy="364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110000"/>
                <a:buFont typeface="Wingdings" panose="05000000000000000000" pitchFamily="2" charset="2"/>
                <a:buChar char="§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110000"/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dirty="0">
                  <a:solidFill>
                    <a:srgbClr val="000000"/>
                  </a:solidFill>
                  <a:latin typeface="Arial" panose="020B0604020202020204" pitchFamily="34" charset="0"/>
                </a:rPr>
                <a:t>Shared memory</a:t>
              </a:r>
              <a:endParaRPr kumimoji="0" lang="en-US" altLang="en-US" sz="2000" dirty="0">
                <a:latin typeface="Arial" panose="020B0604020202020204" pitchFamily="34" charset="0"/>
              </a:endParaRPr>
            </a:p>
          </p:txBody>
        </p:sp>
        <p:pic>
          <p:nvPicPr>
            <p:cNvPr id="61444" name="Picture 1">
              <a:extLst>
                <a:ext uri="{FF2B5EF4-FFF2-40B4-BE49-F238E27FC236}">
                  <a16:creationId xmlns:a16="http://schemas.microsoft.com/office/drawing/2014/main" id="{3ED38AED-C0F5-4084-BE69-BF6EFD7FF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2900" y="2016125"/>
              <a:ext cx="6246813" cy="3998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3">
              <a:extLst>
                <a:ext uri="{FF2B5EF4-FFF2-40B4-BE49-F238E27FC236}">
                  <a16:creationId xmlns:a16="http://schemas.microsoft.com/office/drawing/2014/main" id="{DF294714-8825-F73E-52E8-1E6A3CF32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4603" y="1566862"/>
              <a:ext cx="2785110" cy="364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110000"/>
                <a:buFont typeface="Wingdings" panose="05000000000000000000" pitchFamily="2" charset="2"/>
                <a:buChar char="§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110000"/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dirty="0">
                  <a:solidFill>
                    <a:srgbClr val="000000"/>
                  </a:solidFill>
                  <a:latin typeface="Arial" panose="020B0604020202020204" pitchFamily="34" charset="0"/>
                </a:rPr>
                <a:t>Message passing </a:t>
              </a:r>
              <a:r>
                <a:rPr kumimoji="0" lang="en-US" altLang="en-US" sz="2000" dirty="0">
                  <a:latin typeface="Arial" panose="020B0604020202020204" pitchFamily="34" charset="0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69141823-0818-4D21-8248-27E5004AC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28600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Producer-Consumer Problem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99B8C2EA-F3A4-449A-81E9-2FC5EC36E1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214438"/>
            <a:ext cx="7403782" cy="4344151"/>
          </a:xfrm>
        </p:spPr>
        <p:txBody>
          <a:bodyPr/>
          <a:lstStyle/>
          <a:p>
            <a:r>
              <a:rPr lang="en-US" altLang="en-US" sz="2000" dirty="0"/>
              <a:t>Paradigm for cooperating processes:</a:t>
            </a:r>
          </a:p>
          <a:p>
            <a:pPr lvl="1"/>
            <a:r>
              <a:rPr lang="en-US" altLang="en-US" sz="2000" i="1" dirty="0"/>
              <a:t>producer</a:t>
            </a:r>
            <a:r>
              <a:rPr lang="en-US" altLang="en-US" sz="2000" dirty="0"/>
              <a:t> process produces information that is consumed by a </a:t>
            </a:r>
            <a:r>
              <a:rPr lang="en-US" altLang="en-US" sz="2000" i="1" dirty="0"/>
              <a:t>consumer</a:t>
            </a:r>
            <a:r>
              <a:rPr lang="en-US" altLang="en-US" sz="2000" dirty="0"/>
              <a:t> process</a:t>
            </a:r>
          </a:p>
          <a:p>
            <a:r>
              <a:rPr lang="en-US" altLang="en-US" sz="2000" dirty="0"/>
              <a:t>Two variations: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unbounded-buffer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places no practical limit on the size of the buffer:</a:t>
            </a:r>
          </a:p>
          <a:p>
            <a:pPr lvl="2"/>
            <a:r>
              <a:rPr lang="en-US" altLang="en-US" sz="2000" dirty="0"/>
              <a:t>Producer never waits</a:t>
            </a:r>
          </a:p>
          <a:p>
            <a:pPr lvl="2"/>
            <a:r>
              <a:rPr lang="en-US" altLang="en-US" sz="2000" dirty="0"/>
              <a:t>Consumer waits if there is no buffer to consume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bounded-buffer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assumes that there is a fixed buffer size</a:t>
            </a:r>
          </a:p>
          <a:p>
            <a:pPr lvl="2"/>
            <a:r>
              <a:rPr lang="en-US" altLang="en-US" sz="2000" dirty="0"/>
              <a:t>Producer must wait if all buffers are full</a:t>
            </a:r>
          </a:p>
          <a:p>
            <a:pPr lvl="2"/>
            <a:r>
              <a:rPr lang="en-US" altLang="en-US" sz="2000" dirty="0"/>
              <a:t>Consumer waits if there is no buffer to consume</a:t>
            </a:r>
          </a:p>
        </p:txBody>
      </p:sp>
    </p:spTree>
    <p:extLst>
      <p:ext uri="{BB962C8B-B14F-4D97-AF65-F5344CB8AC3E}">
        <p14:creationId xmlns:p14="http://schemas.microsoft.com/office/powerpoint/2010/main" val="12619828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F75428CE-94A1-42F8-AA1B-55485F581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22559" y="141300"/>
            <a:ext cx="6298882" cy="624510"/>
          </a:xfrm>
        </p:spPr>
        <p:txBody>
          <a:bodyPr/>
          <a:lstStyle/>
          <a:p>
            <a:pPr eaLnBrk="1" hangingPunct="1"/>
            <a:r>
              <a:rPr lang="en-US" altLang="en-US" dirty="0"/>
              <a:t>IPC – Shared Memory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90C2EA05-1541-4195-8AE7-131E61118D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3438" y="1233489"/>
            <a:ext cx="7670482" cy="280130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An area of memory shared among the processes that wish to communicate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The communication is under the control of the users processes not the operating system.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Major issues is to provide mechanism that will allow the user processes to synchronize their actions when they access shared memory. 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Synchronization is discussed in great details in Chapters 6 &amp; 7.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99EE88E8-FB94-4EA2-914B-EA02882062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1883" y="323096"/>
            <a:ext cx="8074025" cy="457200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Bounded-Buffer – Shared-Memory Solution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06B4B2DB-0CD0-402C-8F68-104A05E1E5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88" y="1203325"/>
            <a:ext cx="7789862" cy="4700588"/>
          </a:xfrm>
        </p:spPr>
        <p:txBody>
          <a:bodyPr/>
          <a:lstStyle/>
          <a:p>
            <a:r>
              <a:rPr lang="en-US" altLang="en-US" sz="2000" dirty="0"/>
              <a:t>Shared data</a:t>
            </a:r>
          </a:p>
          <a:p>
            <a:pPr marL="1598613" lvl="3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#define BUFFER_SIZE 10</a:t>
            </a:r>
          </a:p>
          <a:p>
            <a:pPr marL="1598613" lvl="3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typedef struct {</a:t>
            </a:r>
          </a:p>
          <a:p>
            <a:pPr marL="1598613" lvl="3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. . .</a:t>
            </a:r>
          </a:p>
          <a:p>
            <a:pPr marL="1598613" lvl="3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} item;</a:t>
            </a:r>
          </a:p>
          <a:p>
            <a:pPr marL="1598613" lvl="3">
              <a:buFontTx/>
              <a:buNone/>
            </a:pPr>
            <a:endParaRPr lang="en-US" altLang="en-US" sz="2000" b="1" dirty="0">
              <a:latin typeface="Courier New" panose="02070309020205020404" pitchFamily="49" charset="0"/>
            </a:endParaRPr>
          </a:p>
          <a:p>
            <a:pPr marL="1598613" lvl="3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item buffer[BUFFER_SIZE];</a:t>
            </a:r>
          </a:p>
          <a:p>
            <a:pPr marL="1598613" lvl="3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int in = 0;</a:t>
            </a:r>
          </a:p>
          <a:p>
            <a:pPr marL="1598613" lvl="3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int out = 0;</a:t>
            </a:r>
          </a:p>
          <a:p>
            <a:pPr marL="1598613" lvl="3">
              <a:buFontTx/>
              <a:buNone/>
            </a:pPr>
            <a:endParaRPr lang="en-US" altLang="en-US" sz="2000" dirty="0"/>
          </a:p>
          <a:p>
            <a:r>
              <a:rPr lang="en-US" altLang="en-US" sz="2000" dirty="0"/>
              <a:t>Solution is correct, but can only use </a:t>
            </a:r>
            <a:r>
              <a:rPr lang="en-US" altLang="en-US" sz="2000" b="1" dirty="0">
                <a:latin typeface="Courier New" panose="02070309020205020404" pitchFamily="49" charset="0"/>
              </a:rPr>
              <a:t>BUFFER_SIZE-1</a:t>
            </a:r>
            <a:r>
              <a:rPr lang="en-US" altLang="en-US" sz="2000" dirty="0"/>
              <a:t> elements</a:t>
            </a:r>
          </a:p>
          <a:p>
            <a:pPr marL="1598613" lvl="3">
              <a:buFontTx/>
              <a:buNone/>
            </a:pPr>
            <a:endParaRPr lang="en-US" altLang="en-US" sz="2000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B426FA82-2801-4913-A63A-AF57E71326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7600" y="222250"/>
            <a:ext cx="75692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Producer Process – Shared Memory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918AC823-35A6-4F95-9F20-D71790E773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3375" y="1014413"/>
            <a:ext cx="6940550" cy="4483100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 sz="2000" dirty="0">
              <a:latin typeface="Monaco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item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next_produced</a:t>
            </a:r>
            <a:r>
              <a:rPr lang="en-US" altLang="en-US" sz="2000" b="1" dirty="0">
                <a:latin typeface="Courier New" panose="02070309020205020404" pitchFamily="49" charset="0"/>
              </a:rPr>
              <a:t>; 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endParaRPr lang="en-US" altLang="en-US" sz="2000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/* produce an item in next produced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while (((in + 1) % BUFFER_SIZE) == out)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	; /* do nothing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buffer[in] =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next_produced</a:t>
            </a:r>
            <a:r>
              <a:rPr lang="en-US" altLang="en-US" sz="2000" b="1" dirty="0">
                <a:latin typeface="Courier New" panose="02070309020205020404" pitchFamily="49" charset="0"/>
              </a:rPr>
              <a:t>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in = (in + 1) % BUFFER_SIZE;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  <a:r>
              <a:rPr lang="en-US" altLang="en-US" sz="2000" dirty="0">
                <a:latin typeface="Courier New" panose="02070309020205020404" pitchFamily="49" charset="0"/>
              </a:rPr>
              <a:t> </a:t>
            </a:r>
          </a:p>
          <a:p>
            <a:pPr>
              <a:buFont typeface="Monotype Sorts" pitchFamily="-84" charset="2"/>
              <a:buNone/>
            </a:pPr>
            <a:endParaRPr lang="en-US" altLang="en-US" sz="2000" dirty="0">
              <a:latin typeface="Monaco"/>
            </a:endParaRPr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  <a:p>
            <a:pPr>
              <a:buFont typeface="Monotype Sorts" pitchFamily="-84" charset="2"/>
              <a:buNone/>
            </a:pPr>
            <a:r>
              <a:rPr lang="en-US" altLang="en-US" sz="2000" dirty="0"/>
              <a:t>	</a:t>
            </a:r>
          </a:p>
          <a:p>
            <a:pPr marL="7167563" lvl="4">
              <a:buFontTx/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65A24975-CF06-4A73-8D26-DA0E6F7E6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2835" y="204535"/>
            <a:ext cx="7594600" cy="545850"/>
          </a:xfrm>
        </p:spPr>
        <p:txBody>
          <a:bodyPr/>
          <a:lstStyle/>
          <a:p>
            <a:pPr eaLnBrk="1" hangingPunct="1"/>
            <a:r>
              <a:rPr lang="en-US" altLang="en-US" dirty="0"/>
              <a:t>Consumer Process – Shared Memory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A4383804-C100-4255-A1BD-B8DC67A9F2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49413" y="1219200"/>
            <a:ext cx="6894512" cy="4411663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item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next_consumed</a:t>
            </a:r>
            <a:r>
              <a:rPr lang="en-US" altLang="en-US" sz="2000" b="1" dirty="0">
                <a:latin typeface="Courier New" panose="02070309020205020404" pitchFamily="49" charset="0"/>
              </a:rPr>
              <a:t>; 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endParaRPr lang="en-US" altLang="en-US" sz="2000" b="1" dirty="0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while (true) {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r>
              <a:rPr lang="en-US" altLang="en-US" sz="2000" b="1" dirty="0">
                <a:latin typeface="Courier New" panose="02070309020205020404" pitchFamily="49" charset="0"/>
              </a:rPr>
              <a:t>	while (in == out)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	; /* do nothing */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r>
              <a:rPr lang="en-US" altLang="en-US" sz="2000" b="1" dirty="0">
                <a:latin typeface="Courier New" panose="02070309020205020404" pitchFamily="49" charset="0"/>
              </a:rPr>
              <a:t>	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next_consumed</a:t>
            </a:r>
            <a:r>
              <a:rPr lang="en-US" altLang="en-US" sz="2000" b="1" dirty="0">
                <a:latin typeface="Courier New" panose="02070309020205020404" pitchFamily="49" charset="0"/>
              </a:rPr>
              <a:t>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out = (out + 1) % BUFFER_SIZE;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endParaRPr lang="en-US" altLang="en-US" sz="2000" b="1" dirty="0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/* consume the item in next consumed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}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EF40B-8258-1C50-595A-6227E7D87B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Take a Break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5867001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16565</TotalTime>
  <Words>1788</Words>
  <Application>Microsoft Office PowerPoint</Application>
  <PresentationFormat>全屏显示(4:3)</PresentationFormat>
  <Paragraphs>212</Paragraphs>
  <Slides>35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5" baseType="lpstr">
      <vt:lpstr>Helvetica</vt:lpstr>
      <vt:lpstr>Monaco</vt:lpstr>
      <vt:lpstr>Monotype Sorts</vt:lpstr>
      <vt:lpstr>Arial</vt:lpstr>
      <vt:lpstr>Courier New</vt:lpstr>
      <vt:lpstr>Times New Roman</vt:lpstr>
      <vt:lpstr>Verdana</vt:lpstr>
      <vt:lpstr>Webdings</vt:lpstr>
      <vt:lpstr>Wingdings</vt:lpstr>
      <vt:lpstr>os-8</vt:lpstr>
      <vt:lpstr>Chapter 3 ： Processes (1)</vt:lpstr>
      <vt:lpstr>Outline</vt:lpstr>
      <vt:lpstr>Objectives</vt:lpstr>
      <vt:lpstr>Process Concept</vt:lpstr>
      <vt:lpstr>Process Concept (Cont.)</vt:lpstr>
      <vt:lpstr>Process in Memory</vt:lpstr>
      <vt:lpstr>Memory Layout of a C Program</vt:lpstr>
      <vt:lpstr>Process State</vt:lpstr>
      <vt:lpstr>Process Control Block (PCB)</vt:lpstr>
      <vt:lpstr>Threads</vt:lpstr>
      <vt:lpstr>Process Representation in Linux</vt:lpstr>
      <vt:lpstr>Process Scheduling</vt:lpstr>
      <vt:lpstr>Ready and Wait Queues</vt:lpstr>
      <vt:lpstr>Representation of Process Scheduling</vt:lpstr>
      <vt:lpstr>CPU Switch From Process to Process</vt:lpstr>
      <vt:lpstr>Context Switch</vt:lpstr>
      <vt:lpstr>Multitasking in Mobile Systems</vt:lpstr>
      <vt:lpstr>Operations on Processes</vt:lpstr>
      <vt:lpstr>Process Creation</vt:lpstr>
      <vt:lpstr>Process Creation (Cont.)</vt:lpstr>
      <vt:lpstr>A Tree of Processes in Linux</vt:lpstr>
      <vt:lpstr>C Program Forking Separate Process</vt:lpstr>
      <vt:lpstr>Creating a Separate Process via Windows API</vt:lpstr>
      <vt:lpstr>Process Termination</vt:lpstr>
      <vt:lpstr>Process Termination</vt:lpstr>
      <vt:lpstr>Android Process Importance Hierarchy</vt:lpstr>
      <vt:lpstr>Multiprocess Architecture – Chrome Browser</vt:lpstr>
      <vt:lpstr>Interprocess Communication</vt:lpstr>
      <vt:lpstr>Communications Models </vt:lpstr>
      <vt:lpstr>Producer-Consumer Problem</vt:lpstr>
      <vt:lpstr>IPC – Shared Memory</vt:lpstr>
      <vt:lpstr>Bounded-Buffer – Shared-Memory Solution</vt:lpstr>
      <vt:lpstr>Producer Process – Shared Memory</vt:lpstr>
      <vt:lpstr>Consumer Process – Shared Memory</vt:lpstr>
      <vt:lpstr>Take a Break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Prof. Chung Yehching (SDS)</cp:lastModifiedBy>
  <cp:revision>364</cp:revision>
  <cp:lastPrinted>2013-10-02T18:16:40Z</cp:lastPrinted>
  <dcterms:created xsi:type="dcterms:W3CDTF">2011-01-13T23:43:38Z</dcterms:created>
  <dcterms:modified xsi:type="dcterms:W3CDTF">2025-09-29T10:52:50Z</dcterms:modified>
</cp:coreProperties>
</file>