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7"/>
  </p:notesMasterIdLst>
  <p:handoutMasterIdLst>
    <p:handoutMasterId r:id="rId28"/>
  </p:handoutMasterIdLst>
  <p:sldIdLst>
    <p:sldId id="331" r:id="rId2"/>
    <p:sldId id="332" r:id="rId3"/>
    <p:sldId id="333" r:id="rId4"/>
    <p:sldId id="334" r:id="rId5"/>
    <p:sldId id="335" r:id="rId6"/>
    <p:sldId id="407" r:id="rId7"/>
    <p:sldId id="336" r:id="rId8"/>
    <p:sldId id="337" r:id="rId9"/>
    <p:sldId id="338" r:id="rId10"/>
    <p:sldId id="409" r:id="rId11"/>
    <p:sldId id="340" r:id="rId12"/>
    <p:sldId id="341" r:id="rId13"/>
    <p:sldId id="410" r:id="rId14"/>
    <p:sldId id="343" r:id="rId15"/>
    <p:sldId id="344" r:id="rId16"/>
    <p:sldId id="345" r:id="rId17"/>
    <p:sldId id="346" r:id="rId18"/>
    <p:sldId id="411" r:id="rId19"/>
    <p:sldId id="347" r:id="rId20"/>
    <p:sldId id="348" r:id="rId21"/>
    <p:sldId id="349" r:id="rId22"/>
    <p:sldId id="350" r:id="rId23"/>
    <p:sldId id="351" r:id="rId24"/>
    <p:sldId id="352" r:id="rId25"/>
    <p:sldId id="527" r:id="rId26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464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594209-1678-4B2A-B4BD-A47AA0BEBB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38C903-E9C1-4EEE-9C85-26502C5E84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850B4EB-9FB5-4ED4-996A-5001077F3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28AB70D-4AAF-4011-9DC4-6EE495450C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BE6C0C-13A5-439B-BE94-9E35C63CD4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22FACF-CE45-4AC3-B2A2-36D2B0BD3E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F3471BA-404F-42D2-A7C9-714D69CA2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F13DF-CA13-4724-A04B-D47B56442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6E394C-E4A1-4942-8688-4E6C278D7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27B09FD-7807-493C-9E6C-6D565DCA0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A920543-D350-443A-A721-991FEA812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09E82CE-770C-49D3-84E8-6A6FC8AFB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92899B-C57A-458A-8DEF-195B98857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571C26FC-F52D-411F-A4CB-DE8513A2B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C0BC62-2152-49E6-8AF5-50FF44F1E1D3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82389DE3-D492-4B0A-B0C5-CFC9B6B6F4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13180D19-5B10-4758-A8C9-92667670D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2E873C4-C9CD-4CD4-BAA9-E38AC88BF0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70FF08-90E6-43CF-AED6-E70CDB6B1112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F1D349B-2E24-48E3-8375-7C2C1F69B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E228C2F-8790-4E86-8B66-4D3492B2E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71000D4E-8A67-4003-8E87-772D9024C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365149-E38C-4DAC-84B8-8F4AFF2A5D63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4E0BBA3-E5B3-4DF0-BCF9-576ABB3C3B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822619B1-76CC-405A-8360-27F1944D1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EDF6219-82C1-4A93-ABED-5E34596BB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956D3A9-AF53-4EE2-8367-5C87C40B8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D8E06E-9ABA-4101-95DC-533C74A9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E8E951B-6D4F-4F3C-BA0F-CE3137BC4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09817C1-9D09-405F-A4BE-35AA840FB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C7757C3-4E01-44F0-9943-4A8D5D2ED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7412E0F5-3DB3-4276-9E28-E97E37598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7D0DB0-2893-40A2-A92B-B204CAA7AA0A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6849717-E504-4367-AE73-45E192484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E07A02F3-4A7A-4C49-8E28-03B39609B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CABBBA32-327C-4520-BB88-E93BCE413C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553D4C-F3A2-40EC-A353-CAF60F6FAB16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D77ED832-6662-429B-8811-E6909535F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01340DBE-8380-4A63-8CC7-AB75088D5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32FEA61-84E0-4F6E-A5DE-438DD3F1BB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8E264-0F87-448A-8621-D998F18CE072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70867D87-173B-443F-8109-C247DF5105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72E0E792-E4EE-44D7-9914-9DC91BCBD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FBD6615-ED48-4079-BAA7-A84844D67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E5558-88DF-40FE-90FF-9EB1FEE63A86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825ED8D-9E3E-4698-BB5C-C026B0475B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0D5306E4-3AAE-4121-B023-8B43D082C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0BFD4EBE-353D-4C31-99D7-B7C3FEC6C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B80A18-0C17-4A8A-A28E-1B3AD0E8B888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8A02C982-0312-4EC7-A741-67B0BEDA4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11F7861C-35C5-4B12-8A55-F7A16557D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E2EC3CC7-E29A-4D50-9A98-532553638A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6C72E5-BDBA-4628-BBAF-85FBB5CCE3BE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B01CE6FA-B36D-49C3-8371-51A4E97645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A8274DE9-BC41-40F6-83AC-5A3D3773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AA015233-DFC5-4181-9DBD-191581D3DF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AA9686-8C45-4B6B-B192-53184893EC9B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D606F670-2456-4E74-98E3-6F89925388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1CE9A51-74EA-466B-956F-199FC346E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6551FA5F-3DAF-4F79-96DF-B76D1641D9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4D4E91-7487-49F0-9D91-43B839F06F41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167C6B9E-26B1-4F34-923D-B2966B894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351E2D8-3E9B-4911-A879-EA20F380F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A8A00347-BFEB-47CE-B8F7-F4A3E8EC8E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B8A3B8-FFC6-4EAE-BC20-3413272D7E23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29DEC50F-F8EB-47B2-9592-C432BA44F4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7B4D387E-81FF-4C55-AE2B-EDD0B9D58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BB9D8362-CFFE-4239-A0CE-16166762BF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4A397-8FAE-4C30-A05F-CF91331CD813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00D4DD15-6D6E-4697-8517-23E5CECAC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3F296D03-4616-4EA3-8B0A-A93A46673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3BE82472-66AF-4BF7-A2A7-57FD11ECB4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009F0B-5F82-4126-923B-E013C3AAF972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93C9793E-0DAB-48C2-A22A-A9ACDD882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7AC332B0-F66D-4C3F-8DDB-E1E0D7FC2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3ABA041F-CBD6-47AF-B833-FA2229A9BA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018407F-AAA5-4963-A6A5-D6FE6F7F8BA8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76824097-C234-4268-8A44-3B4C9960D1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27E9339F-4D5C-4423-AB79-A4E63110E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26C1E9B0-A878-46DB-8C55-CED0E9E892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802788-C8C7-415D-889B-42AFD28A494F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70E474D5-321A-4ED0-BC07-F4E9910BD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C002F093-C941-47F5-A1B8-8DC559F3F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9CBD93AF-1180-4ACB-9B95-D6F986AB45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B255F6-0496-42D9-A50C-21BEA778293C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B6DBED89-49D3-4018-980D-509023030E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11938EE8-081A-42B2-B3E3-2DCAF241F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5DC1615E-A180-4CE3-9A53-8271AC492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8C993A-8BC4-4561-A588-A2EFC571D9A6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BA66C066-A5EF-433F-84A3-1071B0062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86C147CD-5F3C-4F88-8F21-4753C14C9D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39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44BEB4D-82F3-449B-9712-6972E5687F8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0E599D3-2632-4086-9DB8-1FF08C87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A3F07A-60C1-42E9-9126-114FEC61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9BEE85B-DDF0-428C-949C-A06BBCB8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2BAA5E16-6E79-4015-B59F-188FC31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99CD96-98CE-4281-8965-5FF9F04F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F6C5EC6-B569-4B47-BBFE-7A43262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153856F-DB42-4573-9C9E-EEACB7D6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1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69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01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25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52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4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0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8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97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232881E8-BA9B-47D1-8183-4E80DA2D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7B2B01F9-D51F-41E8-9F71-322BE1213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B6698D-C7F4-42D4-A599-0CA367443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C8C63-9073-4440-8E29-7538D370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DC0DDF2-EDD9-4546-941A-8819EECE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CF44F51-AC2C-44E8-8762-844722B4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1A7E9F-2DA0-447A-A945-F78748D7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85E49-346F-4CDE-8D31-F91EE49B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43D40-3BCA-4CC4-BCE0-2B11E774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BEB558B-1A8D-402E-B9D6-E8D4477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35644D38-C2D4-4B99-9159-387D141CE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3028" y="806450"/>
            <a:ext cx="8492671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10</a:t>
            </a:r>
            <a:br>
              <a:rPr lang="en-US" altLang="en-US" dirty="0"/>
            </a:br>
            <a:r>
              <a:rPr lang="en-US" altLang="en-US" dirty="0"/>
              <a:t>Virtual Memory (1)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B1EC99-547A-4C3C-A7EB-2C649B5A3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32587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A23357C-07C3-4F42-A857-16101A8BA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917" y="986790"/>
            <a:ext cx="7433627" cy="4530725"/>
          </a:xfrm>
        </p:spPr>
        <p:txBody>
          <a:bodyPr/>
          <a:lstStyle/>
          <a:p>
            <a:r>
              <a:rPr lang="en-US" altLang="en-US" sz="2000" dirty="0"/>
              <a:t>Background</a:t>
            </a:r>
          </a:p>
          <a:p>
            <a:r>
              <a:rPr lang="en-US" altLang="en-US" sz="2000" dirty="0"/>
              <a:t>Demand Paging</a:t>
            </a:r>
          </a:p>
          <a:p>
            <a:r>
              <a:rPr lang="en-US" altLang="en-US" sz="2000" dirty="0"/>
              <a:t>Copy-on-Write</a:t>
            </a:r>
          </a:p>
          <a:p>
            <a:r>
              <a:rPr lang="en-US" altLang="en-US" sz="2000" dirty="0"/>
              <a:t>Page Replacement</a:t>
            </a:r>
          </a:p>
          <a:p>
            <a:r>
              <a:rPr lang="en-US" altLang="en-US" sz="2000" dirty="0"/>
              <a:t>Allocation of Frames </a:t>
            </a:r>
          </a:p>
          <a:p>
            <a:r>
              <a:rPr lang="en-US" altLang="en-US" sz="2000" dirty="0"/>
              <a:t>Thrashing</a:t>
            </a:r>
          </a:p>
          <a:p>
            <a:r>
              <a:rPr lang="en-US" altLang="en-US" sz="2000" dirty="0"/>
              <a:t>Memory-Mapped Files</a:t>
            </a:r>
          </a:p>
          <a:p>
            <a:r>
              <a:rPr lang="en-US" altLang="en-US" sz="2000" dirty="0"/>
              <a:t>Allocating Kernel Memory</a:t>
            </a:r>
          </a:p>
          <a:p>
            <a:r>
              <a:rPr lang="en-US" altLang="en-US" sz="2000" dirty="0"/>
              <a:t>Other Considerations</a:t>
            </a:r>
          </a:p>
          <a:p>
            <a:r>
              <a:rPr lang="en-US" altLang="en-US" sz="2000" dirty="0"/>
              <a:t>Operating-System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1FEDD64-E96D-422A-9610-4377FD8A0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D0ECAB6-8759-48BC-9C7C-1E9AB9851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33488"/>
            <a:ext cx="7781731" cy="4530725"/>
          </a:xfrm>
        </p:spPr>
        <p:txBody>
          <a:bodyPr/>
          <a:lstStyle/>
          <a:p>
            <a:r>
              <a:rPr lang="en-US" altLang="en-US" sz="2000" dirty="0"/>
              <a:t>Define virtual memory and describe its benefits.</a:t>
            </a:r>
          </a:p>
          <a:p>
            <a:r>
              <a:rPr lang="en-US" altLang="en-US" sz="2000" dirty="0"/>
              <a:t>Illustrate how pages are loaded into memory using demand paging.</a:t>
            </a:r>
          </a:p>
          <a:p>
            <a:r>
              <a:rPr lang="en-US" altLang="en-US" sz="2000" dirty="0"/>
              <a:t>Apply the FIFO, optimal, and  LRU page-replacement algorithms.</a:t>
            </a:r>
          </a:p>
          <a:p>
            <a:r>
              <a:rPr lang="en-US" altLang="en-US" sz="2000" dirty="0"/>
              <a:t>Describe the working set of a process, and explain how it is related to program locality.</a:t>
            </a:r>
          </a:p>
          <a:p>
            <a:r>
              <a:rPr lang="en-US" altLang="en-US" sz="2000" dirty="0"/>
              <a:t>Describe how Linux, Windows 10, and Solaris manage virtual memory.</a:t>
            </a:r>
          </a:p>
          <a:p>
            <a:r>
              <a:rPr lang="en-US" altLang="en-US" sz="2000" dirty="0"/>
              <a:t>Design a virtual memory manager simulation in the C programming language.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CCC7638-093C-4CC4-960F-79B01FBE9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8BAF45D-7AF6-46D9-974E-C552BF29A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195229"/>
            <a:ext cx="7744408" cy="4530725"/>
          </a:xfrm>
        </p:spPr>
        <p:txBody>
          <a:bodyPr/>
          <a:lstStyle/>
          <a:p>
            <a:r>
              <a:rPr lang="en-US" altLang="en-US" sz="2000" dirty="0"/>
              <a:t>Code needs to be in memory to execute, but entire program rarely used</a:t>
            </a:r>
          </a:p>
          <a:p>
            <a:pPr lvl="1"/>
            <a:r>
              <a:rPr lang="en-US" altLang="en-US" sz="2000" dirty="0"/>
              <a:t>Error code, unusual routines, large data structures</a:t>
            </a:r>
          </a:p>
          <a:p>
            <a:r>
              <a:rPr lang="en-US" altLang="en-US" sz="2000" dirty="0"/>
              <a:t>Entire program code not needed at same time</a:t>
            </a:r>
          </a:p>
          <a:p>
            <a:r>
              <a:rPr lang="en-US" altLang="en-US" sz="2000" dirty="0"/>
              <a:t>Consider ability to execute partially-loaded program</a:t>
            </a:r>
          </a:p>
          <a:p>
            <a:pPr lvl="1"/>
            <a:r>
              <a:rPr lang="en-US" altLang="en-US" sz="2000" dirty="0"/>
              <a:t>Program no longer constrained by limits of physical memory</a:t>
            </a:r>
          </a:p>
          <a:p>
            <a:pPr lvl="1"/>
            <a:r>
              <a:rPr lang="en-US" altLang="en-US" sz="2000" dirty="0"/>
              <a:t>Each program takes less memory while running -&gt; more programs run at the same time</a:t>
            </a:r>
          </a:p>
          <a:p>
            <a:pPr lvl="2"/>
            <a:r>
              <a:rPr lang="en-US" altLang="en-US" sz="2000" dirty="0"/>
              <a:t>Increased CPU utilization and throughput with no increase in response time or turnaround time</a:t>
            </a:r>
          </a:p>
          <a:p>
            <a:pPr lvl="1"/>
            <a:r>
              <a:rPr lang="en-US" altLang="en-US" sz="2000" dirty="0"/>
              <a:t>Less I/O needed to load or swap programs into memory -&gt; each user program runs faster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BD8A388-8E27-4EE5-81A8-60463D77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(1)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22901F-947A-433D-9A89-77363C3CE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707" y="991549"/>
            <a:ext cx="7679094" cy="4026221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sz="2000" dirty="0"/>
              <a:t>– separation of user logical memory from physical memory</a:t>
            </a:r>
          </a:p>
          <a:p>
            <a:pPr lvl="1"/>
            <a:r>
              <a:rPr lang="en-US" altLang="en-US" sz="2000" dirty="0"/>
              <a:t>Only part of the program needs to be in memory for execution</a:t>
            </a:r>
          </a:p>
          <a:p>
            <a:pPr lvl="1"/>
            <a:r>
              <a:rPr lang="en-US" altLang="en-US" sz="2000" dirty="0"/>
              <a:t>Logical address space can therefore be much larger than physical address space</a:t>
            </a:r>
          </a:p>
          <a:p>
            <a:pPr lvl="1"/>
            <a:r>
              <a:rPr lang="en-US" altLang="en-US" sz="2000" dirty="0"/>
              <a:t>Allows address spaces to be shared by several processes</a:t>
            </a:r>
          </a:p>
          <a:p>
            <a:pPr lvl="1"/>
            <a:r>
              <a:rPr lang="en-US" altLang="en-US" sz="2000" dirty="0"/>
              <a:t>Allows for more efficient process creation</a:t>
            </a:r>
          </a:p>
          <a:p>
            <a:pPr lvl="1"/>
            <a:r>
              <a:rPr lang="en-US" altLang="en-US" sz="2000" dirty="0"/>
              <a:t>More programs running concurrently</a:t>
            </a:r>
          </a:p>
          <a:p>
            <a:pPr lvl="1"/>
            <a:r>
              <a:rPr lang="en-US" altLang="en-US" sz="2000" dirty="0"/>
              <a:t>Less I/O needed to load or swap processes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98FEA7-C7CA-4225-97D5-87D05E0B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(2)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EAA72FA-32BB-4333-A973-F0773984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1277" y="958916"/>
            <a:ext cx="7688424" cy="3693094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sz="2000" dirty="0"/>
              <a:t> – logical view of how process is stored in memory</a:t>
            </a:r>
          </a:p>
          <a:p>
            <a:pPr lvl="1"/>
            <a:r>
              <a:rPr lang="en-US" altLang="en-US" sz="2000" dirty="0"/>
              <a:t>Usually start at address 0, contiguous addresses until end of space</a:t>
            </a:r>
          </a:p>
          <a:p>
            <a:pPr lvl="1"/>
            <a:r>
              <a:rPr lang="en-US" altLang="en-US" sz="2000" dirty="0"/>
              <a:t>Meanwhile, physical memory organized in page frames</a:t>
            </a:r>
          </a:p>
          <a:p>
            <a:pPr lvl="1"/>
            <a:r>
              <a:rPr lang="en-US" altLang="en-US" sz="2000" dirty="0"/>
              <a:t>MMU must map logical to physical</a:t>
            </a:r>
          </a:p>
          <a:p>
            <a:r>
              <a:rPr lang="en-US" altLang="en-US" sz="2000" dirty="0"/>
              <a:t>Virtual memory can be implemented via</a:t>
            </a:r>
          </a:p>
          <a:p>
            <a:pPr lvl="1"/>
            <a:r>
              <a:rPr lang="en-US" altLang="en-US" sz="2000" dirty="0"/>
              <a:t>Demand paging </a:t>
            </a:r>
          </a:p>
          <a:p>
            <a:pPr lvl="1"/>
            <a:r>
              <a:rPr lang="en-US" altLang="en-US" sz="2000" dirty="0"/>
              <a:t>Demand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334937-C42E-4E7B-B0E3-358B7E808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713" y="216162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Virtual Memory That is Larger Than Physical Memory</a:t>
            </a:r>
          </a:p>
        </p:txBody>
      </p:sp>
      <p:pic>
        <p:nvPicPr>
          <p:cNvPr id="10243" name="Picture 4" descr="B:\os-book\os10-dir\Slides-WORK-area\Figures-dir\ch10\JPG-dir\10_01.jpg">
            <a:extLst>
              <a:ext uri="{FF2B5EF4-FFF2-40B4-BE49-F238E27FC236}">
                <a16:creationId xmlns:a16="http://schemas.microsoft.com/office/drawing/2014/main" id="{75959D58-FD0D-4362-987B-001456C2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57325"/>
            <a:ext cx="5459413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F0B8DB-E097-4BE3-81BB-00866E68F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232199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Virtual-Address Space</a:t>
            </a:r>
          </a:p>
        </p:txBody>
      </p:sp>
      <p:pic>
        <p:nvPicPr>
          <p:cNvPr id="11267" name="Picture 5">
            <a:extLst>
              <a:ext uri="{FF2B5EF4-FFF2-40B4-BE49-F238E27FC236}">
                <a16:creationId xmlns:a16="http://schemas.microsoft.com/office/drawing/2014/main" id="{E67654BE-83C9-4844-8B55-CE9FFDB0F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0" y="1144587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>
            <a:extLst>
              <a:ext uri="{FF2B5EF4-FFF2-40B4-BE49-F238E27FC236}">
                <a16:creationId xmlns:a16="http://schemas.microsoft.com/office/drawing/2014/main" id="{2B1431A7-1D96-4E21-A5C9-CBD53450B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1042193"/>
            <a:ext cx="6087110" cy="4981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Maximizes address space use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Unused address space between the two is hole</a:t>
            </a: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r>
              <a:rPr kumimoji="1" lang="en-US" altLang="en-US" dirty="0">
                <a:latin typeface="Helvetica" panose="020B0604020202020204" pitchFamily="34" charset="0"/>
              </a:rPr>
              <a:t>No physical memory needed until heap or stack grows to a given new page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Enables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address spaces with holes left for growth, dynamically linked libraries, etc.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System libraries shared via mapping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Shared memory by mapping pages read-write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dirty="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82E1AA8-C0F1-47D6-90C4-29E3C8F7F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656" y="235568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Library Using Virtual Memory</a:t>
            </a:r>
          </a:p>
        </p:txBody>
      </p:sp>
      <p:pic>
        <p:nvPicPr>
          <p:cNvPr id="12291" name="Picture 6">
            <a:extLst>
              <a:ext uri="{FF2B5EF4-FFF2-40B4-BE49-F238E27FC236}">
                <a16:creationId xmlns:a16="http://schemas.microsoft.com/office/drawing/2014/main" id="{C513F0E0-9020-4F02-8008-BA6516EC2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404938"/>
            <a:ext cx="6070600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9">
            <a:extLst>
              <a:ext uri="{FF2B5EF4-FFF2-40B4-BE49-F238E27FC236}">
                <a16:creationId xmlns:a16="http://schemas.microsoft.com/office/drawing/2014/main" id="{A3D70552-8B37-46D6-A4A0-489B357F4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013" y="1868487"/>
            <a:ext cx="3264537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Rectangle 2">
            <a:extLst>
              <a:ext uri="{FF2B5EF4-FFF2-40B4-BE49-F238E27FC236}">
                <a16:creationId xmlns:a16="http://schemas.microsoft.com/office/drawing/2014/main" id="{9C06DF40-C8BE-4D63-864C-842E26CBB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8710" y="237382"/>
            <a:ext cx="738378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FA26912-DDBD-4FE1-BFA7-E72BE4D7C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284" y="948214"/>
            <a:ext cx="5695666" cy="5338286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Could bring entire process into memory at load time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Or bring a page into memory only when it is needed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Less I/O needed, no unnecessary I/O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Less memory needed 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Faster response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More users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Similar to paging system with swapping (diagram on right)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Page is needed </a:t>
            </a:r>
            <a:r>
              <a:rPr lang="en-US" altLang="en-US" sz="2000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invalid reference </a:t>
            </a:r>
            <a:r>
              <a:rPr lang="en-US" altLang="en-US" sz="2000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Lazy swapper </a:t>
            </a:r>
            <a:r>
              <a:rPr lang="en-US" altLang="en-US" sz="2000" dirty="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pager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264511C-9394-4FB0-8A88-DD12566F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Basic Concepts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5F816111-C06D-4FA2-86A2-9368F11D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6" y="1028701"/>
            <a:ext cx="7697755" cy="4693268"/>
          </a:xfrm>
        </p:spPr>
        <p:txBody>
          <a:bodyPr/>
          <a:lstStyle/>
          <a:p>
            <a:r>
              <a:rPr lang="en-US" altLang="en-US" sz="2000" dirty="0"/>
              <a:t>With swapping, pager guesses which pages will be used before swapping out again</a:t>
            </a:r>
          </a:p>
          <a:p>
            <a:r>
              <a:rPr lang="en-US" altLang="en-US" sz="2000" dirty="0"/>
              <a:t>Instead, pager brings in only those pages into memory</a:t>
            </a:r>
          </a:p>
          <a:p>
            <a:r>
              <a:rPr lang="en-US" altLang="en-US" sz="2000" dirty="0"/>
              <a:t>How to determine that set of pages?</a:t>
            </a:r>
          </a:p>
          <a:p>
            <a:pPr lvl="1"/>
            <a:r>
              <a:rPr lang="en-US" altLang="en-US" sz="2000" dirty="0"/>
              <a:t>Need new MMU functionality to implement demand paging</a:t>
            </a:r>
          </a:p>
          <a:p>
            <a:r>
              <a:rPr lang="en-US" altLang="en-US" sz="2000" dirty="0"/>
              <a:t>If pages needed are already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resident</a:t>
            </a:r>
          </a:p>
          <a:p>
            <a:pPr lvl="1"/>
            <a:r>
              <a:rPr lang="en-US" altLang="en-US" sz="2000" dirty="0"/>
              <a:t>No difference from non demand-paging</a:t>
            </a:r>
          </a:p>
          <a:p>
            <a:r>
              <a:rPr lang="en-US" altLang="en-US" sz="2000" dirty="0"/>
              <a:t>If page needed and not memory resident</a:t>
            </a:r>
          </a:p>
          <a:p>
            <a:pPr lvl="1"/>
            <a:r>
              <a:rPr lang="en-US" altLang="en-US" sz="2000" dirty="0"/>
              <a:t>Need to detect and load the page into memory from storage</a:t>
            </a:r>
          </a:p>
          <a:p>
            <a:pPr lvl="2"/>
            <a:r>
              <a:rPr lang="en-US" altLang="en-US" sz="2000" dirty="0"/>
              <a:t>Without changing program behavior</a:t>
            </a:r>
          </a:p>
          <a:p>
            <a:pPr lvl="2"/>
            <a:r>
              <a:rPr lang="en-US" altLang="en-US" sz="2000" dirty="0"/>
              <a:t>Without programmer needing to change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D871474-8C29-4C4D-A06C-A16B6A83D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Valid-Invalid Bit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2DE0254-5503-4CC6-82D6-9AD27FDC1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8376" y="977583"/>
            <a:ext cx="7688424" cy="5472112"/>
          </a:xfrm>
        </p:spPr>
        <p:txBody>
          <a:bodyPr/>
          <a:lstStyle/>
          <a:p>
            <a:r>
              <a:rPr lang="en-US" altLang="en-US" sz="2000" dirty="0"/>
              <a:t>With each page table entry a valid–invalid bit is associated</a:t>
            </a:r>
            <a:br>
              <a:rPr lang="en-US" altLang="en-US" sz="2000" dirty="0"/>
            </a:b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FF0000"/>
                </a:solidFill>
              </a:rPr>
              <a:t>v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 in-memory –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memory</a:t>
            </a:r>
            <a:r>
              <a:rPr lang="en-US" altLang="en-US" sz="2000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resident</a:t>
            </a:r>
            <a:r>
              <a:rPr lang="en-US" altLang="en-US" sz="2000" dirty="0">
                <a:sym typeface="Symbol" panose="05050102010706020507" pitchFamily="18" charset="2"/>
              </a:rPr>
              <a:t>,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 not-in-memory)</a:t>
            </a:r>
          </a:p>
          <a:p>
            <a:r>
              <a:rPr lang="en-US" altLang="en-US" sz="2000" dirty="0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altLang="en-US" sz="2000" dirty="0">
                <a:sym typeface="Symbol" panose="05050102010706020507" pitchFamily="18" charset="2"/>
              </a:rPr>
              <a:t>on all entries</a:t>
            </a:r>
          </a:p>
          <a:p>
            <a:r>
              <a:rPr lang="en-US" altLang="en-US" sz="2000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2000" dirty="0">
                <a:sym typeface="Symbol" panose="05050102010706020507" pitchFamily="18" charset="2"/>
              </a:rPr>
            </a:b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 i</a:t>
            </a:r>
            <a:r>
              <a:rPr lang="en-US" altLang="en-US" sz="2000" dirty="0">
                <a:sym typeface="Symbol" panose="05050102010706020507" pitchFamily="18" charset="2"/>
              </a:rPr>
              <a:t>  page fault</a:t>
            </a:r>
          </a:p>
        </p:txBody>
      </p:sp>
      <p:pic>
        <p:nvPicPr>
          <p:cNvPr id="16388" name="Picture 1">
            <a:extLst>
              <a:ext uri="{FF2B5EF4-FFF2-40B4-BE49-F238E27FC236}">
                <a16:creationId xmlns:a16="http://schemas.microsoft.com/office/drawing/2014/main" id="{6076F79C-4BBB-4218-90FB-18A6D83B8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977" y="2623263"/>
            <a:ext cx="2370138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B154921-491D-443E-816A-3E1D64EAD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3143" y="344979"/>
            <a:ext cx="7884368" cy="5016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Page Table When Some Pages Are Not</a:t>
            </a:r>
            <a:br>
              <a:rPr lang="en-US" altLang="en-US" sz="2400" dirty="0"/>
            </a:br>
            <a:r>
              <a:rPr lang="en-US" altLang="en-US" sz="2400" dirty="0"/>
              <a:t>in Main Memory</a:t>
            </a:r>
          </a:p>
        </p:txBody>
      </p:sp>
      <p:pic>
        <p:nvPicPr>
          <p:cNvPr id="17411" name="Picture 2" descr="B:\os-book\os10-dir\Slides-WORK-area\Figures-dir\ch10\JPG-dir\10_04.jpg">
            <a:extLst>
              <a:ext uri="{FF2B5EF4-FFF2-40B4-BE49-F238E27FC236}">
                <a16:creationId xmlns:a16="http://schemas.microsoft.com/office/drawing/2014/main" id="{EE8B21A0-27D4-48EC-AA1E-673C6BCA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246187"/>
            <a:ext cx="5308282" cy="5146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614AF0F-0564-40AA-8F76-6152AC6E0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Page Fault (1)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63B1E5A-B195-422A-B1B4-080156B3A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9714" y="1028700"/>
            <a:ext cx="7707086" cy="4503419"/>
          </a:xfrm>
        </p:spPr>
        <p:txBody>
          <a:bodyPr/>
          <a:lstStyle/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sz="2000" dirty="0"/>
              <a:t>If there is a reference to a page, first reference to that page will trap to operating system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>
                <a:sym typeface="Symbol" pitchFamily="18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000" dirty="0">
                <a:sym typeface="Symbol" pitchFamily="18" charset="2"/>
              </a:rPr>
              <a:t>Operating system looks at another table to decide:</a:t>
            </a:r>
          </a:p>
          <a:p>
            <a:pPr marL="798513" lvl="1" indent="-341313">
              <a:lnSpc>
                <a:spcPct val="90000"/>
              </a:lnSpc>
              <a:defRPr/>
            </a:pPr>
            <a:r>
              <a:rPr lang="en-US" altLang="en-US" sz="2000" dirty="0"/>
              <a:t>Invalid reference </a:t>
            </a:r>
            <a:r>
              <a:rPr lang="en-US" altLang="en-US" sz="2000" dirty="0">
                <a:sym typeface="Symbol" pitchFamily="18" charset="2"/>
              </a:rPr>
              <a:t> abort</a:t>
            </a:r>
          </a:p>
          <a:p>
            <a:pPr marL="798513" lvl="1" indent="-341313">
              <a:lnSpc>
                <a:spcPct val="90000"/>
              </a:lnSpc>
              <a:defRPr/>
            </a:pPr>
            <a:r>
              <a:rPr lang="en-US" altLang="en-US" sz="2000" dirty="0">
                <a:sym typeface="Symbol" pitchFamily="18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000" dirty="0">
                <a:sym typeface="Symbol" pitchFamily="18" charset="2"/>
              </a:rPr>
              <a:t>Find free frame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000" dirty="0">
                <a:sym typeface="Symbol" pitchFamily="18" charset="2"/>
              </a:rPr>
              <a:t>Swap page into frame via scheduled disk operation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000" dirty="0">
                <a:sym typeface="Symbol" pitchFamily="18" charset="2"/>
              </a:rPr>
              <a:t>Reset tables to indicate page now in memory</a:t>
            </a:r>
            <a:br>
              <a:rPr lang="en-US" altLang="en-US" sz="2000" dirty="0">
                <a:sym typeface="Symbol" pitchFamily="18" charset="2"/>
              </a:rPr>
            </a:br>
            <a:r>
              <a:rPr lang="en-US" altLang="en-US" sz="2000" dirty="0">
                <a:sym typeface="Symbol" pitchFamily="18" charset="2"/>
              </a:rPr>
              <a:t>Set validation bit = </a:t>
            </a:r>
            <a:r>
              <a:rPr lang="en-US" altLang="en-US" sz="2000" b="1" dirty="0">
                <a:solidFill>
                  <a:srgbClr val="FF0000"/>
                </a:solidFill>
                <a:sym typeface="Symbol" pitchFamily="18" charset="2"/>
              </a:rPr>
              <a:t>v</a:t>
            </a:r>
            <a:endParaRPr lang="en-US" altLang="en-US" sz="2000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000" dirty="0">
                <a:sym typeface="Symbol" pitchFamily="18" charset="2"/>
              </a:rPr>
              <a:t>Restart the instruction that caused the page fault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sz="20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45744E8-6995-495D-B4E9-CB8155552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804" y="244899"/>
            <a:ext cx="851505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a Page Fault (2)</a:t>
            </a:r>
          </a:p>
        </p:txBody>
      </p:sp>
      <p:pic>
        <p:nvPicPr>
          <p:cNvPr id="19459" name="Picture 4" descr="9">
            <a:extLst>
              <a:ext uri="{FF2B5EF4-FFF2-40B4-BE49-F238E27FC236}">
                <a16:creationId xmlns:a16="http://schemas.microsoft.com/office/drawing/2014/main" id="{4C87B603-A2E7-4FAE-A0CB-D034C6085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455FCDC-9CE5-4011-94EB-76128581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Aspects of Demand Paging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AD11580-A239-44B3-BA48-43549630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49" y="929499"/>
            <a:ext cx="7651102" cy="524270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000" dirty="0"/>
              <a:t>Extreme case – start process with </a:t>
            </a:r>
            <a:r>
              <a:rPr lang="en-US" altLang="en-US" sz="2000" i="1" dirty="0"/>
              <a:t>no</a:t>
            </a:r>
            <a:r>
              <a:rPr lang="en-US" altLang="en-US" sz="2000" dirty="0"/>
              <a:t> pages in memory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OS sets instruction pointer to first instruction of process, non-memory-resident -&gt; page fault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And for every other process pages on first access</a:t>
            </a:r>
          </a:p>
          <a:p>
            <a:pPr lvl="1"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Pure demand paging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Actually, a given instruction could access multiple pages -&gt; multiple page faults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Consider fetch and decode of instruction which adds 2 numbers from memory and stores result back to memory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Pain decreased because of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locality of reference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Hardware support needed for demand paging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Page table with valid / invalid bit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Secondary memory (swap device with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swap space</a:t>
            </a:r>
            <a:r>
              <a:rPr lang="en-US" altLang="en-US" sz="2000" dirty="0"/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Instruction restart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8DBC94B-798D-408F-B016-8235AA92A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Instruction Restart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09283A3-41F7-4BC9-BF2A-D4DB982A5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5578" y="980764"/>
            <a:ext cx="7432708" cy="4757095"/>
          </a:xfrm>
        </p:spPr>
        <p:txBody>
          <a:bodyPr/>
          <a:lstStyle/>
          <a:p>
            <a:r>
              <a:rPr lang="en-US" altLang="en-US" sz="2000" dirty="0"/>
              <a:t>Consider an instruction that could access several different locations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Block move</a:t>
            </a:r>
          </a:p>
          <a:p>
            <a:pPr lvl="1">
              <a:lnSpc>
                <a:spcPct val="90000"/>
              </a:lnSpc>
            </a:pP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Auto increment/decrement location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Restart the whole operation?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What if source and destination overlap?</a:t>
            </a:r>
          </a:p>
        </p:txBody>
      </p:sp>
      <p:pic>
        <p:nvPicPr>
          <p:cNvPr id="21508" name="Picture 2">
            <a:extLst>
              <a:ext uri="{FF2B5EF4-FFF2-40B4-BE49-F238E27FC236}">
                <a16:creationId xmlns:a16="http://schemas.microsoft.com/office/drawing/2014/main" id="{8E395989-C37C-4C8C-8157-9861CCB88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952" y="2026895"/>
            <a:ext cx="1988961" cy="208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1A455AE-86AA-4EA2-9575-6B5ABC990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Free-Frame List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1D3A033-F636-4DD5-B0D9-B3C0BC32B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43903"/>
            <a:ext cx="7669764" cy="4114800"/>
          </a:xfrm>
        </p:spPr>
        <p:txBody>
          <a:bodyPr/>
          <a:lstStyle/>
          <a:p>
            <a:r>
              <a:rPr lang="en-US" altLang="en-US" sz="2000" dirty="0"/>
              <a:t>When a page fault occurs, the operating system must bring the desired page from secondary storage into main memory. </a:t>
            </a:r>
          </a:p>
          <a:p>
            <a:r>
              <a:rPr lang="en-US" altLang="en-US" sz="2000" dirty="0"/>
              <a:t>Most operating systems maintain a 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free-frame</a:t>
            </a:r>
            <a:r>
              <a:rPr lang="en-US" altLang="en-US" sz="2000" b="1" dirty="0">
                <a:solidFill>
                  <a:srgbClr val="0070C0"/>
                </a:solidFill>
              </a:rPr>
              <a:t> list</a:t>
            </a:r>
            <a:r>
              <a:rPr lang="en-US" altLang="en-US" sz="2000" dirty="0"/>
              <a:t> -- a pool of free frames for satisfying such requests.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Operating system typically allocate free frames using a technique known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sz="2000" dirty="0"/>
              <a:t> --  the content of the frames zeroed-out before being allocated.</a:t>
            </a:r>
          </a:p>
          <a:p>
            <a:r>
              <a:rPr lang="en-US" altLang="en-US" sz="2000" dirty="0"/>
              <a:t>When a system starts up, all available memory is placed on the free-frame list. </a:t>
            </a:r>
          </a:p>
        </p:txBody>
      </p:sp>
      <p:pic>
        <p:nvPicPr>
          <p:cNvPr id="22532" name="Picture 2" descr="B:\os-book\os10-dir\Slides-WORK-area\Figures-dir\ch10\JPG-dir\10_06.jpg">
            <a:extLst>
              <a:ext uri="{FF2B5EF4-FFF2-40B4-BE49-F238E27FC236}">
                <a16:creationId xmlns:a16="http://schemas.microsoft.com/office/drawing/2014/main" id="{74C1D426-4DEE-495E-BFD2-9DDD43D14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700" y="2919428"/>
            <a:ext cx="4546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3106162-FA5D-4204-BC6B-FC492CAB8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8621" y="242727"/>
            <a:ext cx="7869237" cy="576263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Stages in Demand Paging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59FD618-6420-46F8-ADA3-3B84918F6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0550" y="910430"/>
            <a:ext cx="7962900" cy="5354956"/>
          </a:xfrm>
        </p:spPr>
        <p:txBody>
          <a:bodyPr/>
          <a:lstStyle/>
          <a:p>
            <a:pPr marL="446088" indent="-446088">
              <a:spcBef>
                <a:spcPts val="300"/>
              </a:spcBef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Trap to the operating system</a:t>
            </a:r>
          </a:p>
          <a:p>
            <a:pPr marL="446088" indent="-446088">
              <a:spcBef>
                <a:spcPts val="300"/>
              </a:spcBef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Save the user registers and process state</a:t>
            </a:r>
          </a:p>
          <a:p>
            <a:pPr marL="446088" indent="-446088">
              <a:spcBef>
                <a:spcPts val="300"/>
              </a:spcBef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Determine the interrupt was a page fault</a:t>
            </a:r>
          </a:p>
          <a:p>
            <a:pPr marL="446088" indent="-446088">
              <a:spcBef>
                <a:spcPts val="300"/>
              </a:spcBef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Check the page reference was legal and determine the location of the page on the disk</a:t>
            </a:r>
          </a:p>
          <a:p>
            <a:pPr marL="446088" indent="-446088">
              <a:spcBef>
                <a:spcPts val="300"/>
              </a:spcBef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Issue a read from the disk to a free frame</a:t>
            </a:r>
          </a:p>
          <a:p>
            <a:pPr marL="892175" lvl="1" indent="-263525">
              <a:spcBef>
                <a:spcPts val="300"/>
              </a:spcBef>
              <a:buFont typeface="+mj-lt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 Wait in a queue for this device until the read request is serviced</a:t>
            </a:r>
          </a:p>
          <a:p>
            <a:pPr marL="892175" lvl="1" indent="-263525">
              <a:spcBef>
                <a:spcPts val="300"/>
              </a:spcBef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 Wait for the device seek and/or latency time</a:t>
            </a:r>
          </a:p>
          <a:p>
            <a:pPr marL="892175" lvl="1" indent="-263525">
              <a:spcBef>
                <a:spcPts val="300"/>
              </a:spcBef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 Begin the transfer of the page to a free frame</a:t>
            </a:r>
          </a:p>
          <a:p>
            <a:pPr>
              <a:spcBef>
                <a:spcPts val="300"/>
              </a:spcBef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While waiting, allocate the CPU to some other users</a:t>
            </a:r>
          </a:p>
          <a:p>
            <a:pPr>
              <a:spcBef>
                <a:spcPts val="300"/>
              </a:spcBef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Receive an interrupt from the disk I/O subsystem (I/O completed)</a:t>
            </a:r>
          </a:p>
          <a:p>
            <a:pPr>
              <a:spcBef>
                <a:spcPts val="300"/>
              </a:spcBef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Save the registers and process state for other users</a:t>
            </a:r>
          </a:p>
          <a:p>
            <a:pPr>
              <a:spcBef>
                <a:spcPts val="300"/>
              </a:spcBef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Determine that the interrupt was from the disk</a:t>
            </a:r>
          </a:p>
          <a:p>
            <a:pPr>
              <a:spcBef>
                <a:spcPts val="300"/>
              </a:spcBef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Update the page table and other tables to show page is now in memory</a:t>
            </a:r>
          </a:p>
          <a:p>
            <a:pPr>
              <a:spcBef>
                <a:spcPts val="300"/>
              </a:spcBef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Wait for the CPU to be allocated to this process again</a:t>
            </a:r>
          </a:p>
          <a:p>
            <a:pPr marL="446088" indent="-446088">
              <a:spcBef>
                <a:spcPts val="300"/>
              </a:spcBef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Restore the user registers, process state, and new page table, and then  resume the interrupted instruction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49FB98C-679E-4682-BAE7-A7064CABE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4060" y="202036"/>
            <a:ext cx="7272338" cy="611188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F03B7D4-70F1-48B6-8A00-4D9695B10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9461" y="919639"/>
            <a:ext cx="7965077" cy="4543901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 sz="2000" dirty="0"/>
              <a:t>Three major activities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sz="2000" dirty="0"/>
              <a:t>Service the interrupt – careful coding means just several hundred instructions needed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sz="2000" dirty="0"/>
              <a:t>Read the page – lots of time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sz="2000" dirty="0"/>
              <a:t>Restart the process – again just a small amount of time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sz="2000" dirty="0"/>
              <a:t>Page Fault Rate 0 </a:t>
            </a:r>
            <a:r>
              <a:rPr lang="en-US" altLang="en-US" sz="2000" dirty="0">
                <a:sym typeface="Symbol" panose="05050102010706020507" pitchFamily="18" charset="2"/>
              </a:rPr>
              <a:t>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  1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 = 0 no page faults 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 = 1, every reference is a fault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Effective Access Time (EAT)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	    EAT = (1 –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) x memory access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                     +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 (page fault overhead + swap page out + swap page)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0E62A0B-D955-48F0-A13C-C90B2C149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085" y="223644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Example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8756104-BFEE-4B66-8D8E-DC274456D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161" y="885508"/>
            <a:ext cx="7503678" cy="5309552"/>
          </a:xfrm>
        </p:spPr>
        <p:txBody>
          <a:bodyPr/>
          <a:lstStyle/>
          <a:p>
            <a:pPr>
              <a:tabLst>
                <a:tab pos="1773238" algn="l"/>
                <a:tab pos="2278063" algn="l"/>
              </a:tabLst>
            </a:pPr>
            <a:r>
              <a:rPr lang="en-US" altLang="en-US" sz="2000" dirty="0"/>
              <a:t>Memory access time = 200 nanoseconds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sz="2000" dirty="0"/>
              <a:t>Average page-fault service time = 8 milliseconds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sz="2000" dirty="0"/>
              <a:t>EAT = (1 – p) x 200 + p (8 milliseconds)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sz="2000" dirty="0"/>
              <a:t>	        = (1 – p  x 200 + p x 8,000,000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sz="2000" dirty="0"/>
              <a:t>              = 200 + p x 7,999,800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sz="2000" dirty="0"/>
              <a:t>If one access out of 1,000 causes a page fault, then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sz="2000" dirty="0"/>
              <a:t>         EAT = 8.2 microseconds.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sz="2000" dirty="0"/>
              <a:t>      This is a slowdown by a factor of 40!!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sz="2000" dirty="0"/>
              <a:t>If want performance degradation &lt; 10 percent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sz="2000" dirty="0"/>
              <a:t>220 &gt; 200 + 7,999,800 x p</a:t>
            </a:r>
            <a:br>
              <a:rPr lang="en-US" altLang="en-US" sz="2000" dirty="0"/>
            </a:br>
            <a:r>
              <a:rPr lang="en-US" altLang="en-US" sz="2000" dirty="0"/>
              <a:t>20 &gt; 7,999,800 x p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sz="2000" dirty="0"/>
              <a:t>p &lt; .0000025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sz="2000" dirty="0"/>
              <a:t>&lt; one page fault in every 400,000 memory accesses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sz="2000" dirty="0"/>
              <a:t>	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1B22C3E1-32B8-4B21-A8D6-B3248418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005" y="238159"/>
            <a:ext cx="8229600" cy="576262"/>
          </a:xfrm>
        </p:spPr>
        <p:txBody>
          <a:bodyPr/>
          <a:lstStyle/>
          <a:p>
            <a:r>
              <a:rPr lang="en-US" altLang="en-US" dirty="0"/>
              <a:t>Demand Paging Optimizations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8BEE743C-DD76-4F41-B07D-C4DE4208A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005" y="1065881"/>
            <a:ext cx="7889915" cy="5346349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dirty="0"/>
              <a:t>Swap space I/O faster than file system I/O even if on the same device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Swap allocated in larger chunks, less management needed than file system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Copy entire process image to swap space at process load time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Then page in and out of swap space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Used in older BSD Unix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Demand page in from program binary on disk, but discard rather than paging out when freeing frame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Used in Solaris and current BSD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Still need to write to swap space</a:t>
            </a:r>
          </a:p>
          <a:p>
            <a:pPr lvl="2">
              <a:spcBef>
                <a:spcPts val="300"/>
              </a:spcBef>
            </a:pPr>
            <a:r>
              <a:rPr lang="en-US" altLang="en-US" dirty="0"/>
              <a:t>Pages not associated with a file (like stack and heap)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memory</a:t>
            </a:r>
          </a:p>
          <a:p>
            <a:pPr lvl="2">
              <a:spcBef>
                <a:spcPts val="300"/>
              </a:spcBef>
            </a:pPr>
            <a:r>
              <a:rPr lang="en-US" altLang="en-US" dirty="0"/>
              <a:t>Pages modified in memory but not yet written back to the file system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Mobile systems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Typically don’t support swapping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Instead, demand page from file system and reclaim read-only pages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651B988-8DE7-4632-AA41-76D04EF9A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901" y="23738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Copy-on-Write (1)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CA58894-B517-4286-8DD6-C84ED96ED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8306" y="946468"/>
            <a:ext cx="8018494" cy="4848542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Copy-on-Write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(COW) allows both parent and child processes to initially </a:t>
            </a:r>
            <a:r>
              <a:rPr lang="en-US" altLang="en-US" sz="2000" b="1" i="1" dirty="0"/>
              <a:t>share</a:t>
            </a:r>
            <a:r>
              <a:rPr lang="en-US" altLang="en-US" sz="2000" dirty="0"/>
              <a:t> the same pages in memory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If either process modifies a shared page, only then is the page copied</a:t>
            </a:r>
          </a:p>
          <a:p>
            <a:pPr>
              <a:spcBef>
                <a:spcPts val="300"/>
              </a:spcBef>
            </a:pPr>
            <a:r>
              <a:rPr lang="en-US" altLang="en-US" sz="2000" dirty="0"/>
              <a:t>COW allows more efficient process creation as only modified pages are copied</a:t>
            </a:r>
          </a:p>
          <a:p>
            <a:pPr>
              <a:spcBef>
                <a:spcPts val="300"/>
              </a:spcBef>
            </a:pPr>
            <a:r>
              <a:rPr lang="en-US" altLang="en-US" sz="2000" dirty="0"/>
              <a:t>In general, free pages are allocated from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pool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of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pages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Pool should always have free frames for fast demand page execution</a:t>
            </a:r>
          </a:p>
          <a:p>
            <a:pPr lvl="2">
              <a:spcBef>
                <a:spcPts val="300"/>
              </a:spcBef>
            </a:pPr>
            <a:r>
              <a:rPr lang="en-US" altLang="en-US" dirty="0"/>
              <a:t>Don’t want to have to free a frame as well as other processing on page fault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Why zero-out a page before allocating it?</a:t>
            </a:r>
          </a:p>
          <a:p>
            <a:pPr>
              <a:spcBef>
                <a:spcPts val="300"/>
              </a:spcBef>
            </a:pP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vfork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000" dirty="0"/>
              <a:t> variation on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2000" dirty="0"/>
              <a:t>system call has parent suspend and child using copy-on-write address space of parent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Designed to have child call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Very efficient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D5BA0CD-1FD4-DF9B-82DA-1EAC4746B731}"/>
              </a:ext>
            </a:extLst>
          </p:cNvPr>
          <p:cNvGrpSpPr/>
          <p:nvPr/>
        </p:nvGrpSpPr>
        <p:grpSpPr>
          <a:xfrm>
            <a:off x="2177548" y="3648816"/>
            <a:ext cx="5074784" cy="2748031"/>
            <a:chOff x="2177548" y="3648816"/>
            <a:chExt cx="5074784" cy="2748031"/>
          </a:xfrm>
        </p:grpSpPr>
        <p:pic>
          <p:nvPicPr>
            <p:cNvPr id="2" name="Picture 4" descr="9">
              <a:extLst>
                <a:ext uri="{FF2B5EF4-FFF2-40B4-BE49-F238E27FC236}">
                  <a16:creationId xmlns:a16="http://schemas.microsoft.com/office/drawing/2014/main" id="{60C7F3F3-D0AB-6772-5460-9F57FBEC63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7548" y="3648816"/>
              <a:ext cx="5074784" cy="2344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8C1520F-F5C0-C4A0-D94D-8A32B5DB5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9936" y="5993733"/>
              <a:ext cx="4410009" cy="403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b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+mj-lt"/>
                  <a:ea typeface="MS PGothic" pitchFamily="34" charset="-128"/>
                  <a:cs typeface="ＭＳ Ｐゴシック" charset="-128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  <a:ea typeface="MS PGothic" pitchFamily="34" charset="-128"/>
                  <a:cs typeface="ＭＳ Ｐゴシック" charset="-128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  <a:ea typeface="MS PGothic" pitchFamily="34" charset="-128"/>
                  <a:cs typeface="ＭＳ Ｐゴシック" charset="-128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  <a:ea typeface="MS PGothic" pitchFamily="34" charset="-128"/>
                  <a:cs typeface="ＭＳ Ｐゴシック" charset="-128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  <a:ea typeface="MS PGothic" pitchFamily="34" charset="-128"/>
                  <a:cs typeface="ＭＳ Ｐゴシック" charset="-128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1800" kern="0" dirty="0"/>
                <a:t>(b) After Process 1 Modifies Page C</a:t>
              </a:r>
            </a:p>
          </p:txBody>
        </p:sp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A3799DBB-E01E-DDF7-B435-D9A13FBF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Copy-on-Write (2)</a:t>
            </a:r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2391159-DD84-DF5C-14A7-717FD106F104}"/>
              </a:ext>
            </a:extLst>
          </p:cNvPr>
          <p:cNvGrpSpPr/>
          <p:nvPr/>
        </p:nvGrpSpPr>
        <p:grpSpPr>
          <a:xfrm>
            <a:off x="2156769" y="972422"/>
            <a:ext cx="5095563" cy="2456578"/>
            <a:chOff x="2013829" y="908803"/>
            <a:chExt cx="5095563" cy="2456578"/>
          </a:xfrm>
        </p:grpSpPr>
        <p:pic>
          <p:nvPicPr>
            <p:cNvPr id="29699" name="Picture 4" descr="9">
              <a:extLst>
                <a:ext uri="{FF2B5EF4-FFF2-40B4-BE49-F238E27FC236}">
                  <a16:creationId xmlns:a16="http://schemas.microsoft.com/office/drawing/2014/main" id="{BC34FA32-F8B2-44C4-BE2E-AA1E082121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3829" y="908803"/>
              <a:ext cx="5095563" cy="2050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85DBDD14-1AB9-FFE8-4F51-E37F4A8C4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9936" y="2962267"/>
              <a:ext cx="4410009" cy="403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b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+mj-lt"/>
                  <a:ea typeface="MS PGothic" pitchFamily="34" charset="-128"/>
                  <a:cs typeface="ＭＳ Ｐゴシック" charset="-128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  <a:ea typeface="MS PGothic" pitchFamily="34" charset="-128"/>
                  <a:cs typeface="ＭＳ Ｐゴシック" charset="-128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  <a:ea typeface="MS PGothic" pitchFamily="34" charset="-128"/>
                  <a:cs typeface="ＭＳ Ｐゴシック" charset="-128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  <a:ea typeface="MS PGothic" pitchFamily="34" charset="-128"/>
                  <a:cs typeface="ＭＳ Ｐゴシック" charset="-128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  <a:ea typeface="MS PGothic" pitchFamily="34" charset="-128"/>
                  <a:cs typeface="ＭＳ Ｐゴシック" charset="-128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rgbClr val="006699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1800" kern="0" dirty="0"/>
                <a:t>(a) Before Process 1 Modifies Page C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2109717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18194</TotalTime>
  <Words>1678</Words>
  <Application>Microsoft Office PowerPoint</Application>
  <PresentationFormat>全屏显示(4:3)</PresentationFormat>
  <Paragraphs>219</Paragraphs>
  <Slides>25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Monotype Sorts</vt:lpstr>
      <vt:lpstr>Arial</vt:lpstr>
      <vt:lpstr>Courier New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Chapter 10 Virtual Memory (1)</vt:lpstr>
      <vt:lpstr>Outline</vt:lpstr>
      <vt:lpstr>Objectives</vt:lpstr>
      <vt:lpstr>Background</vt:lpstr>
      <vt:lpstr>Virtual Memory (1) </vt:lpstr>
      <vt:lpstr>Virtual Memory (2)</vt:lpstr>
      <vt:lpstr>Virtual Memory That is Larger Than Physical Memory</vt:lpstr>
      <vt:lpstr>Virtual-Address Space</vt:lpstr>
      <vt:lpstr>Shared Library Using Virtual Memory</vt:lpstr>
      <vt:lpstr>Demand Paging</vt:lpstr>
      <vt:lpstr>Basic Concepts</vt:lpstr>
      <vt:lpstr>Valid-Invalid Bit</vt:lpstr>
      <vt:lpstr>Page Table When Some Pages Are Not in Main Memory</vt:lpstr>
      <vt:lpstr>Steps in Handling Page Fault (1)</vt:lpstr>
      <vt:lpstr>Steps in Handling a Page Fault (2)</vt:lpstr>
      <vt:lpstr>Aspects of Demand Paging</vt:lpstr>
      <vt:lpstr>Instruction Restart</vt:lpstr>
      <vt:lpstr>Free-Frame List</vt:lpstr>
      <vt:lpstr> Stages in Demand Paging</vt:lpstr>
      <vt:lpstr>Performance of Demand Paging</vt:lpstr>
      <vt:lpstr>Demand Paging Example</vt:lpstr>
      <vt:lpstr>Demand Paging Optimizations</vt:lpstr>
      <vt:lpstr>Copy-on-Write (1)</vt:lpstr>
      <vt:lpstr>Copy-on-Write (2)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Prof. Chung Yehching (SDS)</cp:lastModifiedBy>
  <cp:revision>311</cp:revision>
  <cp:lastPrinted>2013-09-10T17:57:57Z</cp:lastPrinted>
  <dcterms:created xsi:type="dcterms:W3CDTF">2011-01-13T23:43:38Z</dcterms:created>
  <dcterms:modified xsi:type="dcterms:W3CDTF">2025-11-05T20:04:31Z</dcterms:modified>
</cp:coreProperties>
</file>