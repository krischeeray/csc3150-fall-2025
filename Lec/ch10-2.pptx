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29"/>
  </p:notesMasterIdLst>
  <p:handoutMasterIdLst>
    <p:handoutMasterId r:id="rId30"/>
  </p:handoutMasterIdLst>
  <p:sldIdLst>
    <p:sldId id="331" r:id="rId2"/>
    <p:sldId id="354" r:id="rId3"/>
    <p:sldId id="355" r:id="rId4"/>
    <p:sldId id="356" r:id="rId5"/>
    <p:sldId id="357" r:id="rId6"/>
    <p:sldId id="358" r:id="rId7"/>
    <p:sldId id="359" r:id="rId8"/>
    <p:sldId id="360" r:id="rId9"/>
    <p:sldId id="361" r:id="rId10"/>
    <p:sldId id="362" r:id="rId11"/>
    <p:sldId id="363" r:id="rId12"/>
    <p:sldId id="364" r:id="rId13"/>
    <p:sldId id="365" r:id="rId14"/>
    <p:sldId id="428" r:id="rId15"/>
    <p:sldId id="429" r:id="rId16"/>
    <p:sldId id="367" r:id="rId17"/>
    <p:sldId id="368" r:id="rId18"/>
    <p:sldId id="415" r:id="rId19"/>
    <p:sldId id="370" r:id="rId20"/>
    <p:sldId id="371" r:id="rId21"/>
    <p:sldId id="372" r:id="rId22"/>
    <p:sldId id="373" r:id="rId23"/>
    <p:sldId id="416" r:id="rId24"/>
    <p:sldId id="376" r:id="rId25"/>
    <p:sldId id="418" r:id="rId26"/>
    <p:sldId id="419" r:id="rId27"/>
    <p:sldId id="527" r:id="rId28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90" autoAdjust="0"/>
    <p:restoredTop sz="94660"/>
  </p:normalViewPr>
  <p:slideViewPr>
    <p:cSldViewPr snapToGrid="0">
      <p:cViewPr varScale="1">
        <p:scale>
          <a:sx n="56" d="100"/>
          <a:sy n="56" d="100"/>
        </p:scale>
        <p:origin x="1464" y="36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5484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CC594209-1678-4B2A-B4BD-A47AA0BEBB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3B38C903-E9C1-4EEE-9C85-26502C5E841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algn="r"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E850B4EB-9FB5-4ED4-996A-5001077F375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628AB70D-4AAF-4011-9DC4-6EE495450C1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algn="r" defTabSz="890588">
              <a:defRPr sz="1100">
                <a:latin typeface="Helvetica" panose="020B0604020202020204" pitchFamily="34" charset="0"/>
              </a:defRPr>
            </a:lvl1pPr>
          </a:lstStyle>
          <a:p>
            <a:fld id="{82C72706-C095-41BF-ABD3-54ADB8CE31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3BE6C0C-13A5-439B-BE94-9E35C63CD4E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822FACF-CE45-4AC3-B2A2-36D2B0BD3E2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algn="r"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0116" name="Rectangle 4">
            <a:extLst>
              <a:ext uri="{FF2B5EF4-FFF2-40B4-BE49-F238E27FC236}">
                <a16:creationId xmlns:a16="http://schemas.microsoft.com/office/drawing/2014/main" id="{EF3471BA-404F-42D2-A7C9-714D69CA27C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65F13DF-CA13-4724-A04B-D47B5644211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DA6E394C-E4A1-4942-8688-4E6C278D77D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527B09FD-7807-493C-9E6C-6D565DCA0B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fld id="{FFC2CB2C-F279-41F0-AC48-D923156805A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8A920543-D350-443A-A721-991FEA8129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75653E0-F2FD-4551-8B22-FE330671DA1C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809E82CE-770C-49D3-84E8-6A6FC8AFBC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1892899B-C57A-458A-8DEF-195B988578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8A49125B-F571-4E5D-9BAD-1D212CCFBF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0FA2C5A-08D3-4CEE-94AC-EFFD301638E0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AD870FB1-A095-437C-B6D2-2B1B4AAB9A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F501E773-1178-4204-823A-15B92DFAFB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30CCC09F-8FEA-4870-9E40-37BBE71005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BCE3FF5-CEA2-48B8-900D-389C7BA3E78B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A081F303-3AE6-4FDF-9914-380C5084DC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4F7AB753-E023-44B0-B607-E3C978A6E2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BEDA1708-FBD0-46B6-B6E0-9DACFC6E82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1FD1554-F607-4188-A668-41EC0D745C1C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360FA1B4-6A09-4A5E-8B97-24767F39BC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F52D03A7-D598-4B7B-B4F2-C1353D7B2B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8047A01C-D4F1-483C-95F6-D9DE64F05F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9C2251A-E27D-4976-912A-372946474BDD}" type="slidenum">
              <a:rPr lang="en-US" altLang="en-US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377D733F-0F22-4399-A6D3-B09E70F2D1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6FF7E3D3-1282-4112-B6EE-171A108389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6694149F-4152-4367-835B-291215C667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08CBD02-7938-4655-89C2-245E2DD80BF2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2F98E2D8-A745-4482-8D31-1C44102899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4AD3CFA0-D397-4059-BF40-57150D5F1A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90C51AA2-08CA-4188-A0D0-CDB58CB18B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E4C9D0-7D0A-45DF-B0CE-6AB3AEE439B1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99033DF3-330A-4632-AE16-C1DAED31B0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EC5A0E66-0ED9-4D39-8C8C-9D502F65B2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9C520A68-97AF-4954-BF27-3B60903A2D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6D5DB69-22AD-4E1E-A59B-E2B46FD50CA7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6D96FEF4-316D-4EC7-948A-A33AE5D7CB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2B50E5CE-2EAD-485C-9DC4-25D3E4546E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A64CD54C-44CE-436F-93BE-552425E6C2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9EFB345-C37B-41EB-99D5-09E432045D94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29DAD370-8DFA-4D0F-8574-87D667E474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AA98057B-1F4A-419C-B813-443BAD14DB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9E6F61F9-6FB5-4918-9153-29413636AE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82A2CBD-2239-4BE7-9133-34E34F8619C7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4C82101A-24CB-4B36-B9D2-613DABCA4C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204C5FBE-F01E-4B1E-BA23-180B64B1E2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69926037-2DFC-49C1-BFE5-BEEB906707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720897-7524-49C1-AB7E-87D63B342608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31EBDBDF-5FCA-4213-A6C0-A7B61F0EDD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4B5706BF-EA71-4A33-91AF-EA4A2A0C53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96CBA23C-2721-468E-BF26-9B4A852354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665F5A3-B020-4290-AD98-D5279638C08E}" type="slidenum">
              <a:rPr lang="en-US" altLang="en-US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20008BC1-ECF1-41C8-9E3A-3EF0899AF3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AE97A9E2-2C5D-40BF-956A-508D26D46D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779C6C28-A40F-4623-9D7D-7346DF865F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E5443D-CFE2-4772-BFAF-AEDA3BB82639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FAB53808-5F2A-46E3-A99B-9661F40E0F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8D83F4BE-5527-406F-84C4-756486D506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779C6C28-A40F-4623-9D7D-7346DF865F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E5443D-CFE2-4772-BFAF-AEDA3BB82639}" type="slidenum">
              <a:rPr lang="en-US" altLang="en-US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FAB53808-5F2A-46E3-A99B-9661F40E0F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8D83F4BE-5527-406F-84C4-756486D506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7839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9B12ECC0-6236-49B0-ADB5-B045D66C40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D0AF29B-E1F3-4565-9FEC-4E13442F52B7}" type="slidenum">
              <a:rPr lang="en-US" altLang="en-US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9D1B6244-C5E7-4D86-A203-764BEF822B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E5412847-FD60-400B-AA9D-2092F9AB4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8218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9B12ECC0-6236-49B0-ADB5-B045D66C40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D0AF29B-E1F3-4565-9FEC-4E13442F52B7}" type="slidenum">
              <a:rPr lang="en-US" altLang="en-US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9D1B6244-C5E7-4D86-A203-764BEF822B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E5412847-FD60-400B-AA9D-2092F9AB4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35D95203-074A-4EA2-A43A-43C79DFAF0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14756FE-28C0-4689-86B3-AA8D861AF58F}" type="slidenum">
              <a:rPr lang="en-US" altLang="en-US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BD125F85-1222-4EE5-8421-F621F6A6C5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53A3A95C-A148-408D-A44E-6944866E30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65DA9622-ECD4-4E4D-A9C5-B037F3BF22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E872443-CB56-4F1E-A9D0-0CA6A3CCD69F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A18C2702-4265-41C0-BAB1-23B3407FB8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639B9B21-AD3F-4EC3-88E5-425A7776CE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>
            <a:extLst>
              <a:ext uri="{FF2B5EF4-FFF2-40B4-BE49-F238E27FC236}">
                <a16:creationId xmlns:a16="http://schemas.microsoft.com/office/drawing/2014/main" id="{173C5A7B-AD1F-42C6-ACEC-C22E37FDEF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9E28EDC-8892-4BD4-9B03-820979DFF076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id="{D57D674F-0290-48DC-AE81-36542FB42F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>
            <a:extLst>
              <a:ext uri="{FF2B5EF4-FFF2-40B4-BE49-F238E27FC236}">
                <a16:creationId xmlns:a16="http://schemas.microsoft.com/office/drawing/2014/main" id="{3DD1A532-1569-4A5E-88FC-8C5BA0E7A3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>
            <a:extLst>
              <a:ext uri="{FF2B5EF4-FFF2-40B4-BE49-F238E27FC236}">
                <a16:creationId xmlns:a16="http://schemas.microsoft.com/office/drawing/2014/main" id="{D517E168-3094-4E5B-84D7-5C0153B13B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F00E586-48D7-4940-A2DF-E461BD85B025}" type="slidenum">
              <a:rPr lang="en-US" altLang="en-US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3123" name="Rectangle 2">
            <a:extLst>
              <a:ext uri="{FF2B5EF4-FFF2-40B4-BE49-F238E27FC236}">
                <a16:creationId xmlns:a16="http://schemas.microsoft.com/office/drawing/2014/main" id="{A319D073-D867-48CB-B66A-DADB82FB0E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>
            <a:extLst>
              <a:ext uri="{FF2B5EF4-FFF2-40B4-BE49-F238E27FC236}">
                <a16:creationId xmlns:a16="http://schemas.microsoft.com/office/drawing/2014/main" id="{57FA871D-7C7C-49FB-B8AC-D03BA6E068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>
            <a:extLst>
              <a:ext uri="{FF2B5EF4-FFF2-40B4-BE49-F238E27FC236}">
                <a16:creationId xmlns:a16="http://schemas.microsoft.com/office/drawing/2014/main" id="{805B1C17-66FA-4D85-BCF6-7A91DE02FC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5281E3-0C39-498B-AF39-48565B4544FA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4147" name="Rectangle 2">
            <a:extLst>
              <a:ext uri="{FF2B5EF4-FFF2-40B4-BE49-F238E27FC236}">
                <a16:creationId xmlns:a16="http://schemas.microsoft.com/office/drawing/2014/main" id="{1F9038FE-BD6E-44F1-ACE4-DD73792DB1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>
            <a:extLst>
              <a:ext uri="{FF2B5EF4-FFF2-40B4-BE49-F238E27FC236}">
                <a16:creationId xmlns:a16="http://schemas.microsoft.com/office/drawing/2014/main" id="{6096AB29-C31A-45C0-B5E1-9D36AC040B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>
            <a:extLst>
              <a:ext uri="{FF2B5EF4-FFF2-40B4-BE49-F238E27FC236}">
                <a16:creationId xmlns:a16="http://schemas.microsoft.com/office/drawing/2014/main" id="{4F2D9B1C-DEA5-4665-B47D-209786DA89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D877D31-AB4E-4210-B2DB-080238C5EE9B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5171" name="Rectangle 2">
            <a:extLst>
              <a:ext uri="{FF2B5EF4-FFF2-40B4-BE49-F238E27FC236}">
                <a16:creationId xmlns:a16="http://schemas.microsoft.com/office/drawing/2014/main" id="{4FEDE9AA-CD44-4982-B7AE-FB416BFCBF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>
            <a:extLst>
              <a:ext uri="{FF2B5EF4-FFF2-40B4-BE49-F238E27FC236}">
                <a16:creationId xmlns:a16="http://schemas.microsoft.com/office/drawing/2014/main" id="{49FDFE4F-372F-44B2-A051-88D045B253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>
            <a:extLst>
              <a:ext uri="{FF2B5EF4-FFF2-40B4-BE49-F238E27FC236}">
                <a16:creationId xmlns:a16="http://schemas.microsoft.com/office/drawing/2014/main" id="{4C151E44-C6F0-41B5-B34F-C628B106DB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1B98D01-049E-4171-943F-B5ABC66237D0}" type="slidenum">
              <a:rPr lang="en-US" altLang="en-US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6195" name="Rectangle 2">
            <a:extLst>
              <a:ext uri="{FF2B5EF4-FFF2-40B4-BE49-F238E27FC236}">
                <a16:creationId xmlns:a16="http://schemas.microsoft.com/office/drawing/2014/main" id="{E82A76F2-128F-483D-9772-9EC72CDD50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>
            <a:extLst>
              <a:ext uri="{FF2B5EF4-FFF2-40B4-BE49-F238E27FC236}">
                <a16:creationId xmlns:a16="http://schemas.microsoft.com/office/drawing/2014/main" id="{42C6AA12-EFFD-48F7-8712-4AAE83A1B9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>
            <a:extLst>
              <a:ext uri="{FF2B5EF4-FFF2-40B4-BE49-F238E27FC236}">
                <a16:creationId xmlns:a16="http://schemas.microsoft.com/office/drawing/2014/main" id="{52A60322-55A6-48F1-BDAD-4359650DA0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D7419C-205B-4822-9762-6573B1EDC7C6}" type="slidenum">
              <a:rPr lang="en-US" altLang="en-US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7219" name="Rectangle 2">
            <a:extLst>
              <a:ext uri="{FF2B5EF4-FFF2-40B4-BE49-F238E27FC236}">
                <a16:creationId xmlns:a16="http://schemas.microsoft.com/office/drawing/2014/main" id="{12F1FD45-5D18-421B-B1DB-64EA20059B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>
            <a:extLst>
              <a:ext uri="{FF2B5EF4-FFF2-40B4-BE49-F238E27FC236}">
                <a16:creationId xmlns:a16="http://schemas.microsoft.com/office/drawing/2014/main" id="{D6A9EE16-EFCB-4E01-84DE-734D0AA18E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D6E874EA-6D46-4D5A-A67E-32C6E4712B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DC88E0-05A8-4892-B21E-9326A8D3E05F}" type="slidenum">
              <a:rPr lang="en-US" altLang="en-US" smtClean="0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76CF1BC6-EF44-430B-853A-1916C3A573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3BC5144-BC73-40F2-9D46-6DC1B56AC6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39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C44BEB4D-82F3-449B-9712-6972E5687F85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E0E599D3-2632-4086-9DB8-1FF08C876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F5A3F07A-60C1-42E9-9126-114FEC618D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19BEE85B-DDF0-428C-949C-A06BBCB8B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2BAA5E16-6E79-4015-B59F-188FC31669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7499CD96-98CE-4281-8965-5FF9F04FA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3F6C5EC6-B569-4B47-BBFE-7A4326270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8153856F-DB42-4573-9C9E-EEACB7D61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3192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9698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4010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2213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9253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05529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6446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4051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7816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9509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6976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no_3">
            <a:extLst>
              <a:ext uri="{FF2B5EF4-FFF2-40B4-BE49-F238E27FC236}">
                <a16:creationId xmlns:a16="http://schemas.microsoft.com/office/drawing/2014/main" id="{232881E8-BA9B-47D1-8183-4E80DA2D5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3">
            <a:extLst>
              <a:ext uri="{FF2B5EF4-FFF2-40B4-BE49-F238E27FC236}">
                <a16:creationId xmlns:a16="http://schemas.microsoft.com/office/drawing/2014/main" id="{7B2B01F9-D51F-41E8-9F71-322BE12131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42645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B6698D-C7F4-42D4-A599-0CA3674437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07C8C63-9073-4440-8E29-7538D3703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3DC0DDF2-EDD9-4546-941A-8819EECEA03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DCF44F51-AC2C-44E8-8762-844722B49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511A7E9F-2DA0-447A-A945-F78748D7C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7C185E49-346F-4CDE-8D31-F91EE49B8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1163" y="6613525"/>
            <a:ext cx="51752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10.</a:t>
            </a:r>
            <a:fld id="{ECA12CDF-10CC-4639-A492-60524225D2DA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ECA43D40-3BCA-4CC4-BCE0-2B11E7743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5BEB558B-1A8D-402E-B9D6-E8D44771E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2060" name="Picture 12" descr="dino_6">
            <a:extLst>
              <a:ext uri="{FF2B5EF4-FFF2-40B4-BE49-F238E27FC236}">
                <a16:creationId xmlns:a16="http://schemas.microsoft.com/office/drawing/2014/main" id="{35644D38-C2D4-4B99-9159-387D141CE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09" r:id="rId2"/>
    <p:sldLayoutId id="2147484110" r:id="rId3"/>
    <p:sldLayoutId id="2147484111" r:id="rId4"/>
    <p:sldLayoutId id="2147484112" r:id="rId5"/>
    <p:sldLayoutId id="2147484113" r:id="rId6"/>
    <p:sldLayoutId id="2147484114" r:id="rId7"/>
    <p:sldLayoutId id="2147484115" r:id="rId8"/>
    <p:sldLayoutId id="2147484116" r:id="rId9"/>
    <p:sldLayoutId id="2147484117" r:id="rId10"/>
    <p:sldLayoutId id="214748411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2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3BCD139-3A6D-4B81-8226-0503E6A6358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41300" y="806450"/>
            <a:ext cx="8496300" cy="2127250"/>
          </a:xfrm>
        </p:spPr>
        <p:txBody>
          <a:bodyPr/>
          <a:lstStyle/>
          <a:p>
            <a:pPr eaLnBrk="1" hangingPunct="1"/>
            <a:r>
              <a:rPr lang="en-US" altLang="en-US"/>
              <a:t>Chapter 10</a:t>
            </a:r>
            <a:br>
              <a:rPr lang="en-US" altLang="zh-CN"/>
            </a:br>
            <a:r>
              <a:rPr lang="en-US" altLang="en-US"/>
              <a:t>Virtual </a:t>
            </a:r>
            <a:r>
              <a:rPr lang="en-US" altLang="en-US" dirty="0"/>
              <a:t>Memory (2)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6C488EA0-8C3D-457E-9DD0-39B9790740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7909" y="237771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What Happens if There is no Free Frame?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7C4E993E-0F50-409F-A8A7-195A5B940B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7" y="1133475"/>
            <a:ext cx="7679093" cy="3712845"/>
          </a:xfrm>
        </p:spPr>
        <p:txBody>
          <a:bodyPr/>
          <a:lstStyle/>
          <a:p>
            <a:r>
              <a:rPr lang="en-US" altLang="en-US" sz="2000" dirty="0"/>
              <a:t>Used up by process pages</a:t>
            </a:r>
          </a:p>
          <a:p>
            <a:r>
              <a:rPr lang="en-US" altLang="en-US" sz="2000" dirty="0"/>
              <a:t>Also on demand from the kernel, I/O buffers, </a:t>
            </a:r>
            <a:r>
              <a:rPr lang="en-US" altLang="en-US" sz="2000" dirty="0" err="1"/>
              <a:t>etc</a:t>
            </a:r>
            <a:endParaRPr lang="en-US" altLang="en-US" sz="2000" dirty="0"/>
          </a:p>
          <a:p>
            <a:r>
              <a:rPr lang="en-US" altLang="en-US" sz="2000" dirty="0"/>
              <a:t>How much to allocate to each?</a:t>
            </a:r>
          </a:p>
          <a:p>
            <a:r>
              <a:rPr lang="en-US" altLang="en-US" sz="2000" dirty="0"/>
              <a:t>Page replacement – find some page in memory, but not really in use, page it out</a:t>
            </a:r>
          </a:p>
          <a:p>
            <a:pPr lvl="1"/>
            <a:r>
              <a:rPr lang="en-US" altLang="en-US" sz="2000" dirty="0"/>
              <a:t>Algorithm – terminate? swap out? replace the page?</a:t>
            </a:r>
          </a:p>
          <a:p>
            <a:pPr lvl="1"/>
            <a:r>
              <a:rPr lang="en-US" altLang="en-US" sz="2000" dirty="0"/>
              <a:t>Performance – want an algorithm which will result in minimum number of page faults</a:t>
            </a:r>
          </a:p>
          <a:p>
            <a:r>
              <a:rPr lang="en-US" altLang="en-US" sz="2000" dirty="0"/>
              <a:t>Same page may be brought into memory several times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9B00CC0E-9E33-4072-9D8C-43E0004757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1394" y="235568"/>
            <a:ext cx="77247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 Replacement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55125108-1B16-48F4-B19C-7A4934EC1D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1394" y="1190625"/>
            <a:ext cx="7724775" cy="2638425"/>
          </a:xfrm>
        </p:spPr>
        <p:txBody>
          <a:bodyPr/>
          <a:lstStyle/>
          <a:p>
            <a:r>
              <a:rPr lang="en-US" altLang="en-US" sz="2000" dirty="0"/>
              <a:t>Prevent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over-allocation</a:t>
            </a:r>
            <a:r>
              <a:rPr lang="en-US" altLang="en-US" sz="2000" dirty="0"/>
              <a:t> of memory by modifying page-fault service routine to include page replacement</a:t>
            </a:r>
          </a:p>
          <a:p>
            <a:r>
              <a:rPr lang="en-US" altLang="en-US" sz="2000" dirty="0"/>
              <a:t>Use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modify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dirty</a:t>
            </a:r>
            <a:r>
              <a:rPr lang="en-US" altLang="en-US" sz="2000" dirty="0"/>
              <a:t>)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bit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to reduce overhead of page transfers – only modified pages are written to disk</a:t>
            </a:r>
          </a:p>
          <a:p>
            <a:r>
              <a:rPr lang="en-US" altLang="en-US" sz="2000" dirty="0"/>
              <a:t>Page replacement completes separation between logical memory and physical memory – large virtual memory can be provided on a smaller physical memory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760E5859-1ADF-409F-B8A3-01A46FD0E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3775" y="235568"/>
            <a:ext cx="7693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Need For Page Replacement</a:t>
            </a:r>
          </a:p>
        </p:txBody>
      </p:sp>
      <p:pic>
        <p:nvPicPr>
          <p:cNvPr id="33795" name="Picture 4" descr="B:\os-book\os10-dir\Slides-WORK-area\Figures-dir\ch10\JPG-dir\10_09.jpg">
            <a:extLst>
              <a:ext uri="{FF2B5EF4-FFF2-40B4-BE49-F238E27FC236}">
                <a16:creationId xmlns:a16="http://schemas.microsoft.com/office/drawing/2014/main" id="{74BEFCE0-4636-4163-8B0B-DF7F5FF02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060" y="1007396"/>
            <a:ext cx="7324270" cy="4766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DA23D0E3-2B35-4747-8B9E-6B7BFD7D40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6860" y="238161"/>
            <a:ext cx="76073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Basic Page Replacement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36D9B5FA-26B2-48A5-8A7B-413D741468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2310" y="950912"/>
            <a:ext cx="8053070" cy="4124007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en-US" sz="2000" dirty="0"/>
              <a:t>1. Find the location of the desired page on disk</a:t>
            </a:r>
          </a:p>
          <a:p>
            <a:pPr marL="628650" indent="-628650" defTabSz="1074738">
              <a:spcBef>
                <a:spcPts val="0"/>
              </a:spcBef>
              <a:buNone/>
            </a:pPr>
            <a:r>
              <a:rPr lang="en-US" altLang="en-US" sz="2000" dirty="0"/>
              <a:t>2. Find a free frame</a:t>
            </a:r>
            <a:br>
              <a:rPr lang="en-US" altLang="en-US" sz="2000" dirty="0"/>
            </a:br>
            <a:r>
              <a:rPr lang="en-US" altLang="en-US" sz="2000" dirty="0"/>
              <a:t>-  If there is a free frame, use it</a:t>
            </a:r>
            <a:br>
              <a:rPr lang="en-US" altLang="en-US" sz="2000" dirty="0"/>
            </a:br>
            <a:r>
              <a:rPr lang="en-US" altLang="en-US" sz="2000" dirty="0"/>
              <a:t>-  If there has no free frame, use a page replacement</a:t>
            </a:r>
          </a:p>
          <a:p>
            <a:pPr marL="628650" indent="-628650" defTabSz="1074738">
              <a:spcBef>
                <a:spcPts val="0"/>
              </a:spcBef>
              <a:buNone/>
            </a:pPr>
            <a:r>
              <a:rPr lang="en-US" altLang="en-US" sz="2000" dirty="0"/>
              <a:t>            algorithm to select a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victim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frame</a:t>
            </a:r>
            <a:br>
              <a:rPr lang="en-US" altLang="en-US" sz="2000" b="1" dirty="0">
                <a:solidFill>
                  <a:srgbClr val="3366FF"/>
                </a:solidFill>
              </a:rPr>
            </a:br>
            <a:r>
              <a:rPr lang="en-US" altLang="en-US" sz="2000" dirty="0"/>
              <a:t>-</a:t>
            </a:r>
            <a:r>
              <a:rPr lang="en-US" altLang="en-US" sz="2000" b="1" dirty="0"/>
              <a:t>  </a:t>
            </a:r>
            <a:r>
              <a:rPr lang="en-US" altLang="en-US" sz="2000" dirty="0"/>
              <a:t>Write victim frame to disk if dirty</a:t>
            </a:r>
          </a:p>
          <a:p>
            <a:pPr marL="263525" indent="-263525">
              <a:spcBef>
                <a:spcPts val="0"/>
              </a:spcBef>
              <a:buNone/>
            </a:pPr>
            <a:r>
              <a:rPr lang="en-US" altLang="en-US" sz="2000" dirty="0"/>
              <a:t>3. Bring  the desired page into the (newly) free frame; update the page and frame tables</a:t>
            </a:r>
          </a:p>
          <a:p>
            <a:pPr marL="263525" indent="-263525">
              <a:spcBef>
                <a:spcPts val="0"/>
              </a:spcBef>
              <a:buNone/>
            </a:pPr>
            <a:r>
              <a:rPr lang="en-US" altLang="en-US" sz="2000" dirty="0"/>
              <a:t>4. Continue the process by restarting the instruction that caused the trap</a:t>
            </a:r>
          </a:p>
          <a:p>
            <a:pPr marL="0" indent="0">
              <a:spcBef>
                <a:spcPts val="0"/>
              </a:spcBef>
              <a:buFont typeface="Monotype Sorts" pitchFamily="-84" charset="2"/>
              <a:buNone/>
            </a:pPr>
            <a:endParaRPr lang="en-US" altLang="en-US" sz="2000" dirty="0"/>
          </a:p>
          <a:p>
            <a:pPr marL="0" indent="0">
              <a:spcBef>
                <a:spcPts val="0"/>
              </a:spcBef>
              <a:buFont typeface="Monotype Sorts" pitchFamily="-84" charset="2"/>
              <a:buNone/>
            </a:pPr>
            <a:r>
              <a:rPr lang="en-US" altLang="en-US" sz="2000" dirty="0"/>
              <a:t>Note now potentially 2 pages transfer for page fault – increasing EAT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02C4BFB3-B09C-4707-8DF8-9335F3398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2389" y="222868"/>
            <a:ext cx="7664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 Replacement</a:t>
            </a:r>
          </a:p>
        </p:txBody>
      </p:sp>
      <p:pic>
        <p:nvPicPr>
          <p:cNvPr id="35843" name="Picture 4" descr="9">
            <a:extLst>
              <a:ext uri="{FF2B5EF4-FFF2-40B4-BE49-F238E27FC236}">
                <a16:creationId xmlns:a16="http://schemas.microsoft.com/office/drawing/2014/main" id="{632D2467-D729-4E96-ABE0-D5CF1AD39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1223963"/>
            <a:ext cx="6851650" cy="5050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047214C7-1AE6-4D0E-9FB9-EBC768731F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4945" y="175298"/>
            <a:ext cx="7861041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Page and Frame Replacement Algorithms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7C092E50-7A55-4657-89B6-77C0309E7E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8214" y="973455"/>
            <a:ext cx="8105736" cy="5187315"/>
          </a:xfrm>
        </p:spPr>
        <p:txBody>
          <a:bodyPr/>
          <a:lstStyle/>
          <a:p>
            <a:pPr>
              <a:spcBef>
                <a:spcPts val="600"/>
              </a:spcBef>
              <a:tabLst>
                <a:tab pos="3144838" algn="ctr"/>
              </a:tabLst>
            </a:pP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Frame-allocation algorithm </a:t>
            </a:r>
            <a:r>
              <a:rPr lang="en-US" altLang="en-US" sz="2000" dirty="0"/>
              <a:t>determines </a:t>
            </a:r>
          </a:p>
          <a:p>
            <a:pPr lvl="1">
              <a:spcBef>
                <a:spcPts val="600"/>
              </a:spcBef>
              <a:tabLst>
                <a:tab pos="3144838" algn="ctr"/>
              </a:tabLst>
            </a:pPr>
            <a:r>
              <a:rPr lang="en-US" altLang="en-US" sz="2000" dirty="0"/>
              <a:t>How many frames to give each process</a:t>
            </a:r>
          </a:p>
          <a:p>
            <a:pPr lvl="1">
              <a:spcBef>
                <a:spcPts val="600"/>
              </a:spcBef>
              <a:tabLst>
                <a:tab pos="3144838" algn="ctr"/>
              </a:tabLst>
            </a:pPr>
            <a:r>
              <a:rPr lang="en-US" altLang="en-US" sz="2000" dirty="0"/>
              <a:t>Which frames to replace</a:t>
            </a:r>
          </a:p>
          <a:p>
            <a:pPr>
              <a:spcBef>
                <a:spcPts val="600"/>
              </a:spcBef>
              <a:tabLst>
                <a:tab pos="3144838" algn="ctr"/>
              </a:tabLst>
            </a:pP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Page-replacement algorithm</a:t>
            </a:r>
          </a:p>
          <a:p>
            <a:pPr lvl="1">
              <a:spcBef>
                <a:spcPts val="600"/>
              </a:spcBef>
              <a:tabLst>
                <a:tab pos="3144838" algn="ctr"/>
              </a:tabLst>
            </a:pPr>
            <a:r>
              <a:rPr lang="en-US" altLang="en-US" sz="2000" dirty="0"/>
              <a:t>Want lowest page-fault rate on both first access and re-access</a:t>
            </a:r>
          </a:p>
          <a:p>
            <a:pPr>
              <a:spcBef>
                <a:spcPts val="600"/>
              </a:spcBef>
              <a:tabLst>
                <a:tab pos="3144838" algn="ctr"/>
              </a:tabLst>
            </a:pPr>
            <a:r>
              <a:rPr lang="en-US" altLang="en-US" sz="2000" dirty="0"/>
              <a:t>Evaluate algorithm by running it on a particular string of memory references (reference string) and computing the number of page faults on that string</a:t>
            </a:r>
          </a:p>
          <a:p>
            <a:pPr lvl="1">
              <a:spcBef>
                <a:spcPts val="600"/>
              </a:spcBef>
              <a:tabLst>
                <a:tab pos="3144838" algn="ctr"/>
              </a:tabLst>
            </a:pPr>
            <a:r>
              <a:rPr lang="en-US" altLang="en-US" sz="2000" dirty="0"/>
              <a:t>String is just page numbers, not full addresses</a:t>
            </a:r>
          </a:p>
          <a:p>
            <a:pPr lvl="1">
              <a:spcBef>
                <a:spcPts val="600"/>
              </a:spcBef>
              <a:tabLst>
                <a:tab pos="3144838" algn="ctr"/>
              </a:tabLst>
            </a:pPr>
            <a:r>
              <a:rPr lang="en-US" altLang="en-US" sz="2000" dirty="0"/>
              <a:t>Repeated access to the same page does not cause a page fault</a:t>
            </a:r>
          </a:p>
          <a:p>
            <a:pPr lvl="1">
              <a:spcBef>
                <a:spcPts val="600"/>
              </a:spcBef>
              <a:tabLst>
                <a:tab pos="3144838" algn="ctr"/>
              </a:tabLst>
            </a:pPr>
            <a:r>
              <a:rPr lang="en-US" altLang="en-US" sz="2000" dirty="0"/>
              <a:t>Results depend on number of frames available</a:t>
            </a:r>
          </a:p>
          <a:p>
            <a:pPr>
              <a:spcBef>
                <a:spcPts val="600"/>
              </a:spcBef>
              <a:tabLst>
                <a:tab pos="3144838" algn="ctr"/>
              </a:tabLst>
            </a:pPr>
            <a:r>
              <a:rPr lang="en-US" altLang="en-US" sz="2000" dirty="0"/>
              <a:t>In all our examples, the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reference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string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of referenced page numbers is</a:t>
            </a:r>
          </a:p>
          <a:p>
            <a:pPr>
              <a:spcBef>
                <a:spcPts val="600"/>
              </a:spcBef>
              <a:buFont typeface="Monotype Sorts" pitchFamily="-84" charset="2"/>
              <a:buNone/>
              <a:tabLst>
                <a:tab pos="3144838" algn="ctr"/>
              </a:tabLst>
            </a:pPr>
            <a:r>
              <a:rPr lang="en-US" altLang="en-US" sz="2000" dirty="0"/>
              <a:t>	               </a:t>
            </a:r>
            <a:r>
              <a:rPr lang="en-US" altLang="en-US" sz="2000" b="1" dirty="0">
                <a:solidFill>
                  <a:srgbClr val="FF0000"/>
                </a:solidFill>
              </a:rPr>
              <a:t>7,0,1,2,0,3,0,4,2,3,0,3,0,3,2,1,2,0,1,7,0,1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238E9DE7-317A-4964-80E7-85DD040FFD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2715" y="208742"/>
            <a:ext cx="7985515" cy="589980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Page Faults Versus the Number of Frames</a:t>
            </a:r>
          </a:p>
        </p:txBody>
      </p:sp>
      <p:pic>
        <p:nvPicPr>
          <p:cNvPr id="37891" name="Picture 5">
            <a:extLst>
              <a:ext uri="{FF2B5EF4-FFF2-40B4-BE49-F238E27FC236}">
                <a16:creationId xmlns:a16="http://schemas.microsoft.com/office/drawing/2014/main" id="{6305A72B-A5ED-415A-9B8C-D45FEB5F4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907" y="1306830"/>
            <a:ext cx="6830185" cy="401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FCA6CF77-12AF-4EC2-89B1-0E20EC3A22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4735" y="241529"/>
            <a:ext cx="7821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First-In-First-Out (FIFO) Algorithm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6D1D5755-163C-4203-ABC8-2DA1622DF8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4735" y="928529"/>
            <a:ext cx="7582515" cy="5687942"/>
          </a:xfrm>
        </p:spPr>
        <p:txBody>
          <a:bodyPr/>
          <a:lstStyle/>
          <a:p>
            <a:r>
              <a:rPr lang="en-US" altLang="en-US" sz="2000" dirty="0"/>
              <a:t>Reference string: </a:t>
            </a:r>
            <a:r>
              <a:rPr lang="en-US" altLang="en-US" sz="2000" b="1" dirty="0">
                <a:solidFill>
                  <a:srgbClr val="FF0000"/>
                </a:solidFill>
              </a:rPr>
              <a:t>7,0,1,2,0,3,0,4,2,3,0,3,0,3,2,1,2,0,1,7,0,1</a:t>
            </a:r>
            <a:endParaRPr lang="en-US" altLang="en-US" sz="2000" dirty="0"/>
          </a:p>
          <a:p>
            <a:r>
              <a:rPr lang="en-US" altLang="en-US" sz="2000" dirty="0"/>
              <a:t>3 frames (3 pages can be in memory at a time per process)</a:t>
            </a:r>
          </a:p>
          <a:p>
            <a:pPr>
              <a:buFont typeface="Monotype Sorts" pitchFamily="-84" charset="2"/>
              <a:buNone/>
            </a:pPr>
            <a:endParaRPr lang="en-US" altLang="en-US" sz="2000" dirty="0"/>
          </a:p>
          <a:p>
            <a:pPr>
              <a:buFont typeface="Monotype Sorts" pitchFamily="-84" charset="2"/>
              <a:buNone/>
            </a:pPr>
            <a:endParaRPr lang="en-US" altLang="en-US" sz="2000" dirty="0"/>
          </a:p>
          <a:p>
            <a:pPr>
              <a:buFont typeface="Monotype Sorts" pitchFamily="-84" charset="2"/>
              <a:buNone/>
            </a:pPr>
            <a:br>
              <a:rPr lang="en-US" altLang="en-US" sz="2000" dirty="0"/>
            </a:br>
            <a:endParaRPr lang="en-US" altLang="en-US" sz="2000" dirty="0"/>
          </a:p>
          <a:p>
            <a:pPr>
              <a:buFont typeface="Monotype Sorts" pitchFamily="-84" charset="2"/>
              <a:buNone/>
            </a:pPr>
            <a:endParaRPr lang="en-US" altLang="en-US" sz="2000" dirty="0"/>
          </a:p>
          <a:p>
            <a:pPr>
              <a:buFont typeface="Monotype Sorts" pitchFamily="-84" charset="2"/>
              <a:buNone/>
            </a:pPr>
            <a:endParaRPr lang="en-US" altLang="en-US" sz="2000" dirty="0"/>
          </a:p>
          <a:p>
            <a:pPr>
              <a:buFont typeface="Monotype Sorts" pitchFamily="-84" charset="2"/>
              <a:buNone/>
            </a:pPr>
            <a:endParaRPr lang="en-US" altLang="en-US" sz="2000" dirty="0"/>
          </a:p>
          <a:p>
            <a:r>
              <a:rPr lang="en-US" altLang="en-US" sz="2000" dirty="0"/>
              <a:t>Can vary by reference string: consider 1,2,3,4,1,2,5,1,2,3,4,5</a:t>
            </a:r>
          </a:p>
          <a:p>
            <a:pPr lvl="1"/>
            <a:r>
              <a:rPr lang="en-US" altLang="en-US" sz="2000" dirty="0"/>
              <a:t>Adding more frames can cause more page faults!</a:t>
            </a:r>
          </a:p>
          <a:p>
            <a:pPr lvl="2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Belady</a:t>
            </a:r>
            <a:r>
              <a:rPr lang="ja-JP" altLang="en-US" sz="2000" b="1" dirty="0">
                <a:solidFill>
                  <a:srgbClr val="006699"/>
                </a:solidFill>
                <a:latin typeface="+mj-lt"/>
              </a:rPr>
              <a:t>’</a:t>
            </a:r>
            <a:r>
              <a:rPr lang="en-US" altLang="ja-JP" sz="2000" b="1" dirty="0">
                <a:solidFill>
                  <a:srgbClr val="006699"/>
                </a:solidFill>
                <a:latin typeface="+mj-lt"/>
              </a:rPr>
              <a:t>s Anomaly</a:t>
            </a:r>
            <a:endParaRPr lang="en-US" altLang="en-US" sz="2000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sz="2000" dirty="0"/>
              <a:t>How to track ages of pages? </a:t>
            </a:r>
          </a:p>
          <a:p>
            <a:pPr lvl="1"/>
            <a:r>
              <a:rPr lang="en-US" altLang="en-US" sz="2000" dirty="0"/>
              <a:t>Just use a FIFO queue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3790694-CE17-7482-B9F9-61DEFB5A9AD2}"/>
              </a:ext>
            </a:extLst>
          </p:cNvPr>
          <p:cNvGrpSpPr/>
          <p:nvPr/>
        </p:nvGrpSpPr>
        <p:grpSpPr>
          <a:xfrm>
            <a:off x="1605289" y="1854200"/>
            <a:ext cx="6161406" cy="2383617"/>
            <a:chOff x="1605289" y="1854200"/>
            <a:chExt cx="6161406" cy="2383617"/>
          </a:xfrm>
        </p:grpSpPr>
        <p:pic>
          <p:nvPicPr>
            <p:cNvPr id="38917" name="Picture 1">
              <a:extLst>
                <a:ext uri="{FF2B5EF4-FFF2-40B4-BE49-F238E27FC236}">
                  <a16:creationId xmlns:a16="http://schemas.microsoft.com/office/drawing/2014/main" id="{308629FE-BC55-408D-8CD8-72B5F69846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5289" y="1854200"/>
              <a:ext cx="6161406" cy="2134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916" name="Text Box 16">
              <a:extLst>
                <a:ext uri="{FF2B5EF4-FFF2-40B4-BE49-F238E27FC236}">
                  <a16:creationId xmlns:a16="http://schemas.microsoft.com/office/drawing/2014/main" id="{70D1F977-A605-4231-817D-50B414BD82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0691" y="3772500"/>
              <a:ext cx="1962618" cy="465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dirty="0">
                  <a:latin typeface="Helvetica" panose="020B0604020202020204" pitchFamily="34" charset="0"/>
                </a:rPr>
                <a:t>15 page faults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CD6B9E3A-361D-4D6C-9A7F-B0347118A9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7769" y="232975"/>
            <a:ext cx="77343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FIFO Illustrating Belady</a:t>
            </a:r>
            <a:r>
              <a:rPr lang="ja-JP" altLang="en-US" dirty="0"/>
              <a:t>’</a:t>
            </a:r>
            <a:r>
              <a:rPr lang="en-US" altLang="ja-JP" dirty="0"/>
              <a:t>s Anomaly</a:t>
            </a:r>
            <a:endParaRPr lang="en-US" altLang="en-US" dirty="0"/>
          </a:p>
        </p:txBody>
      </p:sp>
      <p:pic>
        <p:nvPicPr>
          <p:cNvPr id="39939" name="Picture 1" descr="9_13.pdf">
            <a:extLst>
              <a:ext uri="{FF2B5EF4-FFF2-40B4-BE49-F238E27FC236}">
                <a16:creationId xmlns:a16="http://schemas.microsoft.com/office/drawing/2014/main" id="{EE4A1B7A-865F-4B41-AE5D-E878A1F8D5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769" y="1303338"/>
            <a:ext cx="6984333" cy="4998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76095923-7FD6-4706-A8FA-9ABF051469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231422"/>
            <a:ext cx="7937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Optimal Algorithm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25D0553F-9E25-4083-8F1B-77A52F70DB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4301" y="972961"/>
            <a:ext cx="7495397" cy="2052637"/>
          </a:xfrm>
        </p:spPr>
        <p:txBody>
          <a:bodyPr/>
          <a:lstStyle/>
          <a:p>
            <a:pPr>
              <a:tabLst>
                <a:tab pos="1889125" algn="l"/>
              </a:tabLst>
            </a:pPr>
            <a:r>
              <a:rPr lang="en-US" altLang="en-US" sz="2000" dirty="0"/>
              <a:t>Replace page that will not be used for longest period of time</a:t>
            </a:r>
          </a:p>
          <a:p>
            <a:pPr lvl="1">
              <a:tabLst>
                <a:tab pos="1889125" algn="l"/>
              </a:tabLst>
            </a:pPr>
            <a:r>
              <a:rPr lang="en-US" altLang="en-US" sz="2000" dirty="0"/>
              <a:t>9 is optimal for the example</a:t>
            </a:r>
          </a:p>
          <a:p>
            <a:pPr>
              <a:tabLst>
                <a:tab pos="1889125" algn="l"/>
              </a:tabLst>
            </a:pPr>
            <a:r>
              <a:rPr lang="en-US" altLang="en-US" sz="2000" dirty="0"/>
              <a:t>How do you know this?</a:t>
            </a:r>
          </a:p>
          <a:p>
            <a:pPr lvl="1">
              <a:tabLst>
                <a:tab pos="1889125" algn="l"/>
              </a:tabLst>
            </a:pPr>
            <a:r>
              <a:rPr lang="en-US" altLang="en-US" sz="2000" dirty="0"/>
              <a:t>Can</a:t>
            </a:r>
            <a:r>
              <a:rPr lang="ja-JP" altLang="en-US" sz="2000" dirty="0"/>
              <a:t>’</a:t>
            </a:r>
            <a:r>
              <a:rPr lang="en-US" altLang="ja-JP" sz="2000" dirty="0"/>
              <a:t>t read the future</a:t>
            </a:r>
            <a:endParaRPr lang="en-US" altLang="en-US" sz="2000" dirty="0"/>
          </a:p>
          <a:p>
            <a:pPr>
              <a:tabLst>
                <a:tab pos="1889125" algn="l"/>
              </a:tabLst>
            </a:pPr>
            <a:r>
              <a:rPr lang="en-US" altLang="en-US" sz="2000" dirty="0"/>
              <a:t>Used for measuring how well your algorithm performs</a:t>
            </a:r>
          </a:p>
        </p:txBody>
      </p:sp>
      <p:pic>
        <p:nvPicPr>
          <p:cNvPr id="40964" name="Picture 3">
            <a:extLst>
              <a:ext uri="{FF2B5EF4-FFF2-40B4-BE49-F238E27FC236}">
                <a16:creationId xmlns:a16="http://schemas.microsoft.com/office/drawing/2014/main" id="{0C2DEEDF-7F2E-4341-B388-D272598501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900" y="3159125"/>
            <a:ext cx="6259513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696FD466-53D6-40D8-87A0-F9D0699FA1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8773" y="185249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Least Recently Used (LRU) Algorithm (1)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B3F137F8-4D5E-42D0-B9E4-ACCE3B23C8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7259" y="947456"/>
            <a:ext cx="7840428" cy="2419230"/>
          </a:xfrm>
        </p:spPr>
        <p:txBody>
          <a:bodyPr/>
          <a:lstStyle/>
          <a:p>
            <a:pPr>
              <a:defRPr/>
            </a:pPr>
            <a:r>
              <a:rPr lang="en-US" altLang="en-US" sz="2000" dirty="0"/>
              <a:t>Use past knowledge rather than future</a:t>
            </a:r>
          </a:p>
          <a:p>
            <a:pPr>
              <a:defRPr/>
            </a:pPr>
            <a:r>
              <a:rPr lang="en-US" altLang="en-US" sz="2000" dirty="0"/>
              <a:t>Replace page that has not been used in the most amount of time</a:t>
            </a:r>
          </a:p>
          <a:p>
            <a:pPr>
              <a:defRPr/>
            </a:pPr>
            <a:r>
              <a:rPr lang="en-US" altLang="en-US" sz="2000" dirty="0"/>
              <a:t>Associate time of last use with each page</a:t>
            </a:r>
          </a:p>
          <a:p>
            <a:pPr>
              <a:defRPr/>
            </a:pPr>
            <a:r>
              <a:rPr lang="en-US" altLang="en-US" sz="2000" dirty="0"/>
              <a:t>12 faults – better than FIFO but worse than OPT</a:t>
            </a:r>
          </a:p>
          <a:p>
            <a:pPr>
              <a:defRPr/>
            </a:pPr>
            <a:r>
              <a:rPr lang="en-US" altLang="en-US" sz="2000" dirty="0"/>
              <a:t>Generally good algorithm and frequently used</a:t>
            </a:r>
          </a:p>
          <a:p>
            <a:pPr>
              <a:defRPr/>
            </a:pPr>
            <a:r>
              <a:rPr lang="en-US" altLang="en-US" sz="2000" dirty="0"/>
              <a:t>But how to implement?</a:t>
            </a:r>
          </a:p>
          <a:p>
            <a:pPr>
              <a:buFont typeface="Monotype Sorts" pitchFamily="-84" charset="2"/>
              <a:buNone/>
              <a:defRPr/>
            </a:pPr>
            <a:endParaRPr lang="en-US" altLang="en-US" sz="2000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AD671CE-F186-D403-6EA7-7DB523A4CEA7}"/>
              </a:ext>
            </a:extLst>
          </p:cNvPr>
          <p:cNvGrpSpPr/>
          <p:nvPr/>
        </p:nvGrpSpPr>
        <p:grpSpPr>
          <a:xfrm>
            <a:off x="1025903" y="3566160"/>
            <a:ext cx="7673975" cy="2344385"/>
            <a:chOff x="1201790" y="3657601"/>
            <a:chExt cx="7405505" cy="2047001"/>
          </a:xfrm>
        </p:grpSpPr>
        <p:pic>
          <p:nvPicPr>
            <p:cNvPr id="41988" name="Picture 4" descr="9">
              <a:extLst>
                <a:ext uri="{FF2B5EF4-FFF2-40B4-BE49-F238E27FC236}">
                  <a16:creationId xmlns:a16="http://schemas.microsoft.com/office/drawing/2014/main" id="{1C494269-8B4A-4BA9-9CC1-ED6087AC328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465"/>
            <a:stretch/>
          </p:blipFill>
          <p:spPr bwMode="auto">
            <a:xfrm>
              <a:off x="1586540" y="4550228"/>
              <a:ext cx="6170612" cy="1154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" name="Picture 4" descr="9">
              <a:extLst>
                <a:ext uri="{FF2B5EF4-FFF2-40B4-BE49-F238E27FC236}">
                  <a16:creationId xmlns:a16="http://schemas.microsoft.com/office/drawing/2014/main" id="{5CA8B538-7EBB-5C82-CC9F-755D9217BC5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5135"/>
            <a:stretch/>
          </p:blipFill>
          <p:spPr bwMode="auto">
            <a:xfrm>
              <a:off x="1880454" y="3657601"/>
              <a:ext cx="6170612" cy="250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08B1C241-D6AD-83DE-ACFD-7BD813E2BFD6}"/>
                </a:ext>
              </a:extLst>
            </p:cNvPr>
            <p:cNvGrpSpPr/>
            <p:nvPr/>
          </p:nvGrpSpPr>
          <p:grpSpPr>
            <a:xfrm>
              <a:off x="1201790" y="3875315"/>
              <a:ext cx="7405505" cy="642256"/>
              <a:chOff x="1223562" y="3875315"/>
              <a:chExt cx="7405505" cy="642256"/>
            </a:xfrm>
          </p:grpSpPr>
          <p:pic>
            <p:nvPicPr>
              <p:cNvPr id="3" name="Picture 4" descr="9">
                <a:extLst>
                  <a:ext uri="{FF2B5EF4-FFF2-40B4-BE49-F238E27FC236}">
                    <a16:creationId xmlns:a16="http://schemas.microsoft.com/office/drawing/2014/main" id="{167E91D5-8D0B-D963-1726-2E82EEF060B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4865" b="68332"/>
              <a:stretch/>
            </p:blipFill>
            <p:spPr bwMode="auto">
              <a:xfrm>
                <a:off x="1749826" y="4234544"/>
                <a:ext cx="6170612" cy="283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F409A41-6431-0DF1-2DD7-CF6F274F85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23562" y="3875315"/>
                <a:ext cx="7405505" cy="283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993300"/>
                  </a:buClr>
                  <a:buSzPct val="110000"/>
                  <a:buFont typeface="Wingdings" panose="05000000000000000000" pitchFamily="2" charset="2"/>
                  <a:buChar char="§"/>
                  <a:defRPr kumimoji="1">
                    <a:solidFill>
                      <a:schemeClr val="tx1"/>
                    </a:solidFill>
                    <a:latin typeface="+mn-lt"/>
                    <a:ea typeface="MS PGothic" pitchFamily="34" charset="-128"/>
                    <a:cs typeface="ＭＳ Ｐゴシック" charset="-128"/>
                  </a:defRPr>
                </a:lvl1pPr>
                <a:lvl2pPr marL="742950" indent="-28575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CC6600"/>
                  </a:buClr>
                  <a:buSzPct val="110000"/>
                  <a:buFont typeface="Arial" panose="020B0604020202020204" pitchFamily="34" charset="0"/>
                  <a:buChar char="•"/>
                  <a:defRPr kumimoji="1">
                    <a:solidFill>
                      <a:schemeClr val="tx1"/>
                    </a:solidFill>
                    <a:latin typeface="+mn-lt"/>
                    <a:ea typeface="MS PGothic" pitchFamily="34" charset="-128"/>
                  </a:defRPr>
                </a:lvl2pPr>
                <a:lvl3pPr marL="1085850" indent="-2286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kumimoji="1">
                    <a:solidFill>
                      <a:schemeClr val="tx1"/>
                    </a:solidFill>
                    <a:latin typeface="+mn-lt"/>
                    <a:ea typeface="MS PGothic" pitchFamily="34" charset="-128"/>
                  </a:defRPr>
                </a:lvl3pPr>
                <a:lvl4pPr marL="1428750" indent="-2286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Char char="–"/>
                  <a:defRPr kumimoji="1">
                    <a:solidFill>
                      <a:schemeClr val="tx1"/>
                    </a:solidFill>
                    <a:latin typeface="+mn-lt"/>
                    <a:ea typeface="MS PGothic" pitchFamily="34" charset="-128"/>
                  </a:defRPr>
                </a:lvl4pPr>
                <a:lvl5pPr marL="1771650" indent="-2286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+mn-lt"/>
                    <a:ea typeface="MS PGothic" pitchFamily="34" charset="-128"/>
                  </a:defRPr>
                </a:lvl5pPr>
                <a:lvl6pPr marL="2228850" indent="-2286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+mn-lt"/>
                    <a:ea typeface="ＭＳ Ｐゴシック" charset="-128"/>
                  </a:defRPr>
                </a:lvl6pPr>
                <a:lvl7pPr marL="2686050" indent="-2286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+mn-lt"/>
                    <a:ea typeface="ＭＳ Ｐゴシック" charset="-128"/>
                  </a:defRPr>
                </a:lvl7pPr>
                <a:lvl8pPr marL="3143250" indent="-2286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+mn-lt"/>
                    <a:ea typeface="ＭＳ Ｐゴシック" charset="-128"/>
                  </a:defRPr>
                </a:lvl8pPr>
                <a:lvl9pPr marL="3600450" indent="-2286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+mn-lt"/>
                    <a:ea typeface="ＭＳ Ｐゴシック" charset="-128"/>
                  </a:defRPr>
                </a:lvl9pPr>
              </a:lstStyle>
              <a:p>
                <a:pPr>
                  <a:buFont typeface="Monotype Sorts" pitchFamily="-84" charset="2"/>
                  <a:buNone/>
                  <a:defRPr/>
                </a:pPr>
                <a:r>
                  <a:rPr lang="en-US" altLang="en-US" sz="1200" kern="0" dirty="0"/>
                  <a:t>Time        1     2     3     4      5     6     7     8     9    10   11   12   13    14    15   16   17   18   19    20</a:t>
                </a:r>
              </a:p>
            </p:txBody>
          </p: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CE921E56-6ED9-3374-7DD0-40AABC2CE20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749826" y="4201886"/>
                <a:ext cx="630124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>
            <a:extLst>
              <a:ext uri="{FF2B5EF4-FFF2-40B4-BE49-F238E27FC236}">
                <a16:creationId xmlns:a16="http://schemas.microsoft.com/office/drawing/2014/main" id="{00218A1E-F600-4BE7-9C24-6205C33F8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240" y="950913"/>
            <a:ext cx="7925753" cy="5507037"/>
          </a:xfrm>
        </p:spPr>
        <p:txBody>
          <a:bodyPr/>
          <a:lstStyle/>
          <a:p>
            <a:r>
              <a:rPr lang="en-US" altLang="en-US" sz="2000" dirty="0"/>
              <a:t>Counter implementation</a:t>
            </a:r>
          </a:p>
          <a:p>
            <a:pPr lvl="1"/>
            <a:r>
              <a:rPr lang="en-US" altLang="en-US" sz="2000" dirty="0"/>
              <a:t>Every page entry has a counter; every time page is referenced through this entry, copy the clock into the counter</a:t>
            </a:r>
          </a:p>
          <a:p>
            <a:pPr lvl="1"/>
            <a:r>
              <a:rPr lang="en-US" altLang="en-US" sz="2000" dirty="0"/>
              <a:t>When a page needs to be changed, look at the counters to find smallest value</a:t>
            </a:r>
          </a:p>
          <a:p>
            <a:pPr lvl="2"/>
            <a:r>
              <a:rPr lang="en-US" altLang="en-US" sz="2000" dirty="0"/>
              <a:t>Search through table needed</a:t>
            </a:r>
          </a:p>
          <a:p>
            <a:r>
              <a:rPr lang="en-US" altLang="en-US" sz="2000" dirty="0"/>
              <a:t>Stack implementation</a:t>
            </a:r>
          </a:p>
          <a:p>
            <a:pPr lvl="1"/>
            <a:r>
              <a:rPr lang="en-US" altLang="en-US" sz="2000" dirty="0"/>
              <a:t>Keep a stack of page numbers in a double link form:</a:t>
            </a:r>
          </a:p>
          <a:p>
            <a:pPr lvl="1"/>
            <a:r>
              <a:rPr lang="en-US" altLang="en-US" sz="2000" dirty="0"/>
              <a:t>Page referenced:</a:t>
            </a:r>
          </a:p>
          <a:p>
            <a:pPr lvl="2"/>
            <a:r>
              <a:rPr lang="en-US" altLang="en-US" sz="2000" dirty="0"/>
              <a:t>move it to the top</a:t>
            </a:r>
          </a:p>
          <a:p>
            <a:pPr lvl="2"/>
            <a:r>
              <a:rPr lang="en-US" altLang="en-US" sz="2000" dirty="0"/>
              <a:t>requires 6 pointers to be changed</a:t>
            </a:r>
          </a:p>
          <a:p>
            <a:pPr lvl="1"/>
            <a:r>
              <a:rPr lang="en-US" altLang="en-US" sz="2000" dirty="0"/>
              <a:t>But each update more expensive</a:t>
            </a:r>
          </a:p>
          <a:p>
            <a:pPr lvl="1"/>
            <a:r>
              <a:rPr lang="en-US" altLang="en-US" sz="2000" dirty="0"/>
              <a:t>No search for replacement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ECF6F88-43B0-EAC8-D910-15183A644E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8773" y="185249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Least Recently Used (LRU) Algorithm (2)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>
            <a:extLst>
              <a:ext uri="{FF2B5EF4-FFF2-40B4-BE49-F238E27FC236}">
                <a16:creationId xmlns:a16="http://schemas.microsoft.com/office/drawing/2014/main" id="{00218A1E-F600-4BE7-9C24-6205C33F8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7656" y="1053783"/>
            <a:ext cx="7728177" cy="1106487"/>
          </a:xfrm>
        </p:spPr>
        <p:txBody>
          <a:bodyPr/>
          <a:lstStyle/>
          <a:p>
            <a:r>
              <a:rPr lang="en-US" altLang="en-US" sz="2000" dirty="0"/>
              <a:t>LRU and OPT are cases of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stack algorithms </a:t>
            </a:r>
            <a:r>
              <a:rPr lang="en-US" altLang="en-US" sz="2000" dirty="0"/>
              <a:t>that don</a:t>
            </a:r>
            <a:r>
              <a:rPr lang="ja-JP" altLang="en-US" sz="2000" dirty="0"/>
              <a:t>’</a:t>
            </a:r>
            <a:r>
              <a:rPr lang="en-US" altLang="ja-JP" sz="2000" dirty="0"/>
              <a:t>t have Belady</a:t>
            </a:r>
            <a:r>
              <a:rPr lang="ja-JP" altLang="en-US" sz="2000" dirty="0"/>
              <a:t>’</a:t>
            </a:r>
            <a:r>
              <a:rPr lang="en-US" altLang="ja-JP" sz="2000" dirty="0"/>
              <a:t>s Anomaly</a:t>
            </a:r>
          </a:p>
          <a:p>
            <a:r>
              <a:rPr lang="en-US" altLang="en-US" sz="2000" dirty="0"/>
              <a:t>Use of a stack to record most recent page references</a:t>
            </a:r>
            <a:endParaRPr lang="en-US" sz="20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5FD13C2-2E21-7EF5-37E0-A86160BDE882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2032318" y="2592070"/>
            <a:ext cx="5522912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030" name="Rectangle 2">
            <a:extLst>
              <a:ext uri="{FF2B5EF4-FFF2-40B4-BE49-F238E27FC236}">
                <a16:creationId xmlns:a16="http://schemas.microsoft.com/office/drawing/2014/main" id="{01BD8B9A-DECD-6C76-48EC-7D46916416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8773" y="185249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Least Recently Used (LRU) Algorithm (3)</a:t>
            </a:r>
          </a:p>
        </p:txBody>
      </p:sp>
      <p:grpSp>
        <p:nvGrpSpPr>
          <p:cNvPr id="43032" name="组合 43031">
            <a:extLst>
              <a:ext uri="{FF2B5EF4-FFF2-40B4-BE49-F238E27FC236}">
                <a16:creationId xmlns:a16="http://schemas.microsoft.com/office/drawing/2014/main" id="{4D3FEDA3-8698-0C59-98E2-EC4012A01C5C}"/>
              </a:ext>
            </a:extLst>
          </p:cNvPr>
          <p:cNvGrpSpPr/>
          <p:nvPr/>
        </p:nvGrpSpPr>
        <p:grpSpPr>
          <a:xfrm>
            <a:off x="1826451" y="2452542"/>
            <a:ext cx="5956326" cy="3294219"/>
            <a:chOff x="1617550" y="2630648"/>
            <a:chExt cx="5956326" cy="329421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47D5DD7-260F-14D4-D48B-AA4DE24E34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0539" y="3284220"/>
              <a:ext cx="0" cy="396875"/>
            </a:xfrm>
            <a:custGeom>
              <a:avLst/>
              <a:gdLst>
                <a:gd name="T0" fmla="*/ 227 h 227"/>
                <a:gd name="T1" fmla="*/ 227 h 227"/>
                <a:gd name="T2" fmla="*/ 0 h 227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227">
                  <a:moveTo>
                    <a:pt x="0" y="227"/>
                  </a:moveTo>
                  <a:lnTo>
                    <a:pt x="0" y="227"/>
                  </a:lnTo>
                  <a:lnTo>
                    <a:pt x="0" y="0"/>
                  </a:lnTo>
                </a:path>
              </a:pathLst>
            </a:custGeom>
            <a:noFill/>
            <a:ln w="20638" cap="flat">
              <a:solidFill>
                <a:srgbClr val="231F2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E7239AD-2290-0F1B-65DC-C87CE5302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1093" y="3284220"/>
              <a:ext cx="0" cy="396875"/>
            </a:xfrm>
            <a:custGeom>
              <a:avLst/>
              <a:gdLst>
                <a:gd name="T0" fmla="*/ 227 h 227"/>
                <a:gd name="T1" fmla="*/ 227 h 227"/>
                <a:gd name="T2" fmla="*/ 0 h 227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227">
                  <a:moveTo>
                    <a:pt x="0" y="227"/>
                  </a:moveTo>
                  <a:lnTo>
                    <a:pt x="0" y="227"/>
                  </a:lnTo>
                  <a:lnTo>
                    <a:pt x="0" y="0"/>
                  </a:lnTo>
                </a:path>
              </a:pathLst>
            </a:custGeom>
            <a:noFill/>
            <a:ln w="20638" cap="flat">
              <a:solidFill>
                <a:srgbClr val="231F2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D12985A-C177-7AAA-BF78-20D62FCA5F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4768" y="3430270"/>
              <a:ext cx="460553" cy="2044700"/>
            </a:xfrm>
            <a:custGeom>
              <a:avLst/>
              <a:gdLst>
                <a:gd name="T0" fmla="*/ 0 w 254"/>
                <a:gd name="T1" fmla="*/ 1170 h 1170"/>
                <a:gd name="T2" fmla="*/ 0 w 254"/>
                <a:gd name="T3" fmla="*/ 1170 h 1170"/>
                <a:gd name="T4" fmla="*/ 254 w 254"/>
                <a:gd name="T5" fmla="*/ 1170 h 1170"/>
                <a:gd name="T6" fmla="*/ 254 w 254"/>
                <a:gd name="T7" fmla="*/ 0 h 1170"/>
                <a:gd name="T8" fmla="*/ 0 w 254"/>
                <a:gd name="T9" fmla="*/ 0 h 1170"/>
                <a:gd name="T10" fmla="*/ 0 w 254"/>
                <a:gd name="T11" fmla="*/ 1170 h 1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4" h="1170">
                  <a:moveTo>
                    <a:pt x="0" y="1170"/>
                  </a:moveTo>
                  <a:lnTo>
                    <a:pt x="0" y="1170"/>
                  </a:lnTo>
                  <a:lnTo>
                    <a:pt x="254" y="1170"/>
                  </a:lnTo>
                  <a:lnTo>
                    <a:pt x="254" y="0"/>
                  </a:lnTo>
                  <a:lnTo>
                    <a:pt x="0" y="0"/>
                  </a:lnTo>
                  <a:lnTo>
                    <a:pt x="0" y="1170"/>
                  </a:lnTo>
                  <a:close/>
                </a:path>
              </a:pathLst>
            </a:custGeom>
            <a:solidFill>
              <a:srgbClr val="C7EAFB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823BA93-8485-7200-A916-0269D1FD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4768" y="3430270"/>
              <a:ext cx="460553" cy="2044700"/>
            </a:xfrm>
            <a:custGeom>
              <a:avLst/>
              <a:gdLst>
                <a:gd name="T0" fmla="*/ 254 w 254"/>
                <a:gd name="T1" fmla="*/ 0 h 1170"/>
                <a:gd name="T2" fmla="*/ 254 w 254"/>
                <a:gd name="T3" fmla="*/ 0 h 1170"/>
                <a:gd name="T4" fmla="*/ 254 w 254"/>
                <a:gd name="T5" fmla="*/ 1170 h 1170"/>
                <a:gd name="T6" fmla="*/ 0 w 254"/>
                <a:gd name="T7" fmla="*/ 1170 h 1170"/>
                <a:gd name="T8" fmla="*/ 0 w 254"/>
                <a:gd name="T9" fmla="*/ 0 h 1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70">
                  <a:moveTo>
                    <a:pt x="254" y="0"/>
                  </a:moveTo>
                  <a:lnTo>
                    <a:pt x="254" y="0"/>
                  </a:lnTo>
                  <a:lnTo>
                    <a:pt x="254" y="1170"/>
                  </a:lnTo>
                  <a:lnTo>
                    <a:pt x="0" y="1170"/>
                  </a:lnTo>
                  <a:lnTo>
                    <a:pt x="0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8498169-253A-D991-56AD-949015FD8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4768" y="3838258"/>
              <a:ext cx="460553" cy="0"/>
            </a:xfrm>
            <a:custGeom>
              <a:avLst/>
              <a:gdLst>
                <a:gd name="T0" fmla="*/ 0 w 254"/>
                <a:gd name="T1" fmla="*/ 0 w 254"/>
                <a:gd name="T2" fmla="*/ 254 w 25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4">
                  <a:moveTo>
                    <a:pt x="0" y="0"/>
                  </a:moveTo>
                  <a:lnTo>
                    <a:pt x="0" y="0"/>
                  </a:lnTo>
                  <a:lnTo>
                    <a:pt x="254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432D999-2487-F77F-1007-FDB4E51494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4768" y="4247833"/>
              <a:ext cx="460553" cy="0"/>
            </a:xfrm>
            <a:custGeom>
              <a:avLst/>
              <a:gdLst>
                <a:gd name="T0" fmla="*/ 0 w 254"/>
                <a:gd name="T1" fmla="*/ 0 w 254"/>
                <a:gd name="T2" fmla="*/ 254 w 25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4">
                  <a:moveTo>
                    <a:pt x="0" y="0"/>
                  </a:moveTo>
                  <a:lnTo>
                    <a:pt x="0" y="0"/>
                  </a:lnTo>
                  <a:lnTo>
                    <a:pt x="254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EAA4E86-651D-E364-2545-FA2CD0D44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4768" y="4657408"/>
              <a:ext cx="460553" cy="0"/>
            </a:xfrm>
            <a:custGeom>
              <a:avLst/>
              <a:gdLst>
                <a:gd name="T0" fmla="*/ 0 w 254"/>
                <a:gd name="T1" fmla="*/ 0 w 254"/>
                <a:gd name="T2" fmla="*/ 254 w 25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4">
                  <a:moveTo>
                    <a:pt x="0" y="0"/>
                  </a:moveTo>
                  <a:lnTo>
                    <a:pt x="0" y="0"/>
                  </a:lnTo>
                  <a:lnTo>
                    <a:pt x="254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85D8C1-E094-4D15-7586-FDB2CE79A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4768" y="5065395"/>
              <a:ext cx="460553" cy="0"/>
            </a:xfrm>
            <a:custGeom>
              <a:avLst/>
              <a:gdLst>
                <a:gd name="T0" fmla="*/ 0 w 254"/>
                <a:gd name="T1" fmla="*/ 0 w 254"/>
                <a:gd name="T2" fmla="*/ 254 w 25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4">
                  <a:moveTo>
                    <a:pt x="0" y="0"/>
                  </a:moveTo>
                  <a:lnTo>
                    <a:pt x="0" y="0"/>
                  </a:lnTo>
                  <a:lnTo>
                    <a:pt x="254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469EF63F-653A-0CF1-9FA9-98464A9BAC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0040" y="3562033"/>
              <a:ext cx="104417" cy="146050"/>
            </a:xfrm>
            <a:custGeom>
              <a:avLst/>
              <a:gdLst>
                <a:gd name="T0" fmla="*/ 13 w 58"/>
                <a:gd name="T1" fmla="*/ 30 h 83"/>
                <a:gd name="T2" fmla="*/ 13 w 58"/>
                <a:gd name="T3" fmla="*/ 30 h 83"/>
                <a:gd name="T4" fmla="*/ 30 w 58"/>
                <a:gd name="T5" fmla="*/ 9 h 83"/>
                <a:gd name="T6" fmla="*/ 46 w 58"/>
                <a:gd name="T7" fmla="*/ 24 h 83"/>
                <a:gd name="T8" fmla="*/ 31 w 58"/>
                <a:gd name="T9" fmla="*/ 44 h 83"/>
                <a:gd name="T10" fmla="*/ 20 w 58"/>
                <a:gd name="T11" fmla="*/ 50 h 83"/>
                <a:gd name="T12" fmla="*/ 0 w 58"/>
                <a:gd name="T13" fmla="*/ 83 h 83"/>
                <a:gd name="T14" fmla="*/ 58 w 58"/>
                <a:gd name="T15" fmla="*/ 83 h 83"/>
                <a:gd name="T16" fmla="*/ 58 w 58"/>
                <a:gd name="T17" fmla="*/ 73 h 83"/>
                <a:gd name="T18" fmla="*/ 12 w 58"/>
                <a:gd name="T19" fmla="*/ 73 h 83"/>
                <a:gd name="T20" fmla="*/ 27 w 58"/>
                <a:gd name="T21" fmla="*/ 57 h 83"/>
                <a:gd name="T22" fmla="*/ 35 w 58"/>
                <a:gd name="T23" fmla="*/ 53 h 83"/>
                <a:gd name="T24" fmla="*/ 58 w 58"/>
                <a:gd name="T25" fmla="*/ 25 h 83"/>
                <a:gd name="T26" fmla="*/ 31 w 58"/>
                <a:gd name="T27" fmla="*/ 0 h 83"/>
                <a:gd name="T28" fmla="*/ 2 w 58"/>
                <a:gd name="T29" fmla="*/ 30 h 83"/>
                <a:gd name="T30" fmla="*/ 13 w 58"/>
                <a:gd name="T31" fmla="*/ 3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83">
                  <a:moveTo>
                    <a:pt x="13" y="30"/>
                  </a:moveTo>
                  <a:lnTo>
                    <a:pt x="13" y="30"/>
                  </a:lnTo>
                  <a:cubicBezTo>
                    <a:pt x="13" y="24"/>
                    <a:pt x="14" y="9"/>
                    <a:pt x="30" y="9"/>
                  </a:cubicBezTo>
                  <a:cubicBezTo>
                    <a:pt x="42" y="9"/>
                    <a:pt x="46" y="17"/>
                    <a:pt x="46" y="24"/>
                  </a:cubicBezTo>
                  <a:cubicBezTo>
                    <a:pt x="46" y="35"/>
                    <a:pt x="40" y="39"/>
                    <a:pt x="31" y="44"/>
                  </a:cubicBezTo>
                  <a:lnTo>
                    <a:pt x="20" y="50"/>
                  </a:lnTo>
                  <a:cubicBezTo>
                    <a:pt x="9" y="57"/>
                    <a:pt x="1" y="66"/>
                    <a:pt x="0" y="83"/>
                  </a:cubicBezTo>
                  <a:lnTo>
                    <a:pt x="58" y="83"/>
                  </a:lnTo>
                  <a:lnTo>
                    <a:pt x="58" y="73"/>
                  </a:lnTo>
                  <a:lnTo>
                    <a:pt x="12" y="73"/>
                  </a:lnTo>
                  <a:cubicBezTo>
                    <a:pt x="13" y="70"/>
                    <a:pt x="15" y="64"/>
                    <a:pt x="27" y="57"/>
                  </a:cubicBezTo>
                  <a:lnTo>
                    <a:pt x="35" y="53"/>
                  </a:lnTo>
                  <a:cubicBezTo>
                    <a:pt x="48" y="46"/>
                    <a:pt x="58" y="40"/>
                    <a:pt x="58" y="25"/>
                  </a:cubicBezTo>
                  <a:cubicBezTo>
                    <a:pt x="58" y="9"/>
                    <a:pt x="46" y="0"/>
                    <a:pt x="31" y="0"/>
                  </a:cubicBezTo>
                  <a:cubicBezTo>
                    <a:pt x="22" y="0"/>
                    <a:pt x="2" y="2"/>
                    <a:pt x="2" y="30"/>
                  </a:cubicBezTo>
                  <a:lnTo>
                    <a:pt x="13" y="3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2CBB67F5-01AC-4B14-ED1C-DCA7B1365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6821" y="3971608"/>
              <a:ext cx="55938" cy="144463"/>
            </a:xfrm>
            <a:custGeom>
              <a:avLst/>
              <a:gdLst>
                <a:gd name="T0" fmla="*/ 31 w 31"/>
                <a:gd name="T1" fmla="*/ 0 h 83"/>
                <a:gd name="T2" fmla="*/ 31 w 31"/>
                <a:gd name="T3" fmla="*/ 0 h 83"/>
                <a:gd name="T4" fmla="*/ 23 w 31"/>
                <a:gd name="T5" fmla="*/ 0 h 83"/>
                <a:gd name="T6" fmla="*/ 0 w 31"/>
                <a:gd name="T7" fmla="*/ 16 h 83"/>
                <a:gd name="T8" fmla="*/ 0 w 31"/>
                <a:gd name="T9" fmla="*/ 24 h 83"/>
                <a:gd name="T10" fmla="*/ 20 w 31"/>
                <a:gd name="T11" fmla="*/ 24 h 83"/>
                <a:gd name="T12" fmla="*/ 20 w 31"/>
                <a:gd name="T13" fmla="*/ 83 h 83"/>
                <a:gd name="T14" fmla="*/ 31 w 31"/>
                <a:gd name="T15" fmla="*/ 83 h 83"/>
                <a:gd name="T16" fmla="*/ 31 w 31"/>
                <a:gd name="T17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83">
                  <a:moveTo>
                    <a:pt x="31" y="0"/>
                  </a:moveTo>
                  <a:lnTo>
                    <a:pt x="31" y="0"/>
                  </a:lnTo>
                  <a:lnTo>
                    <a:pt x="23" y="0"/>
                  </a:lnTo>
                  <a:cubicBezTo>
                    <a:pt x="19" y="13"/>
                    <a:pt x="14" y="15"/>
                    <a:pt x="0" y="16"/>
                  </a:cubicBezTo>
                  <a:lnTo>
                    <a:pt x="0" y="24"/>
                  </a:lnTo>
                  <a:lnTo>
                    <a:pt x="20" y="24"/>
                  </a:lnTo>
                  <a:lnTo>
                    <a:pt x="20" y="83"/>
                  </a:lnTo>
                  <a:lnTo>
                    <a:pt x="31" y="83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B2EE3B91-4019-4D96-244E-78547D7217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03769" y="4381183"/>
              <a:ext cx="102552" cy="149225"/>
            </a:xfrm>
            <a:custGeom>
              <a:avLst/>
              <a:gdLst>
                <a:gd name="T0" fmla="*/ 46 w 57"/>
                <a:gd name="T1" fmla="*/ 43 h 86"/>
                <a:gd name="T2" fmla="*/ 46 w 57"/>
                <a:gd name="T3" fmla="*/ 43 h 86"/>
                <a:gd name="T4" fmla="*/ 28 w 57"/>
                <a:gd name="T5" fmla="*/ 76 h 86"/>
                <a:gd name="T6" fmla="*/ 11 w 57"/>
                <a:gd name="T7" fmla="*/ 43 h 86"/>
                <a:gd name="T8" fmla="*/ 28 w 57"/>
                <a:gd name="T9" fmla="*/ 9 h 86"/>
                <a:gd name="T10" fmla="*/ 46 w 57"/>
                <a:gd name="T11" fmla="*/ 43 h 86"/>
                <a:gd name="T12" fmla="*/ 57 w 57"/>
                <a:gd name="T13" fmla="*/ 43 h 86"/>
                <a:gd name="T14" fmla="*/ 57 w 57"/>
                <a:gd name="T15" fmla="*/ 43 h 86"/>
                <a:gd name="T16" fmla="*/ 28 w 57"/>
                <a:gd name="T17" fmla="*/ 0 h 86"/>
                <a:gd name="T18" fmla="*/ 0 w 57"/>
                <a:gd name="T19" fmla="*/ 43 h 86"/>
                <a:gd name="T20" fmla="*/ 28 w 57"/>
                <a:gd name="T21" fmla="*/ 86 h 86"/>
                <a:gd name="T22" fmla="*/ 57 w 57"/>
                <a:gd name="T23" fmla="*/ 4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7" h="86">
                  <a:moveTo>
                    <a:pt x="46" y="43"/>
                  </a:moveTo>
                  <a:lnTo>
                    <a:pt x="46" y="43"/>
                  </a:lnTo>
                  <a:cubicBezTo>
                    <a:pt x="46" y="64"/>
                    <a:pt x="40" y="76"/>
                    <a:pt x="28" y="76"/>
                  </a:cubicBezTo>
                  <a:cubicBezTo>
                    <a:pt x="16" y="76"/>
                    <a:pt x="11" y="64"/>
                    <a:pt x="11" y="43"/>
                  </a:cubicBezTo>
                  <a:cubicBezTo>
                    <a:pt x="11" y="22"/>
                    <a:pt x="16" y="9"/>
                    <a:pt x="28" y="9"/>
                  </a:cubicBezTo>
                  <a:cubicBezTo>
                    <a:pt x="40" y="9"/>
                    <a:pt x="46" y="22"/>
                    <a:pt x="46" y="43"/>
                  </a:cubicBezTo>
                  <a:close/>
                  <a:moveTo>
                    <a:pt x="57" y="43"/>
                  </a:moveTo>
                  <a:lnTo>
                    <a:pt x="57" y="43"/>
                  </a:lnTo>
                  <a:cubicBezTo>
                    <a:pt x="57" y="25"/>
                    <a:pt x="52" y="0"/>
                    <a:pt x="28" y="0"/>
                  </a:cubicBezTo>
                  <a:cubicBezTo>
                    <a:pt x="4" y="0"/>
                    <a:pt x="0" y="25"/>
                    <a:pt x="0" y="43"/>
                  </a:cubicBezTo>
                  <a:cubicBezTo>
                    <a:pt x="0" y="60"/>
                    <a:pt x="4" y="86"/>
                    <a:pt x="28" y="86"/>
                  </a:cubicBezTo>
                  <a:cubicBezTo>
                    <a:pt x="52" y="86"/>
                    <a:pt x="57" y="60"/>
                    <a:pt x="57" y="43"/>
                  </a:cubicBez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C63D230D-0C43-B6F7-A95B-695A4B8B6D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00040" y="5198745"/>
              <a:ext cx="106282" cy="147638"/>
            </a:xfrm>
            <a:custGeom>
              <a:avLst/>
              <a:gdLst>
                <a:gd name="T0" fmla="*/ 59 w 59"/>
                <a:gd name="T1" fmla="*/ 63 h 84"/>
                <a:gd name="T2" fmla="*/ 59 w 59"/>
                <a:gd name="T3" fmla="*/ 63 h 84"/>
                <a:gd name="T4" fmla="*/ 59 w 59"/>
                <a:gd name="T5" fmla="*/ 54 h 84"/>
                <a:gd name="T6" fmla="*/ 47 w 59"/>
                <a:gd name="T7" fmla="*/ 54 h 84"/>
                <a:gd name="T8" fmla="*/ 47 w 59"/>
                <a:gd name="T9" fmla="*/ 0 h 84"/>
                <a:gd name="T10" fmla="*/ 39 w 59"/>
                <a:gd name="T11" fmla="*/ 0 h 84"/>
                <a:gd name="T12" fmla="*/ 0 w 59"/>
                <a:gd name="T13" fmla="*/ 53 h 84"/>
                <a:gd name="T14" fmla="*/ 0 w 59"/>
                <a:gd name="T15" fmla="*/ 63 h 84"/>
                <a:gd name="T16" fmla="*/ 37 w 59"/>
                <a:gd name="T17" fmla="*/ 63 h 84"/>
                <a:gd name="T18" fmla="*/ 37 w 59"/>
                <a:gd name="T19" fmla="*/ 84 h 84"/>
                <a:gd name="T20" fmla="*/ 47 w 59"/>
                <a:gd name="T21" fmla="*/ 84 h 84"/>
                <a:gd name="T22" fmla="*/ 47 w 59"/>
                <a:gd name="T23" fmla="*/ 63 h 84"/>
                <a:gd name="T24" fmla="*/ 59 w 59"/>
                <a:gd name="T25" fmla="*/ 63 h 84"/>
                <a:gd name="T26" fmla="*/ 37 w 59"/>
                <a:gd name="T27" fmla="*/ 16 h 84"/>
                <a:gd name="T28" fmla="*/ 37 w 59"/>
                <a:gd name="T29" fmla="*/ 16 h 84"/>
                <a:gd name="T30" fmla="*/ 37 w 59"/>
                <a:gd name="T31" fmla="*/ 16 h 84"/>
                <a:gd name="T32" fmla="*/ 37 w 59"/>
                <a:gd name="T33" fmla="*/ 54 h 84"/>
                <a:gd name="T34" fmla="*/ 10 w 59"/>
                <a:gd name="T35" fmla="*/ 54 h 84"/>
                <a:gd name="T36" fmla="*/ 37 w 59"/>
                <a:gd name="T37" fmla="*/ 1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84">
                  <a:moveTo>
                    <a:pt x="59" y="63"/>
                  </a:moveTo>
                  <a:lnTo>
                    <a:pt x="59" y="63"/>
                  </a:lnTo>
                  <a:lnTo>
                    <a:pt x="59" y="54"/>
                  </a:lnTo>
                  <a:lnTo>
                    <a:pt x="47" y="54"/>
                  </a:lnTo>
                  <a:lnTo>
                    <a:pt x="47" y="0"/>
                  </a:lnTo>
                  <a:lnTo>
                    <a:pt x="39" y="0"/>
                  </a:lnTo>
                  <a:lnTo>
                    <a:pt x="0" y="53"/>
                  </a:lnTo>
                  <a:lnTo>
                    <a:pt x="0" y="63"/>
                  </a:lnTo>
                  <a:lnTo>
                    <a:pt x="37" y="63"/>
                  </a:lnTo>
                  <a:lnTo>
                    <a:pt x="37" y="84"/>
                  </a:lnTo>
                  <a:lnTo>
                    <a:pt x="47" y="84"/>
                  </a:lnTo>
                  <a:lnTo>
                    <a:pt x="47" y="63"/>
                  </a:lnTo>
                  <a:lnTo>
                    <a:pt x="59" y="63"/>
                  </a:lnTo>
                  <a:close/>
                  <a:moveTo>
                    <a:pt x="37" y="16"/>
                  </a:moveTo>
                  <a:lnTo>
                    <a:pt x="37" y="16"/>
                  </a:lnTo>
                  <a:lnTo>
                    <a:pt x="37" y="16"/>
                  </a:lnTo>
                  <a:lnTo>
                    <a:pt x="37" y="54"/>
                  </a:lnTo>
                  <a:lnTo>
                    <a:pt x="10" y="54"/>
                  </a:lnTo>
                  <a:lnTo>
                    <a:pt x="37" y="16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A7842FF-BFCC-1AC2-66B2-9E3B6C676F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3769" y="4793933"/>
              <a:ext cx="102552" cy="142875"/>
            </a:xfrm>
            <a:custGeom>
              <a:avLst/>
              <a:gdLst>
                <a:gd name="T0" fmla="*/ 0 w 57"/>
                <a:gd name="T1" fmla="*/ 10 h 82"/>
                <a:gd name="T2" fmla="*/ 0 w 57"/>
                <a:gd name="T3" fmla="*/ 10 h 82"/>
                <a:gd name="T4" fmla="*/ 46 w 57"/>
                <a:gd name="T5" fmla="*/ 10 h 82"/>
                <a:gd name="T6" fmla="*/ 12 w 57"/>
                <a:gd name="T7" fmla="*/ 82 h 82"/>
                <a:gd name="T8" fmla="*/ 23 w 57"/>
                <a:gd name="T9" fmla="*/ 82 h 82"/>
                <a:gd name="T10" fmla="*/ 57 w 57"/>
                <a:gd name="T11" fmla="*/ 9 h 82"/>
                <a:gd name="T12" fmla="*/ 57 w 57"/>
                <a:gd name="T13" fmla="*/ 0 h 82"/>
                <a:gd name="T14" fmla="*/ 0 w 57"/>
                <a:gd name="T15" fmla="*/ 0 h 82"/>
                <a:gd name="T16" fmla="*/ 0 w 57"/>
                <a:gd name="T17" fmla="*/ 1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" h="82">
                  <a:moveTo>
                    <a:pt x="0" y="10"/>
                  </a:moveTo>
                  <a:lnTo>
                    <a:pt x="0" y="10"/>
                  </a:lnTo>
                  <a:lnTo>
                    <a:pt x="46" y="10"/>
                  </a:lnTo>
                  <a:cubicBezTo>
                    <a:pt x="30" y="29"/>
                    <a:pt x="14" y="59"/>
                    <a:pt x="12" y="82"/>
                  </a:cubicBezTo>
                  <a:lnTo>
                    <a:pt x="23" y="82"/>
                  </a:lnTo>
                  <a:cubicBezTo>
                    <a:pt x="29" y="44"/>
                    <a:pt x="49" y="18"/>
                    <a:pt x="57" y="9"/>
                  </a:cubicBezTo>
                  <a:lnTo>
                    <a:pt x="57" y="0"/>
                  </a:lnTo>
                  <a:lnTo>
                    <a:pt x="0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CBFC258D-A126-8D0B-A01C-C223A2ED01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4129" y="3430270"/>
              <a:ext cx="458689" cy="2044700"/>
            </a:xfrm>
            <a:custGeom>
              <a:avLst/>
              <a:gdLst>
                <a:gd name="T0" fmla="*/ 0 w 253"/>
                <a:gd name="T1" fmla="*/ 1170 h 1170"/>
                <a:gd name="T2" fmla="*/ 0 w 253"/>
                <a:gd name="T3" fmla="*/ 1170 h 1170"/>
                <a:gd name="T4" fmla="*/ 253 w 253"/>
                <a:gd name="T5" fmla="*/ 1170 h 1170"/>
                <a:gd name="T6" fmla="*/ 253 w 253"/>
                <a:gd name="T7" fmla="*/ 0 h 1170"/>
                <a:gd name="T8" fmla="*/ 0 w 253"/>
                <a:gd name="T9" fmla="*/ 0 h 1170"/>
                <a:gd name="T10" fmla="*/ 0 w 253"/>
                <a:gd name="T11" fmla="*/ 1170 h 1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3" h="1170">
                  <a:moveTo>
                    <a:pt x="0" y="1170"/>
                  </a:moveTo>
                  <a:lnTo>
                    <a:pt x="0" y="1170"/>
                  </a:lnTo>
                  <a:lnTo>
                    <a:pt x="253" y="1170"/>
                  </a:lnTo>
                  <a:lnTo>
                    <a:pt x="253" y="0"/>
                  </a:lnTo>
                  <a:lnTo>
                    <a:pt x="0" y="0"/>
                  </a:lnTo>
                  <a:lnTo>
                    <a:pt x="0" y="1170"/>
                  </a:lnTo>
                  <a:close/>
                </a:path>
              </a:pathLst>
            </a:custGeom>
            <a:solidFill>
              <a:srgbClr val="C7EAFB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1DD247ED-17A4-0F36-D492-B9FFE1693C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4129" y="3430270"/>
              <a:ext cx="458689" cy="2044700"/>
            </a:xfrm>
            <a:custGeom>
              <a:avLst/>
              <a:gdLst>
                <a:gd name="T0" fmla="*/ 253 w 253"/>
                <a:gd name="T1" fmla="*/ 0 h 1170"/>
                <a:gd name="T2" fmla="*/ 253 w 253"/>
                <a:gd name="T3" fmla="*/ 0 h 1170"/>
                <a:gd name="T4" fmla="*/ 253 w 253"/>
                <a:gd name="T5" fmla="*/ 1170 h 1170"/>
                <a:gd name="T6" fmla="*/ 0 w 253"/>
                <a:gd name="T7" fmla="*/ 1170 h 1170"/>
                <a:gd name="T8" fmla="*/ 0 w 253"/>
                <a:gd name="T9" fmla="*/ 0 h 1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3" h="1170">
                  <a:moveTo>
                    <a:pt x="253" y="0"/>
                  </a:moveTo>
                  <a:lnTo>
                    <a:pt x="253" y="0"/>
                  </a:lnTo>
                  <a:lnTo>
                    <a:pt x="253" y="1170"/>
                  </a:lnTo>
                  <a:lnTo>
                    <a:pt x="0" y="1170"/>
                  </a:lnTo>
                  <a:lnTo>
                    <a:pt x="0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32C679F-7422-6CC1-9C08-CFD0CF4D8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4129" y="3838258"/>
              <a:ext cx="458689" cy="0"/>
            </a:xfrm>
            <a:custGeom>
              <a:avLst/>
              <a:gdLst>
                <a:gd name="T0" fmla="*/ 0 w 253"/>
                <a:gd name="T1" fmla="*/ 0 w 253"/>
                <a:gd name="T2" fmla="*/ 253 w 25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3">
                  <a:moveTo>
                    <a:pt x="0" y="0"/>
                  </a:moveTo>
                  <a:lnTo>
                    <a:pt x="0" y="0"/>
                  </a:lnTo>
                  <a:lnTo>
                    <a:pt x="253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0D4DEBE5-8C7D-2F07-F21F-821FEAEEC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4129" y="4247833"/>
              <a:ext cx="458689" cy="0"/>
            </a:xfrm>
            <a:custGeom>
              <a:avLst/>
              <a:gdLst>
                <a:gd name="T0" fmla="*/ 0 w 253"/>
                <a:gd name="T1" fmla="*/ 0 w 253"/>
                <a:gd name="T2" fmla="*/ 253 w 25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3">
                  <a:moveTo>
                    <a:pt x="0" y="0"/>
                  </a:moveTo>
                  <a:lnTo>
                    <a:pt x="0" y="0"/>
                  </a:lnTo>
                  <a:lnTo>
                    <a:pt x="253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A0A14A5F-4F1F-EB49-B912-B8EA4891E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4129" y="4657408"/>
              <a:ext cx="458689" cy="0"/>
            </a:xfrm>
            <a:custGeom>
              <a:avLst/>
              <a:gdLst>
                <a:gd name="T0" fmla="*/ 0 w 253"/>
                <a:gd name="T1" fmla="*/ 0 w 253"/>
                <a:gd name="T2" fmla="*/ 253 w 25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3">
                  <a:moveTo>
                    <a:pt x="0" y="0"/>
                  </a:moveTo>
                  <a:lnTo>
                    <a:pt x="0" y="0"/>
                  </a:lnTo>
                  <a:lnTo>
                    <a:pt x="253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55F6FC9F-793C-77AA-F9FF-583D2E953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4129" y="5065395"/>
              <a:ext cx="458689" cy="0"/>
            </a:xfrm>
            <a:custGeom>
              <a:avLst/>
              <a:gdLst>
                <a:gd name="T0" fmla="*/ 0 w 253"/>
                <a:gd name="T1" fmla="*/ 0 w 253"/>
                <a:gd name="T2" fmla="*/ 253 w 25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3">
                  <a:moveTo>
                    <a:pt x="0" y="0"/>
                  </a:moveTo>
                  <a:lnTo>
                    <a:pt x="0" y="0"/>
                  </a:lnTo>
                  <a:lnTo>
                    <a:pt x="253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152F0538-84C5-E918-13D8-2B979020CD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1265" y="3563620"/>
              <a:ext cx="106282" cy="144463"/>
            </a:xfrm>
            <a:custGeom>
              <a:avLst/>
              <a:gdLst>
                <a:gd name="T0" fmla="*/ 0 w 58"/>
                <a:gd name="T1" fmla="*/ 11 h 82"/>
                <a:gd name="T2" fmla="*/ 0 w 58"/>
                <a:gd name="T3" fmla="*/ 11 h 82"/>
                <a:gd name="T4" fmla="*/ 46 w 58"/>
                <a:gd name="T5" fmla="*/ 11 h 82"/>
                <a:gd name="T6" fmla="*/ 12 w 58"/>
                <a:gd name="T7" fmla="*/ 82 h 82"/>
                <a:gd name="T8" fmla="*/ 23 w 58"/>
                <a:gd name="T9" fmla="*/ 82 h 82"/>
                <a:gd name="T10" fmla="*/ 58 w 58"/>
                <a:gd name="T11" fmla="*/ 10 h 82"/>
                <a:gd name="T12" fmla="*/ 58 w 58"/>
                <a:gd name="T13" fmla="*/ 0 h 82"/>
                <a:gd name="T14" fmla="*/ 0 w 58"/>
                <a:gd name="T15" fmla="*/ 0 h 82"/>
                <a:gd name="T16" fmla="*/ 0 w 58"/>
                <a:gd name="T17" fmla="*/ 11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2">
                  <a:moveTo>
                    <a:pt x="0" y="11"/>
                  </a:moveTo>
                  <a:lnTo>
                    <a:pt x="0" y="11"/>
                  </a:lnTo>
                  <a:lnTo>
                    <a:pt x="46" y="11"/>
                  </a:lnTo>
                  <a:cubicBezTo>
                    <a:pt x="30" y="29"/>
                    <a:pt x="15" y="59"/>
                    <a:pt x="12" y="82"/>
                  </a:cubicBezTo>
                  <a:lnTo>
                    <a:pt x="23" y="82"/>
                  </a:lnTo>
                  <a:cubicBezTo>
                    <a:pt x="30" y="45"/>
                    <a:pt x="50" y="18"/>
                    <a:pt x="58" y="10"/>
                  </a:cubicBezTo>
                  <a:lnTo>
                    <a:pt x="58" y="0"/>
                  </a:lnTo>
                  <a:lnTo>
                    <a:pt x="0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B170A607-268E-94E1-9A17-E8B012C073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9400" y="3971608"/>
              <a:ext cx="104417" cy="144463"/>
            </a:xfrm>
            <a:custGeom>
              <a:avLst/>
              <a:gdLst>
                <a:gd name="T0" fmla="*/ 12 w 57"/>
                <a:gd name="T1" fmla="*/ 30 h 83"/>
                <a:gd name="T2" fmla="*/ 12 w 57"/>
                <a:gd name="T3" fmla="*/ 30 h 83"/>
                <a:gd name="T4" fmla="*/ 29 w 57"/>
                <a:gd name="T5" fmla="*/ 9 h 83"/>
                <a:gd name="T6" fmla="*/ 46 w 57"/>
                <a:gd name="T7" fmla="*/ 24 h 83"/>
                <a:gd name="T8" fmla="*/ 30 w 57"/>
                <a:gd name="T9" fmla="*/ 44 h 83"/>
                <a:gd name="T10" fmla="*/ 19 w 57"/>
                <a:gd name="T11" fmla="*/ 50 h 83"/>
                <a:gd name="T12" fmla="*/ 0 w 57"/>
                <a:gd name="T13" fmla="*/ 83 h 83"/>
                <a:gd name="T14" fmla="*/ 57 w 57"/>
                <a:gd name="T15" fmla="*/ 83 h 83"/>
                <a:gd name="T16" fmla="*/ 57 w 57"/>
                <a:gd name="T17" fmla="*/ 74 h 83"/>
                <a:gd name="T18" fmla="*/ 11 w 57"/>
                <a:gd name="T19" fmla="*/ 74 h 83"/>
                <a:gd name="T20" fmla="*/ 26 w 57"/>
                <a:gd name="T21" fmla="*/ 57 h 83"/>
                <a:gd name="T22" fmla="*/ 35 w 57"/>
                <a:gd name="T23" fmla="*/ 53 h 83"/>
                <a:gd name="T24" fmla="*/ 57 w 57"/>
                <a:gd name="T25" fmla="*/ 25 h 83"/>
                <a:gd name="T26" fmla="*/ 31 w 57"/>
                <a:gd name="T27" fmla="*/ 0 h 83"/>
                <a:gd name="T28" fmla="*/ 2 w 57"/>
                <a:gd name="T29" fmla="*/ 30 h 83"/>
                <a:gd name="T30" fmla="*/ 12 w 57"/>
                <a:gd name="T31" fmla="*/ 3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7" h="83">
                  <a:moveTo>
                    <a:pt x="12" y="30"/>
                  </a:moveTo>
                  <a:lnTo>
                    <a:pt x="12" y="30"/>
                  </a:lnTo>
                  <a:cubicBezTo>
                    <a:pt x="13" y="24"/>
                    <a:pt x="13" y="9"/>
                    <a:pt x="29" y="9"/>
                  </a:cubicBezTo>
                  <a:cubicBezTo>
                    <a:pt x="41" y="9"/>
                    <a:pt x="46" y="18"/>
                    <a:pt x="46" y="24"/>
                  </a:cubicBezTo>
                  <a:cubicBezTo>
                    <a:pt x="46" y="35"/>
                    <a:pt x="39" y="39"/>
                    <a:pt x="30" y="44"/>
                  </a:cubicBezTo>
                  <a:lnTo>
                    <a:pt x="19" y="50"/>
                  </a:lnTo>
                  <a:cubicBezTo>
                    <a:pt x="8" y="57"/>
                    <a:pt x="0" y="66"/>
                    <a:pt x="0" y="83"/>
                  </a:cubicBezTo>
                  <a:lnTo>
                    <a:pt x="57" y="83"/>
                  </a:lnTo>
                  <a:lnTo>
                    <a:pt x="57" y="74"/>
                  </a:lnTo>
                  <a:lnTo>
                    <a:pt x="11" y="74"/>
                  </a:lnTo>
                  <a:cubicBezTo>
                    <a:pt x="12" y="70"/>
                    <a:pt x="14" y="64"/>
                    <a:pt x="26" y="57"/>
                  </a:cubicBezTo>
                  <a:lnTo>
                    <a:pt x="35" y="53"/>
                  </a:lnTo>
                  <a:cubicBezTo>
                    <a:pt x="47" y="46"/>
                    <a:pt x="57" y="40"/>
                    <a:pt x="57" y="25"/>
                  </a:cubicBezTo>
                  <a:cubicBezTo>
                    <a:pt x="57" y="9"/>
                    <a:pt x="45" y="0"/>
                    <a:pt x="31" y="0"/>
                  </a:cubicBezTo>
                  <a:cubicBezTo>
                    <a:pt x="22" y="0"/>
                    <a:pt x="2" y="2"/>
                    <a:pt x="2" y="30"/>
                  </a:cubicBezTo>
                  <a:lnTo>
                    <a:pt x="12" y="3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7FD4471C-7DA9-AC09-8C48-94A0A199C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6181" y="4381183"/>
              <a:ext cx="54073" cy="144463"/>
            </a:xfrm>
            <a:custGeom>
              <a:avLst/>
              <a:gdLst>
                <a:gd name="T0" fmla="*/ 30 w 30"/>
                <a:gd name="T1" fmla="*/ 0 h 83"/>
                <a:gd name="T2" fmla="*/ 30 w 30"/>
                <a:gd name="T3" fmla="*/ 0 h 83"/>
                <a:gd name="T4" fmla="*/ 22 w 30"/>
                <a:gd name="T5" fmla="*/ 0 h 83"/>
                <a:gd name="T6" fmla="*/ 0 w 30"/>
                <a:gd name="T7" fmla="*/ 16 h 83"/>
                <a:gd name="T8" fmla="*/ 0 w 30"/>
                <a:gd name="T9" fmla="*/ 24 h 83"/>
                <a:gd name="T10" fmla="*/ 19 w 30"/>
                <a:gd name="T11" fmla="*/ 24 h 83"/>
                <a:gd name="T12" fmla="*/ 19 w 30"/>
                <a:gd name="T13" fmla="*/ 83 h 83"/>
                <a:gd name="T14" fmla="*/ 30 w 30"/>
                <a:gd name="T15" fmla="*/ 83 h 83"/>
                <a:gd name="T16" fmla="*/ 30 w 30"/>
                <a:gd name="T17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83">
                  <a:moveTo>
                    <a:pt x="30" y="0"/>
                  </a:moveTo>
                  <a:lnTo>
                    <a:pt x="30" y="0"/>
                  </a:lnTo>
                  <a:lnTo>
                    <a:pt x="22" y="0"/>
                  </a:lnTo>
                  <a:cubicBezTo>
                    <a:pt x="19" y="14"/>
                    <a:pt x="13" y="15"/>
                    <a:pt x="0" y="16"/>
                  </a:cubicBezTo>
                  <a:lnTo>
                    <a:pt x="0" y="24"/>
                  </a:lnTo>
                  <a:lnTo>
                    <a:pt x="19" y="24"/>
                  </a:lnTo>
                  <a:lnTo>
                    <a:pt x="19" y="83"/>
                  </a:lnTo>
                  <a:lnTo>
                    <a:pt x="30" y="83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9">
              <a:extLst>
                <a:ext uri="{FF2B5EF4-FFF2-40B4-BE49-F238E27FC236}">
                  <a16:creationId xmlns:a16="http://schemas.microsoft.com/office/drawing/2014/main" id="{27FDF4F0-D797-9715-80F7-C74CD7B450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29400" y="5198745"/>
              <a:ext cx="108146" cy="147638"/>
            </a:xfrm>
            <a:custGeom>
              <a:avLst/>
              <a:gdLst>
                <a:gd name="T0" fmla="*/ 59 w 59"/>
                <a:gd name="T1" fmla="*/ 63 h 84"/>
                <a:gd name="T2" fmla="*/ 59 w 59"/>
                <a:gd name="T3" fmla="*/ 63 h 84"/>
                <a:gd name="T4" fmla="*/ 59 w 59"/>
                <a:gd name="T5" fmla="*/ 54 h 84"/>
                <a:gd name="T6" fmla="*/ 47 w 59"/>
                <a:gd name="T7" fmla="*/ 54 h 84"/>
                <a:gd name="T8" fmla="*/ 47 w 59"/>
                <a:gd name="T9" fmla="*/ 0 h 84"/>
                <a:gd name="T10" fmla="*/ 38 w 59"/>
                <a:gd name="T11" fmla="*/ 0 h 84"/>
                <a:gd name="T12" fmla="*/ 0 w 59"/>
                <a:gd name="T13" fmla="*/ 53 h 84"/>
                <a:gd name="T14" fmla="*/ 0 w 59"/>
                <a:gd name="T15" fmla="*/ 63 h 84"/>
                <a:gd name="T16" fmla="*/ 36 w 59"/>
                <a:gd name="T17" fmla="*/ 63 h 84"/>
                <a:gd name="T18" fmla="*/ 36 w 59"/>
                <a:gd name="T19" fmla="*/ 84 h 84"/>
                <a:gd name="T20" fmla="*/ 47 w 59"/>
                <a:gd name="T21" fmla="*/ 84 h 84"/>
                <a:gd name="T22" fmla="*/ 47 w 59"/>
                <a:gd name="T23" fmla="*/ 63 h 84"/>
                <a:gd name="T24" fmla="*/ 59 w 59"/>
                <a:gd name="T25" fmla="*/ 63 h 84"/>
                <a:gd name="T26" fmla="*/ 36 w 59"/>
                <a:gd name="T27" fmla="*/ 16 h 84"/>
                <a:gd name="T28" fmla="*/ 36 w 59"/>
                <a:gd name="T29" fmla="*/ 16 h 84"/>
                <a:gd name="T30" fmla="*/ 36 w 59"/>
                <a:gd name="T31" fmla="*/ 16 h 84"/>
                <a:gd name="T32" fmla="*/ 36 w 59"/>
                <a:gd name="T33" fmla="*/ 54 h 84"/>
                <a:gd name="T34" fmla="*/ 9 w 59"/>
                <a:gd name="T35" fmla="*/ 54 h 84"/>
                <a:gd name="T36" fmla="*/ 36 w 59"/>
                <a:gd name="T37" fmla="*/ 1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84">
                  <a:moveTo>
                    <a:pt x="59" y="63"/>
                  </a:moveTo>
                  <a:lnTo>
                    <a:pt x="59" y="63"/>
                  </a:lnTo>
                  <a:lnTo>
                    <a:pt x="59" y="54"/>
                  </a:lnTo>
                  <a:lnTo>
                    <a:pt x="47" y="54"/>
                  </a:lnTo>
                  <a:lnTo>
                    <a:pt x="47" y="0"/>
                  </a:lnTo>
                  <a:lnTo>
                    <a:pt x="38" y="0"/>
                  </a:lnTo>
                  <a:lnTo>
                    <a:pt x="0" y="53"/>
                  </a:lnTo>
                  <a:lnTo>
                    <a:pt x="0" y="63"/>
                  </a:lnTo>
                  <a:lnTo>
                    <a:pt x="36" y="63"/>
                  </a:lnTo>
                  <a:lnTo>
                    <a:pt x="36" y="84"/>
                  </a:lnTo>
                  <a:lnTo>
                    <a:pt x="47" y="84"/>
                  </a:lnTo>
                  <a:lnTo>
                    <a:pt x="47" y="63"/>
                  </a:lnTo>
                  <a:lnTo>
                    <a:pt x="59" y="63"/>
                  </a:lnTo>
                  <a:close/>
                  <a:moveTo>
                    <a:pt x="36" y="16"/>
                  </a:moveTo>
                  <a:lnTo>
                    <a:pt x="36" y="16"/>
                  </a:lnTo>
                  <a:lnTo>
                    <a:pt x="36" y="16"/>
                  </a:lnTo>
                  <a:lnTo>
                    <a:pt x="36" y="54"/>
                  </a:lnTo>
                  <a:lnTo>
                    <a:pt x="9" y="54"/>
                  </a:lnTo>
                  <a:lnTo>
                    <a:pt x="36" y="16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F6276605-B1F9-1B78-0E5D-B5D8F29C9D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31265" y="4789170"/>
              <a:ext cx="104417" cy="150813"/>
            </a:xfrm>
            <a:custGeom>
              <a:avLst/>
              <a:gdLst>
                <a:gd name="T0" fmla="*/ 46 w 57"/>
                <a:gd name="T1" fmla="*/ 43 h 86"/>
                <a:gd name="T2" fmla="*/ 46 w 57"/>
                <a:gd name="T3" fmla="*/ 43 h 86"/>
                <a:gd name="T4" fmla="*/ 29 w 57"/>
                <a:gd name="T5" fmla="*/ 76 h 86"/>
                <a:gd name="T6" fmla="*/ 11 w 57"/>
                <a:gd name="T7" fmla="*/ 43 h 86"/>
                <a:gd name="T8" fmla="*/ 29 w 57"/>
                <a:gd name="T9" fmla="*/ 9 h 86"/>
                <a:gd name="T10" fmla="*/ 46 w 57"/>
                <a:gd name="T11" fmla="*/ 43 h 86"/>
                <a:gd name="T12" fmla="*/ 57 w 57"/>
                <a:gd name="T13" fmla="*/ 43 h 86"/>
                <a:gd name="T14" fmla="*/ 57 w 57"/>
                <a:gd name="T15" fmla="*/ 43 h 86"/>
                <a:gd name="T16" fmla="*/ 29 w 57"/>
                <a:gd name="T17" fmla="*/ 0 h 86"/>
                <a:gd name="T18" fmla="*/ 0 w 57"/>
                <a:gd name="T19" fmla="*/ 43 h 86"/>
                <a:gd name="T20" fmla="*/ 29 w 57"/>
                <a:gd name="T21" fmla="*/ 86 h 86"/>
                <a:gd name="T22" fmla="*/ 57 w 57"/>
                <a:gd name="T23" fmla="*/ 4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7" h="86">
                  <a:moveTo>
                    <a:pt x="46" y="43"/>
                  </a:moveTo>
                  <a:lnTo>
                    <a:pt x="46" y="43"/>
                  </a:lnTo>
                  <a:cubicBezTo>
                    <a:pt x="46" y="64"/>
                    <a:pt x="41" y="76"/>
                    <a:pt x="29" y="76"/>
                  </a:cubicBezTo>
                  <a:cubicBezTo>
                    <a:pt x="17" y="76"/>
                    <a:pt x="11" y="64"/>
                    <a:pt x="11" y="43"/>
                  </a:cubicBezTo>
                  <a:cubicBezTo>
                    <a:pt x="11" y="22"/>
                    <a:pt x="17" y="9"/>
                    <a:pt x="29" y="9"/>
                  </a:cubicBezTo>
                  <a:cubicBezTo>
                    <a:pt x="41" y="9"/>
                    <a:pt x="46" y="22"/>
                    <a:pt x="46" y="43"/>
                  </a:cubicBezTo>
                  <a:close/>
                  <a:moveTo>
                    <a:pt x="57" y="43"/>
                  </a:moveTo>
                  <a:lnTo>
                    <a:pt x="57" y="43"/>
                  </a:lnTo>
                  <a:cubicBezTo>
                    <a:pt x="57" y="25"/>
                    <a:pt x="53" y="0"/>
                    <a:pt x="29" y="0"/>
                  </a:cubicBezTo>
                  <a:cubicBezTo>
                    <a:pt x="5" y="0"/>
                    <a:pt x="0" y="25"/>
                    <a:pt x="0" y="43"/>
                  </a:cubicBezTo>
                  <a:cubicBezTo>
                    <a:pt x="0" y="60"/>
                    <a:pt x="5" y="86"/>
                    <a:pt x="29" y="86"/>
                  </a:cubicBezTo>
                  <a:cubicBezTo>
                    <a:pt x="53" y="86"/>
                    <a:pt x="57" y="60"/>
                    <a:pt x="57" y="43"/>
                  </a:cubicBez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13" name="Freeform 67">
              <a:extLst>
                <a:ext uri="{FF2B5EF4-FFF2-40B4-BE49-F238E27FC236}">
                  <a16:creationId xmlns:a16="http://schemas.microsoft.com/office/drawing/2014/main" id="{99AB2CC2-712C-B757-2FD3-268E059903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60486" y="3007995"/>
              <a:ext cx="108146" cy="146050"/>
            </a:xfrm>
            <a:custGeom>
              <a:avLst/>
              <a:gdLst>
                <a:gd name="T0" fmla="*/ 59 w 59"/>
                <a:gd name="T1" fmla="*/ 63 h 83"/>
                <a:gd name="T2" fmla="*/ 59 w 59"/>
                <a:gd name="T3" fmla="*/ 63 h 83"/>
                <a:gd name="T4" fmla="*/ 59 w 59"/>
                <a:gd name="T5" fmla="*/ 54 h 83"/>
                <a:gd name="T6" fmla="*/ 47 w 59"/>
                <a:gd name="T7" fmla="*/ 54 h 83"/>
                <a:gd name="T8" fmla="*/ 47 w 59"/>
                <a:gd name="T9" fmla="*/ 0 h 83"/>
                <a:gd name="T10" fmla="*/ 38 w 59"/>
                <a:gd name="T11" fmla="*/ 0 h 83"/>
                <a:gd name="T12" fmla="*/ 0 w 59"/>
                <a:gd name="T13" fmla="*/ 53 h 83"/>
                <a:gd name="T14" fmla="*/ 0 w 59"/>
                <a:gd name="T15" fmla="*/ 63 h 83"/>
                <a:gd name="T16" fmla="*/ 37 w 59"/>
                <a:gd name="T17" fmla="*/ 63 h 83"/>
                <a:gd name="T18" fmla="*/ 37 w 59"/>
                <a:gd name="T19" fmla="*/ 83 h 83"/>
                <a:gd name="T20" fmla="*/ 47 w 59"/>
                <a:gd name="T21" fmla="*/ 83 h 83"/>
                <a:gd name="T22" fmla="*/ 47 w 59"/>
                <a:gd name="T23" fmla="*/ 63 h 83"/>
                <a:gd name="T24" fmla="*/ 59 w 59"/>
                <a:gd name="T25" fmla="*/ 63 h 83"/>
                <a:gd name="T26" fmla="*/ 36 w 59"/>
                <a:gd name="T27" fmla="*/ 16 h 83"/>
                <a:gd name="T28" fmla="*/ 36 w 59"/>
                <a:gd name="T29" fmla="*/ 16 h 83"/>
                <a:gd name="T30" fmla="*/ 37 w 59"/>
                <a:gd name="T31" fmla="*/ 16 h 83"/>
                <a:gd name="T32" fmla="*/ 37 w 59"/>
                <a:gd name="T33" fmla="*/ 54 h 83"/>
                <a:gd name="T34" fmla="*/ 10 w 59"/>
                <a:gd name="T35" fmla="*/ 54 h 83"/>
                <a:gd name="T36" fmla="*/ 36 w 59"/>
                <a:gd name="T37" fmla="*/ 1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83">
                  <a:moveTo>
                    <a:pt x="59" y="63"/>
                  </a:moveTo>
                  <a:lnTo>
                    <a:pt x="59" y="63"/>
                  </a:lnTo>
                  <a:lnTo>
                    <a:pt x="59" y="54"/>
                  </a:lnTo>
                  <a:lnTo>
                    <a:pt x="47" y="54"/>
                  </a:lnTo>
                  <a:lnTo>
                    <a:pt x="47" y="0"/>
                  </a:lnTo>
                  <a:lnTo>
                    <a:pt x="38" y="0"/>
                  </a:lnTo>
                  <a:lnTo>
                    <a:pt x="0" y="53"/>
                  </a:lnTo>
                  <a:lnTo>
                    <a:pt x="0" y="63"/>
                  </a:lnTo>
                  <a:lnTo>
                    <a:pt x="37" y="63"/>
                  </a:lnTo>
                  <a:lnTo>
                    <a:pt x="37" y="83"/>
                  </a:lnTo>
                  <a:lnTo>
                    <a:pt x="47" y="83"/>
                  </a:lnTo>
                  <a:lnTo>
                    <a:pt x="47" y="63"/>
                  </a:lnTo>
                  <a:lnTo>
                    <a:pt x="59" y="63"/>
                  </a:lnTo>
                  <a:close/>
                  <a:moveTo>
                    <a:pt x="36" y="16"/>
                  </a:moveTo>
                  <a:lnTo>
                    <a:pt x="36" y="16"/>
                  </a:lnTo>
                  <a:lnTo>
                    <a:pt x="37" y="16"/>
                  </a:lnTo>
                  <a:lnTo>
                    <a:pt x="37" y="54"/>
                  </a:lnTo>
                  <a:lnTo>
                    <a:pt x="10" y="54"/>
                  </a:lnTo>
                  <a:lnTo>
                    <a:pt x="36" y="16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14" name="Freeform 68">
              <a:extLst>
                <a:ext uri="{FF2B5EF4-FFF2-40B4-BE49-F238E27FC236}">
                  <a16:creationId xmlns:a16="http://schemas.microsoft.com/office/drawing/2014/main" id="{6B9078EE-9143-4628-B677-48D3ACBB54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9341" y="3009583"/>
              <a:ext cx="106282" cy="144463"/>
            </a:xfrm>
            <a:custGeom>
              <a:avLst/>
              <a:gdLst>
                <a:gd name="T0" fmla="*/ 0 w 58"/>
                <a:gd name="T1" fmla="*/ 11 h 82"/>
                <a:gd name="T2" fmla="*/ 0 w 58"/>
                <a:gd name="T3" fmla="*/ 11 h 82"/>
                <a:gd name="T4" fmla="*/ 46 w 58"/>
                <a:gd name="T5" fmla="*/ 11 h 82"/>
                <a:gd name="T6" fmla="*/ 12 w 58"/>
                <a:gd name="T7" fmla="*/ 82 h 82"/>
                <a:gd name="T8" fmla="*/ 23 w 58"/>
                <a:gd name="T9" fmla="*/ 82 h 82"/>
                <a:gd name="T10" fmla="*/ 58 w 58"/>
                <a:gd name="T11" fmla="*/ 9 h 82"/>
                <a:gd name="T12" fmla="*/ 58 w 58"/>
                <a:gd name="T13" fmla="*/ 0 h 82"/>
                <a:gd name="T14" fmla="*/ 0 w 58"/>
                <a:gd name="T15" fmla="*/ 0 h 82"/>
                <a:gd name="T16" fmla="*/ 0 w 58"/>
                <a:gd name="T17" fmla="*/ 11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2">
                  <a:moveTo>
                    <a:pt x="0" y="11"/>
                  </a:moveTo>
                  <a:lnTo>
                    <a:pt x="0" y="11"/>
                  </a:lnTo>
                  <a:lnTo>
                    <a:pt x="46" y="11"/>
                  </a:lnTo>
                  <a:cubicBezTo>
                    <a:pt x="30" y="29"/>
                    <a:pt x="15" y="59"/>
                    <a:pt x="12" y="82"/>
                  </a:cubicBezTo>
                  <a:lnTo>
                    <a:pt x="23" y="82"/>
                  </a:lnTo>
                  <a:cubicBezTo>
                    <a:pt x="29" y="45"/>
                    <a:pt x="49" y="18"/>
                    <a:pt x="58" y="9"/>
                  </a:cubicBezTo>
                  <a:lnTo>
                    <a:pt x="58" y="0"/>
                  </a:lnTo>
                  <a:lnTo>
                    <a:pt x="0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15" name="Freeform 69">
              <a:extLst>
                <a:ext uri="{FF2B5EF4-FFF2-40B4-BE49-F238E27FC236}">
                  <a16:creationId xmlns:a16="http://schemas.microsoft.com/office/drawing/2014/main" id="{64B3706E-24EB-C36E-7110-111AD0CA3C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14467" y="3007995"/>
              <a:ext cx="104417" cy="149225"/>
            </a:xfrm>
            <a:custGeom>
              <a:avLst/>
              <a:gdLst>
                <a:gd name="T0" fmla="*/ 47 w 58"/>
                <a:gd name="T1" fmla="*/ 42 h 85"/>
                <a:gd name="T2" fmla="*/ 47 w 58"/>
                <a:gd name="T3" fmla="*/ 42 h 85"/>
                <a:gd name="T4" fmla="*/ 29 w 58"/>
                <a:gd name="T5" fmla="*/ 76 h 85"/>
                <a:gd name="T6" fmla="*/ 12 w 58"/>
                <a:gd name="T7" fmla="*/ 42 h 85"/>
                <a:gd name="T8" fmla="*/ 29 w 58"/>
                <a:gd name="T9" fmla="*/ 9 h 85"/>
                <a:gd name="T10" fmla="*/ 47 w 58"/>
                <a:gd name="T11" fmla="*/ 42 h 85"/>
                <a:gd name="T12" fmla="*/ 58 w 58"/>
                <a:gd name="T13" fmla="*/ 42 h 85"/>
                <a:gd name="T14" fmla="*/ 58 w 58"/>
                <a:gd name="T15" fmla="*/ 42 h 85"/>
                <a:gd name="T16" fmla="*/ 29 w 58"/>
                <a:gd name="T17" fmla="*/ 0 h 85"/>
                <a:gd name="T18" fmla="*/ 0 w 58"/>
                <a:gd name="T19" fmla="*/ 42 h 85"/>
                <a:gd name="T20" fmla="*/ 29 w 58"/>
                <a:gd name="T21" fmla="*/ 85 h 85"/>
                <a:gd name="T22" fmla="*/ 58 w 58"/>
                <a:gd name="T23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" h="85">
                  <a:moveTo>
                    <a:pt x="47" y="42"/>
                  </a:moveTo>
                  <a:lnTo>
                    <a:pt x="47" y="42"/>
                  </a:lnTo>
                  <a:cubicBezTo>
                    <a:pt x="47" y="63"/>
                    <a:pt x="41" y="76"/>
                    <a:pt x="29" y="76"/>
                  </a:cubicBezTo>
                  <a:cubicBezTo>
                    <a:pt x="17" y="76"/>
                    <a:pt x="12" y="63"/>
                    <a:pt x="12" y="42"/>
                  </a:cubicBezTo>
                  <a:cubicBezTo>
                    <a:pt x="12" y="22"/>
                    <a:pt x="17" y="9"/>
                    <a:pt x="29" y="9"/>
                  </a:cubicBezTo>
                  <a:cubicBezTo>
                    <a:pt x="41" y="9"/>
                    <a:pt x="47" y="22"/>
                    <a:pt x="47" y="42"/>
                  </a:cubicBezTo>
                  <a:close/>
                  <a:moveTo>
                    <a:pt x="58" y="42"/>
                  </a:moveTo>
                  <a:lnTo>
                    <a:pt x="58" y="42"/>
                  </a:lnTo>
                  <a:cubicBezTo>
                    <a:pt x="58" y="25"/>
                    <a:pt x="53" y="0"/>
                    <a:pt x="29" y="0"/>
                  </a:cubicBezTo>
                  <a:cubicBezTo>
                    <a:pt x="5" y="0"/>
                    <a:pt x="0" y="25"/>
                    <a:pt x="0" y="42"/>
                  </a:cubicBezTo>
                  <a:cubicBezTo>
                    <a:pt x="0" y="60"/>
                    <a:pt x="5" y="85"/>
                    <a:pt x="29" y="85"/>
                  </a:cubicBezTo>
                  <a:cubicBezTo>
                    <a:pt x="53" y="85"/>
                    <a:pt x="58" y="60"/>
                    <a:pt x="58" y="42"/>
                  </a:cubicBez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16" name="Freeform 70">
              <a:extLst>
                <a:ext uri="{FF2B5EF4-FFF2-40B4-BE49-F238E27FC236}">
                  <a16:creationId xmlns:a16="http://schemas.microsoft.com/office/drawing/2014/main" id="{540EB9D7-AC1B-1D57-7176-2FD250961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458" y="3009583"/>
              <a:ext cx="104417" cy="144463"/>
            </a:xfrm>
            <a:custGeom>
              <a:avLst/>
              <a:gdLst>
                <a:gd name="T0" fmla="*/ 0 w 58"/>
                <a:gd name="T1" fmla="*/ 11 h 82"/>
                <a:gd name="T2" fmla="*/ 0 w 58"/>
                <a:gd name="T3" fmla="*/ 11 h 82"/>
                <a:gd name="T4" fmla="*/ 46 w 58"/>
                <a:gd name="T5" fmla="*/ 11 h 82"/>
                <a:gd name="T6" fmla="*/ 12 w 58"/>
                <a:gd name="T7" fmla="*/ 82 h 82"/>
                <a:gd name="T8" fmla="*/ 23 w 58"/>
                <a:gd name="T9" fmla="*/ 82 h 82"/>
                <a:gd name="T10" fmla="*/ 58 w 58"/>
                <a:gd name="T11" fmla="*/ 9 h 82"/>
                <a:gd name="T12" fmla="*/ 58 w 58"/>
                <a:gd name="T13" fmla="*/ 0 h 82"/>
                <a:gd name="T14" fmla="*/ 0 w 58"/>
                <a:gd name="T15" fmla="*/ 0 h 82"/>
                <a:gd name="T16" fmla="*/ 0 w 58"/>
                <a:gd name="T17" fmla="*/ 11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2">
                  <a:moveTo>
                    <a:pt x="0" y="11"/>
                  </a:moveTo>
                  <a:lnTo>
                    <a:pt x="0" y="11"/>
                  </a:lnTo>
                  <a:lnTo>
                    <a:pt x="46" y="11"/>
                  </a:lnTo>
                  <a:cubicBezTo>
                    <a:pt x="30" y="29"/>
                    <a:pt x="15" y="59"/>
                    <a:pt x="12" y="82"/>
                  </a:cubicBezTo>
                  <a:lnTo>
                    <a:pt x="23" y="82"/>
                  </a:lnTo>
                  <a:cubicBezTo>
                    <a:pt x="29" y="45"/>
                    <a:pt x="49" y="18"/>
                    <a:pt x="58" y="9"/>
                  </a:cubicBezTo>
                  <a:lnTo>
                    <a:pt x="58" y="0"/>
                  </a:lnTo>
                  <a:lnTo>
                    <a:pt x="0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17" name="Freeform 71">
              <a:extLst>
                <a:ext uri="{FF2B5EF4-FFF2-40B4-BE49-F238E27FC236}">
                  <a16:creationId xmlns:a16="http://schemas.microsoft.com/office/drawing/2014/main" id="{E70F55DC-00CF-BFAF-3B8C-9AE4DECD10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9637" y="3007995"/>
              <a:ext cx="57802" cy="146050"/>
            </a:xfrm>
            <a:custGeom>
              <a:avLst/>
              <a:gdLst>
                <a:gd name="T0" fmla="*/ 31 w 31"/>
                <a:gd name="T1" fmla="*/ 0 h 83"/>
                <a:gd name="T2" fmla="*/ 31 w 31"/>
                <a:gd name="T3" fmla="*/ 0 h 83"/>
                <a:gd name="T4" fmla="*/ 22 w 31"/>
                <a:gd name="T5" fmla="*/ 0 h 83"/>
                <a:gd name="T6" fmla="*/ 0 w 31"/>
                <a:gd name="T7" fmla="*/ 15 h 83"/>
                <a:gd name="T8" fmla="*/ 0 w 31"/>
                <a:gd name="T9" fmla="*/ 24 h 83"/>
                <a:gd name="T10" fmla="*/ 19 w 31"/>
                <a:gd name="T11" fmla="*/ 24 h 83"/>
                <a:gd name="T12" fmla="*/ 19 w 31"/>
                <a:gd name="T13" fmla="*/ 83 h 83"/>
                <a:gd name="T14" fmla="*/ 31 w 31"/>
                <a:gd name="T15" fmla="*/ 83 h 83"/>
                <a:gd name="T16" fmla="*/ 31 w 31"/>
                <a:gd name="T17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83">
                  <a:moveTo>
                    <a:pt x="31" y="0"/>
                  </a:moveTo>
                  <a:lnTo>
                    <a:pt x="31" y="0"/>
                  </a:lnTo>
                  <a:lnTo>
                    <a:pt x="22" y="0"/>
                  </a:lnTo>
                  <a:cubicBezTo>
                    <a:pt x="19" y="13"/>
                    <a:pt x="13" y="15"/>
                    <a:pt x="0" y="15"/>
                  </a:cubicBezTo>
                  <a:lnTo>
                    <a:pt x="0" y="24"/>
                  </a:lnTo>
                  <a:lnTo>
                    <a:pt x="19" y="24"/>
                  </a:lnTo>
                  <a:lnTo>
                    <a:pt x="19" y="83"/>
                  </a:lnTo>
                  <a:lnTo>
                    <a:pt x="31" y="83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18" name="Freeform 72">
              <a:extLst>
                <a:ext uri="{FF2B5EF4-FFF2-40B4-BE49-F238E27FC236}">
                  <a16:creationId xmlns:a16="http://schemas.microsoft.com/office/drawing/2014/main" id="{0F40C014-6A19-10D0-9147-A3F727F980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91711" y="3007995"/>
              <a:ext cx="104417" cy="149225"/>
            </a:xfrm>
            <a:custGeom>
              <a:avLst/>
              <a:gdLst>
                <a:gd name="T0" fmla="*/ 46 w 57"/>
                <a:gd name="T1" fmla="*/ 42 h 85"/>
                <a:gd name="T2" fmla="*/ 46 w 57"/>
                <a:gd name="T3" fmla="*/ 42 h 85"/>
                <a:gd name="T4" fmla="*/ 28 w 57"/>
                <a:gd name="T5" fmla="*/ 76 h 85"/>
                <a:gd name="T6" fmla="*/ 11 w 57"/>
                <a:gd name="T7" fmla="*/ 42 h 85"/>
                <a:gd name="T8" fmla="*/ 28 w 57"/>
                <a:gd name="T9" fmla="*/ 9 h 85"/>
                <a:gd name="T10" fmla="*/ 46 w 57"/>
                <a:gd name="T11" fmla="*/ 42 h 85"/>
                <a:gd name="T12" fmla="*/ 57 w 57"/>
                <a:gd name="T13" fmla="*/ 42 h 85"/>
                <a:gd name="T14" fmla="*/ 57 w 57"/>
                <a:gd name="T15" fmla="*/ 42 h 85"/>
                <a:gd name="T16" fmla="*/ 28 w 57"/>
                <a:gd name="T17" fmla="*/ 0 h 85"/>
                <a:gd name="T18" fmla="*/ 0 w 57"/>
                <a:gd name="T19" fmla="*/ 42 h 85"/>
                <a:gd name="T20" fmla="*/ 28 w 57"/>
                <a:gd name="T21" fmla="*/ 85 h 85"/>
                <a:gd name="T22" fmla="*/ 57 w 57"/>
                <a:gd name="T23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7" h="85">
                  <a:moveTo>
                    <a:pt x="46" y="42"/>
                  </a:moveTo>
                  <a:lnTo>
                    <a:pt x="46" y="42"/>
                  </a:lnTo>
                  <a:cubicBezTo>
                    <a:pt x="46" y="63"/>
                    <a:pt x="40" y="76"/>
                    <a:pt x="28" y="76"/>
                  </a:cubicBezTo>
                  <a:cubicBezTo>
                    <a:pt x="16" y="76"/>
                    <a:pt x="11" y="63"/>
                    <a:pt x="11" y="42"/>
                  </a:cubicBezTo>
                  <a:cubicBezTo>
                    <a:pt x="11" y="22"/>
                    <a:pt x="16" y="9"/>
                    <a:pt x="28" y="9"/>
                  </a:cubicBezTo>
                  <a:cubicBezTo>
                    <a:pt x="40" y="9"/>
                    <a:pt x="46" y="22"/>
                    <a:pt x="46" y="42"/>
                  </a:cubicBezTo>
                  <a:close/>
                  <a:moveTo>
                    <a:pt x="57" y="42"/>
                  </a:moveTo>
                  <a:lnTo>
                    <a:pt x="57" y="42"/>
                  </a:lnTo>
                  <a:cubicBezTo>
                    <a:pt x="57" y="25"/>
                    <a:pt x="53" y="0"/>
                    <a:pt x="28" y="0"/>
                  </a:cubicBezTo>
                  <a:cubicBezTo>
                    <a:pt x="4" y="0"/>
                    <a:pt x="0" y="25"/>
                    <a:pt x="0" y="42"/>
                  </a:cubicBezTo>
                  <a:cubicBezTo>
                    <a:pt x="0" y="60"/>
                    <a:pt x="4" y="85"/>
                    <a:pt x="28" y="85"/>
                  </a:cubicBezTo>
                  <a:cubicBezTo>
                    <a:pt x="53" y="85"/>
                    <a:pt x="57" y="60"/>
                    <a:pt x="57" y="42"/>
                  </a:cubicBez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19" name="Freeform 73">
              <a:extLst>
                <a:ext uri="{FF2B5EF4-FFF2-40B4-BE49-F238E27FC236}">
                  <a16:creationId xmlns:a16="http://schemas.microsoft.com/office/drawing/2014/main" id="{4F37FACB-108D-C838-CEDB-6545E0F94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1754" y="3007995"/>
              <a:ext cx="55938" cy="146050"/>
            </a:xfrm>
            <a:custGeom>
              <a:avLst/>
              <a:gdLst>
                <a:gd name="T0" fmla="*/ 31 w 31"/>
                <a:gd name="T1" fmla="*/ 0 h 83"/>
                <a:gd name="T2" fmla="*/ 31 w 31"/>
                <a:gd name="T3" fmla="*/ 0 h 83"/>
                <a:gd name="T4" fmla="*/ 22 w 31"/>
                <a:gd name="T5" fmla="*/ 0 h 83"/>
                <a:gd name="T6" fmla="*/ 0 w 31"/>
                <a:gd name="T7" fmla="*/ 15 h 83"/>
                <a:gd name="T8" fmla="*/ 0 w 31"/>
                <a:gd name="T9" fmla="*/ 24 h 83"/>
                <a:gd name="T10" fmla="*/ 19 w 31"/>
                <a:gd name="T11" fmla="*/ 24 h 83"/>
                <a:gd name="T12" fmla="*/ 19 w 31"/>
                <a:gd name="T13" fmla="*/ 83 h 83"/>
                <a:gd name="T14" fmla="*/ 31 w 31"/>
                <a:gd name="T15" fmla="*/ 83 h 83"/>
                <a:gd name="T16" fmla="*/ 31 w 31"/>
                <a:gd name="T17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83">
                  <a:moveTo>
                    <a:pt x="31" y="0"/>
                  </a:moveTo>
                  <a:lnTo>
                    <a:pt x="31" y="0"/>
                  </a:lnTo>
                  <a:lnTo>
                    <a:pt x="22" y="0"/>
                  </a:lnTo>
                  <a:cubicBezTo>
                    <a:pt x="19" y="13"/>
                    <a:pt x="13" y="15"/>
                    <a:pt x="0" y="15"/>
                  </a:cubicBezTo>
                  <a:lnTo>
                    <a:pt x="0" y="24"/>
                  </a:lnTo>
                  <a:lnTo>
                    <a:pt x="19" y="24"/>
                  </a:lnTo>
                  <a:lnTo>
                    <a:pt x="19" y="83"/>
                  </a:lnTo>
                  <a:lnTo>
                    <a:pt x="31" y="83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0" name="Freeform 74">
              <a:extLst>
                <a:ext uri="{FF2B5EF4-FFF2-40B4-BE49-F238E27FC236}">
                  <a16:creationId xmlns:a16="http://schemas.microsoft.com/office/drawing/2014/main" id="{E3C132D9-9B78-D6A8-1839-35F4266D5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0099" y="3007995"/>
              <a:ext cx="106282" cy="146050"/>
            </a:xfrm>
            <a:custGeom>
              <a:avLst/>
              <a:gdLst>
                <a:gd name="T0" fmla="*/ 13 w 58"/>
                <a:gd name="T1" fmla="*/ 30 h 83"/>
                <a:gd name="T2" fmla="*/ 13 w 58"/>
                <a:gd name="T3" fmla="*/ 30 h 83"/>
                <a:gd name="T4" fmla="*/ 30 w 58"/>
                <a:gd name="T5" fmla="*/ 9 h 83"/>
                <a:gd name="T6" fmla="*/ 46 w 58"/>
                <a:gd name="T7" fmla="*/ 24 h 83"/>
                <a:gd name="T8" fmla="*/ 31 w 58"/>
                <a:gd name="T9" fmla="*/ 44 h 83"/>
                <a:gd name="T10" fmla="*/ 20 w 58"/>
                <a:gd name="T11" fmla="*/ 50 h 83"/>
                <a:gd name="T12" fmla="*/ 0 w 58"/>
                <a:gd name="T13" fmla="*/ 83 h 83"/>
                <a:gd name="T14" fmla="*/ 58 w 58"/>
                <a:gd name="T15" fmla="*/ 83 h 83"/>
                <a:gd name="T16" fmla="*/ 58 w 58"/>
                <a:gd name="T17" fmla="*/ 73 h 83"/>
                <a:gd name="T18" fmla="*/ 12 w 58"/>
                <a:gd name="T19" fmla="*/ 73 h 83"/>
                <a:gd name="T20" fmla="*/ 27 w 58"/>
                <a:gd name="T21" fmla="*/ 57 h 83"/>
                <a:gd name="T22" fmla="*/ 35 w 58"/>
                <a:gd name="T23" fmla="*/ 52 h 83"/>
                <a:gd name="T24" fmla="*/ 58 w 58"/>
                <a:gd name="T25" fmla="*/ 25 h 83"/>
                <a:gd name="T26" fmla="*/ 32 w 58"/>
                <a:gd name="T27" fmla="*/ 0 h 83"/>
                <a:gd name="T28" fmla="*/ 3 w 58"/>
                <a:gd name="T29" fmla="*/ 30 h 83"/>
                <a:gd name="T30" fmla="*/ 13 w 58"/>
                <a:gd name="T31" fmla="*/ 3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83">
                  <a:moveTo>
                    <a:pt x="13" y="30"/>
                  </a:moveTo>
                  <a:lnTo>
                    <a:pt x="13" y="30"/>
                  </a:lnTo>
                  <a:cubicBezTo>
                    <a:pt x="13" y="24"/>
                    <a:pt x="14" y="9"/>
                    <a:pt x="30" y="9"/>
                  </a:cubicBezTo>
                  <a:cubicBezTo>
                    <a:pt x="42" y="9"/>
                    <a:pt x="46" y="17"/>
                    <a:pt x="46" y="24"/>
                  </a:cubicBezTo>
                  <a:cubicBezTo>
                    <a:pt x="46" y="35"/>
                    <a:pt x="40" y="38"/>
                    <a:pt x="31" y="44"/>
                  </a:cubicBezTo>
                  <a:lnTo>
                    <a:pt x="20" y="50"/>
                  </a:lnTo>
                  <a:cubicBezTo>
                    <a:pt x="9" y="57"/>
                    <a:pt x="1" y="66"/>
                    <a:pt x="0" y="83"/>
                  </a:cubicBezTo>
                  <a:lnTo>
                    <a:pt x="58" y="83"/>
                  </a:lnTo>
                  <a:lnTo>
                    <a:pt x="58" y="73"/>
                  </a:lnTo>
                  <a:lnTo>
                    <a:pt x="12" y="73"/>
                  </a:lnTo>
                  <a:cubicBezTo>
                    <a:pt x="13" y="70"/>
                    <a:pt x="15" y="64"/>
                    <a:pt x="27" y="57"/>
                  </a:cubicBezTo>
                  <a:lnTo>
                    <a:pt x="35" y="52"/>
                  </a:lnTo>
                  <a:cubicBezTo>
                    <a:pt x="48" y="46"/>
                    <a:pt x="58" y="40"/>
                    <a:pt x="58" y="25"/>
                  </a:cubicBezTo>
                  <a:cubicBezTo>
                    <a:pt x="58" y="9"/>
                    <a:pt x="46" y="0"/>
                    <a:pt x="32" y="0"/>
                  </a:cubicBezTo>
                  <a:cubicBezTo>
                    <a:pt x="22" y="0"/>
                    <a:pt x="3" y="2"/>
                    <a:pt x="3" y="30"/>
                  </a:cubicBezTo>
                  <a:lnTo>
                    <a:pt x="13" y="3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1" name="Freeform 75">
              <a:extLst>
                <a:ext uri="{FF2B5EF4-FFF2-40B4-BE49-F238E27FC236}">
                  <a16:creationId xmlns:a16="http://schemas.microsoft.com/office/drawing/2014/main" id="{7DF9478B-AD5A-EEC0-24A1-2A37049B5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3871" y="3007995"/>
              <a:ext cx="55938" cy="146050"/>
            </a:xfrm>
            <a:custGeom>
              <a:avLst/>
              <a:gdLst>
                <a:gd name="T0" fmla="*/ 31 w 31"/>
                <a:gd name="T1" fmla="*/ 0 h 83"/>
                <a:gd name="T2" fmla="*/ 31 w 31"/>
                <a:gd name="T3" fmla="*/ 0 h 83"/>
                <a:gd name="T4" fmla="*/ 22 w 31"/>
                <a:gd name="T5" fmla="*/ 0 h 83"/>
                <a:gd name="T6" fmla="*/ 0 w 31"/>
                <a:gd name="T7" fmla="*/ 15 h 83"/>
                <a:gd name="T8" fmla="*/ 0 w 31"/>
                <a:gd name="T9" fmla="*/ 24 h 83"/>
                <a:gd name="T10" fmla="*/ 19 w 31"/>
                <a:gd name="T11" fmla="*/ 24 h 83"/>
                <a:gd name="T12" fmla="*/ 19 w 31"/>
                <a:gd name="T13" fmla="*/ 83 h 83"/>
                <a:gd name="T14" fmla="*/ 31 w 31"/>
                <a:gd name="T15" fmla="*/ 83 h 83"/>
                <a:gd name="T16" fmla="*/ 31 w 31"/>
                <a:gd name="T17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83">
                  <a:moveTo>
                    <a:pt x="31" y="0"/>
                  </a:moveTo>
                  <a:lnTo>
                    <a:pt x="31" y="0"/>
                  </a:lnTo>
                  <a:lnTo>
                    <a:pt x="22" y="0"/>
                  </a:lnTo>
                  <a:cubicBezTo>
                    <a:pt x="19" y="13"/>
                    <a:pt x="13" y="15"/>
                    <a:pt x="0" y="15"/>
                  </a:cubicBezTo>
                  <a:lnTo>
                    <a:pt x="0" y="24"/>
                  </a:lnTo>
                  <a:lnTo>
                    <a:pt x="19" y="24"/>
                  </a:lnTo>
                  <a:lnTo>
                    <a:pt x="19" y="83"/>
                  </a:lnTo>
                  <a:lnTo>
                    <a:pt x="31" y="83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2" name="Freeform 76">
              <a:extLst>
                <a:ext uri="{FF2B5EF4-FFF2-40B4-BE49-F238E27FC236}">
                  <a16:creationId xmlns:a16="http://schemas.microsoft.com/office/drawing/2014/main" id="{560D6C11-575C-7F50-F14A-6E6B148CD364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2216" y="3007995"/>
              <a:ext cx="104417" cy="146050"/>
            </a:xfrm>
            <a:custGeom>
              <a:avLst/>
              <a:gdLst>
                <a:gd name="T0" fmla="*/ 13 w 58"/>
                <a:gd name="T1" fmla="*/ 30 h 83"/>
                <a:gd name="T2" fmla="*/ 13 w 58"/>
                <a:gd name="T3" fmla="*/ 30 h 83"/>
                <a:gd name="T4" fmla="*/ 30 w 58"/>
                <a:gd name="T5" fmla="*/ 9 h 83"/>
                <a:gd name="T6" fmla="*/ 46 w 58"/>
                <a:gd name="T7" fmla="*/ 24 h 83"/>
                <a:gd name="T8" fmla="*/ 31 w 58"/>
                <a:gd name="T9" fmla="*/ 44 h 83"/>
                <a:gd name="T10" fmla="*/ 20 w 58"/>
                <a:gd name="T11" fmla="*/ 50 h 83"/>
                <a:gd name="T12" fmla="*/ 0 w 58"/>
                <a:gd name="T13" fmla="*/ 83 h 83"/>
                <a:gd name="T14" fmla="*/ 58 w 58"/>
                <a:gd name="T15" fmla="*/ 83 h 83"/>
                <a:gd name="T16" fmla="*/ 58 w 58"/>
                <a:gd name="T17" fmla="*/ 73 h 83"/>
                <a:gd name="T18" fmla="*/ 12 w 58"/>
                <a:gd name="T19" fmla="*/ 73 h 83"/>
                <a:gd name="T20" fmla="*/ 27 w 58"/>
                <a:gd name="T21" fmla="*/ 57 h 83"/>
                <a:gd name="T22" fmla="*/ 35 w 58"/>
                <a:gd name="T23" fmla="*/ 52 h 83"/>
                <a:gd name="T24" fmla="*/ 58 w 58"/>
                <a:gd name="T25" fmla="*/ 25 h 83"/>
                <a:gd name="T26" fmla="*/ 31 w 58"/>
                <a:gd name="T27" fmla="*/ 0 h 83"/>
                <a:gd name="T28" fmla="*/ 3 w 58"/>
                <a:gd name="T29" fmla="*/ 30 h 83"/>
                <a:gd name="T30" fmla="*/ 13 w 58"/>
                <a:gd name="T31" fmla="*/ 3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83">
                  <a:moveTo>
                    <a:pt x="13" y="30"/>
                  </a:moveTo>
                  <a:lnTo>
                    <a:pt x="13" y="30"/>
                  </a:lnTo>
                  <a:cubicBezTo>
                    <a:pt x="13" y="24"/>
                    <a:pt x="14" y="9"/>
                    <a:pt x="30" y="9"/>
                  </a:cubicBezTo>
                  <a:cubicBezTo>
                    <a:pt x="42" y="9"/>
                    <a:pt x="46" y="17"/>
                    <a:pt x="46" y="24"/>
                  </a:cubicBezTo>
                  <a:cubicBezTo>
                    <a:pt x="46" y="35"/>
                    <a:pt x="40" y="38"/>
                    <a:pt x="31" y="44"/>
                  </a:cubicBezTo>
                  <a:lnTo>
                    <a:pt x="20" y="50"/>
                  </a:lnTo>
                  <a:cubicBezTo>
                    <a:pt x="9" y="57"/>
                    <a:pt x="1" y="66"/>
                    <a:pt x="0" y="83"/>
                  </a:cubicBezTo>
                  <a:lnTo>
                    <a:pt x="58" y="83"/>
                  </a:lnTo>
                  <a:lnTo>
                    <a:pt x="58" y="73"/>
                  </a:lnTo>
                  <a:lnTo>
                    <a:pt x="12" y="73"/>
                  </a:lnTo>
                  <a:cubicBezTo>
                    <a:pt x="13" y="70"/>
                    <a:pt x="15" y="64"/>
                    <a:pt x="27" y="57"/>
                  </a:cubicBezTo>
                  <a:lnTo>
                    <a:pt x="35" y="52"/>
                  </a:lnTo>
                  <a:cubicBezTo>
                    <a:pt x="48" y="46"/>
                    <a:pt x="58" y="40"/>
                    <a:pt x="58" y="25"/>
                  </a:cubicBezTo>
                  <a:cubicBezTo>
                    <a:pt x="58" y="9"/>
                    <a:pt x="46" y="0"/>
                    <a:pt x="31" y="0"/>
                  </a:cubicBezTo>
                  <a:cubicBezTo>
                    <a:pt x="22" y="0"/>
                    <a:pt x="3" y="2"/>
                    <a:pt x="3" y="30"/>
                  </a:cubicBezTo>
                  <a:lnTo>
                    <a:pt x="13" y="3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3" name="Freeform 77">
              <a:extLst>
                <a:ext uri="{FF2B5EF4-FFF2-40B4-BE49-F238E27FC236}">
                  <a16:creationId xmlns:a16="http://schemas.microsoft.com/office/drawing/2014/main" id="{DBF7EAF3-4B00-285E-5634-0C06C01011B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9459" y="3007995"/>
              <a:ext cx="104417" cy="146050"/>
            </a:xfrm>
            <a:custGeom>
              <a:avLst/>
              <a:gdLst>
                <a:gd name="T0" fmla="*/ 12 w 57"/>
                <a:gd name="T1" fmla="*/ 30 h 83"/>
                <a:gd name="T2" fmla="*/ 12 w 57"/>
                <a:gd name="T3" fmla="*/ 30 h 83"/>
                <a:gd name="T4" fmla="*/ 29 w 57"/>
                <a:gd name="T5" fmla="*/ 9 h 83"/>
                <a:gd name="T6" fmla="*/ 46 w 57"/>
                <a:gd name="T7" fmla="*/ 24 h 83"/>
                <a:gd name="T8" fmla="*/ 31 w 57"/>
                <a:gd name="T9" fmla="*/ 44 h 83"/>
                <a:gd name="T10" fmla="*/ 19 w 57"/>
                <a:gd name="T11" fmla="*/ 50 h 83"/>
                <a:gd name="T12" fmla="*/ 0 w 57"/>
                <a:gd name="T13" fmla="*/ 83 h 83"/>
                <a:gd name="T14" fmla="*/ 57 w 57"/>
                <a:gd name="T15" fmla="*/ 83 h 83"/>
                <a:gd name="T16" fmla="*/ 57 w 57"/>
                <a:gd name="T17" fmla="*/ 73 h 83"/>
                <a:gd name="T18" fmla="*/ 12 w 57"/>
                <a:gd name="T19" fmla="*/ 73 h 83"/>
                <a:gd name="T20" fmla="*/ 26 w 57"/>
                <a:gd name="T21" fmla="*/ 57 h 83"/>
                <a:gd name="T22" fmla="*/ 35 w 57"/>
                <a:gd name="T23" fmla="*/ 52 h 83"/>
                <a:gd name="T24" fmla="*/ 57 w 57"/>
                <a:gd name="T25" fmla="*/ 25 h 83"/>
                <a:gd name="T26" fmla="*/ 31 w 57"/>
                <a:gd name="T27" fmla="*/ 0 h 83"/>
                <a:gd name="T28" fmla="*/ 2 w 57"/>
                <a:gd name="T29" fmla="*/ 30 h 83"/>
                <a:gd name="T30" fmla="*/ 12 w 57"/>
                <a:gd name="T31" fmla="*/ 3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7" h="83">
                  <a:moveTo>
                    <a:pt x="12" y="30"/>
                  </a:moveTo>
                  <a:lnTo>
                    <a:pt x="12" y="30"/>
                  </a:lnTo>
                  <a:cubicBezTo>
                    <a:pt x="13" y="24"/>
                    <a:pt x="14" y="9"/>
                    <a:pt x="29" y="9"/>
                  </a:cubicBezTo>
                  <a:cubicBezTo>
                    <a:pt x="42" y="9"/>
                    <a:pt x="46" y="17"/>
                    <a:pt x="46" y="24"/>
                  </a:cubicBezTo>
                  <a:cubicBezTo>
                    <a:pt x="46" y="35"/>
                    <a:pt x="39" y="38"/>
                    <a:pt x="31" y="44"/>
                  </a:cubicBezTo>
                  <a:lnTo>
                    <a:pt x="19" y="50"/>
                  </a:lnTo>
                  <a:cubicBezTo>
                    <a:pt x="8" y="57"/>
                    <a:pt x="0" y="66"/>
                    <a:pt x="0" y="83"/>
                  </a:cubicBezTo>
                  <a:lnTo>
                    <a:pt x="57" y="83"/>
                  </a:lnTo>
                  <a:lnTo>
                    <a:pt x="57" y="73"/>
                  </a:lnTo>
                  <a:lnTo>
                    <a:pt x="12" y="73"/>
                  </a:lnTo>
                  <a:cubicBezTo>
                    <a:pt x="12" y="70"/>
                    <a:pt x="15" y="64"/>
                    <a:pt x="26" y="57"/>
                  </a:cubicBezTo>
                  <a:lnTo>
                    <a:pt x="35" y="52"/>
                  </a:lnTo>
                  <a:cubicBezTo>
                    <a:pt x="47" y="46"/>
                    <a:pt x="57" y="40"/>
                    <a:pt x="57" y="25"/>
                  </a:cubicBezTo>
                  <a:cubicBezTo>
                    <a:pt x="57" y="9"/>
                    <a:pt x="45" y="0"/>
                    <a:pt x="31" y="0"/>
                  </a:cubicBezTo>
                  <a:cubicBezTo>
                    <a:pt x="22" y="0"/>
                    <a:pt x="2" y="2"/>
                    <a:pt x="2" y="30"/>
                  </a:cubicBezTo>
                  <a:lnTo>
                    <a:pt x="12" y="3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4" name="Freeform 78">
              <a:extLst>
                <a:ext uri="{FF2B5EF4-FFF2-40B4-BE49-F238E27FC236}">
                  <a16:creationId xmlns:a16="http://schemas.microsoft.com/office/drawing/2014/main" id="{55978478-5BF7-381C-C788-83A315215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9207" y="3009583"/>
              <a:ext cx="106282" cy="144463"/>
            </a:xfrm>
            <a:custGeom>
              <a:avLst/>
              <a:gdLst>
                <a:gd name="T0" fmla="*/ 0 w 58"/>
                <a:gd name="T1" fmla="*/ 11 h 82"/>
                <a:gd name="T2" fmla="*/ 0 w 58"/>
                <a:gd name="T3" fmla="*/ 11 h 82"/>
                <a:gd name="T4" fmla="*/ 46 w 58"/>
                <a:gd name="T5" fmla="*/ 11 h 82"/>
                <a:gd name="T6" fmla="*/ 12 w 58"/>
                <a:gd name="T7" fmla="*/ 82 h 82"/>
                <a:gd name="T8" fmla="*/ 24 w 58"/>
                <a:gd name="T9" fmla="*/ 82 h 82"/>
                <a:gd name="T10" fmla="*/ 58 w 58"/>
                <a:gd name="T11" fmla="*/ 9 h 82"/>
                <a:gd name="T12" fmla="*/ 58 w 58"/>
                <a:gd name="T13" fmla="*/ 0 h 82"/>
                <a:gd name="T14" fmla="*/ 0 w 58"/>
                <a:gd name="T15" fmla="*/ 0 h 82"/>
                <a:gd name="T16" fmla="*/ 0 w 58"/>
                <a:gd name="T17" fmla="*/ 11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2">
                  <a:moveTo>
                    <a:pt x="0" y="11"/>
                  </a:moveTo>
                  <a:lnTo>
                    <a:pt x="0" y="11"/>
                  </a:lnTo>
                  <a:lnTo>
                    <a:pt x="46" y="11"/>
                  </a:lnTo>
                  <a:cubicBezTo>
                    <a:pt x="30" y="29"/>
                    <a:pt x="15" y="59"/>
                    <a:pt x="12" y="82"/>
                  </a:cubicBezTo>
                  <a:lnTo>
                    <a:pt x="24" y="82"/>
                  </a:lnTo>
                  <a:cubicBezTo>
                    <a:pt x="30" y="45"/>
                    <a:pt x="50" y="18"/>
                    <a:pt x="58" y="9"/>
                  </a:cubicBezTo>
                  <a:lnTo>
                    <a:pt x="58" y="0"/>
                  </a:lnTo>
                  <a:lnTo>
                    <a:pt x="0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5" name="Freeform 79">
              <a:extLst>
                <a:ext uri="{FF2B5EF4-FFF2-40B4-BE49-F238E27FC236}">
                  <a16:creationId xmlns:a16="http://schemas.microsoft.com/office/drawing/2014/main" id="{AF8E1BB0-8234-C46F-8233-1EAB1166A9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28331" y="3793808"/>
              <a:ext cx="106282" cy="112713"/>
            </a:xfrm>
            <a:custGeom>
              <a:avLst/>
              <a:gdLst>
                <a:gd name="T0" fmla="*/ 13 w 59"/>
                <a:gd name="T1" fmla="*/ 20 h 65"/>
                <a:gd name="T2" fmla="*/ 13 w 59"/>
                <a:gd name="T3" fmla="*/ 20 h 65"/>
                <a:gd name="T4" fmla="*/ 27 w 59"/>
                <a:gd name="T5" fmla="*/ 8 h 65"/>
                <a:gd name="T6" fmla="*/ 42 w 59"/>
                <a:gd name="T7" fmla="*/ 18 h 65"/>
                <a:gd name="T8" fmla="*/ 37 w 59"/>
                <a:gd name="T9" fmla="*/ 26 h 65"/>
                <a:gd name="T10" fmla="*/ 19 w 59"/>
                <a:gd name="T11" fmla="*/ 28 h 65"/>
                <a:gd name="T12" fmla="*/ 0 w 59"/>
                <a:gd name="T13" fmla="*/ 47 h 65"/>
                <a:gd name="T14" fmla="*/ 20 w 59"/>
                <a:gd name="T15" fmla="*/ 65 h 65"/>
                <a:gd name="T16" fmla="*/ 42 w 59"/>
                <a:gd name="T17" fmla="*/ 55 h 65"/>
                <a:gd name="T18" fmla="*/ 53 w 59"/>
                <a:gd name="T19" fmla="*/ 65 h 65"/>
                <a:gd name="T20" fmla="*/ 59 w 59"/>
                <a:gd name="T21" fmla="*/ 64 h 65"/>
                <a:gd name="T22" fmla="*/ 59 w 59"/>
                <a:gd name="T23" fmla="*/ 56 h 65"/>
                <a:gd name="T24" fmla="*/ 56 w 59"/>
                <a:gd name="T25" fmla="*/ 57 h 65"/>
                <a:gd name="T26" fmla="*/ 52 w 59"/>
                <a:gd name="T27" fmla="*/ 53 h 65"/>
                <a:gd name="T28" fmla="*/ 52 w 59"/>
                <a:gd name="T29" fmla="*/ 17 h 65"/>
                <a:gd name="T30" fmla="*/ 29 w 59"/>
                <a:gd name="T31" fmla="*/ 0 h 65"/>
                <a:gd name="T32" fmla="*/ 3 w 59"/>
                <a:gd name="T33" fmla="*/ 20 h 65"/>
                <a:gd name="T34" fmla="*/ 13 w 59"/>
                <a:gd name="T35" fmla="*/ 20 h 65"/>
                <a:gd name="T36" fmla="*/ 42 w 59"/>
                <a:gd name="T37" fmla="*/ 42 h 65"/>
                <a:gd name="T38" fmla="*/ 42 w 59"/>
                <a:gd name="T39" fmla="*/ 42 h 65"/>
                <a:gd name="T40" fmla="*/ 23 w 59"/>
                <a:gd name="T41" fmla="*/ 57 h 65"/>
                <a:gd name="T42" fmla="*/ 11 w 59"/>
                <a:gd name="T43" fmla="*/ 46 h 65"/>
                <a:gd name="T44" fmla="*/ 25 w 59"/>
                <a:gd name="T45" fmla="*/ 36 h 65"/>
                <a:gd name="T46" fmla="*/ 42 w 59"/>
                <a:gd name="T47" fmla="*/ 32 h 65"/>
                <a:gd name="T48" fmla="*/ 42 w 59"/>
                <a:gd name="T49" fmla="*/ 42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9" h="65">
                  <a:moveTo>
                    <a:pt x="13" y="20"/>
                  </a:moveTo>
                  <a:lnTo>
                    <a:pt x="13" y="20"/>
                  </a:lnTo>
                  <a:cubicBezTo>
                    <a:pt x="14" y="16"/>
                    <a:pt x="15" y="8"/>
                    <a:pt x="27" y="8"/>
                  </a:cubicBezTo>
                  <a:cubicBezTo>
                    <a:pt x="37" y="8"/>
                    <a:pt x="42" y="12"/>
                    <a:pt x="42" y="18"/>
                  </a:cubicBezTo>
                  <a:cubicBezTo>
                    <a:pt x="42" y="25"/>
                    <a:pt x="39" y="26"/>
                    <a:pt x="37" y="26"/>
                  </a:cubicBezTo>
                  <a:lnTo>
                    <a:pt x="19" y="28"/>
                  </a:lnTo>
                  <a:cubicBezTo>
                    <a:pt x="2" y="30"/>
                    <a:pt x="0" y="42"/>
                    <a:pt x="0" y="47"/>
                  </a:cubicBezTo>
                  <a:cubicBezTo>
                    <a:pt x="0" y="58"/>
                    <a:pt x="8" y="65"/>
                    <a:pt x="20" y="65"/>
                  </a:cubicBezTo>
                  <a:cubicBezTo>
                    <a:pt x="32" y="65"/>
                    <a:pt x="38" y="60"/>
                    <a:pt x="42" y="55"/>
                  </a:cubicBezTo>
                  <a:cubicBezTo>
                    <a:pt x="43" y="60"/>
                    <a:pt x="44" y="65"/>
                    <a:pt x="53" y="65"/>
                  </a:cubicBezTo>
                  <a:cubicBezTo>
                    <a:pt x="56" y="65"/>
                    <a:pt x="57" y="64"/>
                    <a:pt x="59" y="64"/>
                  </a:cubicBezTo>
                  <a:lnTo>
                    <a:pt x="59" y="56"/>
                  </a:lnTo>
                  <a:cubicBezTo>
                    <a:pt x="58" y="56"/>
                    <a:pt x="57" y="57"/>
                    <a:pt x="56" y="57"/>
                  </a:cubicBezTo>
                  <a:cubicBezTo>
                    <a:pt x="54" y="57"/>
                    <a:pt x="52" y="55"/>
                    <a:pt x="52" y="53"/>
                  </a:cubicBezTo>
                  <a:lnTo>
                    <a:pt x="52" y="17"/>
                  </a:lnTo>
                  <a:cubicBezTo>
                    <a:pt x="52" y="1"/>
                    <a:pt x="34" y="0"/>
                    <a:pt x="29" y="0"/>
                  </a:cubicBezTo>
                  <a:cubicBezTo>
                    <a:pt x="14" y="0"/>
                    <a:pt x="4" y="5"/>
                    <a:pt x="3" y="20"/>
                  </a:cubicBezTo>
                  <a:lnTo>
                    <a:pt x="13" y="20"/>
                  </a:lnTo>
                  <a:close/>
                  <a:moveTo>
                    <a:pt x="42" y="42"/>
                  </a:moveTo>
                  <a:lnTo>
                    <a:pt x="42" y="42"/>
                  </a:lnTo>
                  <a:cubicBezTo>
                    <a:pt x="42" y="50"/>
                    <a:pt x="32" y="57"/>
                    <a:pt x="23" y="57"/>
                  </a:cubicBezTo>
                  <a:cubicBezTo>
                    <a:pt x="15" y="57"/>
                    <a:pt x="11" y="53"/>
                    <a:pt x="11" y="46"/>
                  </a:cubicBezTo>
                  <a:cubicBezTo>
                    <a:pt x="11" y="38"/>
                    <a:pt x="19" y="37"/>
                    <a:pt x="25" y="36"/>
                  </a:cubicBezTo>
                  <a:cubicBezTo>
                    <a:pt x="37" y="34"/>
                    <a:pt x="40" y="33"/>
                    <a:pt x="42" y="32"/>
                  </a:cubicBezTo>
                  <a:lnTo>
                    <a:pt x="42" y="42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6" name="Freeform 80">
              <a:extLst>
                <a:ext uri="{FF2B5EF4-FFF2-40B4-BE49-F238E27FC236}">
                  <a16:creationId xmlns:a16="http://schemas.microsoft.com/office/drawing/2014/main" id="{99CFAF57-9884-34F1-5BED-8106D19090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92613" y="3754120"/>
              <a:ext cx="100688" cy="152400"/>
            </a:xfrm>
            <a:custGeom>
              <a:avLst/>
              <a:gdLst>
                <a:gd name="T0" fmla="*/ 10 w 55"/>
                <a:gd name="T1" fmla="*/ 86 h 87"/>
                <a:gd name="T2" fmla="*/ 10 w 55"/>
                <a:gd name="T3" fmla="*/ 86 h 87"/>
                <a:gd name="T4" fmla="*/ 10 w 55"/>
                <a:gd name="T5" fmla="*/ 78 h 87"/>
                <a:gd name="T6" fmla="*/ 10 w 55"/>
                <a:gd name="T7" fmla="*/ 78 h 87"/>
                <a:gd name="T8" fmla="*/ 28 w 55"/>
                <a:gd name="T9" fmla="*/ 87 h 87"/>
                <a:gd name="T10" fmla="*/ 55 w 55"/>
                <a:gd name="T11" fmla="*/ 53 h 87"/>
                <a:gd name="T12" fmla="*/ 29 w 55"/>
                <a:gd name="T13" fmla="*/ 22 h 87"/>
                <a:gd name="T14" fmla="*/ 11 w 55"/>
                <a:gd name="T15" fmla="*/ 31 h 87"/>
                <a:gd name="T16" fmla="*/ 11 w 55"/>
                <a:gd name="T17" fmla="*/ 31 h 87"/>
                <a:gd name="T18" fmla="*/ 11 w 55"/>
                <a:gd name="T19" fmla="*/ 0 h 87"/>
                <a:gd name="T20" fmla="*/ 0 w 55"/>
                <a:gd name="T21" fmla="*/ 0 h 87"/>
                <a:gd name="T22" fmla="*/ 0 w 55"/>
                <a:gd name="T23" fmla="*/ 86 h 87"/>
                <a:gd name="T24" fmla="*/ 10 w 55"/>
                <a:gd name="T25" fmla="*/ 86 h 87"/>
                <a:gd name="T26" fmla="*/ 44 w 55"/>
                <a:gd name="T27" fmla="*/ 54 h 87"/>
                <a:gd name="T28" fmla="*/ 44 w 55"/>
                <a:gd name="T29" fmla="*/ 54 h 87"/>
                <a:gd name="T30" fmla="*/ 27 w 55"/>
                <a:gd name="T31" fmla="*/ 78 h 87"/>
                <a:gd name="T32" fmla="*/ 10 w 55"/>
                <a:gd name="T33" fmla="*/ 57 h 87"/>
                <a:gd name="T34" fmla="*/ 27 w 55"/>
                <a:gd name="T35" fmla="*/ 31 h 87"/>
                <a:gd name="T36" fmla="*/ 44 w 55"/>
                <a:gd name="T37" fmla="*/ 54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5" h="87">
                  <a:moveTo>
                    <a:pt x="10" y="86"/>
                  </a:moveTo>
                  <a:lnTo>
                    <a:pt x="10" y="86"/>
                  </a:lnTo>
                  <a:lnTo>
                    <a:pt x="10" y="78"/>
                  </a:lnTo>
                  <a:lnTo>
                    <a:pt x="10" y="78"/>
                  </a:lnTo>
                  <a:cubicBezTo>
                    <a:pt x="13" y="81"/>
                    <a:pt x="17" y="87"/>
                    <a:pt x="28" y="87"/>
                  </a:cubicBezTo>
                  <a:cubicBezTo>
                    <a:pt x="49" y="87"/>
                    <a:pt x="55" y="68"/>
                    <a:pt x="55" y="53"/>
                  </a:cubicBezTo>
                  <a:cubicBezTo>
                    <a:pt x="55" y="35"/>
                    <a:pt x="46" y="22"/>
                    <a:pt x="29" y="22"/>
                  </a:cubicBezTo>
                  <a:cubicBezTo>
                    <a:pt x="22" y="22"/>
                    <a:pt x="16" y="25"/>
                    <a:pt x="11" y="31"/>
                  </a:cubicBezTo>
                  <a:lnTo>
                    <a:pt x="11" y="31"/>
                  </a:lnTo>
                  <a:lnTo>
                    <a:pt x="11" y="0"/>
                  </a:lnTo>
                  <a:lnTo>
                    <a:pt x="0" y="0"/>
                  </a:lnTo>
                  <a:lnTo>
                    <a:pt x="0" y="86"/>
                  </a:lnTo>
                  <a:lnTo>
                    <a:pt x="10" y="86"/>
                  </a:lnTo>
                  <a:close/>
                  <a:moveTo>
                    <a:pt x="44" y="54"/>
                  </a:moveTo>
                  <a:lnTo>
                    <a:pt x="44" y="54"/>
                  </a:lnTo>
                  <a:cubicBezTo>
                    <a:pt x="44" y="68"/>
                    <a:pt x="39" y="78"/>
                    <a:pt x="27" y="78"/>
                  </a:cubicBezTo>
                  <a:cubicBezTo>
                    <a:pt x="21" y="78"/>
                    <a:pt x="10" y="74"/>
                    <a:pt x="10" y="57"/>
                  </a:cubicBezTo>
                  <a:cubicBezTo>
                    <a:pt x="10" y="47"/>
                    <a:pt x="12" y="31"/>
                    <a:pt x="27" y="31"/>
                  </a:cubicBezTo>
                  <a:cubicBezTo>
                    <a:pt x="43" y="31"/>
                    <a:pt x="44" y="46"/>
                    <a:pt x="44" y="54"/>
                  </a:cubicBez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7" name="Freeform 81">
              <a:extLst>
                <a:ext uri="{FF2B5EF4-FFF2-40B4-BE49-F238E27FC236}">
                  <a16:creationId xmlns:a16="http://schemas.microsoft.com/office/drawing/2014/main" id="{9A58B5A8-380A-8CE3-A4EA-B16C8318B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59249" y="3007995"/>
              <a:ext cx="55938" cy="146050"/>
            </a:xfrm>
            <a:custGeom>
              <a:avLst/>
              <a:gdLst>
                <a:gd name="T0" fmla="*/ 31 w 31"/>
                <a:gd name="T1" fmla="*/ 0 h 83"/>
                <a:gd name="T2" fmla="*/ 31 w 31"/>
                <a:gd name="T3" fmla="*/ 0 h 83"/>
                <a:gd name="T4" fmla="*/ 23 w 31"/>
                <a:gd name="T5" fmla="*/ 0 h 83"/>
                <a:gd name="T6" fmla="*/ 0 w 31"/>
                <a:gd name="T7" fmla="*/ 15 h 83"/>
                <a:gd name="T8" fmla="*/ 0 w 31"/>
                <a:gd name="T9" fmla="*/ 24 h 83"/>
                <a:gd name="T10" fmla="*/ 20 w 31"/>
                <a:gd name="T11" fmla="*/ 24 h 83"/>
                <a:gd name="T12" fmla="*/ 20 w 31"/>
                <a:gd name="T13" fmla="*/ 83 h 83"/>
                <a:gd name="T14" fmla="*/ 31 w 31"/>
                <a:gd name="T15" fmla="*/ 83 h 83"/>
                <a:gd name="T16" fmla="*/ 31 w 31"/>
                <a:gd name="T17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83">
                  <a:moveTo>
                    <a:pt x="31" y="0"/>
                  </a:moveTo>
                  <a:lnTo>
                    <a:pt x="31" y="0"/>
                  </a:lnTo>
                  <a:lnTo>
                    <a:pt x="23" y="0"/>
                  </a:lnTo>
                  <a:cubicBezTo>
                    <a:pt x="19" y="13"/>
                    <a:pt x="14" y="15"/>
                    <a:pt x="0" y="15"/>
                  </a:cubicBezTo>
                  <a:lnTo>
                    <a:pt x="0" y="24"/>
                  </a:lnTo>
                  <a:lnTo>
                    <a:pt x="20" y="24"/>
                  </a:lnTo>
                  <a:lnTo>
                    <a:pt x="20" y="83"/>
                  </a:lnTo>
                  <a:lnTo>
                    <a:pt x="31" y="83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8" name="Freeform 82">
              <a:extLst>
                <a:ext uri="{FF2B5EF4-FFF2-40B4-BE49-F238E27FC236}">
                  <a16:creationId xmlns:a16="http://schemas.microsoft.com/office/drawing/2014/main" id="{EA8D5469-D64A-BA19-CC34-0C67CE560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4478" y="3225483"/>
              <a:ext cx="95094" cy="106363"/>
            </a:xfrm>
            <a:custGeom>
              <a:avLst/>
              <a:gdLst>
                <a:gd name="T0" fmla="*/ 52 w 52"/>
                <a:gd name="T1" fmla="*/ 61 h 61"/>
                <a:gd name="T2" fmla="*/ 52 w 52"/>
                <a:gd name="T3" fmla="*/ 61 h 61"/>
                <a:gd name="T4" fmla="*/ 26 w 52"/>
                <a:gd name="T5" fmla="*/ 50 h 61"/>
                <a:gd name="T6" fmla="*/ 0 w 52"/>
                <a:gd name="T7" fmla="*/ 61 h 61"/>
                <a:gd name="T8" fmla="*/ 26 w 52"/>
                <a:gd name="T9" fmla="*/ 0 h 61"/>
                <a:gd name="T10" fmla="*/ 52 w 52"/>
                <a:gd name="T11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61">
                  <a:moveTo>
                    <a:pt x="52" y="61"/>
                  </a:moveTo>
                  <a:lnTo>
                    <a:pt x="52" y="61"/>
                  </a:lnTo>
                  <a:lnTo>
                    <a:pt x="26" y="50"/>
                  </a:lnTo>
                  <a:lnTo>
                    <a:pt x="0" y="61"/>
                  </a:lnTo>
                  <a:lnTo>
                    <a:pt x="26" y="0"/>
                  </a:lnTo>
                  <a:lnTo>
                    <a:pt x="52" y="61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9" name="Freeform 83">
              <a:extLst>
                <a:ext uri="{FF2B5EF4-FFF2-40B4-BE49-F238E27FC236}">
                  <a16:creationId xmlns:a16="http://schemas.microsoft.com/office/drawing/2014/main" id="{24B02FE2-0AF9-B5CB-8F0A-91C63FA88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5789" y="3225483"/>
              <a:ext cx="91365" cy="106363"/>
            </a:xfrm>
            <a:custGeom>
              <a:avLst/>
              <a:gdLst>
                <a:gd name="T0" fmla="*/ 51 w 51"/>
                <a:gd name="T1" fmla="*/ 61 h 61"/>
                <a:gd name="T2" fmla="*/ 51 w 51"/>
                <a:gd name="T3" fmla="*/ 61 h 61"/>
                <a:gd name="T4" fmla="*/ 25 w 51"/>
                <a:gd name="T5" fmla="*/ 50 h 61"/>
                <a:gd name="T6" fmla="*/ 0 w 51"/>
                <a:gd name="T7" fmla="*/ 61 h 61"/>
                <a:gd name="T8" fmla="*/ 25 w 51"/>
                <a:gd name="T9" fmla="*/ 0 h 61"/>
                <a:gd name="T10" fmla="*/ 51 w 51"/>
                <a:gd name="T11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61">
                  <a:moveTo>
                    <a:pt x="51" y="61"/>
                  </a:moveTo>
                  <a:lnTo>
                    <a:pt x="51" y="61"/>
                  </a:lnTo>
                  <a:lnTo>
                    <a:pt x="25" y="50"/>
                  </a:lnTo>
                  <a:lnTo>
                    <a:pt x="0" y="61"/>
                  </a:lnTo>
                  <a:lnTo>
                    <a:pt x="25" y="0"/>
                  </a:lnTo>
                  <a:lnTo>
                    <a:pt x="51" y="61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BA3ACE3-A670-DE87-8DA2-F0027F2056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0519" y="5497196"/>
              <a:ext cx="1604721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993300"/>
                </a:buClr>
                <a:buSzPct val="110000"/>
                <a:buFont typeface="Wingdings" panose="05000000000000000000" pitchFamily="2" charset="2"/>
                <a:buChar char="§"/>
                <a:defRPr kumimoji="1">
                  <a:solidFill>
                    <a:schemeClr val="tx1"/>
                  </a:solidFill>
                  <a:latin typeface="+mn-lt"/>
                  <a:ea typeface="MS PGothic" pitchFamily="34" charset="-128"/>
                  <a:cs typeface="ＭＳ Ｐゴシック" charset="-128"/>
                </a:defRPr>
              </a:lvl1pPr>
              <a:lvl2pPr marL="742950" indent="-28575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CC6600"/>
                </a:buClr>
                <a:buSzPct val="110000"/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+mn-lt"/>
                  <a:ea typeface="MS PGothic" pitchFamily="34" charset="-128"/>
                </a:defRPr>
              </a:lvl2pPr>
              <a:lvl3pPr marL="10858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+mn-lt"/>
                  <a:ea typeface="MS PGothic" pitchFamily="34" charset="-128"/>
                </a:defRPr>
              </a:lvl3pPr>
              <a:lvl4pPr marL="14287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+mn-lt"/>
                  <a:ea typeface="MS PGothic" pitchFamily="34" charset="-128"/>
                </a:defRPr>
              </a:lvl4pPr>
              <a:lvl5pPr marL="17716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+mn-lt"/>
                  <a:ea typeface="MS PGothic" pitchFamily="34" charset="-128"/>
                </a:defRPr>
              </a:lvl5pPr>
              <a:lvl6pPr marL="22288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6pPr>
              <a:lvl7pPr marL="26860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7pPr>
              <a:lvl8pPr marL="31432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8pPr>
              <a:lvl9pPr marL="36004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9pPr>
            </a:lstStyle>
            <a:p>
              <a:pPr marL="0" indent="0">
                <a:buNone/>
              </a:pPr>
              <a:r>
                <a:rPr lang="en-US" altLang="en-US" sz="1600" b="1" kern="0" dirty="0"/>
                <a:t>Stack before a</a:t>
              </a:r>
            </a:p>
          </p:txBody>
        </p:sp>
        <p:sp>
          <p:nvSpPr>
            <p:cNvPr id="43010" name="Rectangle 3">
              <a:extLst>
                <a:ext uri="{FF2B5EF4-FFF2-40B4-BE49-F238E27FC236}">
                  <a16:creationId xmlns:a16="http://schemas.microsoft.com/office/drawing/2014/main" id="{0E51F326-3439-5367-68B6-11DB78B0F4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3203" y="5515292"/>
              <a:ext cx="1604721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993300"/>
                </a:buClr>
                <a:buSzPct val="110000"/>
                <a:buFont typeface="Wingdings" panose="05000000000000000000" pitchFamily="2" charset="2"/>
                <a:buChar char="§"/>
                <a:defRPr kumimoji="1">
                  <a:solidFill>
                    <a:schemeClr val="tx1"/>
                  </a:solidFill>
                  <a:latin typeface="+mn-lt"/>
                  <a:ea typeface="MS PGothic" pitchFamily="34" charset="-128"/>
                  <a:cs typeface="ＭＳ Ｐゴシック" charset="-128"/>
                </a:defRPr>
              </a:lvl1pPr>
              <a:lvl2pPr marL="742950" indent="-28575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CC6600"/>
                </a:buClr>
                <a:buSzPct val="110000"/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+mn-lt"/>
                  <a:ea typeface="MS PGothic" pitchFamily="34" charset="-128"/>
                </a:defRPr>
              </a:lvl2pPr>
              <a:lvl3pPr marL="10858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+mn-lt"/>
                  <a:ea typeface="MS PGothic" pitchFamily="34" charset="-128"/>
                </a:defRPr>
              </a:lvl3pPr>
              <a:lvl4pPr marL="14287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+mn-lt"/>
                  <a:ea typeface="MS PGothic" pitchFamily="34" charset="-128"/>
                </a:defRPr>
              </a:lvl4pPr>
              <a:lvl5pPr marL="17716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+mn-lt"/>
                  <a:ea typeface="MS PGothic" pitchFamily="34" charset="-128"/>
                </a:defRPr>
              </a:lvl5pPr>
              <a:lvl6pPr marL="22288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6pPr>
              <a:lvl7pPr marL="26860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7pPr>
              <a:lvl8pPr marL="31432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8pPr>
              <a:lvl9pPr marL="36004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9pPr>
            </a:lstStyle>
            <a:p>
              <a:pPr marL="0" indent="0">
                <a:buNone/>
              </a:pPr>
              <a:r>
                <a:rPr lang="en-US" altLang="en-US" sz="1600" b="1" kern="0" dirty="0"/>
                <a:t>Stack after b</a:t>
              </a:r>
            </a:p>
          </p:txBody>
        </p:sp>
        <p:sp>
          <p:nvSpPr>
            <p:cNvPr id="43031" name="Rectangle 3">
              <a:extLst>
                <a:ext uri="{FF2B5EF4-FFF2-40B4-BE49-F238E27FC236}">
                  <a16:creationId xmlns:a16="http://schemas.microsoft.com/office/drawing/2014/main" id="{4FB83A15-FE48-6A02-3663-EF7842816D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7550" y="2630648"/>
              <a:ext cx="1875673" cy="355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993300"/>
                </a:buClr>
                <a:buSzPct val="110000"/>
                <a:buFont typeface="Wingdings" panose="05000000000000000000" pitchFamily="2" charset="2"/>
                <a:buChar char="§"/>
                <a:defRPr kumimoji="1">
                  <a:solidFill>
                    <a:schemeClr val="tx1"/>
                  </a:solidFill>
                  <a:latin typeface="+mn-lt"/>
                  <a:ea typeface="MS PGothic" pitchFamily="34" charset="-128"/>
                  <a:cs typeface="ＭＳ Ｐゴシック" charset="-128"/>
                </a:defRPr>
              </a:lvl1pPr>
              <a:lvl2pPr marL="742950" indent="-28575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CC6600"/>
                </a:buClr>
                <a:buSzPct val="110000"/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+mn-lt"/>
                  <a:ea typeface="MS PGothic" pitchFamily="34" charset="-128"/>
                </a:defRPr>
              </a:lvl2pPr>
              <a:lvl3pPr marL="10858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+mn-lt"/>
                  <a:ea typeface="MS PGothic" pitchFamily="34" charset="-128"/>
                </a:defRPr>
              </a:lvl3pPr>
              <a:lvl4pPr marL="14287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+mn-lt"/>
                  <a:ea typeface="MS PGothic" pitchFamily="34" charset="-128"/>
                </a:defRPr>
              </a:lvl4pPr>
              <a:lvl5pPr marL="17716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+mn-lt"/>
                  <a:ea typeface="MS PGothic" pitchFamily="34" charset="-128"/>
                </a:defRPr>
              </a:lvl5pPr>
              <a:lvl6pPr marL="22288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6pPr>
              <a:lvl7pPr marL="26860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7pPr>
              <a:lvl8pPr marL="31432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8pPr>
              <a:lvl9pPr marL="36004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9pPr>
            </a:lstStyle>
            <a:p>
              <a:pPr marL="0" indent="0">
                <a:buNone/>
              </a:pPr>
              <a:r>
                <a:rPr lang="en-US" altLang="en-US" sz="1600" b="1" kern="0" dirty="0"/>
                <a:t>Reference string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7499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9033BF15-EA5A-4A49-BB65-331FF866E4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9754" y="234791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LRU Approximation Algorithms (1)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C57D3A7-FA71-4D00-9C2E-051C34BFAB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159949"/>
            <a:ext cx="7664484" cy="2634811"/>
          </a:xfrm>
        </p:spPr>
        <p:txBody>
          <a:bodyPr/>
          <a:lstStyle/>
          <a:p>
            <a:r>
              <a:rPr lang="en-US" altLang="en-US" sz="2000" dirty="0"/>
              <a:t>LRU needs special hardware and still slow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Reference bit</a:t>
            </a:r>
          </a:p>
          <a:p>
            <a:pPr lvl="1"/>
            <a:r>
              <a:rPr lang="en-US" altLang="en-US" sz="2000" dirty="0"/>
              <a:t>With each page associate a bit, initially = 0</a:t>
            </a:r>
          </a:p>
          <a:p>
            <a:pPr lvl="1"/>
            <a:r>
              <a:rPr lang="en-US" altLang="en-US" sz="2000" dirty="0"/>
              <a:t>When page is referenced bit set to 1</a:t>
            </a:r>
          </a:p>
          <a:p>
            <a:pPr lvl="1"/>
            <a:r>
              <a:rPr lang="en-US" altLang="en-US" sz="2000" dirty="0"/>
              <a:t>Replace any with reference bit = 0 (if one exists)</a:t>
            </a:r>
          </a:p>
          <a:p>
            <a:pPr lvl="2"/>
            <a:r>
              <a:rPr lang="en-US" altLang="en-US" sz="2000" dirty="0"/>
              <a:t>We do not know the order, however</a:t>
            </a:r>
          </a:p>
        </p:txBody>
      </p:sp>
    </p:spTree>
    <p:extLst>
      <p:ext uri="{BB962C8B-B14F-4D97-AF65-F5344CB8AC3E}">
        <p14:creationId xmlns:p14="http://schemas.microsoft.com/office/powerpoint/2010/main" val="4135672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9033BF15-EA5A-4A49-BB65-331FF866E4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6791" y="263245"/>
            <a:ext cx="734744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LRU Approximation Algorithms (2)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C57D3A7-FA71-4D00-9C2E-051C34BFAB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159949"/>
            <a:ext cx="7664484" cy="3412051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Second-chance algorithm</a:t>
            </a:r>
          </a:p>
          <a:p>
            <a:pPr lvl="1"/>
            <a:r>
              <a:rPr lang="en-US" altLang="en-US" sz="2000" dirty="0"/>
              <a:t>Generally FIFO, plus hardware-provided reference bit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Clock </a:t>
            </a:r>
            <a:r>
              <a:rPr lang="en-US" altLang="en-US" sz="2000" dirty="0"/>
              <a:t>replacement</a:t>
            </a:r>
          </a:p>
          <a:p>
            <a:pPr lvl="1"/>
            <a:r>
              <a:rPr lang="en-US" altLang="en-US" sz="2000" dirty="0"/>
              <a:t>If page to be replaced has </a:t>
            </a:r>
          </a:p>
          <a:p>
            <a:pPr lvl="2"/>
            <a:r>
              <a:rPr lang="en-US" altLang="en-US" sz="2000" dirty="0"/>
              <a:t>Reference bit = 0 -&gt; replace it</a:t>
            </a:r>
          </a:p>
          <a:p>
            <a:pPr lvl="2"/>
            <a:r>
              <a:rPr lang="en-US" altLang="en-US" sz="2000" dirty="0"/>
              <a:t>Reference bit = 1 then:</a:t>
            </a:r>
          </a:p>
          <a:p>
            <a:pPr lvl="3">
              <a:buClr>
                <a:srgbClr val="FF0000"/>
              </a:buClr>
            </a:pPr>
            <a:r>
              <a:rPr lang="en-US" altLang="en-US" sz="2000" dirty="0"/>
              <a:t>Set reference bit 0, leave page in memory</a:t>
            </a:r>
          </a:p>
          <a:p>
            <a:pPr lvl="3">
              <a:buClr>
                <a:srgbClr val="FF0000"/>
              </a:buClr>
            </a:pPr>
            <a:r>
              <a:rPr lang="en-US" altLang="en-US" sz="2000" dirty="0"/>
              <a:t>Replace next page, subject to same rules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2AF32FC-4A14-4E1E-8D4F-440BF4A3EC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7892" y="290747"/>
            <a:ext cx="8010525" cy="463550"/>
          </a:xfrm>
        </p:spPr>
        <p:txBody>
          <a:bodyPr/>
          <a:lstStyle/>
          <a:p>
            <a:pPr eaLnBrk="1" hangingPunct="1"/>
            <a:br>
              <a:rPr lang="en-US" altLang="en-US" sz="2800" dirty="0"/>
            </a:br>
            <a:r>
              <a:rPr lang="en-US" altLang="en-US" dirty="0"/>
              <a:t>Second-Chance Algorithm</a:t>
            </a:r>
          </a:p>
        </p:txBody>
      </p:sp>
      <p:pic>
        <p:nvPicPr>
          <p:cNvPr id="46083" name="Picture 1" descr="9_17.pdf">
            <a:extLst>
              <a:ext uri="{FF2B5EF4-FFF2-40B4-BE49-F238E27FC236}">
                <a16:creationId xmlns:a16="http://schemas.microsoft.com/office/drawing/2014/main" id="{5B0ED9B7-9A22-4A06-8760-CF9EC5AFD8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514" y="1092200"/>
            <a:ext cx="5238115" cy="5287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96CF5A4B-5B56-4850-890B-CBC91DFC97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7926" y="240752"/>
            <a:ext cx="7426004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Enhanced Second-Chance Algorithm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9C55B83-EA3F-497C-A3D1-F3E32BFFAD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59604" y="925830"/>
            <a:ext cx="8207671" cy="4663440"/>
          </a:xfrm>
        </p:spPr>
        <p:txBody>
          <a:bodyPr/>
          <a:lstStyle/>
          <a:p>
            <a:r>
              <a:rPr lang="en-US" altLang="en-US" sz="2000" dirty="0"/>
              <a:t>Improve algorithm by using reference bit and modify bit (if available) in concert</a:t>
            </a:r>
          </a:p>
          <a:p>
            <a:r>
              <a:rPr lang="en-US" altLang="en-US" sz="2000" dirty="0"/>
              <a:t>Take ordered pair (reference, modify):</a:t>
            </a:r>
          </a:p>
          <a:p>
            <a:pPr lvl="1"/>
            <a:r>
              <a:rPr lang="en-US" altLang="en-US" sz="2000" dirty="0"/>
              <a:t>(0, 0) neither recently used not modified – best page to replace</a:t>
            </a:r>
          </a:p>
          <a:p>
            <a:pPr lvl="1"/>
            <a:r>
              <a:rPr lang="en-US" altLang="en-US" sz="2000" dirty="0"/>
              <a:t>(0, 1) not recently used but modified – not quite as good, must write out before replacement</a:t>
            </a:r>
          </a:p>
          <a:p>
            <a:pPr lvl="1"/>
            <a:r>
              <a:rPr lang="en-US" altLang="en-US" sz="2000" dirty="0"/>
              <a:t>(1, 0) recently used but clean – probably will be used again soon</a:t>
            </a:r>
          </a:p>
          <a:p>
            <a:pPr lvl="1"/>
            <a:r>
              <a:rPr lang="en-US" altLang="en-US" sz="2000" dirty="0"/>
              <a:t>(1, 1) recently used and modified – probably will be used again soon and need to write out before replacement</a:t>
            </a:r>
          </a:p>
          <a:p>
            <a:r>
              <a:rPr lang="en-US" altLang="en-US" sz="2000" dirty="0"/>
              <a:t>When page replacement called for, use the clock scheme  but use the four classes replace page in lowest non-empty class</a:t>
            </a:r>
          </a:p>
          <a:p>
            <a:pPr lvl="1"/>
            <a:r>
              <a:rPr lang="en-US" altLang="en-US" sz="2000" dirty="0"/>
              <a:t>Might need to search circular queue several times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E1C6E0A3-953D-4211-ACA7-F7B6931BDD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816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Counting Algorithms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B52D61FC-D241-4C09-9149-F474825897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2718" y="1013179"/>
            <a:ext cx="7462621" cy="3284502"/>
          </a:xfrm>
        </p:spPr>
        <p:txBody>
          <a:bodyPr/>
          <a:lstStyle/>
          <a:p>
            <a:r>
              <a:rPr lang="en-US" altLang="en-US" sz="2000" dirty="0"/>
              <a:t>Keep a counter of the number of references that have been made to each page</a:t>
            </a:r>
          </a:p>
          <a:p>
            <a:pPr lvl="1"/>
            <a:r>
              <a:rPr lang="en-US" altLang="en-US" sz="2000" dirty="0"/>
              <a:t>Not common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Lease Frequently Used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LFU</a:t>
            </a:r>
            <a:r>
              <a:rPr lang="en-US" altLang="en-US" sz="2000" dirty="0"/>
              <a:t>)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Algorithm</a:t>
            </a:r>
            <a:endParaRPr lang="en-US" altLang="en-US" sz="2000" dirty="0"/>
          </a:p>
          <a:p>
            <a:pPr lvl="1"/>
            <a:r>
              <a:rPr lang="en-US" altLang="en-US" sz="2000" dirty="0"/>
              <a:t>  Replaces page with smallest count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Most Frequently Used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MFU</a:t>
            </a:r>
            <a:r>
              <a:rPr lang="en-US" altLang="en-US" sz="2000" dirty="0"/>
              <a:t>)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Algorithm</a:t>
            </a:r>
            <a:endParaRPr lang="en-US" altLang="en-US" sz="2000" dirty="0"/>
          </a:p>
          <a:p>
            <a:pPr lvl="1"/>
            <a:r>
              <a:rPr lang="en-US" altLang="en-US" sz="2000" dirty="0"/>
              <a:t>Based on the argument that the page with the smallest count was probably just brought in and has yet to be used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40DEB88A-1CE8-4A57-9FC0-D217E20AF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37"/>
            <a:ext cx="8229600" cy="576262"/>
          </a:xfrm>
        </p:spPr>
        <p:txBody>
          <a:bodyPr/>
          <a:lstStyle/>
          <a:p>
            <a:r>
              <a:rPr lang="en-US" altLang="en-US" dirty="0"/>
              <a:t>Page-Buffering Algorithms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15119F1C-1453-4532-9802-57285ECA6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771" y="930505"/>
            <a:ext cx="8229600" cy="4738776"/>
          </a:xfrm>
        </p:spPr>
        <p:txBody>
          <a:bodyPr/>
          <a:lstStyle/>
          <a:p>
            <a:r>
              <a:rPr lang="en-US" altLang="en-US" sz="2000" dirty="0"/>
              <a:t>Keep a pool of free frames, always</a:t>
            </a:r>
          </a:p>
          <a:p>
            <a:pPr lvl="1"/>
            <a:r>
              <a:rPr lang="en-US" altLang="en-US" sz="2000" dirty="0"/>
              <a:t>Then frame available when needed, not found at fault time</a:t>
            </a:r>
          </a:p>
          <a:p>
            <a:pPr lvl="1"/>
            <a:r>
              <a:rPr lang="en-US" altLang="en-US" sz="2000" dirty="0"/>
              <a:t>Read page into free frame and select victim to evict and add to free pool</a:t>
            </a:r>
          </a:p>
          <a:p>
            <a:pPr lvl="1"/>
            <a:r>
              <a:rPr lang="en-US" altLang="en-US" sz="2000" dirty="0"/>
              <a:t>When convenient, evict victim</a:t>
            </a:r>
          </a:p>
          <a:p>
            <a:r>
              <a:rPr lang="en-US" altLang="en-US" sz="2000" dirty="0"/>
              <a:t>Possibly, keep list of modified pages</a:t>
            </a:r>
          </a:p>
          <a:p>
            <a:pPr lvl="1"/>
            <a:r>
              <a:rPr lang="en-US" altLang="en-US" sz="2000" dirty="0"/>
              <a:t>When backing store otherwise idle, write pages there and set to non-dirty</a:t>
            </a:r>
          </a:p>
          <a:p>
            <a:r>
              <a:rPr lang="en-US" altLang="en-US" sz="2000" dirty="0"/>
              <a:t>Possibly, keep free frame contents intact and note what is in them</a:t>
            </a:r>
          </a:p>
          <a:p>
            <a:pPr lvl="1"/>
            <a:r>
              <a:rPr lang="en-US" altLang="en-US" sz="2000" dirty="0"/>
              <a:t>If referenced again before reused, no need to load contents again from disk</a:t>
            </a:r>
          </a:p>
          <a:p>
            <a:pPr lvl="1"/>
            <a:r>
              <a:rPr lang="en-US" altLang="en-US" sz="2000" dirty="0"/>
              <a:t>Generally useful to reduce penalty if wrong victim frame selected 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E6C864EC-8C8E-4994-BD1B-89C51B440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31422"/>
            <a:ext cx="7867650" cy="576262"/>
          </a:xfrm>
        </p:spPr>
        <p:txBody>
          <a:bodyPr/>
          <a:lstStyle/>
          <a:p>
            <a:r>
              <a:rPr lang="en-US" altLang="en-US" dirty="0"/>
              <a:t>Applications and Page Replacement</a:t>
            </a:r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EF0654BE-5D3B-4F4B-9378-AD0158AA1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503" y="1006158"/>
            <a:ext cx="8146997" cy="4530725"/>
          </a:xfrm>
        </p:spPr>
        <p:txBody>
          <a:bodyPr/>
          <a:lstStyle/>
          <a:p>
            <a:r>
              <a:rPr lang="en-US" altLang="en-US" sz="2000" dirty="0"/>
              <a:t>All of these algorithms have OS guessing about future page access</a:t>
            </a:r>
          </a:p>
          <a:p>
            <a:r>
              <a:rPr lang="en-US" altLang="en-US" sz="2000" dirty="0"/>
              <a:t>Some applications have better knowledge – i.e. databases</a:t>
            </a:r>
          </a:p>
          <a:p>
            <a:r>
              <a:rPr lang="en-US" altLang="en-US" sz="2000" dirty="0"/>
              <a:t>Memory intensive applications can cause double buffering</a:t>
            </a:r>
          </a:p>
          <a:p>
            <a:pPr lvl="1"/>
            <a:r>
              <a:rPr lang="en-US" altLang="en-US" sz="2000" dirty="0"/>
              <a:t>OS keeps copy of page in memory as I/O buffer</a:t>
            </a:r>
          </a:p>
          <a:p>
            <a:pPr lvl="1"/>
            <a:r>
              <a:rPr lang="en-US" altLang="en-US" sz="2000" dirty="0"/>
              <a:t>Application keeps page in memory for its own work</a:t>
            </a:r>
          </a:p>
          <a:p>
            <a:r>
              <a:rPr lang="en-US" altLang="en-US" sz="2000" dirty="0"/>
              <a:t>Operating system can given direct access to the disk, getting out of the way of the applications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Raw</a:t>
            </a:r>
            <a:r>
              <a:rPr lang="en-US" altLang="en-US" sz="2000" b="1" dirty="0"/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disk</a:t>
            </a:r>
            <a:r>
              <a:rPr lang="en-US" altLang="en-US" sz="2000" b="1" dirty="0"/>
              <a:t> </a:t>
            </a:r>
            <a:r>
              <a:rPr lang="en-US" altLang="en-US" sz="2000" dirty="0"/>
              <a:t>mode</a:t>
            </a:r>
          </a:p>
          <a:p>
            <a:pPr lvl="1"/>
            <a:r>
              <a:rPr lang="en-US" altLang="en-US" sz="2000" dirty="0"/>
              <a:t>Bypasses buffering, locking, </a:t>
            </a:r>
            <a:r>
              <a:rPr lang="en-US" altLang="en-US" sz="2000"/>
              <a:t>etc.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362AB2CE-BAAA-4052-BCA8-703C3DC64D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8038" y="238158"/>
            <a:ext cx="78787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Allocation of Frames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700FB4A8-565F-4B3F-9EE9-D1D1028D44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6" y="1120775"/>
            <a:ext cx="7735078" cy="4483100"/>
          </a:xfrm>
        </p:spPr>
        <p:txBody>
          <a:bodyPr/>
          <a:lstStyle/>
          <a:p>
            <a:r>
              <a:rPr lang="en-US" altLang="en-US" sz="2000" dirty="0"/>
              <a:t>Each process needs </a:t>
            </a:r>
            <a:r>
              <a:rPr lang="en-US" altLang="en-US" sz="2000" b="1" i="1" dirty="0"/>
              <a:t>minimum</a:t>
            </a:r>
            <a:r>
              <a:rPr lang="en-US" altLang="en-US" sz="2000" dirty="0"/>
              <a:t> number of frames</a:t>
            </a:r>
          </a:p>
          <a:p>
            <a:r>
              <a:rPr lang="en-US" altLang="en-US" sz="2000" dirty="0"/>
              <a:t>Example:  IBM 370 – 6 pages to handle SS MOVE instruction:</a:t>
            </a:r>
          </a:p>
          <a:p>
            <a:pPr lvl="1"/>
            <a:r>
              <a:rPr lang="en-US" altLang="en-US" sz="2000" dirty="0"/>
              <a:t>instruction is 6 bytes, might span 2 pages</a:t>
            </a:r>
          </a:p>
          <a:p>
            <a:pPr lvl="1"/>
            <a:r>
              <a:rPr lang="en-US" altLang="en-US" sz="2000" dirty="0"/>
              <a:t>2 pages to handle </a:t>
            </a:r>
            <a:r>
              <a:rPr lang="en-US" altLang="en-US" sz="2000" i="1" dirty="0"/>
              <a:t>from</a:t>
            </a:r>
          </a:p>
          <a:p>
            <a:pPr lvl="1"/>
            <a:r>
              <a:rPr lang="en-US" altLang="en-US" sz="2000" dirty="0"/>
              <a:t>2 pages to handle </a:t>
            </a:r>
            <a:r>
              <a:rPr lang="en-US" altLang="en-US" sz="2000" i="1" dirty="0"/>
              <a:t>to</a:t>
            </a:r>
          </a:p>
          <a:p>
            <a:r>
              <a:rPr lang="en-US" altLang="en-US" sz="2000" b="1" i="1" dirty="0"/>
              <a:t>Maximum</a:t>
            </a:r>
            <a:r>
              <a:rPr lang="en-US" altLang="en-US" sz="2000" i="1" dirty="0"/>
              <a:t> </a:t>
            </a:r>
            <a:r>
              <a:rPr lang="en-US" altLang="en-US" sz="2000" dirty="0"/>
              <a:t>of course is total frames in the system</a:t>
            </a:r>
          </a:p>
          <a:p>
            <a:r>
              <a:rPr lang="en-US" altLang="en-US" sz="2000" dirty="0"/>
              <a:t>Two major allocation schemes</a:t>
            </a:r>
          </a:p>
          <a:p>
            <a:pPr lvl="1"/>
            <a:r>
              <a:rPr lang="en-US" altLang="en-US" sz="2000" dirty="0"/>
              <a:t>fixed allocation</a:t>
            </a:r>
          </a:p>
          <a:p>
            <a:pPr lvl="1"/>
            <a:r>
              <a:rPr lang="en-US" altLang="en-US" sz="2000" dirty="0"/>
              <a:t>priority allocation</a:t>
            </a:r>
          </a:p>
          <a:p>
            <a:r>
              <a:rPr lang="en-US" altLang="en-US" sz="2000" dirty="0"/>
              <a:t>Many variations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>
            <a:extLst>
              <a:ext uri="{FF2B5EF4-FFF2-40B4-BE49-F238E27FC236}">
                <a16:creationId xmlns:a16="http://schemas.microsoft.com/office/drawing/2014/main" id="{70E5B077-B145-42CF-B6DE-2F59CC8999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8188" y="235568"/>
            <a:ext cx="7948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Fixed Allocation</a:t>
            </a:r>
          </a:p>
        </p:txBody>
      </p:sp>
      <p:sp>
        <p:nvSpPr>
          <p:cNvPr id="1029" name="Rectangle 3">
            <a:extLst>
              <a:ext uri="{FF2B5EF4-FFF2-40B4-BE49-F238E27FC236}">
                <a16:creationId xmlns:a16="http://schemas.microsoft.com/office/drawing/2014/main" id="{0FF48B9C-0D56-4D18-919D-070428F3BB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8188" y="1031804"/>
            <a:ext cx="7948611" cy="2650880"/>
          </a:xfrm>
        </p:spPr>
        <p:txBody>
          <a:bodyPr/>
          <a:lstStyle/>
          <a:p>
            <a:r>
              <a:rPr lang="en-US" altLang="en-US" sz="2000" dirty="0"/>
              <a:t>Equal allocation – For example, if there are 100 frames (after allocating frames for the OS) and 5 processes, give each process 20 frames</a:t>
            </a:r>
          </a:p>
          <a:p>
            <a:pPr lvl="1"/>
            <a:r>
              <a:rPr lang="en-US" altLang="en-US" sz="2000" dirty="0"/>
              <a:t>Keep some as free frame buffer pool</a:t>
            </a:r>
          </a:p>
          <a:p>
            <a:r>
              <a:rPr lang="en-US" altLang="en-US" sz="2000" dirty="0"/>
              <a:t>Proportional allocation – Allocate according to the size of process</a:t>
            </a:r>
          </a:p>
          <a:p>
            <a:pPr lvl="1"/>
            <a:r>
              <a:rPr lang="en-US" altLang="en-US" sz="2000" dirty="0"/>
              <a:t>Dynamic as degree of multiprogramming, process sizes change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3E86A17-E3C7-F914-B4B8-9C5FB71F7BDD}"/>
              </a:ext>
            </a:extLst>
          </p:cNvPr>
          <p:cNvGrpSpPr/>
          <p:nvPr/>
        </p:nvGrpSpPr>
        <p:grpSpPr>
          <a:xfrm>
            <a:off x="1611827" y="3682684"/>
            <a:ext cx="5675312" cy="1924050"/>
            <a:chOff x="1776413" y="3425825"/>
            <a:chExt cx="5675312" cy="1924050"/>
          </a:xfrm>
        </p:grpSpPr>
        <p:graphicFrame>
          <p:nvGraphicFramePr>
            <p:cNvPr id="1026" name="Object 2">
              <a:extLst>
                <a:ext uri="{FF2B5EF4-FFF2-40B4-BE49-F238E27FC236}">
                  <a16:creationId xmlns:a16="http://schemas.microsoft.com/office/drawing/2014/main" id="{60101F45-DE12-4B60-9040-E3AC5E8C556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3874049"/>
                </p:ext>
              </p:extLst>
            </p:nvPr>
          </p:nvGraphicFramePr>
          <p:xfrm>
            <a:off x="1976438" y="3630613"/>
            <a:ext cx="2857500" cy="1611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857500" imgH="1612900" progId="Equation.3">
                    <p:embed/>
                  </p:oleObj>
                </mc:Choice>
                <mc:Fallback>
                  <p:oleObj name="Equation" r:id="rId3" imgW="2857500" imgH="16129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6438" y="3630613"/>
                          <a:ext cx="2857500" cy="1611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0" name="Line 5">
              <a:extLst>
                <a:ext uri="{FF2B5EF4-FFF2-40B4-BE49-F238E27FC236}">
                  <a16:creationId xmlns:a16="http://schemas.microsoft.com/office/drawing/2014/main" id="{8888DB1A-25C9-4D76-AE59-B4B5C1E6F5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2763" y="3792538"/>
              <a:ext cx="15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1031" name="Line 6">
              <a:extLst>
                <a:ext uri="{FF2B5EF4-FFF2-40B4-BE49-F238E27FC236}">
                  <a16:creationId xmlns:a16="http://schemas.microsoft.com/office/drawing/2014/main" id="{ECC2003F-96B6-47ED-AF4F-07170847DC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2763" y="4129088"/>
              <a:ext cx="15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1032" name="Line 7">
              <a:extLst>
                <a:ext uri="{FF2B5EF4-FFF2-40B4-BE49-F238E27FC236}">
                  <a16:creationId xmlns:a16="http://schemas.microsoft.com/office/drawing/2014/main" id="{5847D2CD-ECAD-4BC8-86B1-C8CE5E3430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2763" y="4989513"/>
              <a:ext cx="15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1033" name="Line 8">
              <a:extLst>
                <a:ext uri="{FF2B5EF4-FFF2-40B4-BE49-F238E27FC236}">
                  <a16:creationId xmlns:a16="http://schemas.microsoft.com/office/drawing/2014/main" id="{B1B7ADDF-04E5-45DA-B979-4FC4DE3E11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413" y="4456113"/>
              <a:ext cx="15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graphicFrame>
          <p:nvGraphicFramePr>
            <p:cNvPr id="1027" name="Object 3">
              <a:extLst>
                <a:ext uri="{FF2B5EF4-FFF2-40B4-BE49-F238E27FC236}">
                  <a16:creationId xmlns:a16="http://schemas.microsoft.com/office/drawing/2014/main" id="{5598D165-43F5-47B6-A2A0-4E723009E1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987508"/>
                </p:ext>
              </p:extLst>
            </p:nvPr>
          </p:nvGraphicFramePr>
          <p:xfrm>
            <a:off x="5945188" y="3425825"/>
            <a:ext cx="1506537" cy="1924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143000" imgH="1460500" progId="Equation.3">
                    <p:embed/>
                  </p:oleObj>
                </mc:Choice>
                <mc:Fallback>
                  <p:oleObj name="Equation" r:id="rId5" imgW="1143000" imgH="14605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45188" y="3425825"/>
                          <a:ext cx="1506537" cy="1924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F01C6E52-51B6-4080-B3CB-DA269501CF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0288" y="235568"/>
            <a:ext cx="76565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Global vs. Local Allocation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4BDEEC50-DE5B-4191-A4E4-940F9E965B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8406" y="1127443"/>
            <a:ext cx="7908394" cy="3193097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Global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replacement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– process selects a replacement frame from the set of all frames; one process can take a frame from another</a:t>
            </a:r>
          </a:p>
          <a:p>
            <a:pPr lvl="1"/>
            <a:r>
              <a:rPr lang="en-US" altLang="en-US" sz="2000" dirty="0"/>
              <a:t>But then process execution time can vary greatly</a:t>
            </a:r>
          </a:p>
          <a:p>
            <a:pPr lvl="1"/>
            <a:r>
              <a:rPr lang="en-US" altLang="en-US" sz="2000" dirty="0"/>
              <a:t>But greater throughput so more common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Local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replacement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– each process selects from only its own set of allocated frames</a:t>
            </a:r>
          </a:p>
          <a:p>
            <a:pPr lvl="1"/>
            <a:r>
              <a:rPr lang="en-US" altLang="en-US" sz="2000" dirty="0"/>
              <a:t>More consistent per-process performance</a:t>
            </a:r>
          </a:p>
          <a:p>
            <a:pPr lvl="1"/>
            <a:r>
              <a:rPr lang="en-US" altLang="en-US" sz="2000" dirty="0"/>
              <a:t>But possibly underutilized memory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>
            <a:extLst>
              <a:ext uri="{FF2B5EF4-FFF2-40B4-BE49-F238E27FC236}">
                <a16:creationId xmlns:a16="http://schemas.microsoft.com/office/drawing/2014/main" id="{8F89ABC5-C6DD-4713-ABCC-DF2FB1DBD9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8" y="1116013"/>
            <a:ext cx="7669762" cy="4470400"/>
          </a:xfrm>
        </p:spPr>
        <p:txBody>
          <a:bodyPr/>
          <a:lstStyle/>
          <a:p>
            <a:r>
              <a:rPr lang="en-US" altLang="en-US" sz="2000" dirty="0"/>
              <a:t>A strategy to implement global page-replacement policy </a:t>
            </a:r>
          </a:p>
          <a:p>
            <a:r>
              <a:rPr lang="en-US" altLang="en-US" sz="2000" dirty="0"/>
              <a:t>All memory requests  are satisfied from the free-frame list,  rather than waiting for the list to drop to zero before we begin selecting pages for replacement, </a:t>
            </a:r>
          </a:p>
          <a:p>
            <a:r>
              <a:rPr lang="en-US" altLang="en-US" sz="2000" dirty="0"/>
              <a:t>Page replacement  is triggered when the list falls below a certain threshold. </a:t>
            </a:r>
          </a:p>
          <a:p>
            <a:r>
              <a:rPr lang="en-US" altLang="en-US" sz="2000" dirty="0"/>
              <a:t>This strategy attempts to ensure there is always sufficient free memory to satisfy new requests</a:t>
            </a:r>
            <a:r>
              <a:rPr lang="en-US" altLang="en-US" sz="2000" b="1" dirty="0">
                <a:solidFill>
                  <a:srgbClr val="3366FF"/>
                </a:solidFill>
              </a:rPr>
              <a:t>.</a:t>
            </a:r>
            <a:endParaRPr lang="en-US" altLang="en-US" sz="2000" dirty="0"/>
          </a:p>
          <a:p>
            <a:pPr lvl="1"/>
            <a:endParaRPr lang="en-US" altLang="en-US" sz="2000" dirty="0"/>
          </a:p>
        </p:txBody>
      </p:sp>
      <p:sp>
        <p:nvSpPr>
          <p:cNvPr id="53251" name="Title 4">
            <a:extLst>
              <a:ext uri="{FF2B5EF4-FFF2-40B4-BE49-F238E27FC236}">
                <a16:creationId xmlns:a16="http://schemas.microsoft.com/office/drawing/2014/main" id="{19A04316-FDA7-4603-B74E-219CB62A7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890" y="233204"/>
            <a:ext cx="7315200" cy="576263"/>
          </a:xfrm>
        </p:spPr>
        <p:txBody>
          <a:bodyPr/>
          <a:lstStyle/>
          <a:p>
            <a:r>
              <a:rPr lang="en-US" altLang="en-US" dirty="0"/>
              <a:t>Reclaiming Pages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900A8FF6-4218-4A3C-97F8-029AF1E78A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3674" y="235568"/>
            <a:ext cx="76565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Reclaiming Pages Example </a:t>
            </a:r>
          </a:p>
        </p:txBody>
      </p:sp>
      <p:pic>
        <p:nvPicPr>
          <p:cNvPr id="54275" name="Picture 2" descr="B:\os-book\os10-dir\Slides-WORK-area\Figures-dir\ch10\JPG-dir\10_18.jpg">
            <a:extLst>
              <a:ext uri="{FF2B5EF4-FFF2-40B4-BE49-F238E27FC236}">
                <a16:creationId xmlns:a16="http://schemas.microsoft.com/office/drawing/2014/main" id="{1CBDD818-7B1C-4DDD-AAB3-4D84028FE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131570"/>
            <a:ext cx="4853940" cy="5077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EF40B-8258-1C50-595A-6227E7D87B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Take a Break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2109717"/>
      </p:ext>
    </p:extLst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18203</TotalTime>
  <Words>1450</Words>
  <Application>Microsoft Office PowerPoint</Application>
  <PresentationFormat>全屏显示(4:3)</PresentationFormat>
  <Paragraphs>191</Paragraphs>
  <Slides>27</Slides>
  <Notes>25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6" baseType="lpstr">
      <vt:lpstr>Monotype Sorts</vt:lpstr>
      <vt:lpstr>Arial</vt:lpstr>
      <vt:lpstr>Helvetica</vt:lpstr>
      <vt:lpstr>Times New Roman</vt:lpstr>
      <vt:lpstr>Verdana</vt:lpstr>
      <vt:lpstr>Webdings</vt:lpstr>
      <vt:lpstr>Wingdings</vt:lpstr>
      <vt:lpstr>os-8</vt:lpstr>
      <vt:lpstr>Equation</vt:lpstr>
      <vt:lpstr>Chapter 10 Virtual Memory (2)</vt:lpstr>
      <vt:lpstr>What Happens if There is no Free Frame?</vt:lpstr>
      <vt:lpstr>Page Replacement</vt:lpstr>
      <vt:lpstr>Need For Page Replacement</vt:lpstr>
      <vt:lpstr>Basic Page Replacement</vt:lpstr>
      <vt:lpstr>Page Replacement</vt:lpstr>
      <vt:lpstr>Page and Frame Replacement Algorithms</vt:lpstr>
      <vt:lpstr>Page Faults Versus the Number of Frames</vt:lpstr>
      <vt:lpstr>First-In-First-Out (FIFO) Algorithm</vt:lpstr>
      <vt:lpstr>FIFO Illustrating Belady’s Anomaly</vt:lpstr>
      <vt:lpstr>Optimal Algorithm</vt:lpstr>
      <vt:lpstr>Least Recently Used (LRU) Algorithm (1)</vt:lpstr>
      <vt:lpstr>Least Recently Used (LRU) Algorithm (2)</vt:lpstr>
      <vt:lpstr>Least Recently Used (LRU) Algorithm (3)</vt:lpstr>
      <vt:lpstr>LRU Approximation Algorithms (1)</vt:lpstr>
      <vt:lpstr>LRU Approximation Algorithms (2)</vt:lpstr>
      <vt:lpstr> Second-Chance Algorithm</vt:lpstr>
      <vt:lpstr>Enhanced Second-Chance Algorithm</vt:lpstr>
      <vt:lpstr>Counting Algorithms</vt:lpstr>
      <vt:lpstr>Page-Buffering Algorithms</vt:lpstr>
      <vt:lpstr>Applications and Page Replacement</vt:lpstr>
      <vt:lpstr>Allocation of Frames</vt:lpstr>
      <vt:lpstr>Fixed Allocation</vt:lpstr>
      <vt:lpstr>Global vs. Local Allocation</vt:lpstr>
      <vt:lpstr>Reclaiming Pages</vt:lpstr>
      <vt:lpstr>Reclaiming Pages Example </vt:lpstr>
      <vt:lpstr>Take a Break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Yeh-Ching Chung</cp:lastModifiedBy>
  <cp:revision>309</cp:revision>
  <cp:lastPrinted>2013-09-10T17:57:57Z</cp:lastPrinted>
  <dcterms:created xsi:type="dcterms:W3CDTF">2011-01-13T23:43:38Z</dcterms:created>
  <dcterms:modified xsi:type="dcterms:W3CDTF">2025-11-11T01:29:59Z</dcterms:modified>
</cp:coreProperties>
</file>