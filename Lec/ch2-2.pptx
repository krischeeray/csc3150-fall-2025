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32"/>
  </p:notesMasterIdLst>
  <p:handoutMasterIdLst>
    <p:handoutMasterId r:id="rId33"/>
  </p:handoutMasterIdLst>
  <p:sldIdLst>
    <p:sldId id="330" r:id="rId2"/>
    <p:sldId id="368" r:id="rId3"/>
    <p:sldId id="369" r:id="rId4"/>
    <p:sldId id="282" r:id="rId5"/>
    <p:sldId id="370" r:id="rId6"/>
    <p:sldId id="333" r:id="rId7"/>
    <p:sldId id="352" r:id="rId8"/>
    <p:sldId id="353" r:id="rId9"/>
    <p:sldId id="305" r:id="rId10"/>
    <p:sldId id="306" r:id="rId11"/>
    <p:sldId id="371" r:id="rId12"/>
    <p:sldId id="307" r:id="rId13"/>
    <p:sldId id="310" r:id="rId14"/>
    <p:sldId id="354" r:id="rId15"/>
    <p:sldId id="313" r:id="rId16"/>
    <p:sldId id="355" r:id="rId17"/>
    <p:sldId id="356" r:id="rId18"/>
    <p:sldId id="372" r:id="rId19"/>
    <p:sldId id="357" r:id="rId20"/>
    <p:sldId id="358" r:id="rId21"/>
    <p:sldId id="359" r:id="rId22"/>
    <p:sldId id="286" r:id="rId23"/>
    <p:sldId id="374" r:id="rId24"/>
    <p:sldId id="373" r:id="rId25"/>
    <p:sldId id="342" r:id="rId26"/>
    <p:sldId id="361" r:id="rId27"/>
    <p:sldId id="301" r:id="rId28"/>
    <p:sldId id="360" r:id="rId29"/>
    <p:sldId id="375" r:id="rId30"/>
    <p:sldId id="331" r:id="rId31"/>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17"/>
    <p:restoredTop sz="94667"/>
  </p:normalViewPr>
  <p:slideViewPr>
    <p:cSldViewPr snapToGrid="0">
      <p:cViewPr varScale="1">
        <p:scale>
          <a:sx n="56" d="100"/>
          <a:sy n="56" d="100"/>
        </p:scale>
        <p:origin x="1420" y="36"/>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428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D114A89C-1C73-4D44-A8BC-42BAA055C19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CBDAB79E-6014-4A3D-84DF-A7CEB339BCE3}"/>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90D5592A-E44D-4423-B07A-957389C43B80}"/>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91FDBA55-75B0-4E79-BF0F-BC11D59E5FB6}"/>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smtClean="0">
                <a:latin typeface="Helvetica" panose="020B0604020202020204" pitchFamily="34" charset="0"/>
              </a:defRPr>
            </a:lvl1pPr>
          </a:lstStyle>
          <a:p>
            <a:pPr>
              <a:defRPr/>
            </a:pPr>
            <a:fld id="{01873986-C89E-4478-9B6A-F6B0BF3B5D56}"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45A858E-881C-46A6-B3BB-38AF66B8F999}"/>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A76C7A83-A047-4863-99DC-443A82A89530}"/>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A2A60EB1-DAFD-4AE9-AB03-60CC4D8EEE96}"/>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E281DC59-26C3-4F7F-8E43-93FC93CCE3E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C2C085E6-91D9-44E7-80E9-718A60124C0E}"/>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0950034D-84CE-4525-AFD4-671AE6465659}"/>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smtClean="0">
                <a:latin typeface="Times New Roman" panose="02020603050405020304" pitchFamily="18" charset="0"/>
              </a:defRPr>
            </a:lvl1pPr>
          </a:lstStyle>
          <a:p>
            <a:pPr>
              <a:defRPr/>
            </a:pPr>
            <a:fld id="{DAA890F1-2F48-45ED-9750-542EA7D8C9E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3E15B947-44D3-4DC4-90BD-791A8A992B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8C4CF68-30FC-4986-BD94-947876E4474E}"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40F7D2EC-BB14-44C5-9C26-CEBE080D5861}"/>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C8CC18E-28B7-4D38-91FE-BB538F8E44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1F9D4368-2D5B-44CF-9769-7950A1E38A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D9A8E8-F4EA-46C2-B927-AF9B295CD51A}"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69635" name="Rectangle 2">
            <a:extLst>
              <a:ext uri="{FF2B5EF4-FFF2-40B4-BE49-F238E27FC236}">
                <a16:creationId xmlns:a16="http://schemas.microsoft.com/office/drawing/2014/main" id="{84751EBF-BF03-4EB3-AC59-8937FFC05BA1}"/>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363753AF-4080-4D90-93A4-E186735701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23AA3413-AA5F-4107-A578-F7FB97A1FD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3D0DC0-01F3-4FB1-9D33-C3D72C571382}"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71683" name="Rectangle 2">
            <a:extLst>
              <a:ext uri="{FF2B5EF4-FFF2-40B4-BE49-F238E27FC236}">
                <a16:creationId xmlns:a16="http://schemas.microsoft.com/office/drawing/2014/main" id="{AE841BF5-F8CC-496C-9A26-9FAB38639DD6}"/>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C7518A12-53B7-447C-9D59-09B9E72ECC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246EB841-3BA3-411E-B258-F2A764F737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114B98F-007C-43DF-A60D-1A7EAA91CCA7}"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73731" name="Rectangle 2">
            <a:extLst>
              <a:ext uri="{FF2B5EF4-FFF2-40B4-BE49-F238E27FC236}">
                <a16:creationId xmlns:a16="http://schemas.microsoft.com/office/drawing/2014/main" id="{8A048B8E-E398-4745-90F2-A532AC12A286}"/>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BA8F3B7A-4DFD-4CE0-A7BC-C9EB40B83D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35B19350-9654-4398-A98D-823F09730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F99FAC0-3371-4115-9278-16B190E658AE}"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75779" name="Rectangle 2">
            <a:extLst>
              <a:ext uri="{FF2B5EF4-FFF2-40B4-BE49-F238E27FC236}">
                <a16:creationId xmlns:a16="http://schemas.microsoft.com/office/drawing/2014/main" id="{794AAB47-390A-4A95-8D6A-7698FE87FC2D}"/>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3AE11E17-0B37-495A-8D01-1E4B31D7DA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192ACBA4-A8FC-4E7A-80E9-AEAA75E564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D74938-55F7-4DC8-8764-970D10855290}"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78851" name="Rectangle 2">
            <a:extLst>
              <a:ext uri="{FF2B5EF4-FFF2-40B4-BE49-F238E27FC236}">
                <a16:creationId xmlns:a16="http://schemas.microsoft.com/office/drawing/2014/main" id="{09CC13A3-9CCE-4E8B-9A2A-FF400F3C45A1}"/>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A0F89BD5-8969-4268-BAAE-9A14BFA626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960C12AF-FD80-4BCF-8312-D4A136EA7A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D3A00BB-B4EE-42A4-AC24-302EB7D43EBC}"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80899" name="Rectangle 2">
            <a:extLst>
              <a:ext uri="{FF2B5EF4-FFF2-40B4-BE49-F238E27FC236}">
                <a16:creationId xmlns:a16="http://schemas.microsoft.com/office/drawing/2014/main" id="{72A2FE60-2ABA-4FD7-97DD-436C8BB9AE4D}"/>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75EC551F-647E-4616-B2E2-80AFFE0CA8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5F0601A3-B0CC-45B3-BBD4-0046CD87CF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16E5EEC-C07B-41DB-9CC3-1F02D0C0767C}"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82947" name="Rectangle 2">
            <a:extLst>
              <a:ext uri="{FF2B5EF4-FFF2-40B4-BE49-F238E27FC236}">
                <a16:creationId xmlns:a16="http://schemas.microsoft.com/office/drawing/2014/main" id="{DE277AD2-08FD-4FEB-9A71-97B80E63EA93}"/>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23FE59D0-CE1B-473F-8138-7566D6FAE1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A139EA7E-C5A3-4A16-AE42-C345AB123C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E57B5D2-DE8D-4EF9-889E-79B8E6EF3011}"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84995" name="Rectangle 2">
            <a:extLst>
              <a:ext uri="{FF2B5EF4-FFF2-40B4-BE49-F238E27FC236}">
                <a16:creationId xmlns:a16="http://schemas.microsoft.com/office/drawing/2014/main" id="{F853F4E3-8609-4C8C-A077-0E107BD51068}"/>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5D9017D7-59E4-444C-8B7D-582A16EDD8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E2AF9071-C2C8-4AE5-BF05-7904ECEB51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699B845-CED4-49E0-AFEF-48FD2C002C7A}"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87043" name="Rectangle 2">
            <a:extLst>
              <a:ext uri="{FF2B5EF4-FFF2-40B4-BE49-F238E27FC236}">
                <a16:creationId xmlns:a16="http://schemas.microsoft.com/office/drawing/2014/main" id="{4B359B74-A383-48FE-9C98-33D67BCB90F5}"/>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0CA34FAE-AB9D-469A-A39F-2D79F9D915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ACECBD7C-C5C5-49AB-A072-BF89D7C9B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672991-CDC8-4F84-B8EB-CEEB23288ED8}"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89091" name="Rectangle 2">
            <a:extLst>
              <a:ext uri="{FF2B5EF4-FFF2-40B4-BE49-F238E27FC236}">
                <a16:creationId xmlns:a16="http://schemas.microsoft.com/office/drawing/2014/main" id="{EA73A052-CF76-4A71-B05B-5EEB72534B36}"/>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77FC5D12-EFEF-4B63-BAC5-16C49C6E5E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514AB2F1-7ECF-4654-B476-67C4FF1936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F372007-FB99-4F76-A744-2252F6525800}"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91139" name="Rectangle 2">
            <a:extLst>
              <a:ext uri="{FF2B5EF4-FFF2-40B4-BE49-F238E27FC236}">
                <a16:creationId xmlns:a16="http://schemas.microsoft.com/office/drawing/2014/main" id="{9CA4A4BF-9303-4366-B3C9-87C09BA7CEAE}"/>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0B9BD875-4589-4ADD-BA0B-1F2DD177BA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77F536C2-9FE0-4E79-A5E0-AFC384E498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491145-9F31-486F-A264-8B0A4A9C13B7}"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93187" name="Rectangle 2">
            <a:extLst>
              <a:ext uri="{FF2B5EF4-FFF2-40B4-BE49-F238E27FC236}">
                <a16:creationId xmlns:a16="http://schemas.microsoft.com/office/drawing/2014/main" id="{0D70963F-80A9-4E2C-BCB3-A8CDD51A9811}"/>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7E07D860-A14E-4FF1-8A49-679D6FBCDC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296D8EEA-686B-4379-9B06-52B63A1D3E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6CA01E-772D-40E8-9027-AB0D47C6C4E8}"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97283" name="Rectangle 2">
            <a:extLst>
              <a:ext uri="{FF2B5EF4-FFF2-40B4-BE49-F238E27FC236}">
                <a16:creationId xmlns:a16="http://schemas.microsoft.com/office/drawing/2014/main" id="{8D8E1EBF-2FD7-4B13-B103-9850A8F9C1FA}"/>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119EDC26-9459-43B0-9D0F-8C9D2D2BD7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3DDD192-3990-4BAC-9FF7-B9EB07B563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C44763-2F58-4848-BA5C-68BECC72D524}"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99331" name="Rectangle 2">
            <a:extLst>
              <a:ext uri="{FF2B5EF4-FFF2-40B4-BE49-F238E27FC236}">
                <a16:creationId xmlns:a16="http://schemas.microsoft.com/office/drawing/2014/main" id="{421BC8AC-63BB-4B03-AA64-444FBA516D1E}"/>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4C39D2BE-4C7A-463F-BE60-F42C3A682D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687F8760-28E9-4161-9350-142B4464B1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7E4E2C5-D11C-4ED8-A539-FE2C8C2C856E}"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101379" name="Rectangle 2">
            <a:extLst>
              <a:ext uri="{FF2B5EF4-FFF2-40B4-BE49-F238E27FC236}">
                <a16:creationId xmlns:a16="http://schemas.microsoft.com/office/drawing/2014/main" id="{9C9D9664-3E42-4464-B2E1-AA6A02DCB114}"/>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22C97BE7-F67C-448D-B392-2A74287586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F406669-42D7-44B4-8C43-273FF77AB6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84C1EA-EE61-4B32-9717-6561C81C069A}"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103427" name="Rectangle 2">
            <a:extLst>
              <a:ext uri="{FF2B5EF4-FFF2-40B4-BE49-F238E27FC236}">
                <a16:creationId xmlns:a16="http://schemas.microsoft.com/office/drawing/2014/main" id="{AA286D85-5926-4E35-9302-DEB3B5EC290F}"/>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AFF0D118-2E86-45EB-A309-2BCA801CF7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15F842D0-B50C-43ED-A81B-735CB2F3CF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30AB3E-7AE2-4050-BFC0-A3100E231CFB}"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106499" name="Rectangle 2">
            <a:extLst>
              <a:ext uri="{FF2B5EF4-FFF2-40B4-BE49-F238E27FC236}">
                <a16:creationId xmlns:a16="http://schemas.microsoft.com/office/drawing/2014/main" id="{DB6535EE-412E-4748-B2FF-406F43550123}"/>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E17BF8DC-D131-402D-A170-25C5EFBC8B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C285C7AB-481B-4C36-9D5E-6A373E3AAECE}"/>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12595288-A8A1-4275-86ED-41647E9CAC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A5C6E0C8-8D05-4FC0-A615-BF217235A26B}"/>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06CCCF2B-4119-4DD1-8801-4FD12407E5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66AC6290-0A8F-4410-8EE6-B928A0A295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9BE7E25-DF2F-4168-BE5E-41CED28D4157}"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112643" name="Rectangle 2">
            <a:extLst>
              <a:ext uri="{FF2B5EF4-FFF2-40B4-BE49-F238E27FC236}">
                <a16:creationId xmlns:a16="http://schemas.microsoft.com/office/drawing/2014/main" id="{496B7A25-594B-4B19-95B7-A771AB982E5D}"/>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46A41592-F994-49A3-B7D1-777A14B85A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BB5927D9-28F8-431E-8A5D-E38622E7F6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17D4F6E-605C-4FD9-9638-53697B67B85A}"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114691" name="Rectangle 2">
            <a:extLst>
              <a:ext uri="{FF2B5EF4-FFF2-40B4-BE49-F238E27FC236}">
                <a16:creationId xmlns:a16="http://schemas.microsoft.com/office/drawing/2014/main" id="{D1BDAEE5-6C5F-4F98-A849-714E2F1C5DC5}"/>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859DDBEE-280C-4117-953E-E0EAAF1882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5570E0E3-E6FE-43E1-B5DE-3ED5EFEADE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F5F97B-5F60-4081-9DA6-42B9182CD2F7}"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DF8656C1-DC3D-4F7B-8EEC-2DA77E212E2B}"/>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2D181A27-FF52-4ECA-8E86-80B80103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DDE245A5-185A-4E27-B891-70FB435AD4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2A27128-C6CF-490F-8D3D-610A10E232BD}"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118787" name="Rectangle 2">
            <a:extLst>
              <a:ext uri="{FF2B5EF4-FFF2-40B4-BE49-F238E27FC236}">
                <a16:creationId xmlns:a16="http://schemas.microsoft.com/office/drawing/2014/main" id="{862F51D4-350B-4AA2-957B-E0251EEE14F6}"/>
              </a:ext>
            </a:extLst>
          </p:cNvPr>
          <p:cNvSpPr>
            <a:spLocks noGrp="1" noRot="1" noChangeAspect="1" noChangeArrowheads="1" noTextEdit="1"/>
          </p:cNvSpPr>
          <p:nvPr>
            <p:ph type="sldImg"/>
          </p:nvPr>
        </p:nvSpPr>
        <p:spPr>
          <a:ln/>
        </p:spPr>
      </p:sp>
      <p:sp>
        <p:nvSpPr>
          <p:cNvPr id="118788" name="Rectangle 3">
            <a:extLst>
              <a:ext uri="{FF2B5EF4-FFF2-40B4-BE49-F238E27FC236}">
                <a16:creationId xmlns:a16="http://schemas.microsoft.com/office/drawing/2014/main" id="{27840F58-7294-4A56-B842-828F327C4F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9CFC14DB-8A99-44CB-BA83-39417D26C1AF}"/>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6530489F-79EC-4897-869D-780965D7E74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5" name="Rectangle 5">
              <a:extLst>
                <a:ext uri="{FF2B5EF4-FFF2-40B4-BE49-F238E27FC236}">
                  <a16:creationId xmlns:a16="http://schemas.microsoft.com/office/drawing/2014/main" id="{A83414BD-B475-4106-B6CC-2A825BC14624}"/>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6" name="Rectangle 6">
              <a:extLst>
                <a:ext uri="{FF2B5EF4-FFF2-40B4-BE49-F238E27FC236}">
                  <a16:creationId xmlns:a16="http://schemas.microsoft.com/office/drawing/2014/main" id="{45EEFC8D-4A80-4C8D-BB98-5471F8FF24CA}"/>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sp>
        <p:nvSpPr>
          <p:cNvPr id="7" name="Text Box 7">
            <a:extLst>
              <a:ext uri="{FF2B5EF4-FFF2-40B4-BE49-F238E27FC236}">
                <a16:creationId xmlns:a16="http://schemas.microsoft.com/office/drawing/2014/main" id="{CE292785-34F4-4129-BCFD-B22D0AC1FEE2}"/>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20D32FCA-31DE-4EA5-82C1-CF345076A238}"/>
              </a:ext>
            </a:extLst>
          </p:cNvPr>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090E6124-7B97-4EBF-8990-F55FBAA116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C449F6A7-C9D3-4C68-84CF-E1FEED2CAF96}"/>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132970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7203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97932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3732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7301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7560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3037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51897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81174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2863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6685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1EFAC327-3B14-405A-AECD-695170F62AA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B7308704-6884-478D-913D-858724364FFC}"/>
              </a:ext>
            </a:extLst>
          </p:cNvPr>
          <p:cNvSpPr>
            <a:spLocks noGrp="1" noChangeArrowheads="1"/>
          </p:cNvSpPr>
          <p:nvPr>
            <p:ph type="title"/>
          </p:nvPr>
        </p:nvSpPr>
        <p:spPr bwMode="auto">
          <a:xfrm>
            <a:off x="457200" y="225425"/>
            <a:ext cx="8077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C46878CA-A75D-4410-AFD2-1992D970E5FB}"/>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C1D23273-AE1D-4273-BD10-D4215E10B362}"/>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A52FF0B1-98D3-422D-A027-A89A772773D8}"/>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4A460C49-6450-4AA7-B172-624D0E8FA2B4}"/>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69885932-7748-44D3-A5FA-3EA2C19FA746}"/>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2B3C4A04-A423-4652-9F71-1E3F1D9CED55}"/>
              </a:ext>
            </a:extLst>
          </p:cNvPr>
          <p:cNvSpPr txBox="1">
            <a:spLocks noChangeArrowheads="1"/>
          </p:cNvSpPr>
          <p:nvPr userDrawn="1"/>
        </p:nvSpPr>
        <p:spPr bwMode="auto">
          <a:xfrm>
            <a:off x="4256146" y="6613525"/>
            <a:ext cx="447558" cy="246221"/>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006699"/>
                </a:solidFill>
                <a:latin typeface="Helvetica" panose="020B0604020202020204" pitchFamily="34" charset="0"/>
              </a:rPr>
              <a:t>2.</a:t>
            </a:r>
            <a:fld id="{3002ADDC-CC54-42C0-AD9E-FCEA6349E957}"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dirty="0">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59A1521A-022B-4DE7-8426-69A13EBF9FAB}"/>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000" b="1">
                <a:solidFill>
                  <a:srgbClr val="006699"/>
                </a:solidFill>
                <a:latin typeface="Helvetica" panose="020B0604020202020204" pitchFamily="34" charset="0"/>
              </a:rPr>
              <a:t>Silberschatz, Galvin and Gagne ©2018</a:t>
            </a:r>
          </a:p>
        </p:txBody>
      </p:sp>
      <p:sp>
        <p:nvSpPr>
          <p:cNvPr id="1035" name="Text Box 11">
            <a:extLst>
              <a:ext uri="{FF2B5EF4-FFF2-40B4-BE49-F238E27FC236}">
                <a16:creationId xmlns:a16="http://schemas.microsoft.com/office/drawing/2014/main" id="{27BAFA87-2B93-403E-A844-8FB1EAE92C10}"/>
              </a:ext>
            </a:extLst>
          </p:cNvPr>
          <p:cNvSpPr txBox="1">
            <a:spLocks noChangeArrowheads="1"/>
          </p:cNvSpPr>
          <p:nvPr/>
        </p:nvSpPr>
        <p:spPr bwMode="auto">
          <a:xfrm>
            <a:off x="185738" y="6586538"/>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a16="http://schemas.microsoft.com/office/drawing/2014/main" id="{CD488D63-B096-4EAA-B5D8-70E38A37139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03"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1EFD3035-A582-45DD-89A5-82ABE6A7D46D}"/>
              </a:ext>
            </a:extLst>
          </p:cNvPr>
          <p:cNvSpPr>
            <a:spLocks noGrp="1" noChangeArrowheads="1"/>
          </p:cNvSpPr>
          <p:nvPr>
            <p:ph type="ctrTitle"/>
          </p:nvPr>
        </p:nvSpPr>
        <p:spPr>
          <a:xfrm>
            <a:off x="342900" y="1632856"/>
            <a:ext cx="8458200" cy="1333092"/>
          </a:xfrm>
          <a:noFill/>
        </p:spPr>
        <p:txBody>
          <a:bodyPr/>
          <a:lstStyle/>
          <a:p>
            <a:pPr eaLnBrk="1" hangingPunct="1"/>
            <a:r>
              <a:rPr lang="en-US" altLang="en-US" dirty="0"/>
              <a:t>Chapter 2 </a:t>
            </a:r>
            <a:br>
              <a:rPr lang="en-US" altLang="en-US" dirty="0"/>
            </a:br>
            <a:r>
              <a:rPr lang="en-US" altLang="zh-CN" dirty="0"/>
              <a:t>Operating Structures </a:t>
            </a:r>
            <a:r>
              <a:rPr lang="en-US" altLang="en-US" dirty="0"/>
              <a:t>(2)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B139628D-AE2A-46FB-AA5B-FECFA241AAEF}"/>
              </a:ext>
            </a:extLst>
          </p:cNvPr>
          <p:cNvSpPr>
            <a:spLocks noGrp="1" noChangeArrowheads="1"/>
          </p:cNvSpPr>
          <p:nvPr>
            <p:ph type="title"/>
          </p:nvPr>
        </p:nvSpPr>
        <p:spPr/>
        <p:txBody>
          <a:bodyPr/>
          <a:lstStyle/>
          <a:p>
            <a:r>
              <a:rPr lang="en-US" altLang="en-US"/>
              <a:t>Linkers and Loaders</a:t>
            </a:r>
          </a:p>
        </p:txBody>
      </p:sp>
      <p:sp>
        <p:nvSpPr>
          <p:cNvPr id="66563" name="Content Placeholder 2">
            <a:extLst>
              <a:ext uri="{FF2B5EF4-FFF2-40B4-BE49-F238E27FC236}">
                <a16:creationId xmlns:a16="http://schemas.microsoft.com/office/drawing/2014/main" id="{F413004A-DAD3-4F03-A509-ECD5943DEFDE}"/>
              </a:ext>
            </a:extLst>
          </p:cNvPr>
          <p:cNvSpPr>
            <a:spLocks noGrp="1" noChangeArrowheads="1"/>
          </p:cNvSpPr>
          <p:nvPr>
            <p:ph idx="1"/>
          </p:nvPr>
        </p:nvSpPr>
        <p:spPr>
          <a:xfrm>
            <a:off x="806450" y="879158"/>
            <a:ext cx="7727950" cy="5338762"/>
          </a:xfrm>
        </p:spPr>
        <p:txBody>
          <a:bodyPr/>
          <a:lstStyle/>
          <a:p>
            <a:r>
              <a:rPr lang="en-US" altLang="en-US" sz="2000" dirty="0">
                <a:latin typeface="+mn-ea"/>
                <a:ea typeface="+mn-ea"/>
              </a:rPr>
              <a:t>Source code compiled into object files designed to be loaded into any physical memory location – </a:t>
            </a:r>
            <a:r>
              <a:rPr lang="en-US" altLang="en-US" sz="2000" b="1" dirty="0">
                <a:solidFill>
                  <a:srgbClr val="006699"/>
                </a:solidFill>
                <a:latin typeface="+mn-ea"/>
                <a:ea typeface="+mn-ea"/>
              </a:rPr>
              <a:t>relocatable</a:t>
            </a:r>
            <a:r>
              <a:rPr lang="en-US" altLang="en-US" sz="2000" b="1" dirty="0">
                <a:solidFill>
                  <a:srgbClr val="3366FF"/>
                </a:solidFill>
                <a:latin typeface="+mn-ea"/>
                <a:ea typeface="+mn-ea"/>
              </a:rPr>
              <a:t> </a:t>
            </a:r>
            <a:r>
              <a:rPr lang="en-US" altLang="en-US" sz="2000" b="1" dirty="0">
                <a:solidFill>
                  <a:srgbClr val="006699"/>
                </a:solidFill>
                <a:latin typeface="+mn-ea"/>
                <a:ea typeface="+mn-ea"/>
              </a:rPr>
              <a:t>object</a:t>
            </a:r>
            <a:r>
              <a:rPr lang="en-US" altLang="en-US" sz="2000" b="1" dirty="0">
                <a:solidFill>
                  <a:srgbClr val="3366FF"/>
                </a:solidFill>
                <a:latin typeface="+mn-ea"/>
                <a:ea typeface="+mn-ea"/>
              </a:rPr>
              <a:t> </a:t>
            </a:r>
            <a:r>
              <a:rPr lang="en-US" altLang="en-US" sz="2000" b="1" dirty="0">
                <a:solidFill>
                  <a:srgbClr val="006699"/>
                </a:solidFill>
                <a:latin typeface="+mn-ea"/>
                <a:ea typeface="+mn-ea"/>
              </a:rPr>
              <a:t>file</a:t>
            </a:r>
          </a:p>
          <a:p>
            <a:r>
              <a:rPr lang="en-US" altLang="en-US" sz="2000" b="1" dirty="0">
                <a:solidFill>
                  <a:srgbClr val="006699"/>
                </a:solidFill>
                <a:latin typeface="+mn-ea"/>
                <a:ea typeface="+mn-ea"/>
              </a:rPr>
              <a:t>Linker</a:t>
            </a:r>
            <a:r>
              <a:rPr lang="en-US" altLang="en-US" sz="2000" b="1" dirty="0">
                <a:solidFill>
                  <a:srgbClr val="3366FF"/>
                </a:solidFill>
                <a:latin typeface="+mn-ea"/>
                <a:ea typeface="+mn-ea"/>
              </a:rPr>
              <a:t> </a:t>
            </a:r>
            <a:r>
              <a:rPr lang="en-US" altLang="en-US" sz="2000" dirty="0">
                <a:latin typeface="+mn-ea"/>
                <a:ea typeface="+mn-ea"/>
              </a:rPr>
              <a:t>combines these into single binary </a:t>
            </a:r>
            <a:r>
              <a:rPr lang="en-US" altLang="en-US" sz="2000" b="1" dirty="0">
                <a:solidFill>
                  <a:srgbClr val="006699"/>
                </a:solidFill>
                <a:latin typeface="+mn-ea"/>
                <a:ea typeface="+mn-ea"/>
              </a:rPr>
              <a:t>executable</a:t>
            </a:r>
            <a:r>
              <a:rPr lang="en-US" altLang="en-US" sz="2000" dirty="0">
                <a:latin typeface="+mn-ea"/>
                <a:ea typeface="+mn-ea"/>
              </a:rPr>
              <a:t> file</a:t>
            </a:r>
          </a:p>
          <a:p>
            <a:pPr lvl="1"/>
            <a:r>
              <a:rPr lang="en-US" altLang="en-US" dirty="0">
                <a:latin typeface="+mn-ea"/>
                <a:ea typeface="+mn-ea"/>
              </a:rPr>
              <a:t>Also brings in libraries</a:t>
            </a:r>
          </a:p>
          <a:p>
            <a:r>
              <a:rPr lang="en-US" altLang="en-US" sz="2000" dirty="0">
                <a:latin typeface="+mn-ea"/>
                <a:ea typeface="+mn-ea"/>
              </a:rPr>
              <a:t>Program resides on secondary storage as binary executable</a:t>
            </a:r>
          </a:p>
          <a:p>
            <a:r>
              <a:rPr lang="en-US" altLang="en-US" sz="2000" dirty="0">
                <a:latin typeface="+mn-ea"/>
                <a:ea typeface="+mn-ea"/>
              </a:rPr>
              <a:t>Must be brought into memory by </a:t>
            </a:r>
            <a:r>
              <a:rPr lang="en-US" altLang="en-US" sz="2000" b="1" dirty="0">
                <a:solidFill>
                  <a:srgbClr val="006699"/>
                </a:solidFill>
                <a:latin typeface="+mn-ea"/>
                <a:ea typeface="+mn-ea"/>
              </a:rPr>
              <a:t>loader</a:t>
            </a:r>
            <a:r>
              <a:rPr lang="en-US" altLang="en-US" sz="2000" dirty="0">
                <a:latin typeface="+mn-ea"/>
                <a:ea typeface="+mn-ea"/>
              </a:rPr>
              <a:t> to be executed</a:t>
            </a:r>
          </a:p>
          <a:p>
            <a:pPr lvl="1"/>
            <a:r>
              <a:rPr lang="en-US" altLang="en-US" b="1" dirty="0">
                <a:solidFill>
                  <a:srgbClr val="006699"/>
                </a:solidFill>
                <a:latin typeface="+mn-ea"/>
                <a:ea typeface="+mn-ea"/>
              </a:rPr>
              <a:t>Relocation</a:t>
            </a:r>
            <a:r>
              <a:rPr lang="en-US" altLang="en-US" dirty="0">
                <a:latin typeface="+mn-ea"/>
                <a:ea typeface="+mn-ea"/>
              </a:rPr>
              <a:t> assigns final addresses to program parts and adjusts code and data in program to match those addresses</a:t>
            </a:r>
          </a:p>
          <a:p>
            <a:r>
              <a:rPr lang="en-US" altLang="en-US" sz="2000" dirty="0">
                <a:latin typeface="+mn-ea"/>
                <a:ea typeface="+mn-ea"/>
              </a:rPr>
              <a:t>Modern general purpose systems don’t link libraries into executables</a:t>
            </a:r>
          </a:p>
          <a:p>
            <a:pPr lvl="1"/>
            <a:r>
              <a:rPr lang="en-US" altLang="en-US" dirty="0">
                <a:latin typeface="+mn-ea"/>
                <a:ea typeface="+mn-ea"/>
              </a:rPr>
              <a:t>Rather, </a:t>
            </a:r>
            <a:r>
              <a:rPr lang="en-US" altLang="en-US" b="1" dirty="0">
                <a:solidFill>
                  <a:srgbClr val="006699"/>
                </a:solidFill>
                <a:latin typeface="+mn-ea"/>
                <a:ea typeface="+mn-ea"/>
              </a:rPr>
              <a:t>dynamically</a:t>
            </a:r>
            <a:r>
              <a:rPr lang="en-US" altLang="en-US" b="1" dirty="0">
                <a:solidFill>
                  <a:srgbClr val="3366FF"/>
                </a:solidFill>
                <a:latin typeface="+mn-ea"/>
                <a:ea typeface="+mn-ea"/>
              </a:rPr>
              <a:t> </a:t>
            </a:r>
            <a:r>
              <a:rPr lang="en-US" altLang="en-US" b="1" dirty="0">
                <a:solidFill>
                  <a:srgbClr val="006699"/>
                </a:solidFill>
                <a:latin typeface="+mn-ea"/>
                <a:ea typeface="+mn-ea"/>
              </a:rPr>
              <a:t>linked</a:t>
            </a:r>
            <a:r>
              <a:rPr lang="en-US" altLang="en-US" b="1" dirty="0">
                <a:solidFill>
                  <a:srgbClr val="3366FF"/>
                </a:solidFill>
                <a:latin typeface="+mn-ea"/>
                <a:ea typeface="+mn-ea"/>
              </a:rPr>
              <a:t> </a:t>
            </a:r>
            <a:r>
              <a:rPr lang="en-US" altLang="en-US" b="1" dirty="0">
                <a:solidFill>
                  <a:srgbClr val="006699"/>
                </a:solidFill>
                <a:latin typeface="+mn-ea"/>
                <a:ea typeface="+mn-ea"/>
              </a:rPr>
              <a:t>libraries</a:t>
            </a:r>
            <a:r>
              <a:rPr lang="en-US" altLang="en-US" b="1" dirty="0">
                <a:solidFill>
                  <a:srgbClr val="3366FF"/>
                </a:solidFill>
                <a:latin typeface="+mn-ea"/>
                <a:ea typeface="+mn-ea"/>
              </a:rPr>
              <a:t> </a:t>
            </a:r>
            <a:r>
              <a:rPr lang="en-US" altLang="en-US" dirty="0">
                <a:latin typeface="+mn-ea"/>
                <a:ea typeface="+mn-ea"/>
              </a:rPr>
              <a:t>(in Windows, </a:t>
            </a:r>
            <a:r>
              <a:rPr lang="en-US" altLang="en-US" b="1" dirty="0">
                <a:solidFill>
                  <a:srgbClr val="006699"/>
                </a:solidFill>
                <a:latin typeface="+mn-ea"/>
                <a:ea typeface="+mn-ea"/>
              </a:rPr>
              <a:t>DLLs</a:t>
            </a:r>
            <a:r>
              <a:rPr lang="en-US" altLang="en-US" dirty="0">
                <a:latin typeface="+mn-ea"/>
                <a:ea typeface="+mn-ea"/>
              </a:rPr>
              <a:t>) are loaded as needed, shared by all that use the same version of that same library (loaded once)</a:t>
            </a:r>
          </a:p>
          <a:p>
            <a:r>
              <a:rPr lang="en-US" altLang="en-US" sz="2000" dirty="0">
                <a:latin typeface="+mn-ea"/>
                <a:ea typeface="+mn-ea"/>
              </a:rPr>
              <a:t>Object, executable files have standard formats, so operating system knows how to load and start them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2C7140E0-64EE-48A3-941C-70C6BCDF8D79}"/>
              </a:ext>
            </a:extLst>
          </p:cNvPr>
          <p:cNvSpPr>
            <a:spLocks noGrp="1" noChangeArrowheads="1"/>
          </p:cNvSpPr>
          <p:nvPr>
            <p:ph type="title"/>
          </p:nvPr>
        </p:nvSpPr>
        <p:spPr>
          <a:xfrm>
            <a:off x="960438" y="225425"/>
            <a:ext cx="7573962" cy="576263"/>
          </a:xfrm>
        </p:spPr>
        <p:txBody>
          <a:bodyPr/>
          <a:lstStyle/>
          <a:p>
            <a:r>
              <a:rPr lang="en-US" altLang="en-US" dirty="0"/>
              <a:t>Roles of Linker and Loader</a:t>
            </a:r>
          </a:p>
        </p:txBody>
      </p:sp>
      <p:pic>
        <p:nvPicPr>
          <p:cNvPr id="67587" name="Content Placeholder 6">
            <a:extLst>
              <a:ext uri="{FF2B5EF4-FFF2-40B4-BE49-F238E27FC236}">
                <a16:creationId xmlns:a16="http://schemas.microsoft.com/office/drawing/2014/main" id="{CD8E9885-D5F1-451A-B45F-8C24EB28DFFA}"/>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53576"/>
          <a:stretch>
            <a:fillRect/>
          </a:stretch>
        </p:blipFill>
        <p:spPr>
          <a:xfrm>
            <a:off x="2239572" y="1076350"/>
            <a:ext cx="2257324" cy="5126990"/>
          </a:xfrm>
        </p:spPr>
      </p:pic>
      <p:pic>
        <p:nvPicPr>
          <p:cNvPr id="2" name="Content Placeholder 6">
            <a:extLst>
              <a:ext uri="{FF2B5EF4-FFF2-40B4-BE49-F238E27FC236}">
                <a16:creationId xmlns:a16="http://schemas.microsoft.com/office/drawing/2014/main" id="{0C0715D2-B11A-531A-8C24-1D997E2533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430" b="15564"/>
          <a:stretch>
            <a:fillRect/>
          </a:stretch>
        </p:blipFill>
        <p:spPr bwMode="auto">
          <a:xfrm>
            <a:off x="4647106" y="1145655"/>
            <a:ext cx="2653384" cy="4329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1026">
            <a:extLst>
              <a:ext uri="{FF2B5EF4-FFF2-40B4-BE49-F238E27FC236}">
                <a16:creationId xmlns:a16="http://schemas.microsoft.com/office/drawing/2014/main" id="{9580D1A4-1911-40B7-90C7-4F5EE514923B}"/>
              </a:ext>
            </a:extLst>
          </p:cNvPr>
          <p:cNvSpPr>
            <a:spLocks noGrp="1" noChangeArrowheads="1"/>
          </p:cNvSpPr>
          <p:nvPr>
            <p:ph type="title"/>
          </p:nvPr>
        </p:nvSpPr>
        <p:spPr>
          <a:xfrm>
            <a:off x="1046126" y="154025"/>
            <a:ext cx="7712075" cy="576262"/>
          </a:xfrm>
        </p:spPr>
        <p:txBody>
          <a:bodyPr/>
          <a:lstStyle/>
          <a:p>
            <a:pPr eaLnBrk="1" hangingPunct="1"/>
            <a:r>
              <a:rPr lang="en-US" altLang="en-US" sz="2400" dirty="0"/>
              <a:t>Why Applications are Operating System Specific</a:t>
            </a:r>
          </a:p>
        </p:txBody>
      </p:sp>
      <p:sp>
        <p:nvSpPr>
          <p:cNvPr id="68611" name="Rectangle 1027">
            <a:extLst>
              <a:ext uri="{FF2B5EF4-FFF2-40B4-BE49-F238E27FC236}">
                <a16:creationId xmlns:a16="http://schemas.microsoft.com/office/drawing/2014/main" id="{672EE902-C4A8-4076-BE5F-A5B41CC5B7F0}"/>
              </a:ext>
            </a:extLst>
          </p:cNvPr>
          <p:cNvSpPr>
            <a:spLocks noGrp="1" noChangeArrowheads="1"/>
          </p:cNvSpPr>
          <p:nvPr>
            <p:ph idx="1"/>
          </p:nvPr>
        </p:nvSpPr>
        <p:spPr>
          <a:xfrm>
            <a:off x="838200" y="923444"/>
            <a:ext cx="7712075" cy="5157316"/>
          </a:xfrm>
        </p:spPr>
        <p:txBody>
          <a:bodyPr/>
          <a:lstStyle/>
          <a:p>
            <a:r>
              <a:rPr lang="en-US" altLang="en-US" sz="2000" dirty="0"/>
              <a:t>Apps compiled on one system usually not executable on other operating systems</a:t>
            </a:r>
          </a:p>
          <a:p>
            <a:r>
              <a:rPr lang="en-US" altLang="en-US" sz="2000" dirty="0"/>
              <a:t>Each operating system provides its own unique system calls</a:t>
            </a:r>
          </a:p>
          <a:p>
            <a:pPr lvl="1"/>
            <a:r>
              <a:rPr lang="en-US" altLang="en-US" dirty="0"/>
              <a:t>Own file formats, etc.</a:t>
            </a:r>
          </a:p>
          <a:p>
            <a:r>
              <a:rPr lang="en-US" altLang="en-US" sz="2000" dirty="0"/>
              <a:t>Apps can be multi-operating system</a:t>
            </a:r>
          </a:p>
          <a:p>
            <a:pPr lvl="1"/>
            <a:r>
              <a:rPr lang="en-US" altLang="en-US" dirty="0"/>
              <a:t>Written in interpreted language like Python, Ruby, and interpreter available on multiple operating systems</a:t>
            </a:r>
          </a:p>
          <a:p>
            <a:pPr lvl="1"/>
            <a:r>
              <a:rPr lang="en-US" altLang="en-US" dirty="0"/>
              <a:t>App written in language that includes a VM containing the running app (like Java)</a:t>
            </a:r>
          </a:p>
          <a:p>
            <a:pPr lvl="1"/>
            <a:r>
              <a:rPr lang="en-US" altLang="en-US" dirty="0"/>
              <a:t>Use standard language (like C), compile separately on each operating system to run on each</a:t>
            </a:r>
          </a:p>
          <a:p>
            <a:r>
              <a:rPr lang="en-US" altLang="en-US" sz="2000" b="1" dirty="0">
                <a:solidFill>
                  <a:srgbClr val="006699"/>
                </a:solidFill>
                <a:latin typeface="+mj-lt"/>
              </a:rPr>
              <a:t>Application</a:t>
            </a:r>
            <a:r>
              <a:rPr lang="en-US" altLang="en-US" sz="2000" b="1" dirty="0">
                <a:solidFill>
                  <a:srgbClr val="3366FF"/>
                </a:solidFill>
              </a:rPr>
              <a:t> </a:t>
            </a:r>
            <a:r>
              <a:rPr lang="en-US" altLang="en-US" sz="2000" b="1" dirty="0">
                <a:solidFill>
                  <a:srgbClr val="006699"/>
                </a:solidFill>
                <a:latin typeface="+mj-lt"/>
              </a:rPr>
              <a:t>Binary</a:t>
            </a:r>
            <a:r>
              <a:rPr lang="en-US" altLang="en-US" sz="2000" b="1" dirty="0">
                <a:solidFill>
                  <a:srgbClr val="3366FF"/>
                </a:solidFill>
              </a:rPr>
              <a:t> </a:t>
            </a:r>
            <a:r>
              <a:rPr lang="en-US" altLang="en-US" sz="2000" b="1" dirty="0">
                <a:solidFill>
                  <a:srgbClr val="006699"/>
                </a:solidFill>
                <a:latin typeface="+mj-lt"/>
              </a:rPr>
              <a:t>Interface</a:t>
            </a:r>
            <a:r>
              <a:rPr lang="en-US" altLang="en-US" sz="2000" b="1" dirty="0">
                <a:solidFill>
                  <a:srgbClr val="3366FF"/>
                </a:solidFill>
              </a:rPr>
              <a:t> </a:t>
            </a:r>
            <a:r>
              <a:rPr lang="en-US" altLang="en-US" sz="2000" dirty="0"/>
              <a:t>(</a:t>
            </a:r>
            <a:r>
              <a:rPr lang="en-US" altLang="en-US" sz="2000" b="1" dirty="0">
                <a:solidFill>
                  <a:srgbClr val="006699"/>
                </a:solidFill>
                <a:latin typeface="+mj-lt"/>
              </a:rPr>
              <a:t>ABI</a:t>
            </a:r>
            <a:r>
              <a:rPr lang="en-US" altLang="en-US" sz="2000" dirty="0"/>
              <a:t>) is architecture equivalent of API, defines how different components of binary code can interface for a given operating system on a given architecture, CPU, etc. </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26">
            <a:extLst>
              <a:ext uri="{FF2B5EF4-FFF2-40B4-BE49-F238E27FC236}">
                <a16:creationId xmlns:a16="http://schemas.microsoft.com/office/drawing/2014/main" id="{D00B8CF2-4503-4D02-BCAF-03B386FC6B16}"/>
              </a:ext>
            </a:extLst>
          </p:cNvPr>
          <p:cNvSpPr>
            <a:spLocks noGrp="1" noChangeArrowheads="1"/>
          </p:cNvSpPr>
          <p:nvPr>
            <p:ph type="title"/>
          </p:nvPr>
        </p:nvSpPr>
        <p:spPr>
          <a:xfrm>
            <a:off x="1079500" y="155141"/>
            <a:ext cx="7712075" cy="576262"/>
          </a:xfrm>
        </p:spPr>
        <p:txBody>
          <a:bodyPr/>
          <a:lstStyle/>
          <a:p>
            <a:pPr eaLnBrk="1" hangingPunct="1"/>
            <a:r>
              <a:rPr lang="en-US" altLang="en-US" dirty="0"/>
              <a:t>Design and Implementation</a:t>
            </a:r>
          </a:p>
        </p:txBody>
      </p:sp>
      <p:sp>
        <p:nvSpPr>
          <p:cNvPr id="70659" name="Rectangle 1027">
            <a:extLst>
              <a:ext uri="{FF2B5EF4-FFF2-40B4-BE49-F238E27FC236}">
                <a16:creationId xmlns:a16="http://schemas.microsoft.com/office/drawing/2014/main" id="{ED7882A4-6BC0-4135-94AC-5AE6FAF5E5A6}"/>
              </a:ext>
            </a:extLst>
          </p:cNvPr>
          <p:cNvSpPr>
            <a:spLocks noGrp="1" noChangeArrowheads="1"/>
          </p:cNvSpPr>
          <p:nvPr>
            <p:ph idx="1"/>
          </p:nvPr>
        </p:nvSpPr>
        <p:spPr>
          <a:xfrm>
            <a:off x="838200" y="1220788"/>
            <a:ext cx="7712075" cy="5006975"/>
          </a:xfrm>
        </p:spPr>
        <p:txBody>
          <a:bodyPr/>
          <a:lstStyle/>
          <a:p>
            <a:r>
              <a:rPr lang="en-US" altLang="en-US" sz="2000" dirty="0"/>
              <a:t>Design and Implementation of OS is not </a:t>
            </a:r>
            <a:r>
              <a:rPr lang="ja-JP" altLang="en-US" sz="2000" dirty="0"/>
              <a:t>“</a:t>
            </a:r>
            <a:r>
              <a:rPr lang="en-US" altLang="ja-JP" sz="2000" dirty="0"/>
              <a:t>solvable”, but some approaches have proven successful</a:t>
            </a:r>
            <a:endParaRPr lang="en-US" altLang="en-US" sz="2000" dirty="0"/>
          </a:p>
          <a:p>
            <a:r>
              <a:rPr lang="en-US" altLang="en-US" sz="2000" dirty="0"/>
              <a:t>Internal structure of different Operating Systems  can vary widely</a:t>
            </a:r>
          </a:p>
          <a:p>
            <a:r>
              <a:rPr lang="en-US" altLang="en-US" sz="2000" dirty="0"/>
              <a:t>Start the design by defining goals and specifications </a:t>
            </a:r>
          </a:p>
          <a:p>
            <a:r>
              <a:rPr lang="en-US" altLang="en-US" sz="2000" dirty="0"/>
              <a:t>Affected by choice of hardware, type of system</a:t>
            </a:r>
          </a:p>
          <a:p>
            <a:r>
              <a:rPr lang="en-US" altLang="en-US" sz="2000" b="1" dirty="0">
                <a:solidFill>
                  <a:srgbClr val="006699"/>
                </a:solidFill>
                <a:latin typeface="+mj-lt"/>
              </a:rPr>
              <a:t>User</a:t>
            </a:r>
            <a:r>
              <a:rPr lang="en-US" altLang="en-US" sz="2000" b="1" dirty="0">
                <a:solidFill>
                  <a:srgbClr val="3366FF"/>
                </a:solidFill>
              </a:rPr>
              <a:t> </a:t>
            </a:r>
            <a:r>
              <a:rPr lang="en-US" altLang="en-US" sz="2000" dirty="0"/>
              <a:t>goals and </a:t>
            </a:r>
            <a:r>
              <a:rPr lang="en-US" altLang="en-US" sz="2000" b="1" dirty="0">
                <a:solidFill>
                  <a:srgbClr val="006699"/>
                </a:solidFill>
                <a:latin typeface="+mj-lt"/>
              </a:rPr>
              <a:t>System</a:t>
            </a:r>
            <a:r>
              <a:rPr lang="en-US" altLang="en-US" sz="2000" b="1" dirty="0">
                <a:solidFill>
                  <a:srgbClr val="3366FF"/>
                </a:solidFill>
              </a:rPr>
              <a:t> </a:t>
            </a:r>
            <a:r>
              <a:rPr lang="en-US" altLang="en-US" sz="2000" dirty="0"/>
              <a:t>goals</a:t>
            </a:r>
          </a:p>
          <a:p>
            <a:pPr lvl="1"/>
            <a:r>
              <a:rPr lang="en-US" altLang="en-US" dirty="0"/>
              <a:t>User goals – operating system should be convenient to use, easy to learn, reliable, safe, and fast</a:t>
            </a:r>
          </a:p>
          <a:p>
            <a:pPr lvl="1"/>
            <a:r>
              <a:rPr lang="en-US" altLang="en-US" dirty="0"/>
              <a:t>System goals – operating system should be easy to design, implement, and maintain, as well as flexible, reliable, error-free, and efficient</a:t>
            </a:r>
          </a:p>
          <a:p>
            <a:r>
              <a:rPr lang="en-US" altLang="en-US" sz="2000" dirty="0"/>
              <a:t>Specifying and designing an OS is highly creative task of </a:t>
            </a:r>
            <a:r>
              <a:rPr lang="en-US" altLang="en-US" sz="2000" b="1" dirty="0">
                <a:solidFill>
                  <a:srgbClr val="006699"/>
                </a:solidFill>
                <a:latin typeface="+mj-lt"/>
              </a:rPr>
              <a:t>software</a:t>
            </a:r>
            <a:r>
              <a:rPr lang="en-US" altLang="en-US" sz="2000" b="1" dirty="0">
                <a:solidFill>
                  <a:srgbClr val="3366FF"/>
                </a:solidFill>
              </a:rPr>
              <a:t> </a:t>
            </a:r>
            <a:r>
              <a:rPr lang="en-US" altLang="en-US" sz="2000" b="1" dirty="0">
                <a:solidFill>
                  <a:srgbClr val="006699"/>
                </a:solidFill>
                <a:latin typeface="+mj-lt"/>
              </a:rPr>
              <a:t>engineering</a:t>
            </a:r>
          </a:p>
          <a:p>
            <a:endParaRPr lang="en-US" alt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39A46DEA-C931-4E75-8A7D-1F653B2ABC18}"/>
              </a:ext>
            </a:extLst>
          </p:cNvPr>
          <p:cNvSpPr>
            <a:spLocks noGrp="1" noChangeArrowheads="1"/>
          </p:cNvSpPr>
          <p:nvPr>
            <p:ph type="title"/>
          </p:nvPr>
        </p:nvSpPr>
        <p:spPr>
          <a:xfrm>
            <a:off x="1051377" y="139214"/>
            <a:ext cx="8229600" cy="576263"/>
          </a:xfrm>
        </p:spPr>
        <p:txBody>
          <a:bodyPr/>
          <a:lstStyle/>
          <a:p>
            <a:pPr eaLnBrk="1" hangingPunct="1"/>
            <a:r>
              <a:rPr lang="en-US" altLang="en-US" dirty="0"/>
              <a:t>Policy and Mechanism</a:t>
            </a:r>
          </a:p>
        </p:txBody>
      </p:sp>
      <p:sp>
        <p:nvSpPr>
          <p:cNvPr id="72707" name="Rectangle 3">
            <a:extLst>
              <a:ext uri="{FF2B5EF4-FFF2-40B4-BE49-F238E27FC236}">
                <a16:creationId xmlns:a16="http://schemas.microsoft.com/office/drawing/2014/main" id="{0D1CF5C7-7F67-4FFA-B5D4-75EB6F865E5C}"/>
              </a:ext>
            </a:extLst>
          </p:cNvPr>
          <p:cNvSpPr>
            <a:spLocks noGrp="1" noChangeArrowheads="1"/>
          </p:cNvSpPr>
          <p:nvPr>
            <p:ph type="body" idx="1"/>
          </p:nvPr>
        </p:nvSpPr>
        <p:spPr>
          <a:xfrm>
            <a:off x="839788" y="1141992"/>
            <a:ext cx="7561262" cy="4264022"/>
          </a:xfrm>
        </p:spPr>
        <p:txBody>
          <a:bodyPr/>
          <a:lstStyle/>
          <a:p>
            <a:r>
              <a:rPr lang="en-US" altLang="en-US" sz="2000" b="1" dirty="0">
                <a:solidFill>
                  <a:srgbClr val="006699"/>
                </a:solidFill>
                <a:latin typeface="+mn-ea"/>
                <a:ea typeface="+mn-ea"/>
              </a:rPr>
              <a:t>Policy</a:t>
            </a:r>
            <a:r>
              <a:rPr lang="en-US" altLang="en-US" sz="2000" b="1" dirty="0">
                <a:latin typeface="+mn-ea"/>
                <a:ea typeface="+mn-ea"/>
              </a:rPr>
              <a:t>:   What </a:t>
            </a:r>
            <a:r>
              <a:rPr lang="en-US" altLang="en-US" sz="2000" dirty="0">
                <a:latin typeface="+mn-ea"/>
                <a:ea typeface="+mn-ea"/>
              </a:rPr>
              <a:t>needs to be done?</a:t>
            </a:r>
            <a:r>
              <a:rPr lang="en-US" altLang="en-US" sz="2000" b="1" dirty="0">
                <a:latin typeface="+mn-ea"/>
                <a:ea typeface="+mn-ea"/>
              </a:rPr>
              <a:t> </a:t>
            </a:r>
          </a:p>
          <a:p>
            <a:pPr lvl="1"/>
            <a:r>
              <a:rPr lang="en-US" altLang="en-US" dirty="0">
                <a:latin typeface="+mn-ea"/>
                <a:ea typeface="+mn-ea"/>
              </a:rPr>
              <a:t>Example: Interrupt after every 100 seconds</a:t>
            </a:r>
          </a:p>
          <a:p>
            <a:r>
              <a:rPr lang="en-US" altLang="en-US" sz="2000" b="1" dirty="0">
                <a:solidFill>
                  <a:srgbClr val="006699"/>
                </a:solidFill>
                <a:latin typeface="+mn-ea"/>
                <a:ea typeface="+mn-ea"/>
              </a:rPr>
              <a:t>Mechanism</a:t>
            </a:r>
            <a:r>
              <a:rPr lang="en-US" altLang="en-US" sz="2000" b="1" dirty="0">
                <a:latin typeface="+mn-ea"/>
                <a:ea typeface="+mn-ea"/>
              </a:rPr>
              <a:t>:  How</a:t>
            </a:r>
            <a:r>
              <a:rPr lang="en-US" altLang="en-US" sz="2000" dirty="0">
                <a:latin typeface="+mn-ea"/>
                <a:ea typeface="+mn-ea"/>
              </a:rPr>
              <a:t> to do something?</a:t>
            </a:r>
          </a:p>
          <a:p>
            <a:pPr lvl="1"/>
            <a:r>
              <a:rPr lang="en-US" altLang="en-US" dirty="0">
                <a:latin typeface="+mn-ea"/>
                <a:ea typeface="+mn-ea"/>
              </a:rPr>
              <a:t>Example: timer</a:t>
            </a:r>
          </a:p>
          <a:p>
            <a:r>
              <a:rPr lang="en-US" altLang="en-US" sz="2000" dirty="0">
                <a:latin typeface="+mn-ea"/>
                <a:ea typeface="+mn-ea"/>
              </a:rPr>
              <a:t>Important principle: separate policy from mechanism</a:t>
            </a:r>
          </a:p>
          <a:p>
            <a:r>
              <a:rPr lang="en-US" altLang="en-US" sz="2000" dirty="0">
                <a:latin typeface="+mn-ea"/>
                <a:ea typeface="+mn-ea"/>
              </a:rPr>
              <a:t>The separation of policy from mechanism is a very important principle, it allows maximum flexibility if policy decisions are to be changed later</a:t>
            </a:r>
          </a:p>
          <a:p>
            <a:pPr lvl="1"/>
            <a:r>
              <a:rPr lang="en-US" altLang="en-US" dirty="0">
                <a:latin typeface="+mn-ea"/>
                <a:ea typeface="+mn-ea"/>
              </a:rPr>
              <a:t>Example: change 100 to 200</a:t>
            </a:r>
          </a:p>
          <a:p>
            <a:pPr>
              <a:buFont typeface="Monotype Sorts" pitchFamily="-84" charset="2"/>
              <a:buNone/>
            </a:pPr>
            <a:endParaRPr lang="en-US" altLang="en-US" dirty="0">
              <a:latin typeface="+mn-ea"/>
              <a:ea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9B47C81-CC5F-41DF-A7CB-841B5D4FAD93}"/>
              </a:ext>
            </a:extLst>
          </p:cNvPr>
          <p:cNvSpPr>
            <a:spLocks noGrp="1" noChangeArrowheads="1"/>
          </p:cNvSpPr>
          <p:nvPr>
            <p:ph type="title"/>
          </p:nvPr>
        </p:nvSpPr>
        <p:spPr>
          <a:xfrm>
            <a:off x="495300" y="217488"/>
            <a:ext cx="8072438" cy="576262"/>
          </a:xfrm>
        </p:spPr>
        <p:txBody>
          <a:bodyPr/>
          <a:lstStyle/>
          <a:p>
            <a:pPr eaLnBrk="1" hangingPunct="1"/>
            <a:r>
              <a:rPr lang="en-US" altLang="en-US" dirty="0"/>
              <a:t>Implementation</a:t>
            </a:r>
          </a:p>
        </p:txBody>
      </p:sp>
      <p:sp>
        <p:nvSpPr>
          <p:cNvPr id="74755" name="Rectangle 3">
            <a:extLst>
              <a:ext uri="{FF2B5EF4-FFF2-40B4-BE49-F238E27FC236}">
                <a16:creationId xmlns:a16="http://schemas.microsoft.com/office/drawing/2014/main" id="{E46642F7-9177-432C-8182-DEEABD676CA3}"/>
              </a:ext>
            </a:extLst>
          </p:cNvPr>
          <p:cNvSpPr>
            <a:spLocks noGrp="1" noChangeArrowheads="1"/>
          </p:cNvSpPr>
          <p:nvPr>
            <p:ph type="body" idx="1"/>
          </p:nvPr>
        </p:nvSpPr>
        <p:spPr>
          <a:xfrm>
            <a:off x="994410" y="1092200"/>
            <a:ext cx="7544753" cy="4530725"/>
          </a:xfrm>
        </p:spPr>
        <p:txBody>
          <a:bodyPr/>
          <a:lstStyle/>
          <a:p>
            <a:r>
              <a:rPr lang="en-US" altLang="en-US" sz="2000" dirty="0">
                <a:latin typeface="+mn-ea"/>
                <a:ea typeface="+mn-ea"/>
              </a:rPr>
              <a:t>Much variation</a:t>
            </a:r>
          </a:p>
          <a:p>
            <a:pPr lvl="1"/>
            <a:r>
              <a:rPr lang="en-US" altLang="en-US" dirty="0">
                <a:latin typeface="+mn-ea"/>
                <a:ea typeface="+mn-ea"/>
              </a:rPr>
              <a:t>Early OSes in assembly language</a:t>
            </a:r>
          </a:p>
          <a:p>
            <a:pPr lvl="1"/>
            <a:r>
              <a:rPr lang="en-US" altLang="en-US" dirty="0">
                <a:latin typeface="+mn-ea"/>
                <a:ea typeface="+mn-ea"/>
              </a:rPr>
              <a:t>Then system programming languages like Algol, PL/1</a:t>
            </a:r>
          </a:p>
          <a:p>
            <a:pPr lvl="1"/>
            <a:r>
              <a:rPr lang="en-US" altLang="en-US" dirty="0">
                <a:latin typeface="+mn-ea"/>
                <a:ea typeface="+mn-ea"/>
              </a:rPr>
              <a:t>Now C, C++</a:t>
            </a:r>
          </a:p>
          <a:p>
            <a:r>
              <a:rPr lang="en-US" altLang="en-US" sz="2000" dirty="0">
                <a:latin typeface="+mn-ea"/>
                <a:ea typeface="+mn-ea"/>
              </a:rPr>
              <a:t>Actually usually a mix of languages</a:t>
            </a:r>
          </a:p>
          <a:p>
            <a:pPr lvl="1"/>
            <a:r>
              <a:rPr lang="en-US" altLang="en-US" dirty="0">
                <a:latin typeface="+mn-ea"/>
                <a:ea typeface="+mn-ea"/>
              </a:rPr>
              <a:t>Lowest levels in assembly</a:t>
            </a:r>
          </a:p>
          <a:p>
            <a:pPr lvl="1"/>
            <a:r>
              <a:rPr lang="en-US" altLang="en-US" dirty="0">
                <a:latin typeface="+mn-ea"/>
                <a:ea typeface="+mn-ea"/>
              </a:rPr>
              <a:t>Main body in C</a:t>
            </a:r>
          </a:p>
          <a:p>
            <a:pPr lvl="1"/>
            <a:r>
              <a:rPr lang="en-US" altLang="en-US" dirty="0">
                <a:latin typeface="+mn-ea"/>
                <a:ea typeface="+mn-ea"/>
              </a:rPr>
              <a:t>Systems programs in C, C++, scripting languages like PERL, Python, shell scripts</a:t>
            </a:r>
          </a:p>
          <a:p>
            <a:r>
              <a:rPr lang="en-US" altLang="en-US" sz="2000" dirty="0">
                <a:latin typeface="+mn-ea"/>
                <a:ea typeface="+mn-ea"/>
              </a:rPr>
              <a:t>More high-level language easier to</a:t>
            </a:r>
            <a:r>
              <a:rPr lang="en-US" altLang="en-US" sz="2000" b="1" dirty="0">
                <a:solidFill>
                  <a:srgbClr val="3366FF"/>
                </a:solidFill>
                <a:latin typeface="+mn-ea"/>
                <a:ea typeface="+mn-ea"/>
              </a:rPr>
              <a:t> </a:t>
            </a:r>
            <a:r>
              <a:rPr lang="en-US" altLang="en-US" sz="2000" b="1" dirty="0">
                <a:solidFill>
                  <a:srgbClr val="006699"/>
                </a:solidFill>
                <a:latin typeface="+mn-ea"/>
                <a:ea typeface="+mn-ea"/>
              </a:rPr>
              <a:t>port</a:t>
            </a:r>
            <a:r>
              <a:rPr lang="en-US" altLang="en-US" sz="2000" b="1" dirty="0">
                <a:solidFill>
                  <a:srgbClr val="3366FF"/>
                </a:solidFill>
                <a:latin typeface="+mn-ea"/>
                <a:ea typeface="+mn-ea"/>
              </a:rPr>
              <a:t> </a:t>
            </a:r>
            <a:r>
              <a:rPr lang="en-US" altLang="en-US" sz="2000" dirty="0">
                <a:latin typeface="+mn-ea"/>
                <a:ea typeface="+mn-ea"/>
              </a:rPr>
              <a:t>to other hardware</a:t>
            </a:r>
          </a:p>
          <a:p>
            <a:pPr lvl="1"/>
            <a:r>
              <a:rPr lang="en-US" altLang="en-US" dirty="0">
                <a:latin typeface="+mn-ea"/>
                <a:ea typeface="+mn-ea"/>
              </a:rPr>
              <a:t>But slower</a:t>
            </a:r>
          </a:p>
          <a:p>
            <a:r>
              <a:rPr lang="en-US" altLang="en-US" sz="2000" b="1" dirty="0">
                <a:solidFill>
                  <a:srgbClr val="006699"/>
                </a:solidFill>
                <a:latin typeface="+mn-ea"/>
                <a:ea typeface="+mn-ea"/>
              </a:rPr>
              <a:t>Emulation</a:t>
            </a:r>
            <a:r>
              <a:rPr lang="en-US" altLang="en-US" sz="2000" dirty="0">
                <a:latin typeface="+mn-ea"/>
                <a:ea typeface="+mn-ea"/>
              </a:rPr>
              <a:t> can allow an OS to run on non-native hardware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6CD12CFE-09B0-48A4-9AEE-9A58E11BB892}"/>
              </a:ext>
            </a:extLst>
          </p:cNvPr>
          <p:cNvSpPr>
            <a:spLocks noGrp="1" noChangeArrowheads="1"/>
          </p:cNvSpPr>
          <p:nvPr>
            <p:ph type="title"/>
          </p:nvPr>
        </p:nvSpPr>
        <p:spPr>
          <a:xfrm>
            <a:off x="457200" y="220663"/>
            <a:ext cx="8229600" cy="576262"/>
          </a:xfrm>
        </p:spPr>
        <p:txBody>
          <a:bodyPr/>
          <a:lstStyle/>
          <a:p>
            <a:r>
              <a:rPr lang="en-US" altLang="en-US"/>
              <a:t>Operating System Structure</a:t>
            </a:r>
          </a:p>
        </p:txBody>
      </p:sp>
      <p:sp>
        <p:nvSpPr>
          <p:cNvPr id="76803" name="Content Placeholder 2">
            <a:extLst>
              <a:ext uri="{FF2B5EF4-FFF2-40B4-BE49-F238E27FC236}">
                <a16:creationId xmlns:a16="http://schemas.microsoft.com/office/drawing/2014/main" id="{7C77CAAD-91EB-4676-A633-22880A53EEF1}"/>
              </a:ext>
            </a:extLst>
          </p:cNvPr>
          <p:cNvSpPr>
            <a:spLocks noGrp="1" noChangeArrowheads="1"/>
          </p:cNvSpPr>
          <p:nvPr>
            <p:ph idx="1"/>
          </p:nvPr>
        </p:nvSpPr>
        <p:spPr>
          <a:xfrm>
            <a:off x="1112837" y="1058545"/>
            <a:ext cx="6918325" cy="2976245"/>
          </a:xfrm>
        </p:spPr>
        <p:txBody>
          <a:bodyPr/>
          <a:lstStyle/>
          <a:p>
            <a:r>
              <a:rPr lang="en-US" altLang="en-US" sz="2000" dirty="0"/>
              <a:t>General-purpose OS is very large program</a:t>
            </a:r>
          </a:p>
          <a:p>
            <a:r>
              <a:rPr lang="en-US" altLang="en-US" sz="2000" dirty="0"/>
              <a:t>Various ways to structure ones</a:t>
            </a:r>
          </a:p>
          <a:p>
            <a:pPr lvl="1"/>
            <a:r>
              <a:rPr lang="en-US" altLang="en-US" sz="2000" dirty="0"/>
              <a:t>Simple structure – MS-DOS</a:t>
            </a:r>
          </a:p>
          <a:p>
            <a:pPr lvl="1"/>
            <a:r>
              <a:rPr lang="en-US" altLang="en-US" sz="2000" dirty="0"/>
              <a:t>More complex – UNIX</a:t>
            </a:r>
          </a:p>
          <a:p>
            <a:pPr lvl="1"/>
            <a:r>
              <a:rPr lang="en-US" altLang="en-US" sz="2000" dirty="0"/>
              <a:t>Layered – an abstraction</a:t>
            </a:r>
          </a:p>
          <a:p>
            <a:pPr lvl="1"/>
            <a:r>
              <a:rPr lang="en-US" altLang="en-US" sz="2000" dirty="0"/>
              <a:t>Microkernel – Mach</a:t>
            </a:r>
          </a:p>
          <a:p>
            <a:endParaRPr lang="en-US"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377E7B4-9EBE-4C2B-8887-F7A7B2906CE0}"/>
              </a:ext>
            </a:extLst>
          </p:cNvPr>
          <p:cNvSpPr>
            <a:spLocks noGrp="1" noChangeArrowheads="1"/>
          </p:cNvSpPr>
          <p:nvPr>
            <p:ph type="title"/>
          </p:nvPr>
        </p:nvSpPr>
        <p:spPr>
          <a:xfrm>
            <a:off x="869320" y="289485"/>
            <a:ext cx="8137525" cy="457200"/>
          </a:xfrm>
        </p:spPr>
        <p:txBody>
          <a:bodyPr/>
          <a:lstStyle/>
          <a:p>
            <a:pPr eaLnBrk="1" hangingPunct="1"/>
            <a:r>
              <a:rPr lang="en-US" altLang="en-US"/>
              <a:t>Monolithic Structure – Original UNIX</a:t>
            </a:r>
          </a:p>
        </p:txBody>
      </p:sp>
      <p:sp>
        <p:nvSpPr>
          <p:cNvPr id="77827" name="Rectangle 3">
            <a:extLst>
              <a:ext uri="{FF2B5EF4-FFF2-40B4-BE49-F238E27FC236}">
                <a16:creationId xmlns:a16="http://schemas.microsoft.com/office/drawing/2014/main" id="{FC6D798A-4128-40D0-B643-81391EF1733D}"/>
              </a:ext>
            </a:extLst>
          </p:cNvPr>
          <p:cNvSpPr>
            <a:spLocks noGrp="1" noChangeArrowheads="1"/>
          </p:cNvSpPr>
          <p:nvPr>
            <p:ph type="body" idx="1"/>
          </p:nvPr>
        </p:nvSpPr>
        <p:spPr>
          <a:xfrm>
            <a:off x="839788" y="1155701"/>
            <a:ext cx="7743825" cy="3713480"/>
          </a:xfrm>
        </p:spPr>
        <p:txBody>
          <a:bodyPr/>
          <a:lstStyle/>
          <a:p>
            <a:r>
              <a:rPr lang="en-US" altLang="en-US" sz="2000" dirty="0"/>
              <a:t>UNIX – limited by hardware functionality, the original UNIX operating system had limited structuring.  </a:t>
            </a:r>
          </a:p>
          <a:p>
            <a:r>
              <a:rPr lang="en-US" altLang="en-US" sz="2000" dirty="0"/>
              <a:t>The UNIX OS consists of two separable parts</a:t>
            </a:r>
          </a:p>
          <a:p>
            <a:pPr lvl="1"/>
            <a:r>
              <a:rPr lang="en-US" altLang="en-US" dirty="0"/>
              <a:t>Systems programs</a:t>
            </a:r>
          </a:p>
          <a:p>
            <a:pPr lvl="1"/>
            <a:r>
              <a:rPr lang="en-US" altLang="en-US" dirty="0"/>
              <a:t>The kernel</a:t>
            </a:r>
          </a:p>
          <a:p>
            <a:pPr lvl="2"/>
            <a:r>
              <a:rPr lang="en-US" altLang="en-US" dirty="0"/>
              <a:t>Consists of everything below the system-call interface and above the physical hardware</a:t>
            </a:r>
          </a:p>
          <a:p>
            <a:pPr lvl="2"/>
            <a:r>
              <a:rPr lang="en-US" altLang="en-US" dirty="0"/>
              <a:t>Provides the file system, CPU scheduling, memory management, and other operating-system functions; a large number of functions for one level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3CFC2B06-0A35-4F30-AA6D-A9E4B2E7F3AA}"/>
              </a:ext>
            </a:extLst>
          </p:cNvPr>
          <p:cNvSpPr>
            <a:spLocks noGrp="1" noChangeArrowheads="1"/>
          </p:cNvSpPr>
          <p:nvPr>
            <p:ph type="title"/>
          </p:nvPr>
        </p:nvSpPr>
        <p:spPr>
          <a:xfrm>
            <a:off x="863600" y="206375"/>
            <a:ext cx="7693025" cy="576263"/>
          </a:xfrm>
        </p:spPr>
        <p:txBody>
          <a:bodyPr/>
          <a:lstStyle/>
          <a:p>
            <a:pPr eaLnBrk="1" hangingPunct="1"/>
            <a:r>
              <a:rPr lang="en-US" altLang="en-US"/>
              <a:t>Traditional UNIX System Structure</a:t>
            </a:r>
          </a:p>
        </p:txBody>
      </p:sp>
      <p:sp>
        <p:nvSpPr>
          <p:cNvPr id="43011" name="TextBox 1">
            <a:extLst>
              <a:ext uri="{FF2B5EF4-FFF2-40B4-BE49-F238E27FC236}">
                <a16:creationId xmlns:a16="http://schemas.microsoft.com/office/drawing/2014/main" id="{5706A7FC-049C-41F9-8FDB-970715988494}"/>
              </a:ext>
            </a:extLst>
          </p:cNvPr>
          <p:cNvSpPr txBox="1">
            <a:spLocks noChangeArrowheads="1"/>
          </p:cNvSpPr>
          <p:nvPr/>
        </p:nvSpPr>
        <p:spPr bwMode="auto">
          <a:xfrm>
            <a:off x="1316038" y="1096963"/>
            <a:ext cx="68976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285750" indent="-285750">
              <a:buClr>
                <a:srgbClr val="996600"/>
              </a:buClr>
              <a:buFont typeface="Wingdings" panose="05000000000000000000" pitchFamily="2" charset="2"/>
              <a:buChar char="n"/>
              <a:defRPr/>
            </a:pPr>
            <a:r>
              <a:rPr lang="en-US" altLang="en-US" sz="2000" dirty="0">
                <a:latin typeface="+mn-lt"/>
              </a:rPr>
              <a:t>Beyond simple but not fully layered</a:t>
            </a:r>
          </a:p>
        </p:txBody>
      </p:sp>
      <p:pic>
        <p:nvPicPr>
          <p:cNvPr id="79876" name="Picture 2">
            <a:extLst>
              <a:ext uri="{FF2B5EF4-FFF2-40B4-BE49-F238E27FC236}">
                <a16:creationId xmlns:a16="http://schemas.microsoft.com/office/drawing/2014/main" id="{0AF4FCDF-1BC0-40A0-B88F-416549435D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9169" y="1718273"/>
            <a:ext cx="6409756" cy="3872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38BB792-4B15-4757-85D3-D0B6840E07CC}"/>
              </a:ext>
            </a:extLst>
          </p:cNvPr>
          <p:cNvSpPr>
            <a:spLocks noGrp="1" noChangeArrowheads="1"/>
          </p:cNvSpPr>
          <p:nvPr>
            <p:ph type="title"/>
          </p:nvPr>
        </p:nvSpPr>
        <p:spPr>
          <a:xfrm>
            <a:off x="863600" y="215900"/>
            <a:ext cx="7645400" cy="576263"/>
          </a:xfrm>
        </p:spPr>
        <p:txBody>
          <a:bodyPr/>
          <a:lstStyle/>
          <a:p>
            <a:pPr eaLnBrk="1" hangingPunct="1"/>
            <a:r>
              <a:rPr lang="en-US" altLang="en-US"/>
              <a:t>Linux System Structure</a:t>
            </a:r>
          </a:p>
        </p:txBody>
      </p:sp>
      <p:sp>
        <p:nvSpPr>
          <p:cNvPr id="81923" name="TextBox 1">
            <a:extLst>
              <a:ext uri="{FF2B5EF4-FFF2-40B4-BE49-F238E27FC236}">
                <a16:creationId xmlns:a16="http://schemas.microsoft.com/office/drawing/2014/main" id="{40FACBEC-A814-4EAA-BD5E-E6B0EC8188F9}"/>
              </a:ext>
            </a:extLst>
          </p:cNvPr>
          <p:cNvSpPr txBox="1">
            <a:spLocks noChangeArrowheads="1"/>
          </p:cNvSpPr>
          <p:nvPr/>
        </p:nvSpPr>
        <p:spPr bwMode="auto">
          <a:xfrm>
            <a:off x="1225550" y="1096963"/>
            <a:ext cx="6988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285750" indent="-285750">
              <a:spcBef>
                <a:spcPct val="0"/>
              </a:spcBef>
              <a:buClr>
                <a:srgbClr val="996600"/>
              </a:buClr>
              <a:buSzTx/>
              <a:buFont typeface="Wingdings" panose="05000000000000000000" pitchFamily="2" charset="2"/>
              <a:buChar char="n"/>
            </a:pPr>
            <a:r>
              <a:rPr kumimoji="0" lang="en-US" altLang="en-US" sz="2000" dirty="0">
                <a:latin typeface="Verdana" panose="020B0604030504040204" pitchFamily="34" charset="0"/>
              </a:rPr>
              <a:t>Monolithic plus modular design</a:t>
            </a:r>
          </a:p>
        </p:txBody>
      </p:sp>
      <p:pic>
        <p:nvPicPr>
          <p:cNvPr id="81924" name="Picture 3">
            <a:extLst>
              <a:ext uri="{FF2B5EF4-FFF2-40B4-BE49-F238E27FC236}">
                <a16:creationId xmlns:a16="http://schemas.microsoft.com/office/drawing/2014/main" id="{3916281A-E631-49D0-A316-EE6C756C91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5230" y="1674471"/>
            <a:ext cx="2972680" cy="4592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7D347B9A-F212-4276-94F4-7598F322B291}"/>
              </a:ext>
            </a:extLst>
          </p:cNvPr>
          <p:cNvSpPr>
            <a:spLocks noGrp="1" noChangeArrowheads="1"/>
          </p:cNvSpPr>
          <p:nvPr>
            <p:ph type="title"/>
          </p:nvPr>
        </p:nvSpPr>
        <p:spPr>
          <a:xfrm>
            <a:off x="457200" y="207963"/>
            <a:ext cx="8061325" cy="576262"/>
          </a:xfrm>
        </p:spPr>
        <p:txBody>
          <a:bodyPr/>
          <a:lstStyle/>
          <a:p>
            <a:pPr eaLnBrk="1" hangingPunct="1"/>
            <a:r>
              <a:rPr lang="en-US" altLang="en-US"/>
              <a:t>Layered Approach</a:t>
            </a:r>
          </a:p>
        </p:txBody>
      </p:sp>
      <p:sp>
        <p:nvSpPr>
          <p:cNvPr id="83971" name="Rectangle 3">
            <a:extLst>
              <a:ext uri="{FF2B5EF4-FFF2-40B4-BE49-F238E27FC236}">
                <a16:creationId xmlns:a16="http://schemas.microsoft.com/office/drawing/2014/main" id="{EF88837C-C3AF-4F6B-BDE3-AD82D9B29A62}"/>
              </a:ext>
            </a:extLst>
          </p:cNvPr>
          <p:cNvSpPr>
            <a:spLocks noGrp="1" noChangeArrowheads="1"/>
          </p:cNvSpPr>
          <p:nvPr>
            <p:ph type="body" idx="1"/>
          </p:nvPr>
        </p:nvSpPr>
        <p:spPr>
          <a:xfrm>
            <a:off x="763588" y="1529856"/>
            <a:ext cx="4368482" cy="3749992"/>
          </a:xfrm>
        </p:spPr>
        <p:txBody>
          <a:bodyPr/>
          <a:lstStyle/>
          <a:p>
            <a:r>
              <a:rPr lang="en-US" altLang="en-US" sz="2000" dirty="0"/>
              <a:t>The operating system is divided into a number of layers (levels), each built on top of lower layers.  The bottom layer (layer 0), is the hardware; the highest (layer N) is the user interface.</a:t>
            </a:r>
          </a:p>
          <a:p>
            <a:r>
              <a:rPr lang="en-US" altLang="en-US" sz="2000" dirty="0"/>
              <a:t>With modularity, layers are selected such that each uses functions (operations) and services of only lower-level layers</a:t>
            </a:r>
          </a:p>
        </p:txBody>
      </p:sp>
      <p:pic>
        <p:nvPicPr>
          <p:cNvPr id="83972" name="Picture 2">
            <a:extLst>
              <a:ext uri="{FF2B5EF4-FFF2-40B4-BE49-F238E27FC236}">
                <a16:creationId xmlns:a16="http://schemas.microsoft.com/office/drawing/2014/main" id="{407A23F2-DA55-4CEE-97C1-871903D963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4787" y="1600627"/>
            <a:ext cx="3547958" cy="3289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A877023E-2F55-41F6-99AD-606BBD5F506F}"/>
              </a:ext>
            </a:extLst>
          </p:cNvPr>
          <p:cNvSpPr>
            <a:spLocks noGrp="1" noChangeArrowheads="1"/>
          </p:cNvSpPr>
          <p:nvPr>
            <p:ph type="title"/>
          </p:nvPr>
        </p:nvSpPr>
        <p:spPr>
          <a:xfrm>
            <a:off x="757238" y="207963"/>
            <a:ext cx="7816850" cy="576262"/>
          </a:xfrm>
        </p:spPr>
        <p:txBody>
          <a:bodyPr/>
          <a:lstStyle/>
          <a:p>
            <a:pPr eaLnBrk="1" hangingPunct="1"/>
            <a:r>
              <a:rPr lang="en-US" altLang="en-US"/>
              <a:t>Microkernels</a:t>
            </a:r>
            <a:endParaRPr lang="en-US" altLang="en-US" sz="2400"/>
          </a:p>
        </p:txBody>
      </p:sp>
      <p:sp>
        <p:nvSpPr>
          <p:cNvPr id="86019" name="Rectangle 3">
            <a:extLst>
              <a:ext uri="{FF2B5EF4-FFF2-40B4-BE49-F238E27FC236}">
                <a16:creationId xmlns:a16="http://schemas.microsoft.com/office/drawing/2014/main" id="{F3C84D0A-C5EC-46A8-A546-5363A149B9F9}"/>
              </a:ext>
            </a:extLst>
          </p:cNvPr>
          <p:cNvSpPr>
            <a:spLocks noGrp="1" noChangeArrowheads="1"/>
          </p:cNvSpPr>
          <p:nvPr>
            <p:ph idx="1"/>
          </p:nvPr>
        </p:nvSpPr>
        <p:spPr>
          <a:xfrm>
            <a:off x="757238" y="1108075"/>
            <a:ext cx="7986712" cy="4857296"/>
          </a:xfrm>
        </p:spPr>
        <p:txBody>
          <a:bodyPr/>
          <a:lstStyle/>
          <a:p>
            <a:r>
              <a:rPr lang="en-US" altLang="en-US" sz="2000" dirty="0">
                <a:latin typeface="+mn-ea"/>
                <a:ea typeface="+mn-ea"/>
              </a:rPr>
              <a:t>Moves as much from the kernel into user space</a:t>
            </a:r>
          </a:p>
          <a:p>
            <a:r>
              <a:rPr lang="en-US" altLang="en-US" sz="2000" b="1" dirty="0">
                <a:solidFill>
                  <a:srgbClr val="006699"/>
                </a:solidFill>
                <a:latin typeface="+mn-ea"/>
                <a:ea typeface="+mn-ea"/>
              </a:rPr>
              <a:t>Mach</a:t>
            </a:r>
            <a:r>
              <a:rPr lang="en-US" altLang="en-US" sz="2000" dirty="0">
                <a:latin typeface="+mn-ea"/>
                <a:ea typeface="+mn-ea"/>
              </a:rPr>
              <a:t> is an example of </a:t>
            </a:r>
            <a:r>
              <a:rPr lang="en-US" altLang="en-US" sz="2000" b="1" dirty="0">
                <a:solidFill>
                  <a:srgbClr val="006699"/>
                </a:solidFill>
                <a:latin typeface="+mn-ea"/>
                <a:ea typeface="+mn-ea"/>
              </a:rPr>
              <a:t>microkernel</a:t>
            </a:r>
          </a:p>
          <a:p>
            <a:pPr lvl="1"/>
            <a:r>
              <a:rPr lang="en-US" altLang="en-US" dirty="0">
                <a:latin typeface="+mn-ea"/>
                <a:ea typeface="+mn-ea"/>
              </a:rPr>
              <a:t>Mac OS X kernel (</a:t>
            </a:r>
            <a:r>
              <a:rPr lang="en-US" altLang="en-US" b="1" dirty="0">
                <a:solidFill>
                  <a:srgbClr val="006699"/>
                </a:solidFill>
                <a:latin typeface="+mn-ea"/>
                <a:ea typeface="+mn-ea"/>
              </a:rPr>
              <a:t>Darwin</a:t>
            </a:r>
            <a:r>
              <a:rPr lang="en-US" altLang="en-US" dirty="0">
                <a:latin typeface="+mn-ea"/>
                <a:ea typeface="+mn-ea"/>
              </a:rPr>
              <a:t>) partly based on Mach</a:t>
            </a:r>
          </a:p>
          <a:p>
            <a:r>
              <a:rPr lang="en-US" altLang="en-US" sz="2000" dirty="0">
                <a:latin typeface="+mn-ea"/>
                <a:ea typeface="+mn-ea"/>
              </a:rPr>
              <a:t>Communication takes place between user modules using </a:t>
            </a:r>
            <a:r>
              <a:rPr lang="en-US" altLang="en-US" sz="2000" b="1" dirty="0">
                <a:solidFill>
                  <a:srgbClr val="006699"/>
                </a:solidFill>
                <a:latin typeface="+mn-ea"/>
                <a:ea typeface="+mn-ea"/>
              </a:rPr>
              <a:t>message</a:t>
            </a:r>
            <a:r>
              <a:rPr lang="en-US" altLang="en-US" sz="2000" b="1" dirty="0">
                <a:solidFill>
                  <a:srgbClr val="3366FF"/>
                </a:solidFill>
                <a:latin typeface="+mn-ea"/>
                <a:ea typeface="+mn-ea"/>
              </a:rPr>
              <a:t> </a:t>
            </a:r>
            <a:r>
              <a:rPr lang="en-US" altLang="en-US" sz="2000" b="1" dirty="0">
                <a:solidFill>
                  <a:srgbClr val="006699"/>
                </a:solidFill>
                <a:latin typeface="+mn-ea"/>
                <a:ea typeface="+mn-ea"/>
              </a:rPr>
              <a:t>passing</a:t>
            </a:r>
          </a:p>
          <a:p>
            <a:r>
              <a:rPr lang="en-US" altLang="en-US" sz="2000" dirty="0">
                <a:latin typeface="+mn-ea"/>
                <a:ea typeface="+mn-ea"/>
              </a:rPr>
              <a:t>Benefits:</a:t>
            </a:r>
          </a:p>
          <a:p>
            <a:pPr lvl="1"/>
            <a:r>
              <a:rPr lang="en-US" altLang="en-US" dirty="0">
                <a:latin typeface="+mn-ea"/>
                <a:ea typeface="+mn-ea"/>
              </a:rPr>
              <a:t>Easier to extend a microkernel</a:t>
            </a:r>
          </a:p>
          <a:p>
            <a:pPr lvl="1"/>
            <a:r>
              <a:rPr lang="en-US" altLang="en-US" dirty="0">
                <a:latin typeface="+mn-ea"/>
                <a:ea typeface="+mn-ea"/>
              </a:rPr>
              <a:t>Easier to port the operating system to new architectures</a:t>
            </a:r>
          </a:p>
          <a:p>
            <a:pPr lvl="1"/>
            <a:r>
              <a:rPr lang="en-US" altLang="en-US" dirty="0">
                <a:latin typeface="+mn-ea"/>
                <a:ea typeface="+mn-ea"/>
              </a:rPr>
              <a:t>More reliable (less code is running in kernel mode)</a:t>
            </a:r>
          </a:p>
          <a:p>
            <a:pPr lvl="1"/>
            <a:r>
              <a:rPr lang="en-US" altLang="en-US" dirty="0">
                <a:latin typeface="+mn-ea"/>
                <a:ea typeface="+mn-ea"/>
              </a:rPr>
              <a:t>More secure</a:t>
            </a:r>
          </a:p>
          <a:p>
            <a:r>
              <a:rPr lang="en-US" altLang="en-US" sz="2000" dirty="0">
                <a:latin typeface="+mn-ea"/>
                <a:ea typeface="+mn-ea"/>
              </a:rPr>
              <a:t>Detriments:</a:t>
            </a:r>
          </a:p>
          <a:p>
            <a:pPr lvl="1"/>
            <a:r>
              <a:rPr lang="en-US" altLang="en-US" dirty="0">
                <a:latin typeface="+mn-ea"/>
                <a:ea typeface="+mn-ea"/>
              </a:rPr>
              <a:t>Performance overhead of user space to kernel space communication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31DBEE6C-3A88-4D5B-9245-EF2BF859C9CF}"/>
              </a:ext>
            </a:extLst>
          </p:cNvPr>
          <p:cNvSpPr>
            <a:spLocks noGrp="1" noChangeArrowheads="1"/>
          </p:cNvSpPr>
          <p:nvPr>
            <p:ph type="title"/>
          </p:nvPr>
        </p:nvSpPr>
        <p:spPr>
          <a:xfrm>
            <a:off x="1157288" y="214313"/>
            <a:ext cx="7399337" cy="576262"/>
          </a:xfrm>
        </p:spPr>
        <p:txBody>
          <a:bodyPr/>
          <a:lstStyle/>
          <a:p>
            <a:pPr eaLnBrk="1" hangingPunct="1"/>
            <a:r>
              <a:rPr lang="en-US" altLang="en-US"/>
              <a:t>Microkernel System Structure </a:t>
            </a:r>
            <a:endParaRPr lang="en-US" altLang="en-US" sz="2400"/>
          </a:p>
        </p:txBody>
      </p:sp>
      <p:pic>
        <p:nvPicPr>
          <p:cNvPr id="88067" name="Picture 2">
            <a:extLst>
              <a:ext uri="{FF2B5EF4-FFF2-40B4-BE49-F238E27FC236}">
                <a16:creationId xmlns:a16="http://schemas.microsoft.com/office/drawing/2014/main" id="{25A0E5C8-7A5F-457D-83DE-F96A7C9EE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6229" y="1557524"/>
            <a:ext cx="6795238" cy="3283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8954A814-12BC-495B-A1ED-BBB6D763DFC8}"/>
              </a:ext>
            </a:extLst>
          </p:cNvPr>
          <p:cNvSpPr>
            <a:spLocks noGrp="1" noChangeArrowheads="1"/>
          </p:cNvSpPr>
          <p:nvPr>
            <p:ph type="title"/>
          </p:nvPr>
        </p:nvSpPr>
        <p:spPr>
          <a:xfrm>
            <a:off x="457200" y="215900"/>
            <a:ext cx="8077200" cy="576263"/>
          </a:xfrm>
        </p:spPr>
        <p:txBody>
          <a:bodyPr/>
          <a:lstStyle/>
          <a:p>
            <a:pPr eaLnBrk="1" hangingPunct="1"/>
            <a:r>
              <a:rPr lang="en-US" altLang="en-US"/>
              <a:t>Modules</a:t>
            </a:r>
          </a:p>
        </p:txBody>
      </p:sp>
      <p:sp>
        <p:nvSpPr>
          <p:cNvPr id="90115" name="Rectangle 3">
            <a:extLst>
              <a:ext uri="{FF2B5EF4-FFF2-40B4-BE49-F238E27FC236}">
                <a16:creationId xmlns:a16="http://schemas.microsoft.com/office/drawing/2014/main" id="{C37B4459-CB96-4BE9-94C0-89761665269A}"/>
              </a:ext>
            </a:extLst>
          </p:cNvPr>
          <p:cNvSpPr>
            <a:spLocks noGrp="1" noChangeArrowheads="1"/>
          </p:cNvSpPr>
          <p:nvPr>
            <p:ph type="body" idx="1"/>
          </p:nvPr>
        </p:nvSpPr>
        <p:spPr>
          <a:xfrm>
            <a:off x="806450" y="1163637"/>
            <a:ext cx="7727950" cy="4460649"/>
          </a:xfrm>
        </p:spPr>
        <p:txBody>
          <a:bodyPr/>
          <a:lstStyle/>
          <a:p>
            <a:r>
              <a:rPr lang="en-US" altLang="en-US" sz="2000" dirty="0">
                <a:latin typeface="+mn-ea"/>
                <a:ea typeface="+mn-ea"/>
              </a:rPr>
              <a:t>Many modern operating systems implement </a:t>
            </a:r>
            <a:r>
              <a:rPr lang="en-US" altLang="en-US" sz="2000" b="1" dirty="0">
                <a:solidFill>
                  <a:srgbClr val="006699"/>
                </a:solidFill>
                <a:latin typeface="+mn-ea"/>
                <a:ea typeface="+mn-ea"/>
              </a:rPr>
              <a:t>loadable</a:t>
            </a:r>
            <a:r>
              <a:rPr lang="en-US" altLang="en-US" sz="2000" dirty="0">
                <a:latin typeface="+mn-ea"/>
                <a:ea typeface="+mn-ea"/>
              </a:rPr>
              <a:t> </a:t>
            </a:r>
            <a:r>
              <a:rPr lang="en-US" altLang="en-US" sz="2000" b="1" dirty="0">
                <a:solidFill>
                  <a:srgbClr val="006699"/>
                </a:solidFill>
                <a:latin typeface="+mn-ea"/>
                <a:ea typeface="+mn-ea"/>
              </a:rPr>
              <a:t>kernel</a:t>
            </a:r>
            <a:r>
              <a:rPr lang="en-US" altLang="en-US" sz="2000" b="1" dirty="0">
                <a:solidFill>
                  <a:srgbClr val="3366FF"/>
                </a:solidFill>
                <a:latin typeface="+mn-ea"/>
                <a:ea typeface="+mn-ea"/>
              </a:rPr>
              <a:t> </a:t>
            </a:r>
            <a:r>
              <a:rPr lang="en-US" altLang="en-US" sz="2000" dirty="0">
                <a:latin typeface="+mn-ea"/>
                <a:ea typeface="+mn-ea"/>
              </a:rPr>
              <a:t>mo</a:t>
            </a:r>
            <a:r>
              <a:rPr lang="en-US" altLang="en-US" sz="2000" b="1" dirty="0">
                <a:solidFill>
                  <a:srgbClr val="006699"/>
                </a:solidFill>
                <a:latin typeface="+mn-ea"/>
                <a:ea typeface="+mn-ea"/>
              </a:rPr>
              <a:t>dules</a:t>
            </a:r>
            <a:r>
              <a:rPr lang="en-US" altLang="en-US" sz="2000" b="1" dirty="0">
                <a:solidFill>
                  <a:srgbClr val="3366FF"/>
                </a:solidFill>
                <a:latin typeface="+mn-ea"/>
                <a:ea typeface="+mn-ea"/>
              </a:rPr>
              <a:t> </a:t>
            </a:r>
            <a:r>
              <a:rPr lang="en-US" altLang="en-US" sz="2000" dirty="0">
                <a:latin typeface="+mn-ea"/>
                <a:ea typeface="+mn-ea"/>
              </a:rPr>
              <a:t>(</a:t>
            </a:r>
            <a:r>
              <a:rPr lang="en-US" altLang="en-US" sz="2000" b="1" dirty="0">
                <a:solidFill>
                  <a:srgbClr val="006699"/>
                </a:solidFill>
                <a:latin typeface="+mn-ea"/>
                <a:ea typeface="+mn-ea"/>
              </a:rPr>
              <a:t>LKMs</a:t>
            </a:r>
            <a:r>
              <a:rPr lang="en-US" altLang="en-US" sz="2000" dirty="0">
                <a:latin typeface="+mn-ea"/>
                <a:ea typeface="+mn-ea"/>
              </a:rPr>
              <a:t>)</a:t>
            </a:r>
          </a:p>
          <a:p>
            <a:pPr lvl="1"/>
            <a:r>
              <a:rPr lang="en-US" altLang="en-US" dirty="0">
                <a:latin typeface="+mn-ea"/>
                <a:ea typeface="+mn-ea"/>
              </a:rPr>
              <a:t>Uses object-oriented approach</a:t>
            </a:r>
          </a:p>
          <a:p>
            <a:pPr lvl="1"/>
            <a:r>
              <a:rPr lang="en-US" altLang="en-US" dirty="0">
                <a:latin typeface="+mn-ea"/>
                <a:ea typeface="+mn-ea"/>
              </a:rPr>
              <a:t>Each core component is separate</a:t>
            </a:r>
          </a:p>
          <a:p>
            <a:pPr lvl="1"/>
            <a:r>
              <a:rPr lang="en-US" altLang="en-US" dirty="0">
                <a:latin typeface="+mn-ea"/>
                <a:ea typeface="+mn-ea"/>
              </a:rPr>
              <a:t>Each talks to the others over known interfaces</a:t>
            </a:r>
          </a:p>
          <a:p>
            <a:pPr lvl="1"/>
            <a:r>
              <a:rPr lang="en-US" altLang="en-US" dirty="0">
                <a:latin typeface="+mn-ea"/>
                <a:ea typeface="+mn-ea"/>
              </a:rPr>
              <a:t>Each is loadable as needed within the kernel</a:t>
            </a:r>
          </a:p>
          <a:p>
            <a:r>
              <a:rPr lang="en-US" altLang="en-US" sz="2000" dirty="0">
                <a:latin typeface="+mn-ea"/>
                <a:ea typeface="+mn-ea"/>
              </a:rPr>
              <a:t>Overall, similar to layers but with more flexible</a:t>
            </a:r>
          </a:p>
          <a:p>
            <a:pPr lvl="1"/>
            <a:r>
              <a:rPr lang="en-US" altLang="en-US" dirty="0">
                <a:latin typeface="+mn-ea"/>
                <a:ea typeface="+mn-ea"/>
              </a:rPr>
              <a:t>Linux, Solaris, etc.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A0BB8BEE-979C-4417-91EE-00F82403335A}"/>
              </a:ext>
            </a:extLst>
          </p:cNvPr>
          <p:cNvSpPr>
            <a:spLocks noGrp="1" noChangeArrowheads="1"/>
          </p:cNvSpPr>
          <p:nvPr>
            <p:ph type="title"/>
          </p:nvPr>
        </p:nvSpPr>
        <p:spPr>
          <a:xfrm>
            <a:off x="457200" y="227013"/>
            <a:ext cx="8229600" cy="576262"/>
          </a:xfrm>
        </p:spPr>
        <p:txBody>
          <a:bodyPr/>
          <a:lstStyle/>
          <a:p>
            <a:pPr eaLnBrk="1" hangingPunct="1"/>
            <a:r>
              <a:rPr lang="en-US" altLang="en-US"/>
              <a:t>Hybrid Systems</a:t>
            </a:r>
          </a:p>
        </p:txBody>
      </p:sp>
      <p:sp>
        <p:nvSpPr>
          <p:cNvPr id="92163" name="Rectangle 3">
            <a:extLst>
              <a:ext uri="{FF2B5EF4-FFF2-40B4-BE49-F238E27FC236}">
                <a16:creationId xmlns:a16="http://schemas.microsoft.com/office/drawing/2014/main" id="{D41C8CF6-730E-4ECC-9656-D3926F90EEBB}"/>
              </a:ext>
            </a:extLst>
          </p:cNvPr>
          <p:cNvSpPr>
            <a:spLocks noGrp="1" noChangeArrowheads="1"/>
          </p:cNvSpPr>
          <p:nvPr>
            <p:ph type="body" idx="1"/>
          </p:nvPr>
        </p:nvSpPr>
        <p:spPr>
          <a:xfrm>
            <a:off x="806450" y="1233488"/>
            <a:ext cx="7633607" cy="4070032"/>
          </a:xfrm>
        </p:spPr>
        <p:txBody>
          <a:bodyPr/>
          <a:lstStyle/>
          <a:p>
            <a:r>
              <a:rPr lang="en-US" altLang="en-US" sz="2000" dirty="0"/>
              <a:t>Most modern operating systems are not one pure model</a:t>
            </a:r>
          </a:p>
          <a:p>
            <a:pPr lvl="1"/>
            <a:r>
              <a:rPr lang="en-US" altLang="en-US" dirty="0"/>
              <a:t>Hybrid combines multiple approaches to address performance, security, usability needs</a:t>
            </a:r>
          </a:p>
          <a:p>
            <a:pPr lvl="1"/>
            <a:r>
              <a:rPr lang="en-US" altLang="en-US" dirty="0"/>
              <a:t>Linux and Solaris kernels in kernel address space, so monolithic, plus modular for dynamic loading of functionality</a:t>
            </a:r>
          </a:p>
          <a:p>
            <a:pPr lvl="1"/>
            <a:r>
              <a:rPr lang="en-US" altLang="en-US" dirty="0"/>
              <a:t>Windows mostly monolithic, plus microkernel for different subsystem </a:t>
            </a:r>
            <a:r>
              <a:rPr lang="en-US" altLang="en-US" b="1" i="1" dirty="0"/>
              <a:t>personalities</a:t>
            </a:r>
          </a:p>
          <a:p>
            <a:r>
              <a:rPr lang="en-US" altLang="en-US" sz="2000" dirty="0"/>
              <a:t>Apple Mac OS X hybrid, layered, </a:t>
            </a:r>
            <a:r>
              <a:rPr lang="en-US" altLang="en-US" sz="2000" b="1" dirty="0">
                <a:solidFill>
                  <a:srgbClr val="006699"/>
                </a:solidFill>
                <a:latin typeface="+mj-lt"/>
              </a:rPr>
              <a:t>Aqua</a:t>
            </a:r>
            <a:r>
              <a:rPr lang="en-US" altLang="en-US" sz="2000" dirty="0"/>
              <a:t> UI plus </a:t>
            </a:r>
            <a:r>
              <a:rPr lang="en-US" altLang="en-US" sz="2000" b="1" dirty="0">
                <a:solidFill>
                  <a:srgbClr val="006699"/>
                </a:solidFill>
                <a:latin typeface="+mj-lt"/>
              </a:rPr>
              <a:t>Cocoa</a:t>
            </a:r>
            <a:r>
              <a:rPr lang="en-US" altLang="en-US" sz="2000" dirty="0"/>
              <a:t> programming environment</a:t>
            </a:r>
          </a:p>
          <a:p>
            <a:pPr lvl="1"/>
            <a:r>
              <a:rPr lang="en-US" altLang="en-US" dirty="0"/>
              <a:t>Below is kernel consisting of Mach microkernel and BSD Unix parts, plus I/O kit and dynamically loadable modules (called </a:t>
            </a:r>
            <a:r>
              <a:rPr lang="en-US" altLang="en-US" b="1" dirty="0">
                <a:solidFill>
                  <a:srgbClr val="006699"/>
                </a:solidFill>
                <a:latin typeface="+mj-lt"/>
              </a:rPr>
              <a:t>kernel</a:t>
            </a:r>
            <a:r>
              <a:rPr lang="en-US" altLang="en-US" b="1" dirty="0">
                <a:solidFill>
                  <a:srgbClr val="3366FF"/>
                </a:solidFill>
              </a:rPr>
              <a:t> </a:t>
            </a:r>
            <a:r>
              <a:rPr lang="en-US" altLang="en-US" b="1" dirty="0">
                <a:solidFill>
                  <a:srgbClr val="006699"/>
                </a:solidFill>
                <a:latin typeface="+mj-lt"/>
              </a:rPr>
              <a:t>extensions</a:t>
            </a:r>
            <a:r>
              <a:rPr lang="en-US" altLang="en-US"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467BA55D-7A8C-4023-B3F3-3F18F7F62918}"/>
              </a:ext>
            </a:extLst>
          </p:cNvPr>
          <p:cNvSpPr>
            <a:spLocks noGrp="1" noChangeArrowheads="1"/>
          </p:cNvSpPr>
          <p:nvPr>
            <p:ph type="title"/>
          </p:nvPr>
        </p:nvSpPr>
        <p:spPr/>
        <p:txBody>
          <a:bodyPr/>
          <a:lstStyle/>
          <a:p>
            <a:r>
              <a:rPr lang="en-US" altLang="en-US"/>
              <a:t>macOS and iOS Structure</a:t>
            </a:r>
          </a:p>
        </p:txBody>
      </p:sp>
      <p:pic>
        <p:nvPicPr>
          <p:cNvPr id="94211" name="Content Placeholder 4">
            <a:extLst>
              <a:ext uri="{FF2B5EF4-FFF2-40B4-BE49-F238E27FC236}">
                <a16:creationId xmlns:a16="http://schemas.microsoft.com/office/drawing/2014/main" id="{4C8FD787-1D63-4CDB-A6AC-662FE711E4D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74913" y="1755775"/>
            <a:ext cx="4498975" cy="3705225"/>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F920D189-3A2A-4433-B759-AE4A29C629C2}"/>
              </a:ext>
            </a:extLst>
          </p:cNvPr>
          <p:cNvSpPr>
            <a:spLocks noGrp="1" noChangeArrowheads="1"/>
          </p:cNvSpPr>
          <p:nvPr>
            <p:ph type="title"/>
          </p:nvPr>
        </p:nvSpPr>
        <p:spPr/>
        <p:txBody>
          <a:bodyPr/>
          <a:lstStyle/>
          <a:p>
            <a:r>
              <a:rPr lang="en-US" altLang="en-US"/>
              <a:t>Darwin</a:t>
            </a:r>
          </a:p>
        </p:txBody>
      </p:sp>
      <p:pic>
        <p:nvPicPr>
          <p:cNvPr id="95235" name="Content Placeholder 5">
            <a:extLst>
              <a:ext uri="{FF2B5EF4-FFF2-40B4-BE49-F238E27FC236}">
                <a16:creationId xmlns:a16="http://schemas.microsoft.com/office/drawing/2014/main" id="{C076D8A7-0015-48E2-9BB0-037DED9A3F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17470" y="1370235"/>
            <a:ext cx="4343400" cy="4529812"/>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63762A3F-E3BF-4B1B-8ABF-9D43E9D3C2CF}"/>
              </a:ext>
            </a:extLst>
          </p:cNvPr>
          <p:cNvSpPr>
            <a:spLocks noGrp="1" noChangeArrowheads="1"/>
          </p:cNvSpPr>
          <p:nvPr>
            <p:ph type="title"/>
          </p:nvPr>
        </p:nvSpPr>
        <p:spPr>
          <a:xfrm>
            <a:off x="457200" y="212725"/>
            <a:ext cx="8070850" cy="576263"/>
          </a:xfrm>
        </p:spPr>
        <p:txBody>
          <a:bodyPr/>
          <a:lstStyle/>
          <a:p>
            <a:pPr eaLnBrk="1" hangingPunct="1"/>
            <a:r>
              <a:rPr lang="en-US" altLang="en-US"/>
              <a:t>iOS</a:t>
            </a:r>
          </a:p>
        </p:txBody>
      </p:sp>
      <p:sp>
        <p:nvSpPr>
          <p:cNvPr id="96259" name="Rectangle 3">
            <a:extLst>
              <a:ext uri="{FF2B5EF4-FFF2-40B4-BE49-F238E27FC236}">
                <a16:creationId xmlns:a16="http://schemas.microsoft.com/office/drawing/2014/main" id="{13D559C0-E4A0-4AA2-953F-F1E8A81C31FB}"/>
              </a:ext>
            </a:extLst>
          </p:cNvPr>
          <p:cNvSpPr>
            <a:spLocks noGrp="1" noChangeArrowheads="1"/>
          </p:cNvSpPr>
          <p:nvPr>
            <p:ph type="body" idx="1"/>
          </p:nvPr>
        </p:nvSpPr>
        <p:spPr>
          <a:xfrm>
            <a:off x="331470" y="1289367"/>
            <a:ext cx="6435090" cy="4530725"/>
          </a:xfrm>
        </p:spPr>
        <p:txBody>
          <a:bodyPr/>
          <a:lstStyle/>
          <a:p>
            <a:r>
              <a:rPr lang="en-US" altLang="en-US" sz="2000" dirty="0"/>
              <a:t>Apple mobile OS for </a:t>
            </a:r>
            <a:r>
              <a:rPr lang="en-US" altLang="en-US" sz="2000" b="1" i="1" dirty="0"/>
              <a:t>iPhone</a:t>
            </a:r>
            <a:r>
              <a:rPr lang="en-US" altLang="en-US" sz="2000" dirty="0"/>
              <a:t>, </a:t>
            </a:r>
            <a:r>
              <a:rPr lang="en-US" altLang="en-US" sz="2000" b="1" i="1" dirty="0"/>
              <a:t>iPad</a:t>
            </a:r>
            <a:endParaRPr lang="en-US" altLang="en-US" sz="2000" dirty="0"/>
          </a:p>
          <a:p>
            <a:pPr lvl="1"/>
            <a:r>
              <a:rPr lang="en-US" altLang="en-US" dirty="0"/>
              <a:t>Structured on Mac OS X, added functionality</a:t>
            </a:r>
          </a:p>
          <a:p>
            <a:pPr lvl="1"/>
            <a:r>
              <a:rPr lang="en-US" altLang="en-US" dirty="0"/>
              <a:t>Does not run OS X applications natively</a:t>
            </a:r>
          </a:p>
          <a:p>
            <a:pPr lvl="2"/>
            <a:r>
              <a:rPr lang="en-US" altLang="en-US" dirty="0"/>
              <a:t>Also runs on different CPU architecture (ARM vs. Intel)</a:t>
            </a:r>
          </a:p>
          <a:p>
            <a:pPr lvl="1"/>
            <a:r>
              <a:rPr lang="en-US" altLang="en-US" b="1" dirty="0">
                <a:solidFill>
                  <a:srgbClr val="006699"/>
                </a:solidFill>
                <a:latin typeface="+mj-lt"/>
              </a:rPr>
              <a:t>Cocoa</a:t>
            </a:r>
            <a:r>
              <a:rPr lang="en-US" altLang="en-US" b="1" dirty="0">
                <a:solidFill>
                  <a:srgbClr val="3366FF"/>
                </a:solidFill>
              </a:rPr>
              <a:t> </a:t>
            </a:r>
            <a:r>
              <a:rPr lang="en-US" altLang="en-US" b="1" dirty="0">
                <a:solidFill>
                  <a:srgbClr val="006699"/>
                </a:solidFill>
                <a:latin typeface="+mj-lt"/>
              </a:rPr>
              <a:t>Touch</a:t>
            </a:r>
            <a:r>
              <a:rPr lang="en-US" altLang="en-US" b="1" dirty="0">
                <a:solidFill>
                  <a:srgbClr val="3366FF"/>
                </a:solidFill>
              </a:rPr>
              <a:t> </a:t>
            </a:r>
            <a:r>
              <a:rPr lang="en-US" altLang="en-US" dirty="0"/>
              <a:t>Objective-C API for developing apps</a:t>
            </a:r>
          </a:p>
          <a:p>
            <a:pPr lvl="1"/>
            <a:r>
              <a:rPr lang="en-US" altLang="en-US" b="1" dirty="0">
                <a:solidFill>
                  <a:srgbClr val="006699"/>
                </a:solidFill>
                <a:latin typeface="+mj-lt"/>
              </a:rPr>
              <a:t>Media</a:t>
            </a:r>
            <a:r>
              <a:rPr lang="en-US" altLang="en-US" b="1" dirty="0">
                <a:solidFill>
                  <a:srgbClr val="3366FF"/>
                </a:solidFill>
              </a:rPr>
              <a:t> </a:t>
            </a:r>
            <a:r>
              <a:rPr lang="en-US" altLang="en-US" b="1" dirty="0">
                <a:solidFill>
                  <a:srgbClr val="006699"/>
                </a:solidFill>
                <a:latin typeface="+mj-lt"/>
              </a:rPr>
              <a:t>services</a:t>
            </a:r>
            <a:r>
              <a:rPr lang="en-US" altLang="en-US" b="1" dirty="0">
                <a:solidFill>
                  <a:srgbClr val="3366FF"/>
                </a:solidFill>
              </a:rPr>
              <a:t> </a:t>
            </a:r>
            <a:r>
              <a:rPr lang="en-US" altLang="en-US" dirty="0"/>
              <a:t>layer for graphics, audio, video</a:t>
            </a:r>
          </a:p>
          <a:p>
            <a:pPr lvl="1"/>
            <a:r>
              <a:rPr lang="en-US" altLang="en-US" b="1" dirty="0">
                <a:solidFill>
                  <a:srgbClr val="006699"/>
                </a:solidFill>
                <a:latin typeface="+mj-lt"/>
              </a:rPr>
              <a:t>Core</a:t>
            </a:r>
            <a:r>
              <a:rPr lang="en-US" altLang="en-US" b="1" dirty="0">
                <a:solidFill>
                  <a:srgbClr val="3366FF"/>
                </a:solidFill>
              </a:rPr>
              <a:t> </a:t>
            </a:r>
            <a:r>
              <a:rPr lang="en-US" altLang="en-US" b="1" dirty="0">
                <a:solidFill>
                  <a:srgbClr val="006699"/>
                </a:solidFill>
                <a:latin typeface="+mj-lt"/>
              </a:rPr>
              <a:t>services</a:t>
            </a:r>
            <a:r>
              <a:rPr lang="en-US" altLang="en-US" b="1" dirty="0">
                <a:solidFill>
                  <a:srgbClr val="3366FF"/>
                </a:solidFill>
              </a:rPr>
              <a:t> </a:t>
            </a:r>
            <a:r>
              <a:rPr lang="en-US" altLang="en-US" dirty="0"/>
              <a:t>provides cloud computing, databases</a:t>
            </a:r>
          </a:p>
          <a:p>
            <a:pPr lvl="1"/>
            <a:r>
              <a:rPr lang="en-US" altLang="en-US" dirty="0"/>
              <a:t>Core operating system, based on Mac OS X kernel</a:t>
            </a:r>
          </a:p>
        </p:txBody>
      </p:sp>
      <p:pic>
        <p:nvPicPr>
          <p:cNvPr id="96260" name="Picture 1" descr="2_17.pdf">
            <a:extLst>
              <a:ext uri="{FF2B5EF4-FFF2-40B4-BE49-F238E27FC236}">
                <a16:creationId xmlns:a16="http://schemas.microsoft.com/office/drawing/2014/main" id="{2E339495-3C55-43FC-A1DA-C5BF72DE9C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9905" y="2105978"/>
            <a:ext cx="1952625" cy="204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F97DAC17-7FD8-4F1D-98AA-E8448344947F}"/>
              </a:ext>
            </a:extLst>
          </p:cNvPr>
          <p:cNvSpPr>
            <a:spLocks noGrp="1" noChangeArrowheads="1"/>
          </p:cNvSpPr>
          <p:nvPr>
            <p:ph type="title"/>
          </p:nvPr>
        </p:nvSpPr>
        <p:spPr>
          <a:xfrm>
            <a:off x="457200" y="217488"/>
            <a:ext cx="8051800" cy="576262"/>
          </a:xfrm>
        </p:spPr>
        <p:txBody>
          <a:bodyPr/>
          <a:lstStyle/>
          <a:p>
            <a:pPr eaLnBrk="1" hangingPunct="1"/>
            <a:r>
              <a:rPr lang="en-US" altLang="en-US"/>
              <a:t>Android</a:t>
            </a:r>
          </a:p>
        </p:txBody>
      </p:sp>
      <p:sp>
        <p:nvSpPr>
          <p:cNvPr id="98307" name="Rectangle 3">
            <a:extLst>
              <a:ext uri="{FF2B5EF4-FFF2-40B4-BE49-F238E27FC236}">
                <a16:creationId xmlns:a16="http://schemas.microsoft.com/office/drawing/2014/main" id="{83BD71DB-F618-4925-8C3A-9C2CA2E1E4A9}"/>
              </a:ext>
            </a:extLst>
          </p:cNvPr>
          <p:cNvSpPr>
            <a:spLocks noGrp="1" noChangeArrowheads="1"/>
          </p:cNvSpPr>
          <p:nvPr>
            <p:ph type="body" idx="1"/>
          </p:nvPr>
        </p:nvSpPr>
        <p:spPr>
          <a:xfrm>
            <a:off x="838200" y="1110575"/>
            <a:ext cx="7166429" cy="4412112"/>
          </a:xfrm>
        </p:spPr>
        <p:txBody>
          <a:bodyPr/>
          <a:lstStyle/>
          <a:p>
            <a:r>
              <a:rPr lang="en-US" altLang="en-US" dirty="0"/>
              <a:t>Developed by Open Handset Alliance (mostly Google)</a:t>
            </a:r>
          </a:p>
          <a:p>
            <a:pPr lvl="1"/>
            <a:r>
              <a:rPr lang="en-US" altLang="en-US" dirty="0"/>
              <a:t>Open Source</a:t>
            </a:r>
          </a:p>
          <a:p>
            <a:r>
              <a:rPr lang="en-US" altLang="en-US" dirty="0"/>
              <a:t>Similar stack to iOS</a:t>
            </a:r>
          </a:p>
          <a:p>
            <a:r>
              <a:rPr lang="en-US" altLang="en-US" dirty="0"/>
              <a:t>Based on Linux kernel but modified</a:t>
            </a:r>
          </a:p>
          <a:p>
            <a:pPr lvl="1"/>
            <a:r>
              <a:rPr lang="en-US" altLang="en-US" dirty="0"/>
              <a:t>Provides process, memory, device-driver management</a:t>
            </a:r>
          </a:p>
          <a:p>
            <a:pPr lvl="1"/>
            <a:r>
              <a:rPr lang="en-US" altLang="en-US" dirty="0"/>
              <a:t>Adds power management </a:t>
            </a:r>
          </a:p>
          <a:p>
            <a:r>
              <a:rPr lang="en-US" altLang="en-US" dirty="0"/>
              <a:t>Runtime environment includes core set of libraries and Dalvik virtual machine</a:t>
            </a:r>
          </a:p>
          <a:p>
            <a:pPr lvl="1"/>
            <a:r>
              <a:rPr lang="en-US" altLang="en-US" dirty="0"/>
              <a:t>Apps developed in Java plus Android API</a:t>
            </a:r>
          </a:p>
          <a:p>
            <a:pPr lvl="2"/>
            <a:r>
              <a:rPr lang="en-US" altLang="en-US" dirty="0"/>
              <a:t>Java class files compiled to Java bytecode then translated to executable </a:t>
            </a:r>
            <a:r>
              <a:rPr lang="en-US" altLang="en-US" dirty="0" err="1"/>
              <a:t>thnn</a:t>
            </a:r>
            <a:r>
              <a:rPr lang="en-US" altLang="en-US" dirty="0"/>
              <a:t> runs in Dalvik VM</a:t>
            </a:r>
          </a:p>
          <a:p>
            <a:r>
              <a:rPr lang="en-US" altLang="en-US" dirty="0"/>
              <a:t>Libraries include frameworks for web browser (</a:t>
            </a:r>
            <a:r>
              <a:rPr lang="en-US" altLang="en-US" dirty="0" err="1"/>
              <a:t>webkit</a:t>
            </a:r>
            <a:r>
              <a:rPr lang="en-US" altLang="en-US" dirty="0"/>
              <a:t>), database (SQLite), multimedia, smaller </a:t>
            </a:r>
            <a:r>
              <a:rPr lang="en-US" altLang="en-US" dirty="0" err="1"/>
              <a:t>libc</a:t>
            </a:r>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FC21E0EC-5FB3-49AA-BCD8-C3D6E372FADB}"/>
              </a:ext>
            </a:extLst>
          </p:cNvPr>
          <p:cNvSpPr>
            <a:spLocks noGrp="1" noChangeArrowheads="1"/>
          </p:cNvSpPr>
          <p:nvPr>
            <p:ph type="title"/>
          </p:nvPr>
        </p:nvSpPr>
        <p:spPr>
          <a:xfrm>
            <a:off x="457200" y="214313"/>
            <a:ext cx="8229600" cy="576262"/>
          </a:xfrm>
        </p:spPr>
        <p:txBody>
          <a:bodyPr/>
          <a:lstStyle/>
          <a:p>
            <a:pPr eaLnBrk="1" hangingPunct="1"/>
            <a:r>
              <a:rPr lang="en-US" altLang="en-US"/>
              <a:t>Android Architecture</a:t>
            </a:r>
          </a:p>
        </p:txBody>
      </p:sp>
      <p:pic>
        <p:nvPicPr>
          <p:cNvPr id="100355" name="Picture 2">
            <a:extLst>
              <a:ext uri="{FF2B5EF4-FFF2-40B4-BE49-F238E27FC236}">
                <a16:creationId xmlns:a16="http://schemas.microsoft.com/office/drawing/2014/main" id="{CE010BEA-C2AD-4086-B512-90CFB1E171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2275" y="1135063"/>
            <a:ext cx="3219450"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C9F5FAE9-B3B0-4D57-809D-900A4BADF1A7}"/>
              </a:ext>
            </a:extLst>
          </p:cNvPr>
          <p:cNvSpPr>
            <a:spLocks noGrp="1" noChangeArrowheads="1"/>
          </p:cNvSpPr>
          <p:nvPr>
            <p:ph type="title"/>
          </p:nvPr>
        </p:nvSpPr>
        <p:spPr>
          <a:xfrm>
            <a:off x="1032779" y="134259"/>
            <a:ext cx="8229600" cy="576263"/>
          </a:xfrm>
        </p:spPr>
        <p:txBody>
          <a:bodyPr/>
          <a:lstStyle/>
          <a:p>
            <a:pPr eaLnBrk="1" hangingPunct="1"/>
            <a:r>
              <a:rPr lang="en-US" altLang="en-US" sz="2800"/>
              <a:t>Building and Booting an Operating System</a:t>
            </a:r>
          </a:p>
        </p:txBody>
      </p:sp>
      <p:sp>
        <p:nvSpPr>
          <p:cNvPr id="102403" name="Rectangle 3">
            <a:extLst>
              <a:ext uri="{FF2B5EF4-FFF2-40B4-BE49-F238E27FC236}">
                <a16:creationId xmlns:a16="http://schemas.microsoft.com/office/drawing/2014/main" id="{7BC1B242-4FA3-45A6-A6E0-A52D65A52BBD}"/>
              </a:ext>
            </a:extLst>
          </p:cNvPr>
          <p:cNvSpPr>
            <a:spLocks noGrp="1" noChangeArrowheads="1"/>
          </p:cNvSpPr>
          <p:nvPr>
            <p:ph type="body" idx="1"/>
          </p:nvPr>
        </p:nvSpPr>
        <p:spPr>
          <a:xfrm>
            <a:off x="707170" y="1163637"/>
            <a:ext cx="7914854" cy="4530725"/>
          </a:xfrm>
        </p:spPr>
        <p:txBody>
          <a:bodyPr/>
          <a:lstStyle/>
          <a:p>
            <a:r>
              <a:rPr lang="en-US" altLang="en-US" sz="2000" dirty="0"/>
              <a:t>Operating systems generally designed to run on a class of systems with variety of peripherals</a:t>
            </a:r>
          </a:p>
          <a:p>
            <a:r>
              <a:rPr lang="en-US" altLang="en-US" sz="2000" dirty="0"/>
              <a:t>Commonly, operating system already installed on purchased computer</a:t>
            </a:r>
          </a:p>
          <a:p>
            <a:pPr lvl="1"/>
            <a:r>
              <a:rPr lang="en-US" altLang="en-US" dirty="0"/>
              <a:t>But can build and install some other operating systems</a:t>
            </a:r>
          </a:p>
          <a:p>
            <a:pPr lvl="1"/>
            <a:r>
              <a:rPr lang="en-US" altLang="en-US" dirty="0"/>
              <a:t>If generating an operating system from scratch</a:t>
            </a:r>
          </a:p>
          <a:p>
            <a:pPr lvl="2"/>
            <a:r>
              <a:rPr lang="en-US" altLang="en-US" dirty="0"/>
              <a:t>Write the operating system source code</a:t>
            </a:r>
          </a:p>
          <a:p>
            <a:pPr lvl="2"/>
            <a:r>
              <a:rPr lang="en-US" altLang="en-US" dirty="0"/>
              <a:t>Configure the operating system for the system on which it will run</a:t>
            </a:r>
          </a:p>
          <a:p>
            <a:pPr lvl="2"/>
            <a:r>
              <a:rPr lang="en-US" altLang="en-US" dirty="0"/>
              <a:t>Compile the operating system</a:t>
            </a:r>
          </a:p>
          <a:p>
            <a:pPr lvl="2"/>
            <a:r>
              <a:rPr lang="en-US" altLang="en-US" dirty="0"/>
              <a:t>Install the operating system</a:t>
            </a:r>
          </a:p>
          <a:p>
            <a:pPr lvl="2"/>
            <a:r>
              <a:rPr lang="en-US" altLang="en-US" dirty="0"/>
              <a:t>Boot the computer and its new operating system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82DD2A02-B2A8-4458-811E-DE9B33D11308}"/>
              </a:ext>
            </a:extLst>
          </p:cNvPr>
          <p:cNvSpPr>
            <a:spLocks noGrp="1" noChangeArrowheads="1"/>
          </p:cNvSpPr>
          <p:nvPr>
            <p:ph type="title"/>
          </p:nvPr>
        </p:nvSpPr>
        <p:spPr>
          <a:xfrm>
            <a:off x="885825" y="138341"/>
            <a:ext cx="7648575" cy="576263"/>
          </a:xfrm>
        </p:spPr>
        <p:txBody>
          <a:bodyPr/>
          <a:lstStyle/>
          <a:p>
            <a:r>
              <a:rPr lang="en-US" altLang="en-US" dirty="0"/>
              <a:t>Building and Booting Linux</a:t>
            </a:r>
          </a:p>
        </p:txBody>
      </p:sp>
      <p:sp>
        <p:nvSpPr>
          <p:cNvPr id="104451" name="Content Placeholder 2">
            <a:extLst>
              <a:ext uri="{FF2B5EF4-FFF2-40B4-BE49-F238E27FC236}">
                <a16:creationId xmlns:a16="http://schemas.microsoft.com/office/drawing/2014/main" id="{F7DA67EF-ED36-4BB1-AB0B-F42969C15CFB}"/>
              </a:ext>
            </a:extLst>
          </p:cNvPr>
          <p:cNvSpPr>
            <a:spLocks noGrp="1" noChangeArrowheads="1"/>
          </p:cNvSpPr>
          <p:nvPr>
            <p:ph idx="1"/>
          </p:nvPr>
        </p:nvSpPr>
        <p:spPr>
          <a:xfrm>
            <a:off x="885825" y="1233489"/>
            <a:ext cx="7648575" cy="2858452"/>
          </a:xfrm>
        </p:spPr>
        <p:txBody>
          <a:bodyPr/>
          <a:lstStyle/>
          <a:p>
            <a:r>
              <a:rPr lang="en-US" altLang="en-US" sz="2000" dirty="0">
                <a:latin typeface="+mn-ea"/>
                <a:ea typeface="+mn-ea"/>
              </a:rPr>
              <a:t>Download Linux source code (</a:t>
            </a:r>
            <a:r>
              <a:rPr lang="en-US" altLang="en-US" sz="2000" dirty="0">
                <a:solidFill>
                  <a:srgbClr val="996600"/>
                </a:solidFill>
                <a:latin typeface="+mn-ea"/>
                <a:ea typeface="+mn-ea"/>
              </a:rPr>
              <a:t>http://www.kernel.org</a:t>
            </a:r>
            <a:r>
              <a:rPr lang="en-US" altLang="en-US" sz="2000" dirty="0">
                <a:latin typeface="+mn-ea"/>
                <a:ea typeface="+mn-ea"/>
              </a:rPr>
              <a:t>)</a:t>
            </a:r>
          </a:p>
          <a:p>
            <a:r>
              <a:rPr lang="en-US" altLang="en-US" sz="2000" dirty="0">
                <a:latin typeface="+mn-ea"/>
                <a:ea typeface="+mn-ea"/>
              </a:rPr>
              <a:t>Configure kernel via “</a:t>
            </a:r>
            <a:r>
              <a:rPr lang="en-US" altLang="en-US" sz="2000" dirty="0">
                <a:latin typeface="+mn-ea"/>
                <a:ea typeface="+mn-ea"/>
                <a:cs typeface="Courier New" panose="02070309020205020404" pitchFamily="49" charset="0"/>
              </a:rPr>
              <a:t>make </a:t>
            </a:r>
            <a:r>
              <a:rPr lang="en-US" altLang="en-US" sz="2000" dirty="0" err="1">
                <a:latin typeface="+mn-ea"/>
                <a:ea typeface="+mn-ea"/>
                <a:cs typeface="Courier New" panose="02070309020205020404" pitchFamily="49" charset="0"/>
              </a:rPr>
              <a:t>menuconfig</a:t>
            </a:r>
            <a:r>
              <a:rPr lang="en-US" altLang="en-US" sz="2000" dirty="0">
                <a:latin typeface="+mn-ea"/>
                <a:ea typeface="+mn-ea"/>
              </a:rPr>
              <a:t>”</a:t>
            </a:r>
          </a:p>
          <a:p>
            <a:r>
              <a:rPr lang="en-US" altLang="en-US" sz="2000" dirty="0">
                <a:latin typeface="+mn-ea"/>
                <a:ea typeface="+mn-ea"/>
              </a:rPr>
              <a:t>Compile the kernel using “</a:t>
            </a:r>
            <a:r>
              <a:rPr lang="en-US" altLang="en-US" sz="2000" dirty="0">
                <a:latin typeface="+mn-ea"/>
                <a:ea typeface="+mn-ea"/>
                <a:cs typeface="Courier New" panose="02070309020205020404" pitchFamily="49" charset="0"/>
              </a:rPr>
              <a:t>make</a:t>
            </a:r>
            <a:r>
              <a:rPr lang="en-US" altLang="en-US" sz="2000" dirty="0">
                <a:latin typeface="+mn-ea"/>
                <a:ea typeface="+mn-ea"/>
              </a:rPr>
              <a:t>”</a:t>
            </a:r>
          </a:p>
          <a:p>
            <a:pPr lvl="1"/>
            <a:r>
              <a:rPr lang="en-US" altLang="en-US" dirty="0">
                <a:latin typeface="+mn-ea"/>
                <a:ea typeface="+mn-ea"/>
              </a:rPr>
              <a:t>Produces </a:t>
            </a:r>
            <a:r>
              <a:rPr lang="en-US" altLang="en-US" dirty="0" err="1">
                <a:latin typeface="+mn-ea"/>
                <a:ea typeface="+mn-ea"/>
                <a:cs typeface="Courier New" panose="02070309020205020404" pitchFamily="49" charset="0"/>
              </a:rPr>
              <a:t>vmlinuz</a:t>
            </a:r>
            <a:r>
              <a:rPr lang="en-US" altLang="en-US" dirty="0">
                <a:latin typeface="+mn-ea"/>
                <a:ea typeface="+mn-ea"/>
              </a:rPr>
              <a:t>, the kernel image</a:t>
            </a:r>
          </a:p>
          <a:p>
            <a:pPr lvl="1"/>
            <a:r>
              <a:rPr lang="en-US" altLang="en-US" dirty="0">
                <a:latin typeface="+mn-ea"/>
                <a:ea typeface="+mn-ea"/>
              </a:rPr>
              <a:t>Compile kernel modules via “</a:t>
            </a:r>
            <a:r>
              <a:rPr lang="en-US" altLang="en-US" dirty="0">
                <a:latin typeface="+mn-ea"/>
                <a:ea typeface="+mn-ea"/>
                <a:cs typeface="Courier New" panose="02070309020205020404" pitchFamily="49" charset="0"/>
              </a:rPr>
              <a:t>make modules</a:t>
            </a:r>
            <a:r>
              <a:rPr lang="en-US" altLang="en-US" dirty="0">
                <a:latin typeface="+mn-ea"/>
                <a:ea typeface="+mn-ea"/>
              </a:rPr>
              <a:t>”</a:t>
            </a:r>
          </a:p>
          <a:p>
            <a:pPr lvl="1"/>
            <a:r>
              <a:rPr lang="en-US" altLang="en-US" dirty="0">
                <a:latin typeface="+mn-ea"/>
                <a:ea typeface="+mn-ea"/>
              </a:rPr>
              <a:t>Install kernel modules into </a:t>
            </a:r>
            <a:r>
              <a:rPr lang="en-US" altLang="en-US" dirty="0" err="1">
                <a:latin typeface="+mn-ea"/>
                <a:ea typeface="+mn-ea"/>
                <a:cs typeface="Courier New" panose="02070309020205020404" pitchFamily="49" charset="0"/>
              </a:rPr>
              <a:t>vmlinuz</a:t>
            </a:r>
            <a:r>
              <a:rPr lang="en-US" altLang="en-US" dirty="0">
                <a:latin typeface="+mn-ea"/>
                <a:ea typeface="+mn-ea"/>
              </a:rPr>
              <a:t> via “</a:t>
            </a:r>
            <a:r>
              <a:rPr lang="en-US" altLang="en-US" dirty="0">
                <a:latin typeface="+mn-ea"/>
                <a:ea typeface="+mn-ea"/>
                <a:cs typeface="Courier New" panose="02070309020205020404" pitchFamily="49" charset="0"/>
              </a:rPr>
              <a:t>make </a:t>
            </a:r>
            <a:r>
              <a:rPr lang="en-US" altLang="en-US" dirty="0" err="1">
                <a:latin typeface="+mn-ea"/>
                <a:ea typeface="+mn-ea"/>
                <a:cs typeface="Courier New" panose="02070309020205020404" pitchFamily="49" charset="0"/>
              </a:rPr>
              <a:t>modules_install</a:t>
            </a:r>
            <a:r>
              <a:rPr lang="en-US" altLang="en-US" dirty="0">
                <a:latin typeface="+mn-ea"/>
                <a:ea typeface="+mn-ea"/>
              </a:rPr>
              <a:t>”</a:t>
            </a:r>
          </a:p>
          <a:p>
            <a:pPr lvl="1"/>
            <a:r>
              <a:rPr lang="en-US" altLang="en-US" dirty="0">
                <a:latin typeface="+mn-ea"/>
                <a:ea typeface="+mn-ea"/>
              </a:rPr>
              <a:t>Install new kernel on the system via “</a:t>
            </a:r>
            <a:r>
              <a:rPr lang="en-US" altLang="en-US" dirty="0">
                <a:latin typeface="+mn-ea"/>
                <a:ea typeface="+mn-ea"/>
                <a:cs typeface="Courier New" panose="02070309020205020404" pitchFamily="49" charset="0"/>
              </a:rPr>
              <a:t>make install</a:t>
            </a:r>
            <a:r>
              <a:rPr lang="en-US" altLang="en-US" dirty="0">
                <a:latin typeface="+mn-ea"/>
                <a:ea typeface="+mn-ea"/>
              </a:rPr>
              <a:t>”</a:t>
            </a:r>
          </a:p>
          <a:p>
            <a:endParaRPr lang="en-US" altLang="en-US" dirty="0">
              <a:latin typeface="+mn-ea"/>
              <a:ea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EB1F4D2D-A1F6-4F80-AAF7-B44F6C42031E}"/>
              </a:ext>
            </a:extLst>
          </p:cNvPr>
          <p:cNvSpPr>
            <a:spLocks noGrp="1" noChangeArrowheads="1"/>
          </p:cNvSpPr>
          <p:nvPr>
            <p:ph type="title"/>
          </p:nvPr>
        </p:nvSpPr>
        <p:spPr>
          <a:xfrm>
            <a:off x="765175" y="142650"/>
            <a:ext cx="7820025" cy="576262"/>
          </a:xfrm>
        </p:spPr>
        <p:txBody>
          <a:bodyPr/>
          <a:lstStyle/>
          <a:p>
            <a:pPr eaLnBrk="1" hangingPunct="1"/>
            <a:r>
              <a:rPr lang="en-US" altLang="en-US" dirty="0"/>
              <a:t>System Boot</a:t>
            </a:r>
          </a:p>
        </p:txBody>
      </p:sp>
      <p:sp>
        <p:nvSpPr>
          <p:cNvPr id="105475" name="Rectangle 3">
            <a:extLst>
              <a:ext uri="{FF2B5EF4-FFF2-40B4-BE49-F238E27FC236}">
                <a16:creationId xmlns:a16="http://schemas.microsoft.com/office/drawing/2014/main" id="{84966C5E-EDB7-4314-801D-4E54D9A7265D}"/>
              </a:ext>
            </a:extLst>
          </p:cNvPr>
          <p:cNvSpPr>
            <a:spLocks noGrp="1" noChangeArrowheads="1"/>
          </p:cNvSpPr>
          <p:nvPr>
            <p:ph type="body" idx="1"/>
          </p:nvPr>
        </p:nvSpPr>
        <p:spPr>
          <a:xfrm>
            <a:off x="765175" y="1038000"/>
            <a:ext cx="7820025" cy="5477099"/>
          </a:xfrm>
        </p:spPr>
        <p:txBody>
          <a:bodyPr/>
          <a:lstStyle/>
          <a:p>
            <a:r>
              <a:rPr lang="en-US" altLang="en-US" sz="2000" dirty="0">
                <a:latin typeface="+mn-ea"/>
                <a:ea typeface="+mn-ea"/>
              </a:rPr>
              <a:t>When power initialized on system, execution starts at a fixed memory location</a:t>
            </a:r>
          </a:p>
          <a:p>
            <a:r>
              <a:rPr lang="en-US" altLang="en-US" sz="2000" dirty="0">
                <a:latin typeface="+mn-ea"/>
                <a:ea typeface="+mn-ea"/>
              </a:rPr>
              <a:t>Operating system must be made available to hardware so hardware can start it</a:t>
            </a:r>
          </a:p>
          <a:p>
            <a:pPr lvl="1"/>
            <a:r>
              <a:rPr lang="en-US" altLang="en-US" dirty="0">
                <a:latin typeface="+mn-ea"/>
                <a:ea typeface="+mn-ea"/>
              </a:rPr>
              <a:t>Small piece of code – </a:t>
            </a:r>
            <a:r>
              <a:rPr lang="en-US" altLang="en-US" b="1" dirty="0">
                <a:solidFill>
                  <a:srgbClr val="006699"/>
                </a:solidFill>
                <a:latin typeface="+mn-ea"/>
                <a:ea typeface="+mn-ea"/>
              </a:rPr>
              <a:t>bootstrap</a:t>
            </a:r>
            <a:r>
              <a:rPr lang="en-US" altLang="en-US" b="1" dirty="0">
                <a:solidFill>
                  <a:srgbClr val="3366FF"/>
                </a:solidFill>
                <a:latin typeface="+mn-ea"/>
                <a:ea typeface="+mn-ea"/>
              </a:rPr>
              <a:t> </a:t>
            </a:r>
            <a:r>
              <a:rPr lang="en-US" altLang="en-US" b="1" dirty="0">
                <a:solidFill>
                  <a:srgbClr val="006699"/>
                </a:solidFill>
                <a:latin typeface="+mn-ea"/>
                <a:ea typeface="+mn-ea"/>
              </a:rPr>
              <a:t>loader</a:t>
            </a:r>
            <a:r>
              <a:rPr lang="en-US" altLang="en-US" dirty="0">
                <a:latin typeface="+mn-ea"/>
                <a:ea typeface="+mn-ea"/>
              </a:rPr>
              <a:t>, </a:t>
            </a:r>
            <a:r>
              <a:rPr lang="en-US" altLang="en-US" b="1" dirty="0">
                <a:solidFill>
                  <a:srgbClr val="006699"/>
                </a:solidFill>
                <a:latin typeface="+mn-ea"/>
                <a:ea typeface="+mn-ea"/>
              </a:rPr>
              <a:t>BIOS</a:t>
            </a:r>
            <a:r>
              <a:rPr lang="en-US" altLang="en-US" dirty="0">
                <a:latin typeface="+mn-ea"/>
                <a:ea typeface="+mn-ea"/>
              </a:rPr>
              <a:t>, stored in </a:t>
            </a:r>
            <a:r>
              <a:rPr lang="en-US" altLang="en-US" b="1" dirty="0">
                <a:solidFill>
                  <a:srgbClr val="006699"/>
                </a:solidFill>
                <a:latin typeface="+mn-ea"/>
                <a:ea typeface="+mn-ea"/>
              </a:rPr>
              <a:t>ROM</a:t>
            </a:r>
            <a:r>
              <a:rPr lang="en-US" altLang="en-US" dirty="0">
                <a:latin typeface="+mn-ea"/>
                <a:ea typeface="+mn-ea"/>
              </a:rPr>
              <a:t> or </a:t>
            </a:r>
            <a:r>
              <a:rPr lang="en-US" altLang="en-US" b="1" dirty="0">
                <a:solidFill>
                  <a:srgbClr val="006699"/>
                </a:solidFill>
                <a:latin typeface="+mn-ea"/>
                <a:ea typeface="+mn-ea"/>
              </a:rPr>
              <a:t>EEPROM</a:t>
            </a:r>
            <a:r>
              <a:rPr lang="en-US" altLang="en-US" dirty="0">
                <a:latin typeface="+mn-ea"/>
                <a:ea typeface="+mn-ea"/>
              </a:rPr>
              <a:t> locates the kernel, loads it into memory, and starts it</a:t>
            </a:r>
          </a:p>
          <a:p>
            <a:pPr lvl="1"/>
            <a:r>
              <a:rPr lang="en-US" altLang="en-US" dirty="0">
                <a:latin typeface="+mn-ea"/>
                <a:ea typeface="+mn-ea"/>
              </a:rPr>
              <a:t>Sometimes two-step process where </a:t>
            </a:r>
            <a:r>
              <a:rPr lang="en-US" altLang="en-US" b="1" dirty="0">
                <a:solidFill>
                  <a:srgbClr val="006699"/>
                </a:solidFill>
                <a:latin typeface="+mn-ea"/>
                <a:ea typeface="+mn-ea"/>
              </a:rPr>
              <a:t>boot</a:t>
            </a:r>
            <a:r>
              <a:rPr lang="en-US" altLang="en-US" b="1" dirty="0">
                <a:solidFill>
                  <a:srgbClr val="3366FF"/>
                </a:solidFill>
                <a:latin typeface="+mn-ea"/>
                <a:ea typeface="+mn-ea"/>
              </a:rPr>
              <a:t> </a:t>
            </a:r>
            <a:r>
              <a:rPr lang="en-US" altLang="en-US" b="1" dirty="0">
                <a:solidFill>
                  <a:srgbClr val="006699"/>
                </a:solidFill>
                <a:latin typeface="+mn-ea"/>
                <a:ea typeface="+mn-ea"/>
              </a:rPr>
              <a:t>block</a:t>
            </a:r>
            <a:r>
              <a:rPr lang="en-US" altLang="en-US" b="1" dirty="0">
                <a:solidFill>
                  <a:srgbClr val="3366FF"/>
                </a:solidFill>
                <a:latin typeface="+mn-ea"/>
                <a:ea typeface="+mn-ea"/>
              </a:rPr>
              <a:t> </a:t>
            </a:r>
            <a:r>
              <a:rPr lang="en-US" altLang="en-US" dirty="0">
                <a:latin typeface="+mn-ea"/>
                <a:ea typeface="+mn-ea"/>
              </a:rPr>
              <a:t>at fixed location loaded by ROM code, which loads bootstrap loader from disk</a:t>
            </a:r>
          </a:p>
          <a:p>
            <a:pPr lvl="1"/>
            <a:r>
              <a:rPr lang="en-US" altLang="en-US" dirty="0">
                <a:latin typeface="+mn-ea"/>
                <a:ea typeface="+mn-ea"/>
              </a:rPr>
              <a:t>Modern systems replace BIOS with </a:t>
            </a:r>
            <a:r>
              <a:rPr lang="en-US" altLang="en-US" b="1" dirty="0">
                <a:solidFill>
                  <a:srgbClr val="006699"/>
                </a:solidFill>
                <a:latin typeface="+mn-ea"/>
                <a:ea typeface="+mn-ea"/>
              </a:rPr>
              <a:t>Unified</a:t>
            </a:r>
            <a:r>
              <a:rPr lang="en-US" altLang="en-US" b="1" dirty="0">
                <a:solidFill>
                  <a:srgbClr val="3366FF"/>
                </a:solidFill>
                <a:latin typeface="+mn-ea"/>
                <a:ea typeface="+mn-ea"/>
              </a:rPr>
              <a:t> </a:t>
            </a:r>
            <a:r>
              <a:rPr lang="en-US" altLang="en-US" b="1" dirty="0">
                <a:solidFill>
                  <a:srgbClr val="006699"/>
                </a:solidFill>
                <a:latin typeface="+mn-ea"/>
                <a:ea typeface="+mn-ea"/>
              </a:rPr>
              <a:t>Extensible</a:t>
            </a:r>
            <a:r>
              <a:rPr lang="en-US" altLang="en-US" b="1" dirty="0">
                <a:solidFill>
                  <a:srgbClr val="3366FF"/>
                </a:solidFill>
                <a:latin typeface="+mn-ea"/>
                <a:ea typeface="+mn-ea"/>
              </a:rPr>
              <a:t> </a:t>
            </a:r>
            <a:r>
              <a:rPr lang="en-US" altLang="en-US" b="1" dirty="0">
                <a:solidFill>
                  <a:srgbClr val="006699"/>
                </a:solidFill>
                <a:latin typeface="+mn-ea"/>
                <a:ea typeface="+mn-ea"/>
              </a:rPr>
              <a:t>Firmware</a:t>
            </a:r>
            <a:r>
              <a:rPr lang="en-US" altLang="en-US" b="1" dirty="0">
                <a:solidFill>
                  <a:srgbClr val="3366FF"/>
                </a:solidFill>
                <a:latin typeface="+mn-ea"/>
                <a:ea typeface="+mn-ea"/>
              </a:rPr>
              <a:t> </a:t>
            </a:r>
            <a:r>
              <a:rPr lang="en-US" altLang="en-US" b="1" dirty="0">
                <a:solidFill>
                  <a:srgbClr val="006699"/>
                </a:solidFill>
                <a:latin typeface="+mn-ea"/>
                <a:ea typeface="+mn-ea"/>
              </a:rPr>
              <a:t>Interface</a:t>
            </a:r>
            <a:r>
              <a:rPr lang="en-US" altLang="en-US" b="1" dirty="0">
                <a:solidFill>
                  <a:srgbClr val="3366FF"/>
                </a:solidFill>
                <a:latin typeface="+mn-ea"/>
                <a:ea typeface="+mn-ea"/>
              </a:rPr>
              <a:t> </a:t>
            </a:r>
            <a:r>
              <a:rPr lang="en-US" altLang="en-US" dirty="0">
                <a:latin typeface="+mn-ea"/>
                <a:ea typeface="+mn-ea"/>
              </a:rPr>
              <a:t>(</a:t>
            </a:r>
            <a:r>
              <a:rPr lang="en-US" altLang="en-US" b="1" dirty="0">
                <a:solidFill>
                  <a:srgbClr val="006699"/>
                </a:solidFill>
                <a:latin typeface="+mn-ea"/>
                <a:ea typeface="+mn-ea"/>
              </a:rPr>
              <a:t>UEFI</a:t>
            </a:r>
            <a:r>
              <a:rPr lang="en-US" altLang="en-US" dirty="0">
                <a:latin typeface="+mn-ea"/>
                <a:ea typeface="+mn-ea"/>
              </a:rPr>
              <a:t>)</a:t>
            </a:r>
          </a:p>
          <a:p>
            <a:r>
              <a:rPr lang="en-US" altLang="en-US" sz="2000" dirty="0">
                <a:latin typeface="+mn-ea"/>
                <a:ea typeface="+mn-ea"/>
              </a:rPr>
              <a:t>Common bootstrap loader, </a:t>
            </a:r>
            <a:r>
              <a:rPr lang="en-US" altLang="en-US" sz="2000" b="1" dirty="0">
                <a:solidFill>
                  <a:srgbClr val="006699"/>
                </a:solidFill>
                <a:latin typeface="+mn-ea"/>
                <a:ea typeface="+mn-ea"/>
              </a:rPr>
              <a:t>GRUB</a:t>
            </a:r>
            <a:r>
              <a:rPr lang="en-US" altLang="en-US" sz="2000" dirty="0">
                <a:latin typeface="+mn-ea"/>
                <a:ea typeface="+mn-ea"/>
              </a:rPr>
              <a:t>, allows selection of kernel from multiple disks, versions, kernel options</a:t>
            </a:r>
          </a:p>
          <a:p>
            <a:r>
              <a:rPr lang="en-US" altLang="en-US" sz="2000" dirty="0">
                <a:latin typeface="+mn-ea"/>
                <a:ea typeface="+mn-ea"/>
              </a:rPr>
              <a:t>Kernel loads and system is then </a:t>
            </a:r>
            <a:r>
              <a:rPr lang="en-US" altLang="en-US" sz="2000" b="1" dirty="0">
                <a:solidFill>
                  <a:srgbClr val="006699"/>
                </a:solidFill>
                <a:latin typeface="+mn-ea"/>
                <a:ea typeface="+mn-ea"/>
              </a:rPr>
              <a:t>running</a:t>
            </a:r>
          </a:p>
          <a:p>
            <a:r>
              <a:rPr lang="en-US" altLang="en-US" sz="2000" dirty="0">
                <a:latin typeface="+mn-ea"/>
                <a:ea typeface="+mn-ea"/>
              </a:rPr>
              <a:t>Boot loaders frequently allow various boot states, such as single user mode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D37D0B20-2573-4F33-B46D-85291214EDD3}"/>
              </a:ext>
            </a:extLst>
          </p:cNvPr>
          <p:cNvSpPr>
            <a:spLocks noGrp="1" noChangeArrowheads="1"/>
          </p:cNvSpPr>
          <p:nvPr>
            <p:ph type="title"/>
          </p:nvPr>
        </p:nvSpPr>
        <p:spPr>
          <a:xfrm>
            <a:off x="1090613" y="108633"/>
            <a:ext cx="7596187" cy="605742"/>
          </a:xfrm>
        </p:spPr>
        <p:txBody>
          <a:bodyPr/>
          <a:lstStyle/>
          <a:p>
            <a:pPr eaLnBrk="1" hangingPunct="1"/>
            <a:r>
              <a:rPr lang="en-US" altLang="en-US" dirty="0"/>
              <a:t>Operating System Debugging</a:t>
            </a:r>
          </a:p>
        </p:txBody>
      </p:sp>
      <p:sp>
        <p:nvSpPr>
          <p:cNvPr id="107523" name="Content Placeholder 2">
            <a:extLst>
              <a:ext uri="{FF2B5EF4-FFF2-40B4-BE49-F238E27FC236}">
                <a16:creationId xmlns:a16="http://schemas.microsoft.com/office/drawing/2014/main" id="{09BD28EB-4A21-4422-9ABC-1A17E1FEC3C0}"/>
              </a:ext>
            </a:extLst>
          </p:cNvPr>
          <p:cNvSpPr>
            <a:spLocks noGrp="1" noChangeArrowheads="1"/>
          </p:cNvSpPr>
          <p:nvPr>
            <p:ph idx="1"/>
          </p:nvPr>
        </p:nvSpPr>
        <p:spPr>
          <a:xfrm>
            <a:off x="806450" y="1233489"/>
            <a:ext cx="7753350" cy="4790122"/>
          </a:xfrm>
        </p:spPr>
        <p:txBody>
          <a:bodyPr/>
          <a:lstStyle/>
          <a:p>
            <a:r>
              <a:rPr lang="en-US" altLang="en-US" b="1" dirty="0">
                <a:solidFill>
                  <a:srgbClr val="006699"/>
                </a:solidFill>
                <a:latin typeface="+mj-lt"/>
              </a:rPr>
              <a:t>Debugging</a:t>
            </a:r>
            <a:r>
              <a:rPr lang="en-US" altLang="en-US" dirty="0">
                <a:solidFill>
                  <a:srgbClr val="3366FF"/>
                </a:solidFill>
              </a:rPr>
              <a:t> </a:t>
            </a:r>
            <a:r>
              <a:rPr lang="en-US" altLang="en-US" dirty="0"/>
              <a:t>is finding and fixing errors, or </a:t>
            </a:r>
            <a:r>
              <a:rPr lang="en-US" altLang="en-US" b="1" dirty="0">
                <a:solidFill>
                  <a:srgbClr val="006699"/>
                </a:solidFill>
                <a:latin typeface="+mj-lt"/>
              </a:rPr>
              <a:t>bugs</a:t>
            </a:r>
          </a:p>
          <a:p>
            <a:r>
              <a:rPr lang="en-US" altLang="en-US" dirty="0"/>
              <a:t>Also</a:t>
            </a:r>
            <a:r>
              <a:rPr lang="en-US" altLang="en-US" b="1" dirty="0">
                <a:solidFill>
                  <a:srgbClr val="3366FF"/>
                </a:solidFill>
              </a:rPr>
              <a:t> </a:t>
            </a:r>
            <a:r>
              <a:rPr lang="en-US" altLang="en-US" b="1" dirty="0">
                <a:solidFill>
                  <a:srgbClr val="006699"/>
                </a:solidFill>
                <a:latin typeface="+mj-lt"/>
              </a:rPr>
              <a:t>performance</a:t>
            </a:r>
            <a:r>
              <a:rPr lang="en-US" altLang="en-US" b="1" dirty="0">
                <a:solidFill>
                  <a:srgbClr val="3366FF"/>
                </a:solidFill>
              </a:rPr>
              <a:t> </a:t>
            </a:r>
            <a:r>
              <a:rPr lang="en-US" altLang="en-US" b="1" dirty="0">
                <a:solidFill>
                  <a:srgbClr val="006699"/>
                </a:solidFill>
                <a:latin typeface="+mj-lt"/>
              </a:rPr>
              <a:t>tuning</a:t>
            </a:r>
          </a:p>
          <a:p>
            <a:r>
              <a:rPr lang="en-US" altLang="en-US" dirty="0"/>
              <a:t>OS generate </a:t>
            </a:r>
            <a:r>
              <a:rPr lang="en-US" altLang="en-US" b="1" dirty="0">
                <a:solidFill>
                  <a:srgbClr val="006699"/>
                </a:solidFill>
                <a:latin typeface="+mj-lt"/>
              </a:rPr>
              <a:t>log</a:t>
            </a:r>
            <a:r>
              <a:rPr lang="en-US" altLang="en-US" b="1" dirty="0">
                <a:solidFill>
                  <a:srgbClr val="3366FF"/>
                </a:solidFill>
              </a:rPr>
              <a:t> </a:t>
            </a:r>
            <a:r>
              <a:rPr lang="en-US" altLang="en-US" b="1" dirty="0">
                <a:solidFill>
                  <a:srgbClr val="006699"/>
                </a:solidFill>
                <a:latin typeface="+mj-lt"/>
              </a:rPr>
              <a:t>files</a:t>
            </a:r>
            <a:r>
              <a:rPr lang="en-US" altLang="en-US" dirty="0">
                <a:solidFill>
                  <a:srgbClr val="3366FF"/>
                </a:solidFill>
              </a:rPr>
              <a:t> </a:t>
            </a:r>
            <a:r>
              <a:rPr lang="en-US" altLang="en-US" dirty="0">
                <a:solidFill>
                  <a:srgbClr val="000000"/>
                </a:solidFill>
              </a:rPr>
              <a:t>containing error information</a:t>
            </a:r>
          </a:p>
          <a:p>
            <a:r>
              <a:rPr lang="en-US" altLang="en-US" dirty="0">
                <a:solidFill>
                  <a:srgbClr val="000000"/>
                </a:solidFill>
              </a:rPr>
              <a:t>Failure of an application can generate </a:t>
            </a:r>
            <a:r>
              <a:rPr lang="en-US" altLang="en-US" b="1" dirty="0">
                <a:solidFill>
                  <a:srgbClr val="006699"/>
                </a:solidFill>
                <a:latin typeface="+mj-lt"/>
              </a:rPr>
              <a:t>core</a:t>
            </a:r>
            <a:r>
              <a:rPr lang="en-US" altLang="en-US" b="1" dirty="0">
                <a:solidFill>
                  <a:srgbClr val="3366FF"/>
                </a:solidFill>
              </a:rPr>
              <a:t> </a:t>
            </a:r>
            <a:r>
              <a:rPr lang="en-US" altLang="en-US" b="1" dirty="0">
                <a:solidFill>
                  <a:srgbClr val="006699"/>
                </a:solidFill>
                <a:latin typeface="+mj-lt"/>
              </a:rPr>
              <a:t>dump</a:t>
            </a:r>
            <a:r>
              <a:rPr lang="en-US" altLang="en-US" dirty="0">
                <a:solidFill>
                  <a:srgbClr val="3366FF"/>
                </a:solidFill>
              </a:rPr>
              <a:t> </a:t>
            </a:r>
            <a:r>
              <a:rPr lang="en-US" altLang="en-US" dirty="0">
                <a:solidFill>
                  <a:srgbClr val="000000"/>
                </a:solidFill>
              </a:rPr>
              <a:t>file capturing memory of the process</a:t>
            </a:r>
          </a:p>
          <a:p>
            <a:r>
              <a:rPr lang="en-US" altLang="en-US" dirty="0">
                <a:solidFill>
                  <a:srgbClr val="000000"/>
                </a:solidFill>
              </a:rPr>
              <a:t>Operating system failure can generate </a:t>
            </a:r>
            <a:r>
              <a:rPr lang="en-US" altLang="en-US" b="1" dirty="0">
                <a:solidFill>
                  <a:srgbClr val="006699"/>
                </a:solidFill>
                <a:latin typeface="+mj-lt"/>
              </a:rPr>
              <a:t>crash</a:t>
            </a:r>
            <a:r>
              <a:rPr lang="en-US" altLang="en-US" b="1" dirty="0">
                <a:solidFill>
                  <a:srgbClr val="3366FF"/>
                </a:solidFill>
              </a:rPr>
              <a:t> </a:t>
            </a:r>
            <a:r>
              <a:rPr lang="en-US" altLang="en-US" b="1" dirty="0">
                <a:solidFill>
                  <a:srgbClr val="006699"/>
                </a:solidFill>
                <a:latin typeface="+mj-lt"/>
              </a:rPr>
              <a:t>dump</a:t>
            </a:r>
            <a:r>
              <a:rPr lang="en-US" altLang="en-US" dirty="0">
                <a:solidFill>
                  <a:srgbClr val="3366FF"/>
                </a:solidFill>
              </a:rPr>
              <a:t> </a:t>
            </a:r>
            <a:r>
              <a:rPr lang="en-US" altLang="en-US" dirty="0">
                <a:solidFill>
                  <a:srgbClr val="000000"/>
                </a:solidFill>
              </a:rPr>
              <a:t>file containing kernel memory</a:t>
            </a:r>
          </a:p>
          <a:p>
            <a:r>
              <a:rPr lang="en-US" altLang="en-US" dirty="0">
                <a:solidFill>
                  <a:srgbClr val="000000"/>
                </a:solidFill>
              </a:rPr>
              <a:t>Beyond crashes, performance tuning can optimize system performance</a:t>
            </a:r>
          </a:p>
          <a:p>
            <a:pPr lvl="1"/>
            <a:r>
              <a:rPr lang="en-US" altLang="en-US" dirty="0">
                <a:solidFill>
                  <a:srgbClr val="000000"/>
                </a:solidFill>
              </a:rPr>
              <a:t>Sometimes using </a:t>
            </a:r>
            <a:r>
              <a:rPr lang="en-US" altLang="en-US" b="1" i="1" dirty="0">
                <a:solidFill>
                  <a:srgbClr val="000000"/>
                </a:solidFill>
              </a:rPr>
              <a:t>trace listings</a:t>
            </a:r>
            <a:r>
              <a:rPr lang="en-US" altLang="en-US" dirty="0">
                <a:solidFill>
                  <a:srgbClr val="000000"/>
                </a:solidFill>
              </a:rPr>
              <a:t> of activities, recorded for analysis</a:t>
            </a:r>
          </a:p>
          <a:p>
            <a:pPr lvl="1"/>
            <a:r>
              <a:rPr lang="en-US" altLang="en-US" b="1" dirty="0">
                <a:solidFill>
                  <a:srgbClr val="006699"/>
                </a:solidFill>
                <a:latin typeface="+mj-lt"/>
              </a:rPr>
              <a:t>Profiling</a:t>
            </a:r>
            <a:r>
              <a:rPr lang="en-US" altLang="en-US" dirty="0">
                <a:solidFill>
                  <a:srgbClr val="000000"/>
                </a:solidFill>
              </a:rPr>
              <a:t> is periodic sampling of instruction pointer to look for statistical trends</a:t>
            </a:r>
          </a:p>
          <a:p>
            <a:pPr marL="0" indent="0">
              <a:buNone/>
            </a:pPr>
            <a:r>
              <a:rPr lang="en-US" altLang="en-US" dirty="0">
                <a:solidFill>
                  <a:srgbClr val="000000"/>
                </a:solidFill>
              </a:rPr>
              <a:t>Kernighan</a:t>
            </a:r>
            <a:r>
              <a:rPr lang="ja-JP" altLang="en-US" dirty="0">
                <a:solidFill>
                  <a:srgbClr val="000000"/>
                </a:solidFill>
              </a:rPr>
              <a:t>’</a:t>
            </a:r>
            <a:r>
              <a:rPr lang="en-US" altLang="ja-JP" dirty="0">
                <a:solidFill>
                  <a:srgbClr val="000000"/>
                </a:solidFill>
              </a:rPr>
              <a:t>s Law: </a:t>
            </a:r>
            <a:r>
              <a:rPr lang="ja-JP" altLang="en-US" dirty="0"/>
              <a:t>“</a:t>
            </a:r>
            <a:r>
              <a:rPr lang="en-US" altLang="ja-JP" dirty="0"/>
              <a:t>Debugging is twice as hard as writing the code in the first place. Therefore, if you write the code as cleverly as possible, you are, by definition, not smart enough to debug it.</a:t>
            </a:r>
            <a:r>
              <a:rPr lang="ja-JP" altLang="en-US" dirty="0"/>
              <a:t>”</a:t>
            </a:r>
            <a:endParaRPr lang="en-US" altLang="en-US" dirty="0">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FBDC80E5-B72D-4043-9076-486889434A4D}"/>
              </a:ext>
            </a:extLst>
          </p:cNvPr>
          <p:cNvSpPr>
            <a:spLocks noGrp="1" noChangeArrowheads="1"/>
          </p:cNvSpPr>
          <p:nvPr>
            <p:ph type="title"/>
          </p:nvPr>
        </p:nvSpPr>
        <p:spPr>
          <a:xfrm>
            <a:off x="1090613" y="220663"/>
            <a:ext cx="7400925" cy="576262"/>
          </a:xfrm>
        </p:spPr>
        <p:txBody>
          <a:bodyPr/>
          <a:lstStyle/>
          <a:p>
            <a:pPr eaLnBrk="1" hangingPunct="1"/>
            <a:r>
              <a:rPr lang="en-US" altLang="en-US"/>
              <a:t>Performance Tuning</a:t>
            </a:r>
          </a:p>
        </p:txBody>
      </p:sp>
      <p:sp>
        <p:nvSpPr>
          <p:cNvPr id="109571" name="Content Placeholder 2">
            <a:extLst>
              <a:ext uri="{FF2B5EF4-FFF2-40B4-BE49-F238E27FC236}">
                <a16:creationId xmlns:a16="http://schemas.microsoft.com/office/drawing/2014/main" id="{5960A5C5-E69B-4534-A6AA-022222737FDF}"/>
              </a:ext>
            </a:extLst>
          </p:cNvPr>
          <p:cNvSpPr>
            <a:spLocks noGrp="1" noChangeArrowheads="1"/>
          </p:cNvSpPr>
          <p:nvPr>
            <p:ph idx="1"/>
          </p:nvPr>
        </p:nvSpPr>
        <p:spPr>
          <a:xfrm>
            <a:off x="806450" y="1013142"/>
            <a:ext cx="7685088" cy="1487487"/>
          </a:xfrm>
        </p:spPr>
        <p:txBody>
          <a:bodyPr/>
          <a:lstStyle/>
          <a:p>
            <a:r>
              <a:rPr lang="en-US" altLang="en-US" dirty="0"/>
              <a:t>Improve performance by removing bottlenecks</a:t>
            </a:r>
          </a:p>
          <a:p>
            <a:r>
              <a:rPr lang="en-US" altLang="en-US" dirty="0"/>
              <a:t>OS must provide means of computing and displaying measures of system behavior</a:t>
            </a:r>
            <a:endParaRPr lang="en-US" altLang="en-US" dirty="0">
              <a:solidFill>
                <a:srgbClr val="000000"/>
              </a:solidFill>
            </a:endParaRPr>
          </a:p>
          <a:p>
            <a:r>
              <a:rPr lang="en-US" altLang="en-US" dirty="0">
                <a:solidFill>
                  <a:srgbClr val="000000"/>
                </a:solidFill>
              </a:rPr>
              <a:t>For example, “top” program or Windows Task Manager</a:t>
            </a:r>
            <a:endParaRPr lang="en-US" altLang="en-US" dirty="0"/>
          </a:p>
        </p:txBody>
      </p:sp>
      <p:pic>
        <p:nvPicPr>
          <p:cNvPr id="109572" name="Picture 2">
            <a:extLst>
              <a:ext uri="{FF2B5EF4-FFF2-40B4-BE49-F238E27FC236}">
                <a16:creationId xmlns:a16="http://schemas.microsoft.com/office/drawing/2014/main" id="{4DA4B68A-E5CA-40EB-BEDC-C4CD4DBC1943}"/>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377156" y="2716846"/>
            <a:ext cx="6389687" cy="359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3E5AB062-C148-4A7D-BB07-8D5065AEF458}"/>
              </a:ext>
            </a:extLst>
          </p:cNvPr>
          <p:cNvSpPr>
            <a:spLocks noGrp="1" noChangeArrowheads="1"/>
          </p:cNvSpPr>
          <p:nvPr>
            <p:ph type="title"/>
          </p:nvPr>
        </p:nvSpPr>
        <p:spPr>
          <a:xfrm>
            <a:off x="800100" y="220663"/>
            <a:ext cx="7720013" cy="576262"/>
          </a:xfrm>
        </p:spPr>
        <p:txBody>
          <a:bodyPr/>
          <a:lstStyle/>
          <a:p>
            <a:pPr eaLnBrk="1" hangingPunct="1"/>
            <a:r>
              <a:rPr lang="en-US" altLang="en-US"/>
              <a:t>Tracing</a:t>
            </a:r>
          </a:p>
        </p:txBody>
      </p:sp>
      <p:sp>
        <p:nvSpPr>
          <p:cNvPr id="111619" name="Content Placeholder 2">
            <a:extLst>
              <a:ext uri="{FF2B5EF4-FFF2-40B4-BE49-F238E27FC236}">
                <a16:creationId xmlns:a16="http://schemas.microsoft.com/office/drawing/2014/main" id="{AEB41930-1685-412F-A8A7-319AF8289000}"/>
              </a:ext>
            </a:extLst>
          </p:cNvPr>
          <p:cNvSpPr txBox="1">
            <a:spLocks/>
          </p:cNvSpPr>
          <p:nvPr/>
        </p:nvSpPr>
        <p:spPr bwMode="auto">
          <a:xfrm>
            <a:off x="800100" y="1034029"/>
            <a:ext cx="7713662" cy="2680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200150" indent="-28575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r>
              <a:rPr lang="en-US" altLang="en-US" sz="2000" dirty="0">
                <a:solidFill>
                  <a:srgbClr val="000000"/>
                </a:solidFill>
              </a:rPr>
              <a:t>Collects data for a specific event, such as steps involved in a system call invocation</a:t>
            </a:r>
          </a:p>
          <a:p>
            <a:r>
              <a:rPr lang="en-US" altLang="en-US" sz="2000" dirty="0">
                <a:solidFill>
                  <a:srgbClr val="000000"/>
                </a:solidFill>
              </a:rPr>
              <a:t>Tools include</a:t>
            </a:r>
          </a:p>
          <a:p>
            <a:pPr lvl="1"/>
            <a:r>
              <a:rPr lang="en-US" altLang="en-US" dirty="0" err="1">
                <a:solidFill>
                  <a:srgbClr val="000000"/>
                </a:solidFill>
              </a:rPr>
              <a:t>strace</a:t>
            </a:r>
            <a:r>
              <a:rPr lang="en-US" altLang="en-US" dirty="0">
                <a:solidFill>
                  <a:srgbClr val="000000"/>
                </a:solidFill>
              </a:rPr>
              <a:t> – trace system calls invoked by a process</a:t>
            </a:r>
          </a:p>
          <a:p>
            <a:pPr lvl="1"/>
            <a:r>
              <a:rPr lang="en-US" altLang="en-US" dirty="0" err="1">
                <a:solidFill>
                  <a:srgbClr val="000000"/>
                </a:solidFill>
              </a:rPr>
              <a:t>gdb</a:t>
            </a:r>
            <a:r>
              <a:rPr lang="en-US" altLang="en-US" dirty="0">
                <a:solidFill>
                  <a:srgbClr val="000000"/>
                </a:solidFill>
              </a:rPr>
              <a:t> – source-level debugger</a:t>
            </a:r>
          </a:p>
          <a:p>
            <a:pPr lvl="1"/>
            <a:r>
              <a:rPr lang="en-US" altLang="en-US" dirty="0">
                <a:solidFill>
                  <a:srgbClr val="000000"/>
                </a:solidFill>
              </a:rPr>
              <a:t>perf – collection of Linux performance tools</a:t>
            </a:r>
          </a:p>
          <a:p>
            <a:pPr lvl="1"/>
            <a:r>
              <a:rPr lang="en-US" altLang="en-US" dirty="0" err="1">
                <a:solidFill>
                  <a:srgbClr val="000000"/>
                </a:solidFill>
              </a:rPr>
              <a:t>tcpdump</a:t>
            </a:r>
            <a:r>
              <a:rPr lang="en-US" altLang="en-US" dirty="0">
                <a:solidFill>
                  <a:srgbClr val="000000"/>
                </a:solidFill>
              </a:rPr>
              <a:t> – collects network packets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7F382614-8441-442A-8EB2-AD9636A59B18}"/>
              </a:ext>
            </a:extLst>
          </p:cNvPr>
          <p:cNvSpPr>
            <a:spLocks noGrp="1" noChangeArrowheads="1"/>
          </p:cNvSpPr>
          <p:nvPr>
            <p:ph type="title"/>
          </p:nvPr>
        </p:nvSpPr>
        <p:spPr>
          <a:xfrm>
            <a:off x="800100" y="220663"/>
            <a:ext cx="7772400" cy="576262"/>
          </a:xfrm>
        </p:spPr>
        <p:txBody>
          <a:bodyPr/>
          <a:lstStyle/>
          <a:p>
            <a:pPr eaLnBrk="1" hangingPunct="1"/>
            <a:r>
              <a:rPr lang="en-US" altLang="en-US"/>
              <a:t>BCC</a:t>
            </a:r>
          </a:p>
        </p:txBody>
      </p:sp>
      <p:sp>
        <p:nvSpPr>
          <p:cNvPr id="113667" name="Content Placeholder 2">
            <a:extLst>
              <a:ext uri="{FF2B5EF4-FFF2-40B4-BE49-F238E27FC236}">
                <a16:creationId xmlns:a16="http://schemas.microsoft.com/office/drawing/2014/main" id="{4EA39B5D-A2AE-4C8D-8F8F-C51BEE190F60}"/>
              </a:ext>
            </a:extLst>
          </p:cNvPr>
          <p:cNvSpPr txBox="1">
            <a:spLocks/>
          </p:cNvSpPr>
          <p:nvPr/>
        </p:nvSpPr>
        <p:spPr bwMode="auto">
          <a:xfrm>
            <a:off x="806450" y="947739"/>
            <a:ext cx="7766050" cy="467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r>
              <a:rPr lang="en-US" altLang="en-US" sz="2000" dirty="0">
                <a:solidFill>
                  <a:srgbClr val="000000"/>
                </a:solidFill>
              </a:rPr>
              <a:t>Debugging interactions between user-level and kernel code nearly impossible without toolset that understands both and an instrument their actions</a:t>
            </a:r>
          </a:p>
          <a:p>
            <a:r>
              <a:rPr lang="en-US" altLang="en-US" sz="2000" dirty="0">
                <a:solidFill>
                  <a:srgbClr val="000000"/>
                </a:solidFill>
              </a:rPr>
              <a:t>BCC (BPF Compiler Collection) is a rich toolkit providing tracing features for Linux</a:t>
            </a:r>
          </a:p>
          <a:p>
            <a:pPr lvl="1"/>
            <a:r>
              <a:rPr lang="en-US" altLang="en-US" dirty="0">
                <a:solidFill>
                  <a:srgbClr val="000000"/>
                </a:solidFill>
              </a:rPr>
              <a:t>See also the original </a:t>
            </a:r>
            <a:r>
              <a:rPr lang="en-US" altLang="en-US" dirty="0" err="1">
                <a:solidFill>
                  <a:srgbClr val="000000"/>
                </a:solidFill>
              </a:rPr>
              <a:t>DTrace</a:t>
            </a:r>
            <a:endParaRPr lang="en-US" altLang="en-US" dirty="0">
              <a:solidFill>
                <a:srgbClr val="000000"/>
              </a:solidFill>
            </a:endParaRPr>
          </a:p>
          <a:p>
            <a:r>
              <a:rPr lang="en-US" altLang="en-US" sz="2000" dirty="0">
                <a:solidFill>
                  <a:srgbClr val="000000"/>
                </a:solidFill>
              </a:rPr>
              <a:t>For example, disksnoop.py traces disk I/O activity</a:t>
            </a:r>
          </a:p>
          <a:p>
            <a:endParaRPr lang="en-US" altLang="en-US" sz="2000" dirty="0">
              <a:solidFill>
                <a:srgbClr val="000000"/>
              </a:solidFill>
            </a:endParaRPr>
          </a:p>
          <a:p>
            <a:endParaRPr lang="en-US" altLang="en-US" sz="2000" dirty="0">
              <a:solidFill>
                <a:srgbClr val="000000"/>
              </a:solidFill>
            </a:endParaRPr>
          </a:p>
          <a:p>
            <a:endParaRPr lang="en-US" altLang="en-US" sz="2000" dirty="0">
              <a:solidFill>
                <a:srgbClr val="000000"/>
              </a:solidFill>
            </a:endParaRPr>
          </a:p>
          <a:p>
            <a:endParaRPr lang="en-US" altLang="en-US" sz="2000" dirty="0">
              <a:solidFill>
                <a:srgbClr val="000000"/>
              </a:solidFill>
            </a:endParaRPr>
          </a:p>
          <a:p>
            <a:r>
              <a:rPr lang="en-US" altLang="en-US" sz="2000" dirty="0">
                <a:solidFill>
                  <a:srgbClr val="000000"/>
                </a:solidFill>
              </a:rPr>
              <a:t>Many other tools (next slide)</a:t>
            </a:r>
          </a:p>
        </p:txBody>
      </p:sp>
      <p:pic>
        <p:nvPicPr>
          <p:cNvPr id="113668" name="Picture 2">
            <a:extLst>
              <a:ext uri="{FF2B5EF4-FFF2-40B4-BE49-F238E27FC236}">
                <a16:creationId xmlns:a16="http://schemas.microsoft.com/office/drawing/2014/main" id="{B1120918-AE53-48E2-B5A4-20DE389868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5914" y="3429000"/>
            <a:ext cx="6225241" cy="1628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A3232E78-1799-45A9-9B95-C16D5B631AF1}"/>
              </a:ext>
            </a:extLst>
          </p:cNvPr>
          <p:cNvSpPr>
            <a:spLocks noGrp="1" noChangeArrowheads="1"/>
          </p:cNvSpPr>
          <p:nvPr>
            <p:ph type="title"/>
          </p:nvPr>
        </p:nvSpPr>
        <p:spPr>
          <a:xfrm>
            <a:off x="800100" y="220663"/>
            <a:ext cx="7691438" cy="576262"/>
          </a:xfrm>
        </p:spPr>
        <p:txBody>
          <a:bodyPr/>
          <a:lstStyle/>
          <a:p>
            <a:pPr eaLnBrk="1" hangingPunct="1"/>
            <a:r>
              <a:rPr lang="en-US" altLang="en-US"/>
              <a:t>Linux bcc/BPF Tracing Tools</a:t>
            </a:r>
          </a:p>
        </p:txBody>
      </p:sp>
      <p:pic>
        <p:nvPicPr>
          <p:cNvPr id="115715" name="Picture 3">
            <a:extLst>
              <a:ext uri="{FF2B5EF4-FFF2-40B4-BE49-F238E27FC236}">
                <a16:creationId xmlns:a16="http://schemas.microsoft.com/office/drawing/2014/main" id="{4785D27E-8BE3-4317-8EE3-9C44AB56CC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820"/>
          <a:stretch/>
        </p:blipFill>
        <p:spPr bwMode="auto">
          <a:xfrm>
            <a:off x="762000" y="982980"/>
            <a:ext cx="7531100" cy="5121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2C62F9A8-4DAA-4F8E-8650-F234095DF993}"/>
              </a:ext>
            </a:extLst>
          </p:cNvPr>
          <p:cNvSpPr>
            <a:spLocks noGrp="1" noChangeArrowheads="1"/>
          </p:cNvSpPr>
          <p:nvPr>
            <p:ph type="ctrTitle"/>
          </p:nvPr>
        </p:nvSpPr>
        <p:spPr/>
        <p:txBody>
          <a:bodyPr/>
          <a:lstStyle/>
          <a:p>
            <a:pPr eaLnBrk="1" hangingPunct="1"/>
            <a:r>
              <a:rPr lang="en-US" altLang="en-US" dirty="0"/>
              <a:t>End of Chapter 2</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themeOverride>
</file>

<file path=docProps/app.xml><?xml version="1.0" encoding="utf-8"?>
<Properties xmlns="http://schemas.openxmlformats.org/officeDocument/2006/extended-properties" xmlns:vt="http://schemas.openxmlformats.org/officeDocument/2006/docPropsVTypes">
  <Template/>
  <TotalTime>9319</TotalTime>
  <Words>1634</Words>
  <Application>Microsoft Office PowerPoint</Application>
  <PresentationFormat>全屏显示(4:3)</PresentationFormat>
  <Paragraphs>204</Paragraphs>
  <Slides>30</Slides>
  <Notes>24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Monotype Sorts</vt:lpstr>
      <vt:lpstr>Arial</vt:lpstr>
      <vt:lpstr>Helvetica</vt:lpstr>
      <vt:lpstr>Times New Roman</vt:lpstr>
      <vt:lpstr>Verdana</vt:lpstr>
      <vt:lpstr>Webdings</vt:lpstr>
      <vt:lpstr>Wingdings</vt:lpstr>
      <vt:lpstr>os-8</vt:lpstr>
      <vt:lpstr>Chapter 2  Operating Structures (2)</vt:lpstr>
      <vt:lpstr>Linkers and Loaders</vt:lpstr>
      <vt:lpstr>Roles of Linker and Loader</vt:lpstr>
      <vt:lpstr>Why Applications are Operating System Specific</vt:lpstr>
      <vt:lpstr>Design and Implementation</vt:lpstr>
      <vt:lpstr>Policy and Mechanism</vt:lpstr>
      <vt:lpstr>Implementation</vt:lpstr>
      <vt:lpstr>Operating System Structure</vt:lpstr>
      <vt:lpstr>Monolithic Structure – Original UNIX</vt:lpstr>
      <vt:lpstr>Traditional UNIX System Structure</vt:lpstr>
      <vt:lpstr>Linux System Structure</vt:lpstr>
      <vt:lpstr>Layered Approach</vt:lpstr>
      <vt:lpstr>Microkernels</vt:lpstr>
      <vt:lpstr>Microkernel System Structure </vt:lpstr>
      <vt:lpstr>Modules</vt:lpstr>
      <vt:lpstr>Hybrid Systems</vt:lpstr>
      <vt:lpstr>macOS and iOS Structure</vt:lpstr>
      <vt:lpstr>Darwin</vt:lpstr>
      <vt:lpstr>iOS</vt:lpstr>
      <vt:lpstr>Android</vt:lpstr>
      <vt:lpstr>Android Architecture</vt:lpstr>
      <vt:lpstr>Building and Booting an Operating System</vt:lpstr>
      <vt:lpstr>Building and Booting Linux</vt:lpstr>
      <vt:lpstr>System Boot</vt:lpstr>
      <vt:lpstr>Operating System Debugging</vt:lpstr>
      <vt:lpstr>Performance Tuning</vt:lpstr>
      <vt:lpstr>Tracing</vt:lpstr>
      <vt:lpstr>BCC</vt:lpstr>
      <vt:lpstr>Linux bcc/BPF Tracing Tools</vt:lpstr>
      <vt:lpstr>End of Chapter 2</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Yeh-Ching Chung</cp:lastModifiedBy>
  <cp:revision>222</cp:revision>
  <cp:lastPrinted>2001-06-14T13:58:17Z</cp:lastPrinted>
  <dcterms:created xsi:type="dcterms:W3CDTF">2011-01-13T23:43:38Z</dcterms:created>
  <dcterms:modified xsi:type="dcterms:W3CDTF">2025-09-18T01:52:35Z</dcterms:modified>
</cp:coreProperties>
</file>