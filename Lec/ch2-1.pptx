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330" r:id="rId2"/>
    <p:sldId id="275" r:id="rId3"/>
    <p:sldId id="287" r:id="rId4"/>
    <p:sldId id="277" r:id="rId5"/>
    <p:sldId id="332" r:id="rId6"/>
    <p:sldId id="288" r:id="rId7"/>
    <p:sldId id="336" r:id="rId8"/>
    <p:sldId id="278" r:id="rId9"/>
    <p:sldId id="365" r:id="rId10"/>
    <p:sldId id="289" r:id="rId11"/>
    <p:sldId id="377" r:id="rId12"/>
    <p:sldId id="366" r:id="rId13"/>
    <p:sldId id="279" r:id="rId14"/>
    <p:sldId id="290" r:id="rId15"/>
    <p:sldId id="367" r:id="rId16"/>
    <p:sldId id="294" r:id="rId17"/>
    <p:sldId id="293" r:id="rId18"/>
    <p:sldId id="295" r:id="rId19"/>
    <p:sldId id="296" r:id="rId20"/>
    <p:sldId id="280" r:id="rId21"/>
    <p:sldId id="349" r:id="rId22"/>
    <p:sldId id="343" r:id="rId23"/>
    <p:sldId id="339" r:id="rId24"/>
    <p:sldId id="335" r:id="rId25"/>
    <p:sldId id="344" r:id="rId26"/>
    <p:sldId id="345" r:id="rId27"/>
    <p:sldId id="298" r:id="rId28"/>
    <p:sldId id="302" r:id="rId29"/>
    <p:sldId id="329" r:id="rId30"/>
    <p:sldId id="351" r:id="rId31"/>
    <p:sldId id="437" r:id="rId3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7"/>
    <p:restoredTop sz="94667"/>
  </p:normalViewPr>
  <p:slideViewPr>
    <p:cSldViewPr snapToGrid="0">
      <p:cViewPr varScale="1">
        <p:scale>
          <a:sx n="55" d="100"/>
          <a:sy n="55" d="100"/>
        </p:scale>
        <p:origin x="1440" y="44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114A89C-1C73-4D44-A8BC-42BAA055C1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BDAB79E-6014-4A3D-84DF-A7CEB339BC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0D5592A-E44D-4423-B07A-957389C43B8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1FDBA55-75B0-4E79-BF0F-BC11D59E5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01873986-C89E-4478-9B6A-F6B0BF3B5D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5A858E-881C-46A6-B3BB-38AF66B8F9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6C7A83-A047-4863-99DC-443A82A895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A60EB1-DAFD-4AE9-AB03-60CC4D8EEE9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281DC59-26C3-4F7F-8E43-93FC93CCE3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2C085E6-91D9-44E7-80E9-718A60124C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950034D-84CE-4525-AFD4-671AE6465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A890F1-2F48-45ED-9750-542EA7D8C9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E15B947-44D3-4DC4-90BD-791A8A992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C4CF68-30FC-4986-BD94-947876E4474E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0F7D2EC-BB14-44C5-9C26-CEBE080D5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C8CC18E-28B7-4D38-91FE-BB538F8E4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7699670-5331-4C7F-B66F-45A2105BA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5D0AF2-D85B-4E4E-89AE-3DAF63F14019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043F316-76DC-4F8D-B0C9-695562CD8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70DB475-EF8D-4192-AEB8-E04565EC3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E9377DB-301A-432B-896E-B41152178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CF9BC1-3B73-458F-8E78-3016D7399B9A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1F4615-F5F9-4EB9-B78C-EB9FE2EAD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F9DFDBA-3559-40A7-BFB4-DC81E20F7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B596B35-4CD3-4163-AF7F-24933E1BA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43B5A6-DAB1-4C28-92DE-EA01C365D9F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9E165D1-8C08-4127-8C5B-7DE96DC75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0D7D365-DEDC-42FE-8651-B0FD5E855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479304-D0E3-440A-A086-9BB2C9CFA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6656675-4F11-44EE-82F1-FC6523A1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58421E6-E063-489A-8DF8-5F745E5E4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E92DC9-9D0F-4D4C-91FC-78D0BF0662BE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B7DAC96-1713-46BA-A342-1270F3A89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6B80E63-F60F-4332-9942-3F6416C22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07A81BB-96CB-4FBB-BD88-CC3658B57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DD7F04E-9A25-4DC3-8673-2856EE538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E8E015A-A900-45D1-8E21-4D4C7F581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F5AE06-AC16-4C3D-AAAD-B4FC1F4406E5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BEFE14-B474-43E0-8C51-D424A37B8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504A065-E088-4655-A67E-8FE45E396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4F45F0E-DA1B-4093-B016-7B3B6EA0A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2FF164-6E8A-4BC1-B191-9D9705F2419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332595-CDB0-4A7B-95ED-0E9FB6220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34B16C-62B1-4DE4-BAA8-BDAFA4CB4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41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42979D8-D279-4F81-8D96-576A16CDE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14EC126-86A2-4EFB-B04B-99231C6B4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FC9295D-20C0-40F6-A890-07561CD02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ED19BE-233D-4E15-858D-397EA24C558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0945398-3953-4662-8AB2-3599D735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564743-CEA6-4703-B1E3-72C2EA375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E28D529-1073-4615-9C35-6D7E43A25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7E548C-774C-4A0A-B49B-D7561E8DC014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1D0FB5B-1D70-4814-9519-570E54CA9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DE796A1-E6DA-46E5-BEF3-64070886D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E56B275-0BAF-4D11-8861-A6AD21BD7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51DE52-A2FA-4DD9-8778-F3F9593F4483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A31EF38-9D9C-4353-9BE3-64660DFC1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C6D288B-294C-425D-B18E-3E0F65AD6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B7197EB-9EA5-440C-BF44-3CCC1D8BD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ADBD1-0CFE-4524-B710-0FA45B67A62C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E333021-2AC7-4A64-BBE4-34E771567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4293FD2-C714-429D-A3AA-6BC581EAC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507351B-D712-437E-98E7-F662A7430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2DF0B5-6DB1-40E4-9D70-8430FC6C4E9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FC88A25-20C1-4AB0-93D3-5CD9170E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D605D-FC05-4B6D-A985-DA551A53D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45F60E8-26A3-44B1-86D8-9C36811F53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6AA71C-5868-45F1-8571-E62C9C187BD1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5B0F2F1-AA3B-4D59-8C21-560A66CEF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BCF461-AEF4-401D-A191-C0EBC12EA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33BAED9-5B7F-401E-8726-45B92938F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DCFB8B-285E-42B0-B046-73E0330D4A8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B657D37-F8DF-4FB6-8D67-D127E38E3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019F071-D51D-4D64-A7F6-5CFAF4BF2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49C35A4-2B09-4044-B684-3B5B5F968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8F1016-771D-4116-83C0-1A8A1142BC7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DD9E6BF-77D7-41D8-8E40-BCC9A7C43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CFA8695-0190-4832-B30E-DCEC8A596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E047762-40E7-43E4-9B43-6F5B9B32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0E5D39-9A86-4ED8-8691-ECA7B1C1AF77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21DBEC8-DA42-4F41-9C7D-8E648A61D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B717F07-BEFA-48AC-9D42-A9B51A92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14A1A8-4D19-49E4-AD69-33EE6FA1E3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AB6457-4452-4B30-ACCB-2E4E288B786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B2F8D86-D304-421E-AE9F-BEFAD389F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769BACE-8F2A-4C1E-AEFD-C18F7DDF4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C4C0C4A-430D-41D5-A904-65099801C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B63C8E0-78C6-4F6F-BA2A-43761169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A3CAE1-31FF-4E63-B6A6-075591DFA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10DEEF-5D5D-44BF-A0DE-0E03A5EA1C92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0A60D48-E453-4779-93AB-8A9C169F6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F5150A2-7B6E-44C9-9CAF-F609E522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B2C34C3-250A-468E-9851-CC70D79D9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33955B-1D85-408C-9962-CCCFD1FD963F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D1DE534-1DD7-4472-AA58-C1DE0867D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FC13BC3-8933-45F1-9859-967FA4C5C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704E6CA-49C0-4A2A-AEC1-BB04B55A4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58379-05CF-4CC2-AD21-075AE5A4BA6F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4E6DB56-0C3E-477D-B270-81C5BEB64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A9C3227-4B51-4748-9D4A-8F77C8BB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7783A79-83B8-4D49-BBC2-5D548B427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8928C3-9072-42C2-A825-768E263084C4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DB4D94A-E0FC-49E4-83E5-A10A268ED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5357CA5-7158-4580-8BAB-76FAF590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CFC14DB-8A99-44CB-BA83-39417D26C1AF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530489F-79EC-4897-869D-780965D7E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83414BD-B475-4106-B6CC-2A825BC14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5EEFC8D-4A80-4C8D-BB98-5471F8FF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E292785-34F4-4129-BCFD-B22D0AC1F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0D32FCA-31DE-4EA5-82C1-CF345076A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090E6124-7B97-4EBF-8990-F55FBAA11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449F6A7-C9D3-4C68-84CF-E1FEED2C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720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793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373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730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56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03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189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17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86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668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EFAC327-3B14-405A-AECD-695170F6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B7308704-6884-478D-913D-858724364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6878CA-A75D-4410-AFD2-1992D970E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D23273-AE1D-4273-BD10-D4215E10B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A52FF0B1-98D3-422D-A027-A89A77277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A460C49-6450-4AA7-B172-624D0E8FA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9885932-7748-44D3-A5FA-3EA2C19FA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2B3C4A04-A423-4652-9F71-1E3F1D9CED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46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2.</a:t>
            </a:r>
            <a:fld id="{3002ADDC-CC54-42C0-AD9E-FCEA6349E957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59A1521A-022B-4DE7-8426-69A13EBF9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27BAFA87-2B93-403E-A844-8FB1EAE92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86538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CD488D63-B096-4EAA-B5D8-70E38A371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1EFD3035-A582-45DD-89A5-82ABE6A7D4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7584" y="1534886"/>
            <a:ext cx="8458200" cy="1354864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2 </a:t>
            </a:r>
            <a:br>
              <a:rPr lang="en-US" altLang="en-US" dirty="0"/>
            </a:br>
            <a:r>
              <a:rPr lang="en-US" altLang="zh-CN" dirty="0"/>
              <a:t>Operating Structures </a:t>
            </a:r>
            <a:r>
              <a:rPr lang="en-US" altLang="en-US" dirty="0"/>
              <a:t>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4707" y="233101"/>
            <a:ext cx="682628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4707" y="1141469"/>
            <a:ext cx="7377781" cy="4253492"/>
          </a:xfrm>
        </p:spPr>
        <p:txBody>
          <a:bodyPr/>
          <a:lstStyle/>
          <a:p>
            <a:r>
              <a:rPr lang="en-US" altLang="en-US" sz="2000" dirty="0"/>
              <a:t>Operating System Services</a:t>
            </a:r>
          </a:p>
          <a:p>
            <a:r>
              <a:rPr lang="en-US" altLang="en-US" sz="2000" dirty="0"/>
              <a:t>User and Operating System-Interface</a:t>
            </a:r>
          </a:p>
          <a:p>
            <a:r>
              <a:rPr lang="en-US" altLang="en-US" sz="2000" dirty="0"/>
              <a:t>System Calls</a:t>
            </a:r>
          </a:p>
          <a:p>
            <a:r>
              <a:rPr lang="en-US" altLang="en-US" sz="2000" dirty="0"/>
              <a:t>System Services</a:t>
            </a:r>
          </a:p>
          <a:p>
            <a:r>
              <a:rPr lang="en-US" altLang="en-US" sz="2000" dirty="0"/>
              <a:t>Linkers and Loaders</a:t>
            </a:r>
          </a:p>
          <a:p>
            <a:r>
              <a:rPr lang="en-US" altLang="en-US" sz="2000" dirty="0"/>
              <a:t>Why Applications are Operating System Specific</a:t>
            </a:r>
          </a:p>
          <a:p>
            <a:r>
              <a:rPr lang="en-US" altLang="en-US" sz="2000" dirty="0"/>
              <a:t>Design and Implementation</a:t>
            </a:r>
          </a:p>
          <a:p>
            <a:r>
              <a:rPr lang="en-US" altLang="en-US" sz="2000" dirty="0"/>
              <a:t>Operating System Structure</a:t>
            </a:r>
          </a:p>
          <a:p>
            <a:r>
              <a:rPr lang="en-US" altLang="en-US" sz="2000" dirty="0"/>
              <a:t>Building and Booting an Operating System</a:t>
            </a:r>
          </a:p>
          <a:p>
            <a:r>
              <a:rPr lang="en-US" altLang="en-US" sz="2000" dirty="0"/>
              <a:t>Operating System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ED6B521-18A7-4439-A63E-29BB58B6F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078653-D1C2-4F9E-AC34-145815C46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2" y="1233489"/>
            <a:ext cx="7666037" cy="3532822"/>
          </a:xfrm>
        </p:spPr>
        <p:txBody>
          <a:bodyPr/>
          <a:lstStyle/>
          <a:p>
            <a:r>
              <a:rPr lang="en-US" altLang="en-US" sz="2000" dirty="0"/>
              <a:t>Identify services provided by an operating system</a:t>
            </a:r>
          </a:p>
          <a:p>
            <a:r>
              <a:rPr lang="en-US" altLang="en-US" sz="2000" dirty="0"/>
              <a:t>Illustrate how system calls are used to provide operating system services</a:t>
            </a:r>
          </a:p>
          <a:p>
            <a:r>
              <a:rPr lang="en-US" altLang="en-US" sz="2000" dirty="0"/>
              <a:t>Compare and contrast monolithic, layered, microkernel, modular, and hybrid strategies for designing operating systems</a:t>
            </a:r>
          </a:p>
          <a:p>
            <a:r>
              <a:rPr lang="en-US" altLang="en-US" sz="2000" dirty="0"/>
              <a:t>Illustrate the process for booting an operating system</a:t>
            </a:r>
          </a:p>
          <a:p>
            <a:r>
              <a:rPr lang="en-US" altLang="en-US" sz="2000" dirty="0"/>
              <a:t>Apply tools for monitoring operating system performance</a:t>
            </a:r>
          </a:p>
          <a:p>
            <a:r>
              <a:rPr lang="en-US" altLang="en-US" sz="2000" dirty="0"/>
              <a:t>Design and implement kernel modules for interacting with a Linux kernel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216602"/>
            <a:ext cx="7448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 (1)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5770" y="947738"/>
            <a:ext cx="8469630" cy="5007292"/>
          </a:xfrm>
          <a:noFill/>
        </p:spPr>
        <p:txBody>
          <a:bodyPr/>
          <a:lstStyle/>
          <a:p>
            <a:r>
              <a:rPr lang="en-US" altLang="en-US" sz="2000" dirty="0"/>
              <a:t>Operating systems provide an environment for execution of programs and services to programs and users</a:t>
            </a:r>
          </a:p>
          <a:p>
            <a:r>
              <a:rPr lang="en-US" altLang="en-US" sz="2000" dirty="0"/>
              <a:t>One set of operating-system services provides functions that are helpful to the user:</a:t>
            </a:r>
          </a:p>
          <a:p>
            <a:pPr lvl="1"/>
            <a:r>
              <a:rPr lang="en-US" altLang="en-US" b="1" dirty="0"/>
              <a:t>User interface </a:t>
            </a:r>
            <a:r>
              <a:rPr lang="en-US" altLang="en-US" dirty="0"/>
              <a:t>- Almost all operating systems have a user interface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UI</a:t>
            </a:r>
            <a:r>
              <a:rPr lang="en-US" altLang="en-US" dirty="0"/>
              <a:t>).</a:t>
            </a:r>
          </a:p>
          <a:p>
            <a:pPr lvl="2"/>
            <a:r>
              <a:rPr lang="en-US" altLang="en-US" dirty="0"/>
              <a:t>Varies between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Command-Line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Graphics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GUI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000000"/>
                </a:solidFill>
              </a:rPr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touch-screen</a:t>
            </a:r>
            <a:r>
              <a:rPr lang="en-US" altLang="en-US" b="1" dirty="0">
                <a:solidFill>
                  <a:srgbClr val="3366FF"/>
                </a:solidFill>
              </a:rPr>
              <a:t>,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Batch</a:t>
            </a:r>
          </a:p>
          <a:p>
            <a:pPr lvl="1"/>
            <a:r>
              <a:rPr lang="en-US" altLang="en-US" b="1" dirty="0"/>
              <a:t>Program execution </a:t>
            </a:r>
            <a:r>
              <a:rPr lang="en-US" altLang="en-US" dirty="0"/>
              <a:t>- The system must be able to load a program into memory and to run that program, end execution, either normally or abnormally (indicating error)</a:t>
            </a:r>
          </a:p>
          <a:p>
            <a:pPr lvl="1"/>
            <a:r>
              <a:rPr lang="en-US" altLang="en-US" b="1" dirty="0"/>
              <a:t>I/O operations </a:t>
            </a:r>
            <a:r>
              <a:rPr lang="en-US" altLang="en-US" dirty="0"/>
              <a:t>-  A running program may require I/O, which may involve a file or an I/O device</a:t>
            </a:r>
          </a:p>
          <a:p>
            <a:pPr lvl="1"/>
            <a:r>
              <a:rPr lang="en-US" altLang="en-US" b="1" dirty="0"/>
              <a:t>File-system manipulation </a:t>
            </a:r>
            <a:r>
              <a:rPr lang="en-US" altLang="en-US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3D310B-2F05-42DF-BD11-7984E309A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150" y="220663"/>
            <a:ext cx="7869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 (2)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DE154C-EBA1-44B0-9AA5-AD6DB9C31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7381" y="1035369"/>
            <a:ext cx="7869238" cy="4622482"/>
          </a:xfrm>
          <a:noFill/>
        </p:spPr>
        <p:txBody>
          <a:bodyPr/>
          <a:lstStyle/>
          <a:p>
            <a:r>
              <a:rPr lang="en-US" altLang="en-US" sz="2000" dirty="0"/>
              <a:t>One set of operating-system services provides functions that are helpful to the user (Cont.):</a:t>
            </a:r>
            <a:endParaRPr lang="en-US" altLang="en-US" sz="2000" b="1" dirty="0"/>
          </a:p>
          <a:p>
            <a:pPr lvl="1"/>
            <a:r>
              <a:rPr lang="en-US" altLang="en-US" b="1" dirty="0"/>
              <a:t>Communications</a:t>
            </a:r>
            <a:r>
              <a:rPr lang="en-US" altLang="en-US" dirty="0"/>
              <a:t> – Processes may exchange information, on the same computer or between computers over a network</a:t>
            </a:r>
          </a:p>
          <a:p>
            <a:pPr lvl="2"/>
            <a:r>
              <a:rPr lang="en-US" altLang="en-US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b="1" dirty="0"/>
              <a:t>Error detection </a:t>
            </a:r>
            <a:r>
              <a:rPr lang="en-US" altLang="en-US" dirty="0"/>
              <a:t>– OS needs to be constantly aware of possible errors</a:t>
            </a:r>
          </a:p>
          <a:p>
            <a:pPr lvl="2"/>
            <a:r>
              <a:rPr lang="en-US" altLang="en-US" dirty="0"/>
              <a:t>May occur in the CPU and memory hardware, in I/O devices, in user program</a:t>
            </a:r>
          </a:p>
          <a:p>
            <a:pPr lvl="2"/>
            <a:r>
              <a:rPr lang="en-US" altLang="en-US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dirty="0"/>
              <a:t>Debugging facilities can greatly enhance the user</a:t>
            </a:r>
            <a:r>
              <a:rPr lang="ja-JP" altLang="en-US" dirty="0"/>
              <a:t>’</a:t>
            </a:r>
            <a:r>
              <a:rPr lang="en-US" altLang="ja-JP" dirty="0"/>
              <a:t>s and programmer</a:t>
            </a:r>
            <a:r>
              <a:rPr lang="ja-JP" altLang="en-US" dirty="0"/>
              <a:t>’</a:t>
            </a:r>
            <a:r>
              <a:rPr lang="en-US" altLang="ja-JP" dirty="0"/>
              <a:t>s abilities to efficiently use the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A9EE909-C5A2-41F1-A857-667DFBB54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20663"/>
            <a:ext cx="77390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 (3)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A7443B-7ADA-4411-B376-7A65FA9BD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4550" y="994411"/>
            <a:ext cx="7739063" cy="50698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Another set of 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Resource allocation - </a:t>
            </a:r>
            <a:r>
              <a:rPr lang="en-US" altLang="en-US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Many types of resources -  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Logging -</a:t>
            </a:r>
            <a:r>
              <a:rPr lang="en-US" altLang="en-US" dirty="0"/>
              <a:t> To keep track of which users use how much and what kinds of computer resources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Protection and security - </a:t>
            </a:r>
            <a:r>
              <a:rPr lang="en-US" altLang="en-US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Protection</a:t>
            </a:r>
            <a:r>
              <a:rPr lang="en-US" altLang="en-US" dirty="0"/>
              <a:t> involves ensuring that all access to system resources is controlled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Security</a:t>
            </a:r>
            <a:r>
              <a:rPr lang="en-US" altLang="en-US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84A6F67-063F-4959-9060-0C6E5AFA8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188" y="206375"/>
            <a:ext cx="7918450" cy="576263"/>
          </a:xfrm>
        </p:spPr>
        <p:txBody>
          <a:bodyPr/>
          <a:lstStyle/>
          <a:p>
            <a:pPr eaLnBrk="1" hangingPunct="1"/>
            <a:r>
              <a:rPr lang="en-US" altLang="en-US"/>
              <a:t>A View of Operating System Services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881CA9B9-B059-4545-AFC1-C7813466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19" y="1657350"/>
            <a:ext cx="7581819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8B5D98-8B47-4D7E-ACEF-BDB67E334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7888" y="220663"/>
            <a:ext cx="81454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Command Line interpreter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E634D89-B552-404F-9BDB-6AB7E838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223963"/>
            <a:ext cx="7648892" cy="332517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CLI allows direct command entry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implemented in kernel, sometimes by systems program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multiple flavors implemented –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shells</a:t>
            </a:r>
          </a:p>
          <a:p>
            <a:r>
              <a:rPr lang="en-US" altLang="en-US" sz="2000" dirty="0">
                <a:latin typeface="+mn-ea"/>
                <a:ea typeface="+mn-ea"/>
              </a:rPr>
              <a:t>Primarily fetches a command from user and executes it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commands built-in, sometimes just names of programs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If the latter, adding new features doesn’</a:t>
            </a:r>
            <a:r>
              <a:rPr lang="en-US" altLang="ja-JP" dirty="0">
                <a:latin typeface="+mn-ea"/>
                <a:ea typeface="+mn-ea"/>
              </a:rPr>
              <a:t>t require shell modification</a:t>
            </a:r>
            <a:endParaRPr lang="en-US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6DF5F8A-F2E3-4D74-9C52-A032EB053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188" y="220663"/>
            <a:ext cx="7397750" cy="576262"/>
          </a:xfrm>
        </p:spPr>
        <p:txBody>
          <a:bodyPr/>
          <a:lstStyle/>
          <a:p>
            <a:pPr eaLnBrk="1" hangingPunct="1"/>
            <a:r>
              <a:rPr lang="en-US" altLang="en-US"/>
              <a:t>Bourne Shell Command Interpreter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1A3B6206-A655-48E2-8075-716970A2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4" y="948690"/>
            <a:ext cx="7531629" cy="521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02E63FB-6DD1-46DC-8471-F576D57E7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214313"/>
            <a:ext cx="7500937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User Operating System Interface - GUI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7BD939-320C-4E60-8319-6ADBC111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4113"/>
            <a:ext cx="7699375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User-friendly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desktop</a:t>
            </a:r>
            <a:r>
              <a:rPr lang="en-US" altLang="en-US" sz="2000" dirty="0">
                <a:latin typeface="+mn-ea"/>
                <a:ea typeface="+mn-ea"/>
              </a:rPr>
              <a:t> metaphor interface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Usually mouse, keyboard, and monitor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Icons</a:t>
            </a:r>
            <a:r>
              <a:rPr lang="en-US" altLang="en-US" dirty="0">
                <a:latin typeface="+mn-ea"/>
                <a:ea typeface="+mn-ea"/>
              </a:rPr>
              <a:t> represent files, programs, actions, </a:t>
            </a:r>
            <a:r>
              <a:rPr lang="en-US" altLang="en-US" dirty="0" err="1">
                <a:latin typeface="+mn-ea"/>
                <a:ea typeface="+mn-ea"/>
              </a:rPr>
              <a:t>etc</a:t>
            </a:r>
            <a:endParaRPr lang="en-US" altLang="en-US" dirty="0">
              <a:latin typeface="+mn-ea"/>
              <a:ea typeface="+mn-ea"/>
            </a:endParaRPr>
          </a:p>
          <a:p>
            <a:pPr lvl="1"/>
            <a:r>
              <a:rPr lang="en-US" altLang="en-US" dirty="0">
                <a:latin typeface="+mn-ea"/>
                <a:ea typeface="+mn-ea"/>
              </a:rPr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folder</a:t>
            </a:r>
            <a:r>
              <a:rPr lang="en-US" altLang="en-US" dirty="0">
                <a:latin typeface="+mn-ea"/>
                <a:ea typeface="+mn-ea"/>
              </a:rPr>
              <a:t>)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Invented at Xerox PARC</a:t>
            </a:r>
          </a:p>
          <a:p>
            <a:r>
              <a:rPr lang="en-US" altLang="en-US" sz="2000" dirty="0">
                <a:latin typeface="+mn-ea"/>
                <a:ea typeface="+mn-ea"/>
              </a:rPr>
              <a:t>Many systems now include both CLI and GUI interfaces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Microsoft Windows is GUI with CLI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command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shell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Apple Mac OS X is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Aqua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GUI interface with UNIX kernel underneath and shells available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Unix and Linux have CLI with optional GUI interfaces (CDE, KDE, GNOME)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E085D8E-E398-4442-A204-AD137376E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28600"/>
            <a:ext cx="77152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E55E5F6-E4A2-477B-85A4-044819521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930" y="1317073"/>
            <a:ext cx="5602183" cy="2144311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-128"/>
              </a:rPr>
              <a:t>Touchscreen devices require new interfaces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Mouse not possible or not desired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Actions and selection based on gestures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Virtual keyboard for text entry</a:t>
            </a:r>
          </a:p>
          <a:p>
            <a:pPr>
              <a:defRPr/>
            </a:pPr>
            <a:r>
              <a:rPr lang="en-US" sz="2000" dirty="0">
                <a:ea typeface="ＭＳ Ｐゴシック" charset="-128"/>
              </a:rPr>
              <a:t>Voice commands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CCAA7F76-25AE-454A-9EE9-98408A61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870" y="1317073"/>
            <a:ext cx="2412090" cy="4288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933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51A60BE-6FD2-4F4A-A1E6-2481BBFE0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113713" cy="576262"/>
          </a:xfrm>
        </p:spPr>
        <p:txBody>
          <a:bodyPr/>
          <a:lstStyle/>
          <a:p>
            <a:pPr eaLnBrk="1" hangingPunct="1"/>
            <a:r>
              <a:rPr lang="en-US" altLang="en-US"/>
              <a:t>The Mac OS X GUI</a:t>
            </a: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B0B2C641-FBF3-4549-BC82-4C37E0EC9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279525"/>
            <a:ext cx="8113712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842699-2411-46DA-9E86-71B3FFE9F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749591-DE3A-4DDD-A1C5-F25581574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5615" y="1003669"/>
            <a:ext cx="7949882" cy="3776675"/>
          </a:xfrm>
        </p:spPr>
        <p:txBody>
          <a:bodyPr/>
          <a:lstStyle/>
          <a:p>
            <a:r>
              <a:rPr lang="en-US" altLang="en-US" sz="2000" dirty="0"/>
              <a:t>Programming interface to the services provided by the OS</a:t>
            </a:r>
          </a:p>
          <a:p>
            <a:r>
              <a:rPr lang="en-US" altLang="en-US" sz="2000" dirty="0"/>
              <a:t>Typically written in a high-level language (C or C++)</a:t>
            </a:r>
          </a:p>
          <a:p>
            <a:r>
              <a:rPr lang="en-US" altLang="en-US" sz="2000" dirty="0"/>
              <a:t>Mostly accessed by programs via a high-level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Programming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API</a:t>
            </a:r>
            <a:r>
              <a:rPr lang="en-US" altLang="en-US" sz="2000" dirty="0">
                <a:solidFill>
                  <a:srgbClr val="000000"/>
                </a:solidFill>
              </a:rPr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rather than direct system call use</a:t>
            </a:r>
          </a:p>
          <a:p>
            <a:r>
              <a:rPr lang="en-US" altLang="en-US" sz="2000" dirty="0"/>
              <a:t>Three most common APIs are </a:t>
            </a:r>
          </a:p>
          <a:p>
            <a:pPr lvl="1"/>
            <a:r>
              <a:rPr lang="en-US" altLang="en-US" sz="2000" dirty="0"/>
              <a:t>Win32 API for Windows, </a:t>
            </a:r>
          </a:p>
          <a:p>
            <a:pPr lvl="1"/>
            <a:r>
              <a:rPr lang="en-US" altLang="en-US" sz="2000" dirty="0"/>
              <a:t>POSIX API for POSIX-based systems (including virtually all versions of UNIX, Linux, and Mac OS X) </a:t>
            </a:r>
          </a:p>
          <a:p>
            <a:pPr lvl="1"/>
            <a:r>
              <a:rPr lang="en-US" altLang="en-US" sz="2000" dirty="0"/>
              <a:t>Java API for the Java virtual machine (JVM)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5144004-C2FB-40D0-9742-3DE46A26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893" y="4589361"/>
            <a:ext cx="8061325" cy="3819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sz="2000" dirty="0">
                <a:latin typeface="+mn-lt"/>
              </a:rPr>
              <a:t>Note that the system-call names used throughout this text are generic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C14F633-D8B3-443E-B572-5804D4ED7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0772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System Calls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38ABAD4-459A-43EE-99FF-36E56E658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801" y="968068"/>
            <a:ext cx="8188003" cy="576262"/>
          </a:xfrm>
        </p:spPr>
        <p:txBody>
          <a:bodyPr/>
          <a:lstStyle/>
          <a:p>
            <a:r>
              <a:rPr lang="en-US" altLang="en-US" sz="2000" dirty="0"/>
              <a:t>System call sequence to copy the contents of one file to another file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8BA481-212D-FEEA-2389-7BC08664D257}"/>
              </a:ext>
            </a:extLst>
          </p:cNvPr>
          <p:cNvGrpSpPr/>
          <p:nvPr/>
        </p:nvGrpSpPr>
        <p:grpSpPr>
          <a:xfrm>
            <a:off x="1481560" y="1544331"/>
            <a:ext cx="6886936" cy="4694424"/>
            <a:chOff x="1458913" y="1965325"/>
            <a:chExt cx="5937250" cy="4017963"/>
          </a:xfrm>
        </p:grpSpPr>
        <p:pic>
          <p:nvPicPr>
            <p:cNvPr id="31748" name="Picture 5">
              <a:extLst>
                <a:ext uri="{FF2B5EF4-FFF2-40B4-BE49-F238E27FC236}">
                  <a16:creationId xmlns:a16="http://schemas.microsoft.com/office/drawing/2014/main" id="{AAE1048A-764C-48F0-A738-BA0A29DCB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8913" y="1965325"/>
              <a:ext cx="5937250" cy="401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49" name="Line 6">
              <a:extLst>
                <a:ext uri="{FF2B5EF4-FFF2-40B4-BE49-F238E27FC236}">
                  <a16:creationId xmlns:a16="http://schemas.microsoft.com/office/drawing/2014/main" id="{829D7286-9D2A-4CC2-99A2-293356FA0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2022475"/>
              <a:ext cx="0" cy="420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0" name="Line 7">
              <a:extLst>
                <a:ext uri="{FF2B5EF4-FFF2-40B4-BE49-F238E27FC236}">
                  <a16:creationId xmlns:a16="http://schemas.microsoft.com/office/drawing/2014/main" id="{C5566A3B-AF3E-428A-96FC-E638B3477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363" y="2012950"/>
              <a:ext cx="0" cy="430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84E76C4-FCC0-48D3-9013-1569EF2B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42275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Standard API</a:t>
            </a: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03F4BF88-895B-4F86-8811-FEB2E93B9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2" y="876593"/>
            <a:ext cx="5535332" cy="564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BE3AADB-0F3C-4172-8054-CC2DDF747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7989888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Implementation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7C2873A-43D0-43EF-AF6C-1C08F6944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1682" y="1163637"/>
            <a:ext cx="7845107" cy="4530725"/>
          </a:xfrm>
        </p:spPr>
        <p:txBody>
          <a:bodyPr/>
          <a:lstStyle/>
          <a:p>
            <a:r>
              <a:rPr lang="en-US" altLang="en-US" sz="2000" dirty="0"/>
              <a:t>Typically, a number is  associated with each system call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maintains a table indexed according to these numbers</a:t>
            </a:r>
            <a:endParaRPr lang="en-US" altLang="en-US" sz="800" dirty="0"/>
          </a:p>
          <a:p>
            <a:r>
              <a:rPr lang="en-US" altLang="en-US" sz="2000" dirty="0"/>
              <a:t>The system call interface invokes  the intended system call in OS kernel and returns status of the system call and any return values</a:t>
            </a:r>
          </a:p>
          <a:p>
            <a:r>
              <a:rPr lang="en-US" altLang="en-US" sz="2000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Just needs to obey API and understand what OS will do as a result call</a:t>
            </a:r>
          </a:p>
          <a:p>
            <a:pPr lvl="1"/>
            <a:r>
              <a:rPr lang="en-US" altLang="en-US" dirty="0"/>
              <a:t>Most details of  OS interface hidden from programmer by API  </a:t>
            </a:r>
          </a:p>
          <a:p>
            <a:pPr lvl="2"/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699CD33-3BF1-41C4-ABEC-D6F4D3F64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750" y="211138"/>
            <a:ext cx="7840663" cy="576262"/>
          </a:xfrm>
        </p:spPr>
        <p:txBody>
          <a:bodyPr/>
          <a:lstStyle/>
          <a:p>
            <a:pPr eaLnBrk="1" hangingPunct="1"/>
            <a:r>
              <a:rPr lang="en-US" altLang="en-US"/>
              <a:t>API – System Call – OS Relationship</a:t>
            </a:r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B2409951-BBCF-4A1C-8570-76F67408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252338"/>
            <a:ext cx="7864954" cy="480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E227535-43B6-4813-B8B2-3BC580705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17488"/>
            <a:ext cx="7704138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Parameter Passing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69B199-F416-4325-B349-7CDA49598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77163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Often, more information is required than simply identity of desired system call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Exact type and amount of information vary according to OS and call</a:t>
            </a:r>
            <a:endParaRPr lang="en-US" altLang="en-US" sz="9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Three general methods used to pass parameters to the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Simplest:  pass the parameters in registers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In some cases, may be more parameters than registers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This approach taken by Linux and Solaris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91C706E-593F-465E-8A89-60A10A2A9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089900" cy="576262"/>
          </a:xfrm>
        </p:spPr>
        <p:txBody>
          <a:bodyPr/>
          <a:lstStyle/>
          <a:p>
            <a:pPr eaLnBrk="1" hangingPunct="1"/>
            <a:r>
              <a:rPr lang="en-US" altLang="en-US"/>
              <a:t>Parameter Passing via Table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DF782059-8E55-48AA-A75F-C88C61777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1" y="1481018"/>
            <a:ext cx="8183542" cy="4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81CC25A-92E8-44D5-853F-5EA5E0E4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129588" cy="576262"/>
          </a:xfrm>
        </p:spPr>
        <p:txBody>
          <a:bodyPr/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4FFFE9F1-36B8-4D67-9C3C-A4A661B03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63637"/>
            <a:ext cx="7748587" cy="4174173"/>
          </a:xfrm>
        </p:spPr>
        <p:txBody>
          <a:bodyPr/>
          <a:lstStyle/>
          <a:p>
            <a:r>
              <a:rPr lang="en-US" altLang="en-US" sz="2000" dirty="0"/>
              <a:t>Process control</a:t>
            </a:r>
          </a:p>
          <a:p>
            <a:pPr lvl="1"/>
            <a:r>
              <a:rPr lang="en-US" altLang="en-US" dirty="0"/>
              <a:t>create process, terminate process</a:t>
            </a:r>
          </a:p>
          <a:p>
            <a:pPr lvl="1"/>
            <a:r>
              <a:rPr lang="en-US" altLang="en-US" dirty="0"/>
              <a:t>end, abort</a:t>
            </a:r>
          </a:p>
          <a:p>
            <a:pPr lvl="1"/>
            <a:r>
              <a:rPr lang="en-US" altLang="en-US" dirty="0"/>
              <a:t>load, execute</a:t>
            </a:r>
          </a:p>
          <a:p>
            <a:pPr lvl="1"/>
            <a:r>
              <a:rPr lang="en-US" altLang="en-US" dirty="0"/>
              <a:t>get process attributes, set process attributes</a:t>
            </a:r>
          </a:p>
          <a:p>
            <a:pPr lvl="1"/>
            <a:r>
              <a:rPr lang="en-US" altLang="en-US" dirty="0"/>
              <a:t>wait for time</a:t>
            </a:r>
          </a:p>
          <a:p>
            <a:pPr lvl="1"/>
            <a:r>
              <a:rPr lang="en-US" altLang="en-US" dirty="0"/>
              <a:t>wait event, signal event</a:t>
            </a:r>
          </a:p>
          <a:p>
            <a:pPr lvl="1"/>
            <a:r>
              <a:rPr lang="en-US" altLang="en-US" dirty="0"/>
              <a:t>allocate and free memory</a:t>
            </a:r>
          </a:p>
          <a:p>
            <a:pPr lvl="1"/>
            <a:r>
              <a:rPr lang="en-US" altLang="en-US" dirty="0"/>
              <a:t>Dump memory if error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bugs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single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step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execution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4156D97E-B3F7-4D08-9926-F21EAB532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4638" y="947738"/>
            <a:ext cx="6067742" cy="5338762"/>
          </a:xfrm>
        </p:spPr>
        <p:txBody>
          <a:bodyPr/>
          <a:lstStyle/>
          <a:p>
            <a:r>
              <a:rPr lang="en-US" altLang="en-US" sz="2000" dirty="0"/>
              <a:t>File management</a:t>
            </a:r>
          </a:p>
          <a:p>
            <a:pPr lvl="1"/>
            <a:r>
              <a:rPr lang="en-US" altLang="en-US" dirty="0"/>
              <a:t>create file, delete file</a:t>
            </a:r>
          </a:p>
          <a:p>
            <a:pPr lvl="1"/>
            <a:r>
              <a:rPr lang="en-US" altLang="en-US" dirty="0"/>
              <a:t>open, close file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and set file attributes</a:t>
            </a:r>
          </a:p>
          <a:p>
            <a:r>
              <a:rPr lang="en-US" altLang="en-US" sz="2000" dirty="0"/>
              <a:t>Device management</a:t>
            </a:r>
          </a:p>
          <a:p>
            <a:pPr lvl="1"/>
            <a:r>
              <a:rPr lang="en-US" altLang="en-US" dirty="0"/>
              <a:t>request device, release device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device attributes, set device attributes</a:t>
            </a:r>
          </a:p>
          <a:p>
            <a:pPr lvl="1"/>
            <a:r>
              <a:rPr lang="en-US" altLang="en-US" dirty="0"/>
              <a:t>logically attach or detach devices</a:t>
            </a:r>
          </a:p>
          <a:p>
            <a:r>
              <a:rPr lang="en-US" altLang="en-US" sz="2000" dirty="0"/>
              <a:t>Information maintenance</a:t>
            </a:r>
          </a:p>
          <a:p>
            <a:pPr lvl="1"/>
            <a:r>
              <a:rPr lang="en-US" altLang="en-US" dirty="0"/>
              <a:t>get time or date, set time or date</a:t>
            </a:r>
          </a:p>
          <a:p>
            <a:pPr lvl="1"/>
            <a:r>
              <a:rPr lang="en-US" altLang="en-US" dirty="0"/>
              <a:t>get system data, set system data</a:t>
            </a:r>
          </a:p>
          <a:p>
            <a:pPr lvl="1"/>
            <a:r>
              <a:rPr lang="en-US" altLang="en-US" dirty="0"/>
              <a:t>get and set process, file, or device attributes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1101D3E-F01E-4DD1-88DC-B60A703EA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2763" y="225425"/>
            <a:ext cx="8021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 (1)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170523-A8A8-43C6-820A-D68F85AF0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7050" y="227013"/>
            <a:ext cx="7991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 (2)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3E675A7B-D65B-4A2E-A667-61009784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8700" y="959168"/>
            <a:ext cx="7489825" cy="5007292"/>
          </a:xfrm>
        </p:spPr>
        <p:txBody>
          <a:bodyPr/>
          <a:lstStyle/>
          <a:p>
            <a:r>
              <a:rPr lang="en-US" altLang="en-US" sz="2000" dirty="0"/>
              <a:t>Communications</a:t>
            </a:r>
          </a:p>
          <a:p>
            <a:pPr lvl="1"/>
            <a:r>
              <a:rPr lang="en-US" altLang="en-US" dirty="0"/>
              <a:t>create, delete communication connection</a:t>
            </a:r>
          </a:p>
          <a:p>
            <a:pPr lvl="1"/>
            <a:r>
              <a:rPr lang="en-US" altLang="en-US" dirty="0"/>
              <a:t>send, receive messages if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</a:p>
          <a:p>
            <a:pPr lvl="2"/>
            <a:r>
              <a:rPr lang="en-US" altLang="en-US" dirty="0"/>
              <a:t>From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Shared-memory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create and gain access to memory regions</a:t>
            </a:r>
          </a:p>
          <a:p>
            <a:pPr lvl="1"/>
            <a:r>
              <a:rPr lang="en-US" altLang="en-US" dirty="0"/>
              <a:t>transfer status information</a:t>
            </a:r>
          </a:p>
          <a:p>
            <a:pPr lvl="1"/>
            <a:r>
              <a:rPr lang="en-US" altLang="en-US" dirty="0"/>
              <a:t>attach and detach remote devices</a:t>
            </a:r>
          </a:p>
          <a:p>
            <a:r>
              <a:rPr lang="en-US" altLang="en-US" sz="2000" dirty="0"/>
              <a:t>Protection</a:t>
            </a:r>
          </a:p>
          <a:p>
            <a:pPr lvl="1"/>
            <a:r>
              <a:rPr lang="en-US" altLang="en-US" dirty="0"/>
              <a:t>Control access to resources</a:t>
            </a:r>
          </a:p>
          <a:p>
            <a:pPr lvl="1"/>
            <a:r>
              <a:rPr lang="en-US" altLang="en-US" dirty="0"/>
              <a:t>Get and set permissions</a:t>
            </a:r>
          </a:p>
          <a:p>
            <a:pPr lvl="1"/>
            <a:r>
              <a:rPr lang="en-US" altLang="en-US" dirty="0"/>
              <a:t>Allow and deny user access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6FCD919-BAE3-4B7B-809E-209E2FB09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1275" y="110535"/>
            <a:ext cx="7632700" cy="594371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Examples of Windows and Unix System Calls</a:t>
            </a:r>
          </a:p>
        </p:txBody>
      </p:sp>
      <p:pic>
        <p:nvPicPr>
          <p:cNvPr id="52227" name="Picture 4">
            <a:extLst>
              <a:ext uri="{FF2B5EF4-FFF2-40B4-BE49-F238E27FC236}">
                <a16:creationId xmlns:a16="http://schemas.microsoft.com/office/drawing/2014/main" id="{33A2F2E0-9064-41AD-8CF6-9D5D6130B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891" y="861264"/>
            <a:ext cx="5231757" cy="5654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422D298-022D-44F2-A04B-38156195F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042275" cy="576263"/>
          </a:xfrm>
        </p:spPr>
        <p:txBody>
          <a:bodyPr/>
          <a:lstStyle/>
          <a:p>
            <a:pPr eaLnBrk="1" hangingPunct="1"/>
            <a:r>
              <a:rPr lang="en-US" altLang="en-US"/>
              <a:t>Standard C Library Example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B6F1633-75BA-44BA-8653-0681C68C7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51596"/>
            <a:ext cx="8432157" cy="460997"/>
          </a:xfrm>
        </p:spPr>
        <p:txBody>
          <a:bodyPr/>
          <a:lstStyle/>
          <a:p>
            <a:r>
              <a:rPr lang="en-US" altLang="en-US" sz="2000" dirty="0"/>
              <a:t>C program invoking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() library call, which calls write() system call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89B408DE-A663-4E0E-A0FA-8F2D1E87A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440977"/>
            <a:ext cx="4837072" cy="496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9A476BD-0E04-4E34-92A4-16BA034F5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900"/>
            <a:ext cx="8062913" cy="576263"/>
          </a:xfrm>
        </p:spPr>
        <p:txBody>
          <a:bodyPr/>
          <a:lstStyle/>
          <a:p>
            <a:r>
              <a:rPr lang="en-US" altLang="en-US" dirty="0"/>
              <a:t>Example - Arduino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1F501235-9681-4141-B622-1D7728DD9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5260" y="898647"/>
            <a:ext cx="6597569" cy="2203370"/>
          </a:xfrm>
        </p:spPr>
        <p:txBody>
          <a:bodyPr/>
          <a:lstStyle/>
          <a:p>
            <a:r>
              <a:rPr lang="en-US" altLang="en-US" dirty="0"/>
              <a:t>Single-tasking</a:t>
            </a:r>
          </a:p>
          <a:p>
            <a:r>
              <a:rPr lang="en-US" altLang="en-US" dirty="0"/>
              <a:t>No operating system</a:t>
            </a:r>
          </a:p>
          <a:p>
            <a:r>
              <a:rPr lang="en-US" altLang="en-US" dirty="0"/>
              <a:t>Programs (sketch) loaded via USB into flash memory</a:t>
            </a:r>
          </a:p>
          <a:p>
            <a:r>
              <a:rPr lang="en-US" altLang="en-US" dirty="0"/>
              <a:t>Single memory space</a:t>
            </a:r>
          </a:p>
          <a:p>
            <a:r>
              <a:rPr lang="en-US" altLang="en-US" dirty="0"/>
              <a:t>Boot loader loads program</a:t>
            </a:r>
          </a:p>
          <a:p>
            <a:r>
              <a:rPr lang="en-US" altLang="en-US" dirty="0"/>
              <a:t>Program exit -&gt; shell reloaded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1BE5230-0D6A-23A2-BC55-70C23C1564FB}"/>
              </a:ext>
            </a:extLst>
          </p:cNvPr>
          <p:cNvGrpSpPr/>
          <p:nvPr/>
        </p:nvGrpSpPr>
        <p:grpSpPr>
          <a:xfrm>
            <a:off x="2303362" y="3429000"/>
            <a:ext cx="5032309" cy="2834701"/>
            <a:chOff x="1862204" y="3246511"/>
            <a:chExt cx="5485041" cy="293552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0A666A9-56CC-B9E9-C8A3-741C400A8479}"/>
                </a:ext>
              </a:extLst>
            </p:cNvPr>
            <p:cNvGrpSpPr/>
            <p:nvPr/>
          </p:nvGrpSpPr>
          <p:grpSpPr>
            <a:xfrm>
              <a:off x="1862204" y="3246511"/>
              <a:ext cx="2339091" cy="2935524"/>
              <a:chOff x="4225386" y="1266090"/>
              <a:chExt cx="2339091" cy="2935524"/>
            </a:xfrm>
          </p:grpSpPr>
          <p:sp>
            <p:nvSpPr>
              <p:cNvPr id="56324" name="Rectangle 5">
                <a:extLst>
                  <a:ext uri="{FF2B5EF4-FFF2-40B4-BE49-F238E27FC236}">
                    <a16:creationId xmlns:a16="http://schemas.microsoft.com/office/drawing/2014/main" id="{EE74204F-304A-484C-931B-3D190F5E8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386" y="3851018"/>
                <a:ext cx="2339091" cy="350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SzPct val="90000"/>
                  <a:buFont typeface="Monotype Sorts" pitchFamily="-84" charset="2"/>
                  <a:buNone/>
                </a:pPr>
                <a:r>
                  <a:rPr lang="en-US" altLang="en-US" sz="1600" dirty="0"/>
                  <a:t>(a) At system startup</a:t>
                </a:r>
              </a:p>
            </p:txBody>
          </p:sp>
          <p:pic>
            <p:nvPicPr>
              <p:cNvPr id="56325" name="Picture 2">
                <a:extLst>
                  <a:ext uri="{FF2B5EF4-FFF2-40B4-BE49-F238E27FC236}">
                    <a16:creationId xmlns:a16="http://schemas.microsoft.com/office/drawing/2014/main" id="{3D7E9EC8-C0AA-4A87-B993-D1E4AABF44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8995" b="15280"/>
              <a:stretch>
                <a:fillRect/>
              </a:stretch>
            </p:blipFill>
            <p:spPr bwMode="auto">
              <a:xfrm>
                <a:off x="4588954" y="1266090"/>
                <a:ext cx="1611956" cy="2617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49DB506-2285-81BB-7BF9-740DA4A38840}"/>
                </a:ext>
              </a:extLst>
            </p:cNvPr>
            <p:cNvGrpSpPr/>
            <p:nvPr/>
          </p:nvGrpSpPr>
          <p:grpSpPr>
            <a:xfrm>
              <a:off x="4852901" y="3260395"/>
              <a:ext cx="2494344" cy="2921640"/>
              <a:chOff x="5769979" y="1336688"/>
              <a:chExt cx="2494344" cy="2921640"/>
            </a:xfrm>
          </p:grpSpPr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6CE9E443-2B7F-F5D4-7DD9-5D9FB2F1CD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996" b="15280"/>
              <a:stretch>
                <a:fillRect/>
              </a:stretch>
            </p:blipFill>
            <p:spPr bwMode="auto">
              <a:xfrm>
                <a:off x="6183953" y="1336688"/>
                <a:ext cx="1611956" cy="2617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" name="Rectangle 5">
                <a:extLst>
                  <a:ext uri="{FF2B5EF4-FFF2-40B4-BE49-F238E27FC236}">
                    <a16:creationId xmlns:a16="http://schemas.microsoft.com/office/drawing/2014/main" id="{5E8391AA-E976-6134-51D1-2E1612176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9979" y="3907732"/>
                <a:ext cx="2494344" cy="350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SzPct val="90000"/>
                  <a:buFont typeface="Monotype Sorts" pitchFamily="-84" charset="2"/>
                  <a:buNone/>
                </a:pPr>
                <a:r>
                  <a:rPr lang="en-US" altLang="en-US" sz="1600" dirty="0"/>
                  <a:t>(b) Running a program</a:t>
                </a: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C7AD885-D28A-4AE1-BCC0-082E8F9D4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900"/>
            <a:ext cx="8040688" cy="576263"/>
          </a:xfrm>
        </p:spPr>
        <p:txBody>
          <a:bodyPr/>
          <a:lstStyle/>
          <a:p>
            <a:r>
              <a:rPr lang="en-US" altLang="en-US" dirty="0"/>
              <a:t>Example - FreeBSD</a:t>
            </a: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A51BFFAE-589E-4BC3-AFB7-2D6A9C24A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336392"/>
            <a:ext cx="269875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553DF37-09AA-4821-AFCB-D93A473E1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6485" y="991177"/>
            <a:ext cx="6196330" cy="3906838"/>
          </a:xfrm>
        </p:spPr>
        <p:txBody>
          <a:bodyPr/>
          <a:lstStyle/>
          <a:p>
            <a:r>
              <a:rPr lang="en-US" altLang="en-US" sz="2000" dirty="0"/>
              <a:t>Unix variant</a:t>
            </a:r>
          </a:p>
          <a:p>
            <a:r>
              <a:rPr lang="en-US" altLang="en-US" sz="2000" dirty="0"/>
              <a:t>Multitasking</a:t>
            </a:r>
          </a:p>
          <a:p>
            <a:r>
              <a:rPr lang="en-US" altLang="en-US" sz="2000" dirty="0"/>
              <a:t>User login -&gt; invoke user</a:t>
            </a:r>
            <a:r>
              <a:rPr lang="ja-JP" altLang="en-US" sz="2000" dirty="0"/>
              <a:t>’</a:t>
            </a:r>
            <a:r>
              <a:rPr lang="en-US" altLang="ja-JP" sz="2000" dirty="0"/>
              <a:t>s choice of shell</a:t>
            </a:r>
          </a:p>
          <a:p>
            <a:r>
              <a:rPr lang="en-US" altLang="en-US" sz="2000" dirty="0"/>
              <a:t>Shell executes fork() system call to create process</a:t>
            </a:r>
          </a:p>
          <a:p>
            <a:pPr lvl="1"/>
            <a:r>
              <a:rPr lang="en-US" altLang="en-US" dirty="0"/>
              <a:t>Executes exec() to load program into process</a:t>
            </a:r>
          </a:p>
          <a:p>
            <a:pPr lvl="1"/>
            <a:r>
              <a:rPr lang="en-US" altLang="en-US" dirty="0"/>
              <a:t>Shell waits for process to terminate or continues with user commands</a:t>
            </a:r>
          </a:p>
          <a:p>
            <a:r>
              <a:rPr lang="en-US" altLang="en-US" sz="2000" dirty="0"/>
              <a:t>Process exits with:</a:t>
            </a:r>
          </a:p>
          <a:p>
            <a:pPr lvl="1"/>
            <a:r>
              <a:rPr lang="en-US" altLang="en-US" sz="2000" dirty="0"/>
              <a:t> </a:t>
            </a:r>
            <a:r>
              <a:rPr lang="en-US" altLang="en-US" dirty="0"/>
              <a:t>code = 0 – no error </a:t>
            </a:r>
          </a:p>
          <a:p>
            <a:pPr lvl="1"/>
            <a:r>
              <a:rPr lang="en-US" altLang="en-US" dirty="0"/>
              <a:t> code &gt; 0 – error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(1)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6922" y="973773"/>
            <a:ext cx="7967027" cy="415829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System programs provide a convenient environment for program development and execution.  They can be divided into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File manipulation 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Status information sometimes stored in a file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Programming language support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 loading and execution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Communications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Background services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Application programs</a:t>
            </a:r>
          </a:p>
          <a:p>
            <a:r>
              <a:rPr lang="en-US" altLang="en-US" sz="2000" dirty="0">
                <a:latin typeface="+mn-ea"/>
                <a:ea typeface="+mn-ea"/>
              </a:rPr>
              <a:t>Most users</a:t>
            </a:r>
            <a:r>
              <a:rPr lang="ja-JP" altLang="en-US" sz="2000" dirty="0">
                <a:latin typeface="+mn-ea"/>
                <a:ea typeface="+mn-ea"/>
              </a:rPr>
              <a:t>’</a:t>
            </a:r>
            <a:r>
              <a:rPr lang="en-US" altLang="ja-JP" sz="2000" dirty="0">
                <a:latin typeface="+mn-ea"/>
                <a:ea typeface="+mn-ea"/>
              </a:rPr>
              <a:t> view of the operating system is defined by system programs, not the actual system calls</a:t>
            </a: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4EAC52B-9D2D-4A55-866C-947C20391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(2)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9895B5E-8C8B-46CB-ACFE-27F598441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8037" y="1073150"/>
            <a:ext cx="7710487" cy="5027613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Provide a 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of them are simply user interfaces to system calls; others are considerably more complex</a:t>
            </a:r>
          </a:p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File management </a:t>
            </a:r>
            <a:r>
              <a:rPr lang="en-US" altLang="en-US" sz="2000" dirty="0"/>
              <a:t>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Status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 provide detailed performance, logging, and debugging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4F248A6-FEC6-47A1-A99A-98ABBC6C3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1748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(3)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AC26365-FF38-4159-8CB6-E4B6F33D9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131888"/>
            <a:ext cx="8080375" cy="448024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Special commands to search contents of files or perform transformations of the text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Programming-language support </a:t>
            </a:r>
            <a:r>
              <a:rPr lang="en-US" altLang="en-US" sz="2000" dirty="0">
                <a:latin typeface="+mn-ea"/>
                <a:ea typeface="+mn-ea"/>
              </a:rPr>
              <a:t>- Compilers, assemblers, debuggers and interpreters sometimes provided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Program loading and execution</a:t>
            </a:r>
            <a:r>
              <a:rPr lang="en-US" altLang="en-US" sz="2000" dirty="0">
                <a:latin typeface="+mn-ea"/>
                <a:ea typeface="+mn-ea"/>
              </a:rPr>
              <a:t>- Absolute loaders, relocatable loaders, linkage editors, and overlay-loaders, debugging systems for higher-level and machine language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Communications</a:t>
            </a:r>
            <a:r>
              <a:rPr lang="en-US" altLang="en-US" sz="2000" dirty="0">
                <a:latin typeface="+mn-ea"/>
                <a:ea typeface="+mn-ea"/>
              </a:rPr>
              <a:t>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Allow users to send messages to one another</a:t>
            </a:r>
            <a:r>
              <a:rPr lang="ja-JP" altLang="en-US" dirty="0">
                <a:latin typeface="+mn-ea"/>
                <a:ea typeface="+mn-ea"/>
              </a:rPr>
              <a:t>’</a:t>
            </a:r>
            <a:r>
              <a:rPr lang="en-US" altLang="ja-JP" dirty="0">
                <a:latin typeface="+mn-ea"/>
                <a:ea typeface="+mn-ea"/>
              </a:rPr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9B64704-3592-4DF7-85E7-FB2DB858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217488"/>
            <a:ext cx="7996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(4)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3ED54D-5EE3-433B-820F-AFAE8BC4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8690" y="960755"/>
            <a:ext cx="7533323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 typically considered part of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Launched by command line, mouse click, finger poke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9328</TotalTime>
  <Words>1800</Words>
  <Application>Microsoft Office PowerPoint</Application>
  <PresentationFormat>全屏显示(4:3)</PresentationFormat>
  <Paragraphs>231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Monotype Sorts</vt:lpstr>
      <vt:lpstr>ＭＳ Ｐゴシック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Chapter 2  Operating Structures (1)</vt:lpstr>
      <vt:lpstr>Outline</vt:lpstr>
      <vt:lpstr>Objectives</vt:lpstr>
      <vt:lpstr>Operating System Services (1)</vt:lpstr>
      <vt:lpstr>Operating System Services (2)</vt:lpstr>
      <vt:lpstr>Operating System Services (3)</vt:lpstr>
      <vt:lpstr>A View of Operating System Services</vt:lpstr>
      <vt:lpstr>Command Line interpreter </vt:lpstr>
      <vt:lpstr>Bourne Shell Command Interpreter</vt:lpstr>
      <vt:lpstr>User Operating System Interface - GUI</vt:lpstr>
      <vt:lpstr>Touchscreen Interfaces</vt:lpstr>
      <vt:lpstr>The Mac OS X GUI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(1)</vt:lpstr>
      <vt:lpstr>Types of System Calls (2)</vt:lpstr>
      <vt:lpstr>Examples of Windows and Unix System Calls</vt:lpstr>
      <vt:lpstr>Standard C Library Example</vt:lpstr>
      <vt:lpstr>Example - Arduino</vt:lpstr>
      <vt:lpstr>Example - FreeBSD</vt:lpstr>
      <vt:lpstr>System Services (1)</vt:lpstr>
      <vt:lpstr>System Services (2)</vt:lpstr>
      <vt:lpstr>System Services (3)</vt:lpstr>
      <vt:lpstr>System Services (4)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YCHUNG</cp:lastModifiedBy>
  <cp:revision>222</cp:revision>
  <cp:lastPrinted>2001-06-14T13:58:17Z</cp:lastPrinted>
  <dcterms:created xsi:type="dcterms:W3CDTF">2011-01-13T23:43:38Z</dcterms:created>
  <dcterms:modified xsi:type="dcterms:W3CDTF">2025-09-16T00:58:39Z</dcterms:modified>
</cp:coreProperties>
</file>