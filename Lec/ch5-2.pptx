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0"/>
  </p:notesMasterIdLst>
  <p:handoutMasterIdLst>
    <p:handoutMasterId r:id="rId31"/>
  </p:handoutMasterIdLst>
  <p:sldIdLst>
    <p:sldId id="331" r:id="rId2"/>
    <p:sldId id="426" r:id="rId3"/>
    <p:sldId id="354" r:id="rId4"/>
    <p:sldId id="400" r:id="rId5"/>
    <p:sldId id="356" r:id="rId6"/>
    <p:sldId id="404" r:id="rId7"/>
    <p:sldId id="358" r:id="rId8"/>
    <p:sldId id="359" r:id="rId9"/>
    <p:sldId id="360" r:id="rId10"/>
    <p:sldId id="361" r:id="rId11"/>
    <p:sldId id="362" r:id="rId12"/>
    <p:sldId id="405" r:id="rId13"/>
    <p:sldId id="365" r:id="rId14"/>
    <p:sldId id="411" r:id="rId15"/>
    <p:sldId id="412" r:id="rId16"/>
    <p:sldId id="413" r:id="rId17"/>
    <p:sldId id="364" r:id="rId18"/>
    <p:sldId id="414" r:id="rId19"/>
    <p:sldId id="363" r:id="rId20"/>
    <p:sldId id="367" r:id="rId21"/>
    <p:sldId id="407" r:id="rId22"/>
    <p:sldId id="408" r:id="rId23"/>
    <p:sldId id="368" r:id="rId24"/>
    <p:sldId id="369" r:id="rId25"/>
    <p:sldId id="371" r:id="rId26"/>
    <p:sldId id="415" r:id="rId27"/>
    <p:sldId id="416" r:id="rId28"/>
    <p:sldId id="417" r:id="rId29"/>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85" autoAdjust="0"/>
    <p:restoredTop sz="94635"/>
  </p:normalViewPr>
  <p:slideViewPr>
    <p:cSldViewPr snapToGrid="0">
      <p:cViewPr varScale="1">
        <p:scale>
          <a:sx n="60" d="100"/>
          <a:sy n="60" d="100"/>
        </p:scale>
        <p:origin x="1316" y="4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06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261256" y="782638"/>
            <a:ext cx="8512629" cy="2127250"/>
          </a:xfrm>
        </p:spPr>
        <p:txBody>
          <a:bodyPr/>
          <a:lstStyle/>
          <a:p>
            <a:pPr eaLnBrk="1" hangingPunct="1"/>
            <a:r>
              <a:rPr lang="en-US" altLang="en-US" dirty="0"/>
              <a:t>Chapter 5</a:t>
            </a:r>
            <a:br>
              <a:rPr lang="en-US" altLang="en-US" dirty="0"/>
            </a:br>
            <a:r>
              <a:rPr lang="en-US" altLang="en-US" dirty="0"/>
              <a:t>CPU Scheduling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678576" cy="4456354"/>
          </a:xfrm>
        </p:spPr>
        <p:txBody>
          <a:bodyPr/>
          <a:lstStyle/>
          <a:p>
            <a:r>
              <a:rPr lang="en-US" altLang="en-US" sz="2000" dirty="0"/>
              <a:t>The ready queue consists of multiple queues</a:t>
            </a:r>
          </a:p>
          <a:p>
            <a:r>
              <a:rPr lang="en-US" altLang="en-US" sz="2000" dirty="0"/>
              <a:t>Multilevel 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which queue a process will enter when that process needs service</a:t>
            </a:r>
          </a:p>
          <a:p>
            <a:pPr lvl="1"/>
            <a:r>
              <a:rPr lang="en-US" altLang="en-US" sz="2000" dirty="0"/>
              <a:t>Scheduling among the queues</a:t>
            </a:r>
          </a:p>
          <a:p>
            <a:endParaRPr lang="en-US" altLang="en-US" sz="2000" dirty="0"/>
          </a:p>
        </p:txBody>
      </p:sp>
    </p:spTree>
    <p:extLst>
      <p:ext uri="{BB962C8B-B14F-4D97-AF65-F5344CB8AC3E}">
        <p14:creationId xmlns:p14="http://schemas.microsoft.com/office/powerpoint/2010/main" val="3206840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9"/>
            <a:ext cx="7713662" cy="900112"/>
          </a:xfrm>
        </p:spPr>
        <p:txBody>
          <a:bodyPr/>
          <a:lstStyle/>
          <a:p>
            <a:r>
              <a:rPr lang="en-US" altLang="en-US" sz="2000" dirty="0"/>
              <a:t>With priority scheduling, have separate queues for each priority.</a:t>
            </a:r>
          </a:p>
          <a:p>
            <a:r>
              <a:rPr lang="en-US" altLang="en-US" sz="2000"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4003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sz="2000" dirty="0"/>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0755" y="1879778"/>
            <a:ext cx="6799988" cy="3617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716676" cy="4399927"/>
          </a:xfrm>
        </p:spPr>
        <p:txBody>
          <a:bodyPr/>
          <a:lstStyle/>
          <a:p>
            <a:r>
              <a:rPr lang="en-US" altLang="en-US" sz="2000" dirty="0"/>
              <a:t>A process can move between the various queues.</a:t>
            </a:r>
          </a:p>
          <a:p>
            <a:r>
              <a:rPr lang="en-US" altLang="en-US" sz="2000" dirty="0"/>
              <a:t>Multilevel-feedback-queue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when to upgrade a process</a:t>
            </a:r>
          </a:p>
          <a:p>
            <a:pPr lvl="1"/>
            <a:r>
              <a:rPr lang="en-US" altLang="en-US" sz="2000" dirty="0"/>
              <a:t>Method used to determine when to demote a process</a:t>
            </a:r>
          </a:p>
          <a:p>
            <a:pPr lvl="1"/>
            <a:r>
              <a:rPr lang="en-US" altLang="en-US" sz="2000" dirty="0"/>
              <a:t>Method used to determine which queue a process will enter when that process needs service</a:t>
            </a:r>
          </a:p>
          <a:p>
            <a:r>
              <a:rPr lang="en-US" altLang="en-US" sz="2000" dirty="0"/>
              <a:t>Aging can be implemented using multilevel feedback queue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sz="1600"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p>
          <a:p>
            <a:r>
              <a:rPr lang="en-US" altLang="en-US" sz="1600"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600" dirty="0"/>
              <a:t>When it gains CPU, the process receives 8 milliseconds</a:t>
            </a:r>
          </a:p>
          <a:p>
            <a:pPr lvl="2"/>
            <a:r>
              <a:rPr lang="en-US" altLang="en-US" sz="1600" dirty="0"/>
              <a:t>If it does not finish in 8 milliseconds, the process  is moved to queue </a:t>
            </a:r>
            <a:r>
              <a:rPr lang="en-US" altLang="en-US" sz="1600" i="1" dirty="0"/>
              <a:t>Q</a:t>
            </a:r>
            <a:r>
              <a:rPr lang="en-US" altLang="en-US" sz="1600" baseline="-25000" dirty="0"/>
              <a:t>1</a:t>
            </a:r>
            <a:endParaRPr lang="en-US" altLang="en-US" sz="16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600" dirty="0"/>
              <a:t>If it still does not complete, it is preempted and moved to queue </a:t>
            </a:r>
            <a:r>
              <a:rPr lang="en-US" altLang="en-US" sz="1600" i="1" dirty="0"/>
              <a:t>Q</a:t>
            </a:r>
            <a:r>
              <a:rPr lang="en-US" altLang="en-US" sz="1600" baseline="-25000" dirty="0"/>
              <a:t>2</a:t>
            </a:r>
            <a:endParaRPr lang="en-US" altLang="en-US" sz="16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0"/>
            <a:ext cx="7661275" cy="3865879"/>
          </a:xfrm>
        </p:spPr>
        <p:txBody>
          <a:bodyPr/>
          <a:lstStyle/>
          <a:p>
            <a:r>
              <a:rPr lang="en-US" altLang="en-US" sz="2000" dirty="0"/>
              <a:t>Distinction between user-level and kernel-level threads</a:t>
            </a:r>
          </a:p>
          <a:p>
            <a:r>
              <a:rPr lang="en-US" altLang="en-US" sz="2000" dirty="0"/>
              <a:t>When threads supported, threads scheduled, not processes</a:t>
            </a:r>
          </a:p>
          <a:p>
            <a:r>
              <a:rPr lang="en-US" altLang="en-US" sz="2000" dirty="0"/>
              <a:t>Many-to-one and many-to-many models, thread library schedules user-level threads to run on LWP</a:t>
            </a:r>
          </a:p>
          <a:p>
            <a:pPr lvl="1"/>
            <a:r>
              <a:rPr lang="en-US" altLang="en-US" sz="2000" dirty="0"/>
              <a:t>Known as </a:t>
            </a:r>
            <a:r>
              <a:rPr lang="en-US" altLang="en-US" sz="2000" b="1" dirty="0">
                <a:solidFill>
                  <a:srgbClr val="006699"/>
                </a:solidFill>
                <a:latin typeface="+mj-lt"/>
              </a:rPr>
              <a:t>process-contention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solidFill>
                  <a:srgbClr val="3366FF"/>
                </a:solidFill>
              </a:rPr>
              <a:t> </a:t>
            </a:r>
            <a:r>
              <a:rPr lang="en-US" altLang="en-US" sz="2000" dirty="0"/>
              <a:t>(</a:t>
            </a:r>
            <a:r>
              <a:rPr lang="en-US" altLang="en-US" sz="2000" b="1" dirty="0">
                <a:solidFill>
                  <a:srgbClr val="006699"/>
                </a:solidFill>
                <a:latin typeface="+mj-lt"/>
              </a:rPr>
              <a:t>PCS</a:t>
            </a:r>
            <a:r>
              <a:rPr lang="en-US" altLang="en-US" sz="2000" dirty="0"/>
              <a:t>)</a:t>
            </a:r>
            <a:r>
              <a:rPr lang="en-US" altLang="en-US" sz="2000" b="1" dirty="0"/>
              <a:t> </a:t>
            </a:r>
            <a:r>
              <a:rPr lang="en-US" altLang="en-US" sz="2000" dirty="0"/>
              <a:t>since scheduling competition is within the process</a:t>
            </a:r>
          </a:p>
          <a:p>
            <a:pPr lvl="1"/>
            <a:r>
              <a:rPr lang="en-US" altLang="en-US" sz="2000" dirty="0"/>
              <a:t>Typically done via priority set by programmer</a:t>
            </a:r>
          </a:p>
          <a:p>
            <a:r>
              <a:rPr lang="en-US" altLang="en-US" sz="2000" dirty="0"/>
              <a:t>Kernel thread scheduled onto available CPU is </a:t>
            </a:r>
            <a:r>
              <a:rPr lang="en-US" altLang="en-US" sz="2000" b="1" dirty="0">
                <a:solidFill>
                  <a:srgbClr val="006699"/>
                </a:solidFill>
                <a:latin typeface="+mj-lt"/>
              </a:rPr>
              <a:t>system-contention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t> </a:t>
            </a:r>
            <a:r>
              <a:rPr lang="en-US" altLang="en-US" sz="2000" dirty="0"/>
              <a:t>(</a:t>
            </a:r>
            <a:r>
              <a:rPr lang="en-US" altLang="en-US" sz="2000" b="1" dirty="0">
                <a:solidFill>
                  <a:srgbClr val="006699"/>
                </a:solidFill>
                <a:latin typeface="+mj-lt"/>
              </a:rPr>
              <a:t>SCS</a:t>
            </a:r>
            <a:r>
              <a:rPr lang="en-US" altLang="en-US" sz="2000" dirty="0"/>
              <a:t>) – competition among all threads in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sz="2000" dirty="0"/>
              <a:t>API allows specifying either PCS or SCS during thread creation</a:t>
            </a:r>
          </a:p>
          <a:p>
            <a:pPr lvl="1"/>
            <a:r>
              <a:rPr lang="en-US" altLang="en-US" sz="2000" dirty="0"/>
              <a:t>PTHREAD_SCOPE_PROCESS schedules threads using PCS scheduling</a:t>
            </a:r>
          </a:p>
          <a:p>
            <a:pPr lvl="1"/>
            <a:r>
              <a:rPr lang="en-US" altLang="en-US" sz="2000" dirty="0"/>
              <a:t>PTHREAD_SCOPE_SYSTEM schedules threads using SCS scheduling</a:t>
            </a:r>
          </a:p>
          <a:p>
            <a:r>
              <a:rPr lang="en-US" altLang="en-US" sz="2000" dirty="0"/>
              <a:t>Can be limited by OS – Linux and macOS only allow PTHREAD_SCOPE_SYSTEM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5495925"/>
          </a:xfrm>
        </p:spPr>
        <p:txBody>
          <a:bodyPr/>
          <a:lstStyle/>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pthread.h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#include &lt;</a:t>
            </a:r>
            <a:r>
              <a:rPr lang="en-US" altLang="en-US" sz="1400" b="1" dirty="0" err="1">
                <a:latin typeface="Courier New" panose="02070309020205020404" pitchFamily="49" charset="0"/>
              </a:rPr>
              <a:t>stdio.h</a:t>
            </a:r>
            <a:r>
              <a:rPr lang="en-US" altLang="en-US" sz="1400" b="1" dirty="0">
                <a:latin typeface="Courier New" panose="02070309020205020404" pitchFamily="49" charset="0"/>
              </a:rPr>
              <a:t>&gt; </a:t>
            </a:r>
          </a:p>
          <a:p>
            <a:pPr marL="0" indent="0">
              <a:buFont typeface="Monotype Sorts" pitchFamily="-84" charset="2"/>
              <a:buNone/>
            </a:pPr>
            <a:r>
              <a:rPr lang="en-US" altLang="en-US" sz="1400" b="1" dirty="0">
                <a:latin typeface="Courier New" panose="02070309020205020404" pitchFamily="49" charset="0"/>
              </a:rPr>
              <a:t>#define NUM_THREADS 5 </a:t>
            </a:r>
          </a:p>
          <a:p>
            <a:pPr marL="0" indent="0">
              <a:buFont typeface="Monotype Sorts" pitchFamily="-84" charset="2"/>
              <a:buNone/>
            </a:pPr>
            <a:r>
              <a:rPr lang="en-US" altLang="en-US" sz="1400" b="1" dirty="0">
                <a:latin typeface="Courier New" panose="02070309020205020404" pitchFamily="49" charset="0"/>
              </a:rPr>
              <a:t>int main(int </a:t>
            </a:r>
            <a:r>
              <a:rPr lang="en-US" altLang="en-US" sz="1400" b="1" dirty="0" err="1">
                <a:latin typeface="Courier New" panose="02070309020205020404" pitchFamily="49" charset="0"/>
              </a:rPr>
              <a:t>argc</a:t>
            </a:r>
            <a:r>
              <a:rPr lang="en-US" altLang="en-US" sz="1400" b="1" dirty="0">
                <a:latin typeface="Courier New" panose="02070309020205020404" pitchFamily="49" charset="0"/>
              </a:rPr>
              <a:t>, char *</a:t>
            </a:r>
            <a:r>
              <a:rPr lang="en-US" altLang="en-US" sz="1400" b="1" dirty="0" err="1">
                <a:latin typeface="Courier New" panose="02070309020205020404" pitchFamily="49" charset="0"/>
              </a:rPr>
              <a:t>argv</a:t>
            </a:r>
            <a:r>
              <a:rPr lang="en-US" altLang="en-US" sz="1400" b="1" dirty="0">
                <a:latin typeface="Courier New" panose="02070309020205020404" pitchFamily="49" charset="0"/>
              </a:rPr>
              <a:t>[]) { </a:t>
            </a:r>
          </a:p>
          <a:p>
            <a:pPr marL="0" indent="0">
              <a:buFont typeface="Monotype Sorts" pitchFamily="-84" charset="2"/>
              <a:buNone/>
            </a:pPr>
            <a:r>
              <a:rPr lang="en-US" altLang="en-US" sz="1400" b="1" dirty="0">
                <a:latin typeface="Courier New" panose="02070309020205020404" pitchFamily="49" charset="0"/>
              </a:rPr>
              <a:t>   int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scope;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tid</a:t>
            </a:r>
            <a:r>
              <a:rPr lang="en-US" altLang="en-US" sz="1400" b="1" dirty="0">
                <a:latin typeface="Courier New" panose="02070309020205020404" pitchFamily="49" charset="0"/>
              </a:rPr>
              <a:t>[NUM THREADS];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pthread_attr_t</a:t>
            </a:r>
            <a:r>
              <a:rPr lang="en-US" altLang="en-US" sz="1400" b="1" dirty="0">
                <a:latin typeface="Courier New" panose="02070309020205020404" pitchFamily="49" charset="0"/>
              </a:rPr>
              <a:t> </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get the default attributes */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pthread_attr_init</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t>
            </a:r>
          </a:p>
          <a:p>
            <a:pPr marL="0" indent="0">
              <a:buFont typeface="Monotype Sorts" pitchFamily="-84" charset="2"/>
              <a:buNone/>
            </a:pPr>
            <a:r>
              <a:rPr lang="en-US" altLang="en-US" sz="1400" b="1" dirty="0">
                <a:latin typeface="Courier New" panose="02070309020205020404" pitchFamily="49" charset="0"/>
              </a:rPr>
              <a:t>   /* first inquire on the current scope */</a:t>
            </a:r>
            <a:br>
              <a:rPr lang="en-US" altLang="en-US" sz="1400" b="1" dirty="0">
                <a:latin typeface="Courier New" panose="02070309020205020404" pitchFamily="49" charset="0"/>
              </a:rPr>
            </a:br>
            <a:r>
              <a:rPr lang="en-US" altLang="en-US" sz="1400" b="1" dirty="0">
                <a:latin typeface="Courier New" panose="02070309020205020404" pitchFamily="49" charset="0"/>
              </a:rPr>
              <a:t>   if (</a:t>
            </a:r>
            <a:r>
              <a:rPr lang="en-US" altLang="en-US" sz="1400" b="1" dirty="0" err="1">
                <a:latin typeface="Courier New" panose="02070309020205020404" pitchFamily="49" charset="0"/>
              </a:rPr>
              <a:t>pthread_attr_getscope</a:t>
            </a:r>
            <a:r>
              <a:rPr lang="en-US" altLang="en-US" sz="1400" b="1" dirty="0">
                <a:latin typeface="Courier New" panose="02070309020205020404" pitchFamily="49" charset="0"/>
              </a:rPr>
              <a:t>(&amp;</a:t>
            </a:r>
            <a:r>
              <a:rPr lang="en-US" altLang="en-US" sz="1400" b="1" dirty="0" err="1">
                <a:latin typeface="Courier New" panose="02070309020205020404" pitchFamily="49" charset="0"/>
              </a:rPr>
              <a:t>attr</a:t>
            </a:r>
            <a:r>
              <a:rPr lang="en-US" altLang="en-US" sz="1400" b="1" dirty="0">
                <a:latin typeface="Courier New" panose="02070309020205020404" pitchFamily="49" charset="0"/>
              </a:rPr>
              <a:t>, &amp;scope) != 0)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"Unable to get scheduling scope\n"); </a:t>
            </a:r>
          </a:p>
          <a:p>
            <a:pPr marL="0" indent="0">
              <a:buFont typeface="Monotype Sorts" pitchFamily="-84" charset="2"/>
              <a:buNone/>
            </a:pPr>
            <a:r>
              <a:rPr lang="en-US" altLang="en-US" sz="1400" b="1" dirty="0">
                <a:latin typeface="Courier New" panose="02070309020205020404" pitchFamily="49" charset="0"/>
              </a:rPr>
              <a:t>   else { </a:t>
            </a:r>
          </a:p>
          <a:p>
            <a:pPr marL="0" indent="0">
              <a:buFont typeface="Monotype Sorts" pitchFamily="-84" charset="2"/>
              <a:buNone/>
            </a:pPr>
            <a:r>
              <a:rPr lang="en-US" altLang="en-US" sz="1400" b="1" dirty="0">
                <a:latin typeface="Courier New" panose="02070309020205020404" pitchFamily="49" charset="0"/>
              </a:rPr>
              <a:t>      if (scope == PTHREAD_SCOPE_PROCESS)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("PTHREAD_SCOPE_PROCESS"); </a:t>
            </a:r>
          </a:p>
          <a:p>
            <a:pPr marL="0" indent="0">
              <a:buFont typeface="Monotype Sorts" pitchFamily="-84" charset="2"/>
              <a:buNone/>
            </a:pPr>
            <a:r>
              <a:rPr lang="en-US" altLang="en-US" sz="1400" b="1" dirty="0">
                <a:latin typeface="Courier New" panose="02070309020205020404" pitchFamily="49" charset="0"/>
              </a:rPr>
              <a:t>      else if (scope == PTHREAD_SCOPE_SYSTEM) </a:t>
            </a:r>
          </a:p>
          <a:p>
            <a:pPr marL="0" indent="0">
              <a:buFont typeface="Monotype Sorts" pitchFamily="-84" charset="2"/>
              <a:buNone/>
            </a:pPr>
            <a:r>
              <a:rPr lang="en-US" altLang="en-US" sz="1400" b="1" dirty="0">
                <a:latin typeface="Courier New" panose="02070309020205020404" pitchFamily="49" charset="0"/>
              </a:rPr>
              <a:t>         </a:t>
            </a:r>
            <a:r>
              <a:rPr lang="en-US" altLang="en-US" sz="1400" b="1" dirty="0" err="1">
                <a:latin typeface="Courier New" panose="02070309020205020404" pitchFamily="49" charset="0"/>
              </a:rPr>
              <a:t>printf</a:t>
            </a:r>
            <a:r>
              <a:rPr lang="en-US" altLang="en-US" sz="1400" b="1" dirty="0">
                <a:latin typeface="Courier New" panose="02070309020205020404" pitchFamily="49" charset="0"/>
              </a:rPr>
              <a:t>("PTHREAD_SCOPE_SYSTEM"); </a:t>
            </a:r>
          </a:p>
          <a:p>
            <a:pPr marL="0" indent="0">
              <a:buFont typeface="Monotype Sorts" pitchFamily="-84" charset="2"/>
              <a:buNone/>
            </a:pPr>
            <a:r>
              <a:rPr lang="en-US" altLang="en-US" sz="1400" b="1" dirty="0">
                <a:latin typeface="Courier New" panose="02070309020205020404" pitchFamily="49" charset="0"/>
              </a:rPr>
              <a:t>      else</a:t>
            </a:r>
            <a:br>
              <a:rPr lang="en-US" altLang="en-US" sz="1400" b="1" dirty="0">
                <a:latin typeface="Courier New" panose="02070309020205020404" pitchFamily="49" charset="0"/>
              </a:rPr>
            </a:br>
            <a:r>
              <a:rPr lang="en-US" altLang="en-US" sz="1400" b="1" dirty="0">
                <a:latin typeface="Courier New" panose="02070309020205020404" pitchFamily="49" charset="0"/>
              </a:rPr>
              <a:t>         </a:t>
            </a:r>
            <a:r>
              <a:rPr lang="en-US" altLang="en-US" sz="1400" b="1" dirty="0" err="1">
                <a:latin typeface="Courier New" panose="02070309020205020404" pitchFamily="49" charset="0"/>
              </a:rPr>
              <a:t>fprintf</a:t>
            </a:r>
            <a:r>
              <a:rPr lang="en-US" altLang="en-US" sz="1400" b="1" dirty="0">
                <a:latin typeface="Courier New" panose="02070309020205020404" pitchFamily="49" charset="0"/>
              </a:rPr>
              <a:t>(stderr, "Illegal scope value.\n"); </a:t>
            </a:r>
          </a:p>
          <a:p>
            <a:pPr marL="0" indent="0">
              <a:buFont typeface="Monotype Sorts" pitchFamily="-84" charset="2"/>
              <a:buNone/>
            </a:pPr>
            <a:r>
              <a:rPr lang="en-US" altLang="en-US" sz="1400" b="1" dirty="0">
                <a:latin typeface="Courier New" panose="02070309020205020404" pitchFamily="49" charset="0"/>
              </a:rPr>
              <a:t>   }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b="1" dirty="0">
                <a:latin typeface="Courier New" panose="02070309020205020404" pitchFamily="49" charset="0"/>
              </a:rPr>
              <a:t>   /* set the scheduling algorithm to PCS or SCS */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pthread_attr_setscope</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attr</a:t>
            </a:r>
            <a:r>
              <a:rPr lang="en-US" altLang="en-US" sz="1700" b="1" dirty="0">
                <a:latin typeface="Courier New" panose="02070309020205020404" pitchFamily="49" charset="0"/>
              </a:rPr>
              <a:t>, PTHREAD_SCOPE_SYSTEM); </a:t>
            </a:r>
          </a:p>
          <a:p>
            <a:pPr marL="0" indent="0">
              <a:buFont typeface="Monotype Sorts" pitchFamily="-84" charset="2"/>
              <a:buNone/>
            </a:pPr>
            <a:r>
              <a:rPr lang="en-US" altLang="en-US" sz="1700" b="1" dirty="0">
                <a:latin typeface="Courier New" panose="02070309020205020404" pitchFamily="49" charset="0"/>
              </a:rPr>
              <a:t>   /* create the threads */</a:t>
            </a:r>
            <a:br>
              <a:rPr lang="en-US" altLang="en-US" sz="1700" b="1" dirty="0">
                <a:latin typeface="Courier New" panose="02070309020205020404" pitchFamily="49" charset="0"/>
              </a:rPr>
            </a:br>
            <a:r>
              <a:rPr lang="en-US" altLang="en-US" sz="1700" b="1" dirty="0">
                <a:latin typeface="Courier New" panose="02070309020205020404" pitchFamily="49" charset="0"/>
              </a:rPr>
              <a:t>   for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 0;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&lt; NUM_THREADS;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pthread_create</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tid</a:t>
            </a:r>
            <a:r>
              <a:rPr lang="en-US" altLang="en-US" sz="1700" b="1" dirty="0">
                <a:latin typeface="Courier New" panose="02070309020205020404" pitchFamily="49" charset="0"/>
              </a:rPr>
              <a:t>[</a:t>
            </a:r>
            <a:r>
              <a:rPr lang="en-US" altLang="en-US" sz="1700" b="1" dirty="0" err="1">
                <a:latin typeface="Courier New" panose="02070309020205020404" pitchFamily="49" charset="0"/>
              </a:rPr>
              <a:t>i</a:t>
            </a:r>
            <a:r>
              <a:rPr lang="en-US" altLang="en-US" sz="1700" b="1" dirty="0">
                <a:latin typeface="Courier New" panose="02070309020205020404" pitchFamily="49" charset="0"/>
              </a:rPr>
              <a:t>],&amp;</a:t>
            </a:r>
            <a:r>
              <a:rPr lang="en-US" altLang="en-US" sz="1700" b="1" dirty="0" err="1">
                <a:latin typeface="Courier New" panose="02070309020205020404" pitchFamily="49" charset="0"/>
              </a:rPr>
              <a:t>attr,runner,NULL</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 now join on each thread */</a:t>
            </a:r>
            <a:br>
              <a:rPr lang="en-US" altLang="en-US" sz="1700" b="1" dirty="0">
                <a:latin typeface="Courier New" panose="02070309020205020404" pitchFamily="49" charset="0"/>
              </a:rPr>
            </a:br>
            <a:r>
              <a:rPr lang="en-US" altLang="en-US" sz="1700" b="1" dirty="0">
                <a:latin typeface="Courier New" panose="02070309020205020404" pitchFamily="49" charset="0"/>
              </a:rPr>
              <a:t>   for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 0;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&lt; NUM_THREADS; </a:t>
            </a:r>
            <a:r>
              <a:rPr lang="en-US" altLang="en-US" sz="1700" b="1" dirty="0" err="1">
                <a:latin typeface="Courier New" panose="02070309020205020404" pitchFamily="49" charset="0"/>
              </a:rPr>
              <a:t>i</a:t>
            </a: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pthread_join</a:t>
            </a:r>
            <a:r>
              <a:rPr lang="en-US" altLang="en-US" sz="1700" b="1" dirty="0">
                <a:latin typeface="Courier New" panose="02070309020205020404" pitchFamily="49" charset="0"/>
              </a:rPr>
              <a:t>(</a:t>
            </a:r>
            <a:r>
              <a:rPr lang="en-US" altLang="en-US" sz="1700" b="1" dirty="0" err="1">
                <a:latin typeface="Courier New" panose="02070309020205020404" pitchFamily="49" charset="0"/>
              </a:rPr>
              <a:t>tid</a:t>
            </a:r>
            <a:r>
              <a:rPr lang="en-US" altLang="en-US" sz="1700" b="1" dirty="0">
                <a:latin typeface="Courier New" panose="02070309020205020404" pitchFamily="49" charset="0"/>
              </a:rPr>
              <a:t>[</a:t>
            </a:r>
            <a:r>
              <a:rPr lang="en-US" altLang="en-US" sz="1700" b="1" dirty="0" err="1">
                <a:latin typeface="Courier New" panose="02070309020205020404" pitchFamily="49" charset="0"/>
              </a:rPr>
              <a:t>i</a:t>
            </a:r>
            <a:r>
              <a:rPr lang="en-US" altLang="en-US" sz="1700" b="1" dirty="0">
                <a:latin typeface="Courier New" panose="02070309020205020404" pitchFamily="49" charset="0"/>
              </a:rPr>
              <a:t>], NULL); </a:t>
            </a:r>
          </a:p>
          <a:p>
            <a:pPr marL="0" indent="0">
              <a:buFont typeface="Monotype Sorts" pitchFamily="-84" charset="2"/>
              <a:buNone/>
            </a:pP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Each thread will begin control in this function */ </a:t>
            </a:r>
          </a:p>
          <a:p>
            <a:pPr marL="0" indent="0">
              <a:buFont typeface="Monotype Sorts" pitchFamily="-84" charset="2"/>
              <a:buNone/>
            </a:pPr>
            <a:r>
              <a:rPr lang="en-US" altLang="en-US" sz="1700" b="1" dirty="0">
                <a:latin typeface="Courier New" panose="02070309020205020404" pitchFamily="49" charset="0"/>
              </a:rPr>
              <a:t>void *runner(void *param)</a:t>
            </a:r>
            <a:br>
              <a:rPr lang="en-US" altLang="en-US" sz="1700" b="1" dirty="0">
                <a:latin typeface="Courier New" panose="02070309020205020404" pitchFamily="49" charset="0"/>
              </a:rPr>
            </a:br>
            <a:r>
              <a:rPr lang="en-US" altLang="en-US" sz="1700" b="1" dirty="0">
                <a:latin typeface="Courier New" panose="02070309020205020404" pitchFamily="49" charset="0"/>
              </a:rPr>
              <a:t>{ </a:t>
            </a:r>
          </a:p>
          <a:p>
            <a:pPr marL="0" indent="0">
              <a:buFont typeface="Monotype Sorts" pitchFamily="-84" charset="2"/>
              <a:buNone/>
            </a:pPr>
            <a:r>
              <a:rPr lang="en-US" altLang="en-US" sz="1700" b="1" dirty="0">
                <a:latin typeface="Courier New" panose="02070309020205020404" pitchFamily="49" charset="0"/>
              </a:rPr>
              <a:t>   /* do some work ... */ </a:t>
            </a:r>
          </a:p>
          <a:p>
            <a:pPr marL="0" indent="0">
              <a:buFont typeface="Monotype Sorts" pitchFamily="-84" charset="2"/>
              <a:buNone/>
            </a:pPr>
            <a:r>
              <a:rPr lang="en-US" altLang="en-US" sz="1700" b="1" dirty="0">
                <a:latin typeface="Courier New" panose="02070309020205020404" pitchFamily="49" charset="0"/>
              </a:rPr>
              <a:t>   </a:t>
            </a:r>
            <a:r>
              <a:rPr lang="en-US" altLang="en-US" sz="1700" b="1" dirty="0" err="1">
                <a:latin typeface="Courier New" panose="02070309020205020404" pitchFamily="49" charset="0"/>
              </a:rPr>
              <a:t>pthread_exit</a:t>
            </a:r>
            <a:r>
              <a:rPr lang="en-US" altLang="en-US" sz="1700" b="1" dirty="0">
                <a:latin typeface="Courier New" panose="02070309020205020404" pitchFamily="49" charset="0"/>
              </a:rPr>
              <a:t>(0); </a:t>
            </a:r>
          </a:p>
          <a:p>
            <a:pPr marL="0" indent="0">
              <a:buFont typeface="Monotype Sorts" pitchFamily="-84" charset="2"/>
              <a:buNone/>
            </a:pPr>
            <a:r>
              <a:rPr lang="en-US" altLang="en-US" sz="1700" b="1" dirty="0">
                <a:latin typeface="Courier New" panose="02070309020205020404" pitchFamily="49"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215520"/>
            <a:ext cx="7723187" cy="601892"/>
          </a:xfrm>
        </p:spPr>
        <p:txBody>
          <a:bodyPr/>
          <a:lstStyle/>
          <a:p>
            <a:pPr eaLnBrk="1" hangingPunct="1"/>
            <a:r>
              <a:rPr lang="en-US" altLang="en-US" dirty="0"/>
              <a:t>Multiple-Processor Scheduling (1)</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912359" cy="2586037"/>
          </a:xfrm>
        </p:spPr>
        <p:txBody>
          <a:bodyPr/>
          <a:lstStyle/>
          <a:p>
            <a:r>
              <a:rPr lang="en-US" altLang="en-US" sz="2000" dirty="0"/>
              <a:t>CPU scheduling more complex when multiple CPUs are available</a:t>
            </a:r>
          </a:p>
          <a:p>
            <a:r>
              <a:rPr lang="en-US" altLang="en-US" sz="2000" dirty="0"/>
              <a:t>Multiprocessor may be any one of the following architectures:</a:t>
            </a:r>
          </a:p>
          <a:p>
            <a:pPr lvl="1"/>
            <a:r>
              <a:rPr lang="en-US" altLang="en-US" sz="2000" dirty="0"/>
              <a:t>Multicore CPUs</a:t>
            </a:r>
          </a:p>
          <a:p>
            <a:pPr lvl="1"/>
            <a:r>
              <a:rPr lang="en-US" altLang="en-US" sz="2000" dirty="0"/>
              <a:t>Multithreaded cores</a:t>
            </a:r>
          </a:p>
          <a:p>
            <a:pPr lvl="1"/>
            <a:r>
              <a:rPr lang="en-US" altLang="en-US" sz="2000" dirty="0"/>
              <a:t>NUMA systems</a:t>
            </a:r>
          </a:p>
          <a:p>
            <a:pPr lvl="1"/>
            <a:r>
              <a:rPr lang="en-US" altLang="en-US" sz="2000" dirty="0"/>
              <a:t>Heterogeneous multiprocessing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1153865" y="268065"/>
            <a:ext cx="7033120" cy="576262"/>
          </a:xfrm>
        </p:spPr>
        <p:txBody>
          <a:bodyPr/>
          <a:lstStyle/>
          <a:p>
            <a:r>
              <a:rPr lang="en-US" altLang="en-US" dirty="0">
                <a:latin typeface="+mn-ea"/>
                <a:ea typeface="+mn-ea"/>
              </a:rPr>
              <a:t>Multiple-Processor Scheduling (</a:t>
            </a:r>
            <a:r>
              <a:rPr lang="en-US" altLang="zh-CN" dirty="0">
                <a:latin typeface="+mn-ea"/>
                <a:ea typeface="+mn-ea"/>
              </a:rPr>
              <a:t>2)</a:t>
            </a:r>
            <a:endParaRPr lang="en-US" altLang="en-US" dirty="0">
              <a:latin typeface="+mn-ea"/>
              <a:ea typeface="+mn-ea"/>
            </a:endParaRP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a:xfrm>
            <a:off x="806450" y="1016001"/>
            <a:ext cx="7727950" cy="1600200"/>
          </a:xfrm>
        </p:spPr>
        <p:txBody>
          <a:bodyPr/>
          <a:lstStyle/>
          <a:p>
            <a:r>
              <a:rPr lang="en-US" altLang="en-US" sz="2000" dirty="0"/>
              <a:t>Symmetric multiprocessing (SMP) is where each processor is self scheduling</a:t>
            </a:r>
          </a:p>
          <a:p>
            <a:r>
              <a:rPr lang="en-US" altLang="en-US" sz="2000" dirty="0"/>
              <a:t>All threads may be in a common ready queue (a)</a:t>
            </a:r>
          </a:p>
          <a:p>
            <a:r>
              <a:rPr lang="en-US" altLang="en-US" sz="2000" dirty="0"/>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1612800" y="226860"/>
            <a:ext cx="6321600"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02434" y="1020129"/>
            <a:ext cx="7669762" cy="2651872"/>
          </a:xfrm>
        </p:spPr>
        <p:txBody>
          <a:bodyPr/>
          <a:lstStyle/>
          <a:p>
            <a:r>
              <a:rPr lang="en-US" altLang="en-US" sz="2000" dirty="0"/>
              <a:t>Recent trend to place multiple processor cores on same physical chip</a:t>
            </a:r>
          </a:p>
          <a:p>
            <a:r>
              <a:rPr lang="en-US" altLang="en-US" sz="2000" dirty="0"/>
              <a:t>Faster and consumes less power</a:t>
            </a:r>
          </a:p>
          <a:p>
            <a:r>
              <a:rPr lang="en-US" altLang="en-US" sz="2000" dirty="0"/>
              <a:t>Multiple threads per core also growing</a:t>
            </a:r>
          </a:p>
          <a:p>
            <a:pPr lvl="1"/>
            <a:r>
              <a:rPr lang="en-US" altLang="en-US" sz="2000" dirty="0"/>
              <a:t>Takes advantage of memory stall to make progress on another thread while memory retrieve happens</a:t>
            </a:r>
          </a:p>
          <a:p>
            <a:r>
              <a:rPr lang="en-US" altLang="en-US" sz="2000" dirty="0"/>
              <a:t>Figure</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7553" y="3968360"/>
            <a:ext cx="7319524" cy="1797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27613" y="222720"/>
            <a:ext cx="7723187" cy="601892"/>
          </a:xfrm>
        </p:spPr>
        <p:txBody>
          <a:bodyPr/>
          <a:lstStyle/>
          <a:p>
            <a:pPr eaLnBrk="1" hangingPunct="1"/>
            <a:r>
              <a:rPr lang="en-US" altLang="en-US" dirty="0"/>
              <a:t>Multithreaded Multicore System (1)</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1354137"/>
          </a:xfrm>
        </p:spPr>
        <p:txBody>
          <a:bodyPr/>
          <a:lstStyle/>
          <a:p>
            <a:r>
              <a:rPr kumimoji="0" lang="en-US" altLang="en-US" sz="2000" dirty="0"/>
              <a:t>Each core has &gt; 1 hardware threads. </a:t>
            </a:r>
          </a:p>
          <a:p>
            <a:r>
              <a:rPr kumimoji="0" lang="en-US" altLang="en-US" sz="2000" dirty="0"/>
              <a:t>If one thread has a memory stall, switch to another thread!</a:t>
            </a:r>
          </a:p>
          <a:p>
            <a:r>
              <a:rPr kumimoji="0" lang="en-US" altLang="en-US" sz="2000" dirty="0"/>
              <a:t>Figure</a:t>
            </a:r>
          </a:p>
          <a:p>
            <a:endParaRPr kumimoji="0" lang="en-US" altLang="en-US" sz="2000" dirty="0"/>
          </a:p>
          <a:p>
            <a:endParaRPr kumimoji="0" lang="en-US" altLang="en-US" sz="2000" dirty="0"/>
          </a:p>
          <a:p>
            <a:pPr>
              <a:spcBef>
                <a:spcPct val="0"/>
              </a:spcBef>
              <a:buClrTx/>
              <a:buSzTx/>
              <a:buFontTx/>
              <a:buNone/>
            </a:pPr>
            <a:endParaRPr kumimoji="0" lang="en-US" altLang="en-US" sz="2000" dirty="0"/>
          </a:p>
          <a:p>
            <a:endParaRPr lang="en-US" altLang="en-US" sz="2000"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7431" y="2774251"/>
            <a:ext cx="7065120" cy="172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736600" y="1306195"/>
            <a:ext cx="4019550" cy="4524693"/>
          </a:xfrm>
        </p:spPr>
        <p:txBody>
          <a:bodyPr/>
          <a:lstStyle/>
          <a:p>
            <a:r>
              <a:rPr lang="en-US" altLang="en-US" sz="2000" b="1" dirty="0"/>
              <a:t>Chip-multithreading</a:t>
            </a:r>
            <a:r>
              <a:rPr lang="en-US" altLang="en-US" sz="2000" dirty="0"/>
              <a:t> (CMT) assigns each core multiple hardware threads. (Intel refers to this as </a:t>
            </a:r>
            <a:r>
              <a:rPr lang="en-US" altLang="en-US" sz="2000" b="1" dirty="0"/>
              <a:t>hyperthreading</a:t>
            </a:r>
            <a:r>
              <a:rPr lang="en-US" altLang="en-US" sz="2000" dirty="0"/>
              <a:t>.)</a:t>
            </a:r>
            <a:br>
              <a:rPr lang="en-US" altLang="en-US" sz="2000" dirty="0"/>
            </a:br>
            <a:endParaRPr lang="en-US" altLang="en-US" sz="2000" dirty="0"/>
          </a:p>
          <a:p>
            <a:r>
              <a:rPr lang="en-US" altLang="en-US" sz="2000" dirty="0"/>
              <a:t>On a quad-core system with 2 hardware threads per core, the operating system sees 8 logical processors.</a:t>
            </a:r>
          </a:p>
          <a:p>
            <a:endParaRPr lang="en-US" altLang="en-US" sz="2000"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058328" y="210151"/>
            <a:ext cx="7557796" cy="576262"/>
          </a:xfrm>
        </p:spPr>
        <p:txBody>
          <a:bodyPr/>
          <a:lstStyle/>
          <a:p>
            <a:pPr eaLnBrk="1" hangingPunct="1"/>
            <a:r>
              <a:rPr lang="en-US" altLang="en-US" dirty="0"/>
              <a:t>Multithreaded Multicore System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23432" y="216694"/>
            <a:ext cx="7809722" cy="576262"/>
          </a:xfrm>
        </p:spPr>
        <p:txBody>
          <a:bodyPr/>
          <a:lstStyle/>
          <a:p>
            <a:r>
              <a:rPr lang="en-US" altLang="en-US" dirty="0"/>
              <a:t>Multithreaded Multicore System (3)</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493455" y="1298575"/>
            <a:ext cx="3454658" cy="4530725"/>
          </a:xfrm>
        </p:spPr>
        <p:txBody>
          <a:bodyPr/>
          <a:lstStyle/>
          <a:p>
            <a:r>
              <a:rPr lang="en-US" altLang="en-US" sz="2000" dirty="0"/>
              <a:t>Two levels of scheduling:</a:t>
            </a:r>
            <a:br>
              <a:rPr lang="en-US" altLang="en-US" sz="2000" dirty="0"/>
            </a:br>
            <a:endParaRPr lang="en-US" altLang="en-US" sz="2000" dirty="0"/>
          </a:p>
          <a:p>
            <a:pPr lvl="1">
              <a:buFont typeface="Arial" panose="020B0604020202020204" pitchFamily="34" charset="0"/>
              <a:buAutoNum type="arabicPeriod"/>
            </a:pPr>
            <a:r>
              <a:rPr lang="en-US" altLang="en-US" sz="2000" dirty="0"/>
              <a:t>The operating system deciding which software thread to run on a logical CPU</a:t>
            </a:r>
            <a:br>
              <a:rPr lang="en-US" altLang="en-US" sz="2000" dirty="0"/>
            </a:br>
            <a:br>
              <a:rPr lang="en-US" altLang="en-US" sz="2000" dirty="0"/>
            </a:br>
            <a:endParaRPr lang="en-US" altLang="en-US" sz="2000" dirty="0"/>
          </a:p>
          <a:p>
            <a:pPr lvl="1">
              <a:buFont typeface="Arial" panose="020B0604020202020204" pitchFamily="34" charset="0"/>
              <a:buAutoNum type="arabicPeriod"/>
            </a:pPr>
            <a:r>
              <a:rPr lang="en-US" altLang="en-US" sz="2000" dirty="0"/>
              <a:t>How each core decides which hardware thread to run on the physical core.</a:t>
            </a:r>
            <a:br>
              <a:rPr lang="en-US" altLang="en-US" sz="2000" dirty="0"/>
            </a:br>
            <a:br>
              <a:rPr lang="en-US" altLang="en-US" sz="2000" dirty="0"/>
            </a:br>
            <a:br>
              <a:rPr lang="en-US" altLang="en-US" sz="2000" dirty="0"/>
            </a:br>
            <a:endParaRPr lang="en-US" altLang="en-US" sz="2000"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452562"/>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296000" y="257911"/>
            <a:ext cx="6941415" cy="539262"/>
          </a:xfrm>
        </p:spPr>
        <p:txBody>
          <a:bodyPr/>
          <a:lstStyle/>
          <a:p>
            <a:pPr eaLnBrk="1" hangingPunct="1"/>
            <a:r>
              <a:rPr lang="en-US" altLang="en-US" dirty="0"/>
              <a:t>Multiple-Processor Scheduling (1)</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693091" cy="3095311"/>
          </a:xfrm>
        </p:spPr>
        <p:txBody>
          <a:bodyPr/>
          <a:lstStyle/>
          <a:p>
            <a:r>
              <a:rPr lang="en-US" altLang="en-US" sz="2000" dirty="0"/>
              <a:t>In SMP, it needs to keep all CPUs loaded for efficiency</a:t>
            </a:r>
          </a:p>
          <a:p>
            <a:pPr lvl="1"/>
            <a:r>
              <a:rPr lang="en-US" altLang="en-US" sz="2000" b="1" dirty="0">
                <a:solidFill>
                  <a:srgbClr val="006699"/>
                </a:solidFill>
                <a:latin typeface="+mj-lt"/>
              </a:rPr>
              <a:t>Load</a:t>
            </a:r>
            <a:r>
              <a:rPr lang="en-US" altLang="en-US" sz="2000" b="1" dirty="0">
                <a:solidFill>
                  <a:srgbClr val="3366FF"/>
                </a:solidFill>
              </a:rPr>
              <a:t> </a:t>
            </a:r>
            <a:r>
              <a:rPr lang="en-US" altLang="en-US" sz="2000" b="1" dirty="0">
                <a:solidFill>
                  <a:srgbClr val="006699"/>
                </a:solidFill>
                <a:latin typeface="+mj-lt"/>
              </a:rPr>
              <a:t>balancing</a:t>
            </a:r>
            <a:r>
              <a:rPr lang="en-US" altLang="en-US" sz="2000" b="1" dirty="0">
                <a:solidFill>
                  <a:srgbClr val="3366FF"/>
                </a:solidFill>
              </a:rPr>
              <a:t> </a:t>
            </a:r>
            <a:r>
              <a:rPr lang="en-US" altLang="en-US" sz="2000" dirty="0"/>
              <a:t>attempts to keep workload evenly distributed</a:t>
            </a:r>
          </a:p>
          <a:p>
            <a:pPr lvl="1"/>
            <a:r>
              <a:rPr lang="en-US" altLang="en-US" sz="2000" b="1" dirty="0">
                <a:solidFill>
                  <a:srgbClr val="006699"/>
                </a:solidFill>
                <a:latin typeface="+mj-lt"/>
              </a:rPr>
              <a:t>Push</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periodic task checks load on each processor, and if found pushes task from overloaded CPU to other CPUs</a:t>
            </a:r>
            <a:endParaRPr lang="en-US" altLang="en-US" sz="2000" b="1" dirty="0">
              <a:solidFill>
                <a:srgbClr val="3366FF"/>
              </a:solidFill>
            </a:endParaRPr>
          </a:p>
          <a:p>
            <a:pPr lvl="1"/>
            <a:r>
              <a:rPr lang="en-US" altLang="en-US" sz="2000" b="1" dirty="0">
                <a:solidFill>
                  <a:srgbClr val="006699"/>
                </a:solidFill>
                <a:latin typeface="+mj-lt"/>
              </a:rPr>
              <a:t>Pull</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idle processors pulls waiting task from busy processor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1570892" y="290732"/>
            <a:ext cx="6788308" cy="535832"/>
          </a:xfrm>
        </p:spPr>
        <p:txBody>
          <a:bodyPr/>
          <a:lstStyle/>
          <a:p>
            <a:pPr eaLnBrk="1" hangingPunct="1"/>
            <a:r>
              <a:rPr lang="en-US" altLang="en-US" dirty="0"/>
              <a:t>Multiple-Processor Scheduling (2)</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sz="2000" dirty="0"/>
              <a:t>When a thread has been running on one processor, the cache contents of that processor stores the memory accesses by that thread.</a:t>
            </a:r>
          </a:p>
          <a:p>
            <a:r>
              <a:rPr lang="en-US" altLang="en-US" sz="2000" dirty="0"/>
              <a:t>We refer to this as a thread having affinity for a processor (i.e., “processor affinity”)</a:t>
            </a:r>
          </a:p>
          <a:p>
            <a:r>
              <a:rPr lang="en-US" altLang="en-US" sz="2000" dirty="0"/>
              <a:t>Load balancing may affect processor affinity as a thread may be moved from one processor to another to balance loads, yet that thread loses the contents of what it had in the cache of the processor it was moved off of.</a:t>
            </a:r>
          </a:p>
          <a:p>
            <a:r>
              <a:rPr lang="en-US" altLang="en-US" sz="2000" b="1" dirty="0"/>
              <a:t>Soft affinity </a:t>
            </a:r>
            <a:r>
              <a:rPr lang="en-US" altLang="en-US" sz="2000" dirty="0"/>
              <a:t>– the operating system attempts to keep a thread running on the same processor, but no guarantees.</a:t>
            </a:r>
          </a:p>
          <a:p>
            <a:r>
              <a:rPr lang="en-US" altLang="en-US" sz="2000" b="1" dirty="0"/>
              <a:t>Hard affinity </a:t>
            </a:r>
            <a:r>
              <a:rPr lang="en-US" altLang="en-US" sz="2000" dirty="0"/>
              <a:t>– allows a process to specify a set of processors it may run 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044737" y="968127"/>
            <a:ext cx="75676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342900" indent="-342900">
              <a:spcBef>
                <a:spcPct val="0"/>
              </a:spcBef>
              <a:buClr>
                <a:srgbClr val="CC6600"/>
              </a:buClr>
              <a:buSzTx/>
              <a:buFont typeface="Wingdings" panose="05000000000000000000" pitchFamily="2" charset="2"/>
              <a:buChar char="n"/>
            </a:pPr>
            <a:r>
              <a:rPr kumimoji="0" lang="en-US" altLang="en-US" sz="2000" dirty="0">
                <a:latin typeface="+mn-lt"/>
              </a:rPr>
              <a:t>If the operating system is </a:t>
            </a:r>
            <a:r>
              <a:rPr kumimoji="0" lang="en-US" altLang="en-US" sz="2000" b="1" dirty="0">
                <a:latin typeface="+mn-lt"/>
              </a:rPr>
              <a:t>NUMA-aware</a:t>
            </a:r>
            <a:r>
              <a:rPr kumimoji="0" lang="en-US" altLang="en-US" sz="2000" dirty="0">
                <a:latin typeface="+mn-lt"/>
              </a:rPr>
              <a:t>, it will assign memory closes to the CPU the thread is running 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226947"/>
            <a:ext cx="7821612" cy="576262"/>
          </a:xfrm>
        </p:spPr>
        <p:txBody>
          <a:bodyPr/>
          <a:lstStyle/>
          <a:p>
            <a:pPr eaLnBrk="1" hangingPunct="1"/>
            <a:r>
              <a:rPr lang="en-US" altLang="en-US" dirty="0"/>
              <a:t>Real-Time CPU Scheduling (1)</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06450" y="1005841"/>
            <a:ext cx="7740391" cy="2423160"/>
          </a:xfrm>
        </p:spPr>
        <p:txBody>
          <a:bodyPr/>
          <a:lstStyle/>
          <a:p>
            <a:r>
              <a:rPr lang="en-US" altLang="en-US" sz="2000" dirty="0"/>
              <a:t>Can present obvious challenges</a:t>
            </a:r>
          </a:p>
          <a:p>
            <a:r>
              <a:rPr lang="en-US" altLang="en-US" sz="2000" b="1" dirty="0">
                <a:solidFill>
                  <a:srgbClr val="006699"/>
                </a:solidFill>
                <a:latin typeface="+mj-lt"/>
              </a:rPr>
              <a:t>Soft real-time systems </a:t>
            </a:r>
            <a:r>
              <a:rPr lang="en-US" altLang="en-US" sz="2000" dirty="0"/>
              <a:t>– Critical real-time tasks have the highest priority, but no guarantee as to when tasks will be scheduled</a:t>
            </a:r>
          </a:p>
          <a:p>
            <a:r>
              <a:rPr lang="en-US" altLang="en-US" sz="2000" b="1" dirty="0">
                <a:solidFill>
                  <a:srgbClr val="006699"/>
                </a:solidFill>
                <a:latin typeface="+mj-lt"/>
              </a:rPr>
              <a:t>Hard real-time systems – task must be serviced by its deadline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06450" y="235427"/>
            <a:ext cx="7821612" cy="576262"/>
          </a:xfrm>
        </p:spPr>
        <p:txBody>
          <a:bodyPr/>
          <a:lstStyle/>
          <a:p>
            <a:pPr eaLnBrk="1" hangingPunct="1"/>
            <a:r>
              <a:rPr lang="en-US" altLang="en-US" dirty="0"/>
              <a:t>Real-Time CPU Scheduling (2)</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06450" y="1097280"/>
            <a:ext cx="4044950" cy="4585653"/>
          </a:xfrm>
        </p:spPr>
        <p:txBody>
          <a:bodyPr/>
          <a:lstStyle/>
          <a:p>
            <a:r>
              <a:rPr lang="en-US" altLang="en-US" sz="2000" dirty="0"/>
              <a:t>Event latency – the amount of time that elapses from when an event occurs to when it is serviced.</a:t>
            </a:r>
          </a:p>
          <a:p>
            <a:r>
              <a:rPr lang="en-US" altLang="en-US" sz="2000" dirty="0"/>
              <a:t>Two types of latencies affect performance</a:t>
            </a:r>
          </a:p>
          <a:p>
            <a:pPr lvl="1">
              <a:buFont typeface="Arial" panose="020B0604020202020204" pitchFamily="34" charset="0"/>
              <a:buAutoNum type="arabicPeriod"/>
            </a:pPr>
            <a:r>
              <a:rPr lang="en-US" altLang="en-US" sz="2000" dirty="0"/>
              <a:t> </a:t>
            </a:r>
            <a:r>
              <a:rPr lang="en-US" altLang="en-US" sz="2000" b="1" dirty="0"/>
              <a:t>Interrupt latency </a:t>
            </a:r>
            <a:r>
              <a:rPr lang="en-US" altLang="en-US" sz="2000" dirty="0"/>
              <a:t>– time from arrival of interrupt to start of routine that services interrupt</a:t>
            </a:r>
          </a:p>
          <a:p>
            <a:pPr lvl="1">
              <a:buFont typeface="Arial" panose="020B0604020202020204" pitchFamily="34" charset="0"/>
              <a:buAutoNum type="arabicPeriod"/>
            </a:pPr>
            <a:r>
              <a:rPr lang="en-US" altLang="en-US" sz="2000" dirty="0"/>
              <a:t> </a:t>
            </a:r>
            <a:r>
              <a:rPr lang="en-US" altLang="en-US" sz="2000" b="1" dirty="0"/>
              <a:t>Dispatch latency </a:t>
            </a:r>
            <a:r>
              <a:rPr lang="en-US" altLang="en-US" sz="2000" dirty="0"/>
              <a:t>– time for schedule to take current process off CPU and switch to another</a:t>
            </a:r>
          </a:p>
          <a:p>
            <a:endParaRPr lang="en-US" altLang="en-US" sz="2000" dirty="0"/>
          </a:p>
          <a:p>
            <a:pPr lvl="1">
              <a:buFont typeface="Monotype Sorts" pitchFamily="-84" charset="2"/>
              <a:buNone/>
            </a:pPr>
            <a:r>
              <a:rPr lang="en-US" altLang="en-US" sz="2000" dirty="0"/>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2520000" y="172800"/>
            <a:ext cx="4608000" cy="576262"/>
          </a:xfrm>
        </p:spPr>
        <p:txBody>
          <a:bodyPr/>
          <a:lstStyle/>
          <a:p>
            <a:br>
              <a:rPr lang="en-US" altLang="en-US" dirty="0"/>
            </a:br>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1800" y="995680"/>
            <a:ext cx="5759030" cy="5437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98587"/>
            <a:ext cx="7821613" cy="576263"/>
          </a:xfrm>
        </p:spPr>
        <p:txBody>
          <a:bodyPr/>
          <a:lstStyle/>
          <a:p>
            <a:pPr eaLnBrk="1" hangingPunct="1"/>
            <a:br>
              <a:rPr lang="en-US" altLang="en-US" dirty="0"/>
            </a:br>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561975" y="964247"/>
            <a:ext cx="8020050" cy="1690053"/>
          </a:xfrm>
        </p:spPr>
        <p:txBody>
          <a:bodyPr/>
          <a:lstStyle/>
          <a:p>
            <a:r>
              <a:rPr lang="en-US" altLang="en-US" sz="2000" dirty="0"/>
              <a:t>Conflict phase of dispatch latency:</a:t>
            </a:r>
          </a:p>
          <a:p>
            <a:pPr lvl="1">
              <a:buFont typeface="Arial" panose="020B0604020202020204" pitchFamily="34" charset="0"/>
              <a:buAutoNum type="arabicPeriod"/>
            </a:pPr>
            <a:r>
              <a:rPr lang="en-US" altLang="en-US" sz="2000" dirty="0"/>
              <a:t>Preemption of any process running in kernel mode</a:t>
            </a:r>
          </a:p>
          <a:p>
            <a:pPr lvl="1">
              <a:buFont typeface="Arial" panose="020B0604020202020204" pitchFamily="34" charset="0"/>
              <a:buAutoNum type="arabicPeriod"/>
            </a:pPr>
            <a:r>
              <a:rPr lang="en-US" altLang="en-US" sz="2000" dirty="0"/>
              <a:t>Release by low-priority process of resources needed by high-priority processes</a:t>
            </a:r>
          </a:p>
          <a:p>
            <a:endParaRPr lang="en-US" altLang="en-US" sz="2000" dirty="0"/>
          </a:p>
          <a:p>
            <a:pPr lvl="1">
              <a:buFont typeface="Monotype Sorts" pitchFamily="-84" charset="2"/>
              <a:buNone/>
            </a:pPr>
            <a:r>
              <a:rPr lang="en-US" altLang="en-US" sz="2000"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40768" y="2564606"/>
            <a:ext cx="4997307" cy="3671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65188" y="1028701"/>
            <a:ext cx="7727950" cy="3568700"/>
          </a:xfrm>
        </p:spPr>
        <p:txBody>
          <a:bodyPr/>
          <a:lstStyle/>
          <a:p>
            <a:r>
              <a:rPr lang="en-US" altLang="en-US" sz="2000" dirty="0"/>
              <a:t>For real-time scheduling, scheduler must support preemptive, priority-based scheduling</a:t>
            </a:r>
          </a:p>
          <a:p>
            <a:pPr lvl="1"/>
            <a:r>
              <a:rPr lang="en-US" altLang="en-US" sz="2000" dirty="0"/>
              <a:t>But only guarantees soft real-time</a:t>
            </a:r>
          </a:p>
          <a:p>
            <a:r>
              <a:rPr lang="en-US" altLang="en-US" sz="2000" dirty="0"/>
              <a:t>For hard real-time must also provide ability to meet deadlines</a:t>
            </a:r>
          </a:p>
          <a:p>
            <a:r>
              <a:rPr lang="en-US" altLang="en-US" sz="2000" dirty="0"/>
              <a:t>Processes have new characteristics: </a:t>
            </a:r>
            <a:r>
              <a:rPr lang="en-US" altLang="en-US" sz="2000" b="1" dirty="0">
                <a:solidFill>
                  <a:srgbClr val="006699"/>
                </a:solidFill>
                <a:latin typeface="+mj-lt"/>
              </a:rPr>
              <a:t>periodic</a:t>
            </a:r>
            <a:r>
              <a:rPr lang="en-US" altLang="en-US" sz="2000" dirty="0"/>
              <a:t> ones require CPU at constant intervals</a:t>
            </a:r>
          </a:p>
          <a:p>
            <a:pPr lvl="1"/>
            <a:r>
              <a:rPr lang="en-US" altLang="en-US" sz="2000" dirty="0"/>
              <a:t>Has processing time </a:t>
            </a:r>
            <a:r>
              <a:rPr lang="en-US" altLang="en-US" sz="2000" i="1" dirty="0"/>
              <a:t>t</a:t>
            </a:r>
            <a:r>
              <a:rPr lang="en-US" altLang="en-US" sz="2000" dirty="0"/>
              <a:t>, deadline </a:t>
            </a:r>
            <a:r>
              <a:rPr lang="en-US" altLang="en-US" sz="2000" i="1" dirty="0"/>
              <a:t>d, </a:t>
            </a:r>
            <a:r>
              <a:rPr lang="en-US" altLang="en-US" sz="2000" dirty="0"/>
              <a:t>period </a:t>
            </a:r>
            <a:r>
              <a:rPr lang="en-US" altLang="en-US" sz="2000" i="1" dirty="0"/>
              <a:t>p</a:t>
            </a:r>
          </a:p>
          <a:p>
            <a:pPr lvl="1"/>
            <a:r>
              <a:rPr lang="en-US" altLang="en-US" sz="2000" dirty="0"/>
              <a:t>0 ≤ </a:t>
            </a:r>
            <a:r>
              <a:rPr lang="en-US" altLang="en-US" sz="2000" i="1" dirty="0"/>
              <a:t>t</a:t>
            </a:r>
            <a:r>
              <a:rPr lang="en-US" altLang="en-US" sz="2000" dirty="0"/>
              <a:t> ≤ </a:t>
            </a:r>
            <a:r>
              <a:rPr lang="en-US" altLang="en-US" sz="2000" i="1" dirty="0"/>
              <a:t>d</a:t>
            </a:r>
            <a:r>
              <a:rPr lang="en-US" altLang="en-US" sz="2000" dirty="0"/>
              <a:t> ≤ </a:t>
            </a:r>
            <a:r>
              <a:rPr lang="en-US" altLang="en-US" sz="2000" i="1" dirty="0"/>
              <a:t>p</a:t>
            </a:r>
          </a:p>
          <a:p>
            <a:pPr lvl="1"/>
            <a:r>
              <a:rPr lang="en-US" altLang="en-US" sz="2000" b="1" dirty="0">
                <a:solidFill>
                  <a:srgbClr val="006699"/>
                </a:solidFill>
                <a:latin typeface="+mj-lt"/>
              </a:rPr>
              <a:t>Rate</a:t>
            </a:r>
            <a:r>
              <a:rPr lang="en-US" altLang="en-US" sz="2000" dirty="0"/>
              <a:t> of periodic task is 1/</a:t>
            </a:r>
            <a:r>
              <a:rPr lang="en-US" altLang="en-US" sz="2000" i="1" dirty="0"/>
              <a:t>p</a:t>
            </a:r>
            <a:endParaRPr lang="en-US" altLang="en-US" sz="2000" dirty="0"/>
          </a:p>
          <a:p>
            <a:endParaRPr lang="en-US" altLang="en-US" sz="2000" dirty="0"/>
          </a:p>
          <a:p>
            <a:pPr lvl="1">
              <a:buFont typeface="Monotype Sorts" pitchFamily="-84" charset="2"/>
              <a:buNone/>
            </a:pPr>
            <a:r>
              <a:rPr lang="en-US" altLang="en-US" sz="2000"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46667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2333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1729358"/>
          </a:xfrm>
        </p:spPr>
        <p:txBody>
          <a:bodyPr/>
          <a:lstStyle/>
          <a:p>
            <a:r>
              <a:rPr lang="en-US" altLang="en-US" sz="2000" dirty="0"/>
              <a:t>A priority is assigned based on the inverse of its period</a:t>
            </a:r>
          </a:p>
          <a:p>
            <a:r>
              <a:rPr lang="en-US" altLang="en-US" sz="2000" dirty="0"/>
              <a:t>Shorter periods = higher priority;</a:t>
            </a:r>
          </a:p>
          <a:p>
            <a:r>
              <a:rPr lang="en-US" altLang="en-US" sz="2000" dirty="0"/>
              <a:t>Longer periods = lower priority</a:t>
            </a:r>
          </a:p>
          <a:p>
            <a:r>
              <a:rPr lang="en-US" altLang="en-US" sz="2000" dirty="0"/>
              <a:t>P</a:t>
            </a:r>
            <a:r>
              <a:rPr lang="en-US" altLang="en-US" sz="2000" baseline="-25000" dirty="0"/>
              <a:t>1</a:t>
            </a:r>
            <a:r>
              <a:rPr lang="en-US" altLang="en-US" sz="2000" dirty="0"/>
              <a:t> is assigned a higher priority than P</a:t>
            </a:r>
            <a:r>
              <a:rPr lang="en-US" altLang="en-US" sz="2000" baseline="-25000" dirty="0"/>
              <a:t>2</a:t>
            </a:r>
            <a:r>
              <a:rPr lang="en-US" altLang="en-US" sz="2000" dirty="0"/>
              <a:t>.</a:t>
            </a:r>
            <a:br>
              <a:rPr lang="en-US" altLang="en-US" sz="2000" dirty="0"/>
            </a:br>
            <a:endParaRPr lang="en-US" altLang="en-US" sz="2000"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8720" y="30990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417600" y="214278"/>
            <a:ext cx="8377440" cy="576262"/>
          </a:xfrm>
        </p:spPr>
        <p:txBody>
          <a:bodyPr/>
          <a:lstStyle/>
          <a:p>
            <a:pPr eaLnBrk="1" hangingPunct="1"/>
            <a:r>
              <a:rPr lang="en-US" altLang="en-US" sz="2600"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789305"/>
          </a:xfrm>
        </p:spPr>
        <p:txBody>
          <a:bodyPr/>
          <a:lstStyle/>
          <a:p>
            <a:r>
              <a:rPr kumimoji="0" lang="en-US" altLang="en-US" sz="2000" dirty="0"/>
              <a:t>Process </a:t>
            </a:r>
            <a:r>
              <a:rPr lang="en-US" altLang="en-US" sz="2000" dirty="0"/>
              <a:t>P</a:t>
            </a:r>
            <a:r>
              <a:rPr lang="en-US" altLang="en-US" sz="2000" baseline="-25000" dirty="0"/>
              <a:t>2</a:t>
            </a:r>
            <a:r>
              <a:rPr kumimoji="0" lang="en-US" altLang="en-US" sz="2000" dirty="0"/>
              <a:t> misses finishing its deadline at time 80</a:t>
            </a:r>
          </a:p>
          <a:p>
            <a:r>
              <a:rPr lang="en-US" altLang="en-US" sz="2000" dirty="0"/>
              <a:t>Figure</a:t>
            </a:r>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2540" y="1998587"/>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1111120" y="222720"/>
            <a:ext cx="7729220" cy="571412"/>
          </a:xfrm>
        </p:spPr>
        <p:txBody>
          <a:bodyPr/>
          <a:lstStyle/>
          <a:p>
            <a:pPr eaLnBrk="1" hangingPunct="1"/>
            <a:r>
              <a:rPr lang="en-US" altLang="en-US" sz="2800"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1143000"/>
            <a:ext cx="7432125" cy="4483100"/>
          </a:xfrm>
        </p:spPr>
        <p:txBody>
          <a:bodyPr/>
          <a:lstStyle/>
          <a:p>
            <a:r>
              <a:rPr lang="en-US" altLang="en-US" sz="2000" dirty="0"/>
              <a:t>Priorities are assigned according to deadlines:</a:t>
            </a:r>
          </a:p>
          <a:p>
            <a:pPr lvl="1"/>
            <a:r>
              <a:rPr lang="en-US" altLang="en-US" sz="2000" dirty="0"/>
              <a:t>The earlier the deadline, the higher the priority</a:t>
            </a:r>
          </a:p>
          <a:p>
            <a:pPr lvl="1"/>
            <a:r>
              <a:rPr lang="en-US" altLang="en-US" sz="2000" dirty="0"/>
              <a:t>The later the deadline, the lower the priority</a:t>
            </a:r>
          </a:p>
          <a:p>
            <a:r>
              <a:rPr lang="en-US" altLang="en-US" sz="2000" dirty="0"/>
              <a:t>Figure</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Take a Break</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13438</TotalTime>
  <Words>1429</Words>
  <Application>Microsoft Office PowerPoint</Application>
  <PresentationFormat>全屏显示(4:3)</PresentationFormat>
  <Paragraphs>178</Paragraphs>
  <Slides>28</Slides>
  <Notes>23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Monotype Sorts</vt:lpstr>
      <vt:lpstr>Arial</vt:lpstr>
      <vt:lpstr>Courier New</vt:lpstr>
      <vt:lpstr>Helvetica</vt:lpstr>
      <vt:lpstr>Times New Roman</vt:lpstr>
      <vt:lpstr>Verdana</vt:lpstr>
      <vt:lpstr>Webdings</vt:lpstr>
      <vt:lpstr>Wingdings</vt:lpstr>
      <vt:lpstr>os-8</vt:lpstr>
      <vt:lpstr>Chapter 5 CPU Scheduling (2)</vt:lpstr>
      <vt:lpstr>Multilevel Queue</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 (1)</vt:lpstr>
      <vt:lpstr>Multiple-Processor Scheduling (2)</vt:lpstr>
      <vt:lpstr>Multicore Processors</vt:lpstr>
      <vt:lpstr>Multithreaded Multicore System (1)</vt:lpstr>
      <vt:lpstr>Multithreaded Multicore System (2)</vt:lpstr>
      <vt:lpstr>Multithreaded Multicore System (3)</vt:lpstr>
      <vt:lpstr>Multiple-Processor Scheduling (1)</vt:lpstr>
      <vt:lpstr>Multiple-Processor Scheduling (2)</vt:lpstr>
      <vt:lpstr>NUMA and CPU Scheduling</vt:lpstr>
      <vt:lpstr>Real-Time CPU Scheduling (1)</vt:lpstr>
      <vt:lpstr>Real-Time CPU Scheduling (2)</vt:lpstr>
      <vt:lpstr> Interrupt Latency</vt:lpstr>
      <vt:lpstr> Dispatch Latency</vt:lpstr>
      <vt:lpstr>Priority-based Scheduling</vt:lpstr>
      <vt:lpstr>Rate Monotonic Scheduling</vt:lpstr>
      <vt:lpstr>Missed Deadlines with Rate Monotonic Scheduling</vt:lpstr>
      <vt:lpstr>Earliest Deadline First Scheduling (EDF)</vt:lpstr>
      <vt:lpstr>Take a Break</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280</cp:revision>
  <cp:lastPrinted>2013-09-10T17:57:57Z</cp:lastPrinted>
  <dcterms:created xsi:type="dcterms:W3CDTF">2011-01-13T23:43:38Z</dcterms:created>
  <dcterms:modified xsi:type="dcterms:W3CDTF">2025-10-23T01:24:19Z</dcterms:modified>
</cp:coreProperties>
</file>