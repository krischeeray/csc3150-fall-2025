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6"/>
  </p:notesMasterIdLst>
  <p:handoutMasterIdLst>
    <p:handoutMasterId r:id="rId37"/>
  </p:handoutMasterIdLst>
  <p:sldIdLst>
    <p:sldId id="331" r:id="rId2"/>
    <p:sldId id="371" r:id="rId3"/>
    <p:sldId id="372" r:id="rId4"/>
    <p:sldId id="373" r:id="rId5"/>
    <p:sldId id="374" r:id="rId6"/>
    <p:sldId id="375" r:id="rId7"/>
    <p:sldId id="376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401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395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56" d="100"/>
          <a:sy n="56" d="100"/>
        </p:scale>
        <p:origin x="1560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</a:t>
            </a:r>
            <a:br>
              <a:rPr lang="en-US" altLang="en-US"/>
            </a:br>
            <a:r>
              <a:rPr lang="en-US" altLang="en-US"/>
              <a:t>Main Memory (2)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sz="2000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sz="2000" dirty="0"/>
              <a:t>Can also add more bits to indicate page execute-only, and so 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bit attached to each entry in the page table:</a:t>
            </a:r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valid</a:t>
            </a:r>
            <a:r>
              <a:rPr lang="ja-JP" altLang="en-US" sz="2000" dirty="0"/>
              <a:t>”</a:t>
            </a:r>
            <a:r>
              <a:rPr lang="en-US" altLang="ja-JP" sz="2000" dirty="0"/>
              <a:t> indicates that the associated page is in the process</a:t>
            </a:r>
            <a:r>
              <a:rPr lang="ja-JP" altLang="en-US" sz="2000" dirty="0"/>
              <a:t>’</a:t>
            </a:r>
            <a:r>
              <a:rPr lang="en-US" altLang="ja-JP" sz="2000" dirty="0"/>
              <a:t> logical address space, and is thus a legal page</a:t>
            </a:r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invalid</a:t>
            </a:r>
            <a:r>
              <a:rPr lang="ja-JP" altLang="en-US" sz="2000" dirty="0"/>
              <a:t>”</a:t>
            </a:r>
            <a:r>
              <a:rPr lang="en-US" altLang="ja-JP" sz="2000" dirty="0"/>
              <a:t> indicates that the page is not in the process</a:t>
            </a:r>
            <a:r>
              <a:rPr lang="ja-JP" altLang="en-US" sz="2000" dirty="0"/>
              <a:t>’</a:t>
            </a:r>
            <a:r>
              <a:rPr lang="en-US" altLang="ja-JP" sz="2000" dirty="0"/>
              <a:t> logical address space</a:t>
            </a:r>
          </a:p>
          <a:p>
            <a:pPr lvl="1"/>
            <a:r>
              <a:rPr lang="en-US" altLang="en-US" sz="2000" dirty="0"/>
              <a:t>Or use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sz="2000" dirty="0"/>
              <a:t>)</a:t>
            </a:r>
          </a:p>
          <a:p>
            <a:r>
              <a:rPr lang="en-US" altLang="en-US" sz="2000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1540" y="213007"/>
            <a:ext cx="7873048" cy="64424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630" y="955357"/>
            <a:ext cx="6144260" cy="533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sz="2000" dirty="0"/>
              <a:t>One copy of read-only 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sz="2000" dirty="0"/>
              <a:t>) code shared among processes (i.e., text editors, compilers, window systems)</a:t>
            </a:r>
          </a:p>
          <a:p>
            <a:pPr lvl="1"/>
            <a:r>
              <a:rPr lang="en-US" altLang="en-US" sz="2000" dirty="0"/>
              <a:t>Similar to multiple threads sharing the same process space</a:t>
            </a:r>
          </a:p>
          <a:p>
            <a:pPr lvl="1"/>
            <a:r>
              <a:rPr lang="en-US" altLang="en-US" sz="2000" dirty="0"/>
              <a:t>Also useful for interprocess communication if sharing of read-write pages is allowed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sz="2000" dirty="0"/>
              <a:t>Each process keeps a separate copy of the code and data</a:t>
            </a:r>
          </a:p>
          <a:p>
            <a:pPr lvl="1"/>
            <a:r>
              <a:rPr lang="en-US" altLang="en-US" sz="2000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2" y="1212849"/>
            <a:ext cx="4803457" cy="5235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8612" y="918528"/>
            <a:ext cx="8091688" cy="5139372"/>
          </a:xfrm>
        </p:spPr>
        <p:txBody>
          <a:bodyPr/>
          <a:lstStyle/>
          <a:p>
            <a:r>
              <a:rPr lang="en-US" altLang="en-US" sz="2000" dirty="0"/>
              <a:t>Memory structures for paging can get huge using straight-forward methods</a:t>
            </a:r>
          </a:p>
          <a:p>
            <a:pPr lvl="1"/>
            <a:r>
              <a:rPr lang="en-US" altLang="en-US" sz="2000" dirty="0"/>
              <a:t>Consider a 32-bit logical address space as on modern computers</a:t>
            </a:r>
          </a:p>
          <a:p>
            <a:pPr lvl="1"/>
            <a:r>
              <a:rPr lang="en-US" altLang="en-US" sz="2000" dirty="0"/>
              <a:t>Page size of 4 KB (2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000" dirty="0"/>
              <a:t>Page table would have 1 million entries (2</a:t>
            </a:r>
            <a:r>
              <a:rPr lang="en-US" altLang="en-US" sz="2000" baseline="30000" dirty="0"/>
              <a:t>32</a:t>
            </a:r>
            <a:r>
              <a:rPr lang="en-US" altLang="en-US" sz="2000" dirty="0"/>
              <a:t> / 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000" dirty="0"/>
              <a:t>If each entry is 4 bytes </a:t>
            </a:r>
            <a:r>
              <a:rPr lang="en-US" altLang="en-US" sz="2000" dirty="0">
                <a:sym typeface="Wingdings" panose="05000000000000000000" pitchFamily="2" charset="2"/>
              </a:rPr>
              <a:t></a:t>
            </a:r>
            <a:r>
              <a:rPr lang="en-US" altLang="en-US" sz="2000" dirty="0"/>
              <a:t> each process 4 MB of physical address space for the  page table alone</a:t>
            </a:r>
          </a:p>
          <a:p>
            <a:pPr lvl="2"/>
            <a:r>
              <a:rPr lang="en-US" altLang="en-US" sz="2000" dirty="0"/>
              <a:t>Don</a:t>
            </a:r>
            <a:r>
              <a:rPr lang="ja-JP" altLang="en-US" sz="2000" dirty="0"/>
              <a:t>’</a:t>
            </a:r>
            <a:r>
              <a:rPr lang="en-US" altLang="ja-JP" sz="2000" dirty="0"/>
              <a:t>t want to allocate that contiguously in main memory</a:t>
            </a:r>
          </a:p>
          <a:p>
            <a:pPr lvl="1"/>
            <a:r>
              <a:rPr lang="en-US" altLang="en-US" sz="2000" dirty="0"/>
              <a:t>One simple solution is to divide the page table into smaller units</a:t>
            </a:r>
          </a:p>
          <a:p>
            <a:pPr lvl="2"/>
            <a:r>
              <a:rPr lang="en-US" altLang="en-US" sz="2000" dirty="0"/>
              <a:t>Hierarchical Paging</a:t>
            </a:r>
          </a:p>
          <a:p>
            <a:pPr lvl="2"/>
            <a:r>
              <a:rPr lang="en-US" altLang="en-US" sz="2000" dirty="0"/>
              <a:t>Hashed Page Tables</a:t>
            </a:r>
          </a:p>
          <a:p>
            <a:pPr lvl="2"/>
            <a:r>
              <a:rPr lang="en-US" altLang="en-US" sz="2000" dirty="0"/>
              <a:t>Inverted Page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2946" y="970077"/>
            <a:ext cx="7489858" cy="1244600"/>
          </a:xfrm>
        </p:spPr>
        <p:txBody>
          <a:bodyPr/>
          <a:lstStyle/>
          <a:p>
            <a:r>
              <a:rPr lang="en-US" altLang="en-US" sz="2000" dirty="0"/>
              <a:t>Break up the logical address space into multiple page tables</a:t>
            </a:r>
          </a:p>
          <a:p>
            <a:r>
              <a:rPr lang="en-US" altLang="en-US" sz="2000" dirty="0"/>
              <a:t>A simple technique is a two-level page table</a:t>
            </a:r>
          </a:p>
          <a:p>
            <a:r>
              <a:rPr lang="en-US" altLang="en-US" sz="2000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770" y="2376488"/>
            <a:ext cx="3818255" cy="4038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5675" y="948691"/>
            <a:ext cx="7679093" cy="5486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a page number consisting of 20 bits</a:t>
            </a:r>
          </a:p>
          <a:p>
            <a:pPr marL="627063"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a page offset consisting of 12 bits</a:t>
            </a:r>
          </a:p>
          <a:p>
            <a:pPr marL="627063" lvl="1">
              <a:lnSpc>
                <a:spcPct val="90000"/>
              </a:lnSpc>
              <a:spcBef>
                <a:spcPts val="0"/>
              </a:spcBef>
            </a:pPr>
            <a:endParaRPr lang="en-US" altLang="en-US" sz="2000"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a 10-bit page number </a:t>
            </a:r>
          </a:p>
          <a:p>
            <a:pPr marL="627063"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a 10-bit page offset</a:t>
            </a:r>
          </a:p>
          <a:p>
            <a:pPr marL="627063" lvl="1">
              <a:lnSpc>
                <a:spcPct val="90000"/>
              </a:lnSpc>
              <a:spcBef>
                <a:spcPts val="0"/>
              </a:spcBef>
            </a:pPr>
            <a:endParaRPr lang="en-US" altLang="en-US" sz="2000"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Thus, a logical address is as follows: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where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 is an index into the outer page table, and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is the displacement within the page of the inner page table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/>
              <a:t>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845" y="422656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125" y="885030"/>
            <a:ext cx="7799050" cy="5550059"/>
          </a:xfrm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en-US" altLang="en-US" sz="2000" dirty="0"/>
              <a:t>Even two-level paging scheme not sufficient</a:t>
            </a:r>
          </a:p>
          <a:p>
            <a:pPr>
              <a:spcBef>
                <a:spcPts val="600"/>
              </a:spcBef>
              <a:defRPr/>
            </a:pPr>
            <a:r>
              <a:rPr lang="en-US" altLang="en-US" sz="2000" dirty="0"/>
              <a:t>If page size is 4 KB (2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</a:p>
          <a:p>
            <a:pPr lvl="1">
              <a:spcBef>
                <a:spcPts val="600"/>
              </a:spcBef>
              <a:defRPr/>
            </a:pPr>
            <a:r>
              <a:rPr lang="en-US" altLang="en-US" sz="2000" dirty="0"/>
              <a:t>Then page table has 2</a:t>
            </a:r>
            <a:r>
              <a:rPr lang="en-US" altLang="en-US" sz="2000" baseline="30000" dirty="0"/>
              <a:t>52</a:t>
            </a:r>
            <a:r>
              <a:rPr lang="en-US" altLang="en-US" sz="2000" dirty="0"/>
              <a:t> entries</a:t>
            </a:r>
          </a:p>
          <a:p>
            <a:pPr lvl="1">
              <a:spcBef>
                <a:spcPts val="600"/>
              </a:spcBef>
              <a:defRPr/>
            </a:pPr>
            <a:r>
              <a:rPr lang="en-US" altLang="en-US" sz="2000" dirty="0"/>
              <a:t>If two level scheme, inner page tables could be 2</a:t>
            </a:r>
            <a:r>
              <a:rPr lang="en-US" altLang="en-US" sz="2000" baseline="30000" dirty="0"/>
              <a:t>10</a:t>
            </a:r>
            <a:r>
              <a:rPr lang="en-US" altLang="en-US" sz="2000" dirty="0"/>
              <a:t> 4-byte entries</a:t>
            </a:r>
          </a:p>
          <a:p>
            <a:pPr lvl="1">
              <a:spcBef>
                <a:spcPts val="600"/>
              </a:spcBef>
              <a:defRPr/>
            </a:pPr>
            <a:r>
              <a:rPr lang="en-US" altLang="en-US" sz="2000" dirty="0"/>
              <a:t>Address would look like</a:t>
            </a:r>
          </a:p>
          <a:p>
            <a:pPr lvl="1">
              <a:spcBef>
                <a:spcPts val="600"/>
              </a:spcBef>
              <a:defRPr/>
            </a:pPr>
            <a:endParaRPr lang="en-US" altLang="en-US" sz="2000" dirty="0"/>
          </a:p>
          <a:p>
            <a:pPr lvl="1">
              <a:spcBef>
                <a:spcPts val="600"/>
              </a:spcBef>
              <a:defRPr/>
            </a:pPr>
            <a:endParaRPr lang="en-US" altLang="en-US" sz="2000" dirty="0"/>
          </a:p>
          <a:p>
            <a:pPr marL="457200" lvl="1" indent="0">
              <a:spcBef>
                <a:spcPts val="600"/>
              </a:spcBef>
              <a:buFont typeface="Monotype Sorts" pitchFamily="-84" charset="2"/>
              <a:buNone/>
              <a:defRPr/>
            </a:pPr>
            <a:endParaRPr lang="en-US" altLang="en-US" sz="2000" dirty="0"/>
          </a:p>
          <a:p>
            <a:pPr lvl="1">
              <a:spcBef>
                <a:spcPts val="600"/>
              </a:spcBef>
              <a:defRPr/>
            </a:pPr>
            <a:r>
              <a:rPr lang="en-US" altLang="en-US" sz="2000" dirty="0"/>
              <a:t>Outer page table has 2</a:t>
            </a:r>
            <a:r>
              <a:rPr lang="en-US" altLang="en-US" sz="2000" baseline="30000" dirty="0"/>
              <a:t>42</a:t>
            </a:r>
            <a:r>
              <a:rPr lang="en-US" altLang="en-US" sz="2000" dirty="0"/>
              <a:t> entries or 2</a:t>
            </a:r>
            <a:r>
              <a:rPr lang="en-US" altLang="en-US" sz="2000" baseline="30000" dirty="0"/>
              <a:t>44</a:t>
            </a:r>
            <a:r>
              <a:rPr lang="en-US" altLang="en-US" sz="2000" dirty="0"/>
              <a:t> bytes</a:t>
            </a:r>
          </a:p>
          <a:p>
            <a:pPr lvl="1">
              <a:spcBef>
                <a:spcPts val="600"/>
              </a:spcBef>
              <a:defRPr/>
            </a:pPr>
            <a:r>
              <a:rPr lang="en-US" altLang="en-US" sz="2000" dirty="0"/>
              <a:t>One solution is to add a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outer page table</a:t>
            </a:r>
          </a:p>
          <a:p>
            <a:pPr lvl="1">
              <a:spcBef>
                <a:spcPts val="600"/>
              </a:spcBef>
              <a:defRPr/>
            </a:pPr>
            <a:r>
              <a:rPr lang="en-US" altLang="en-US" sz="2000" dirty="0"/>
              <a:t>But in the following example the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outer page table is still 2</a:t>
            </a:r>
            <a:r>
              <a:rPr lang="en-US" altLang="en-US" sz="2000" baseline="30000" dirty="0"/>
              <a:t>34</a:t>
            </a:r>
            <a:r>
              <a:rPr lang="en-US" altLang="en-US" sz="2000" dirty="0"/>
              <a:t> bytes in size</a:t>
            </a:r>
          </a:p>
          <a:p>
            <a:pPr lvl="2">
              <a:spcBef>
                <a:spcPts val="600"/>
              </a:spcBef>
              <a:defRPr/>
            </a:pPr>
            <a:r>
              <a:rPr lang="en-US" altLang="en-US" sz="2000" dirty="0"/>
              <a:t>And possibly 4 memory access to get to one physical memory location</a:t>
            </a:r>
          </a:p>
          <a:p>
            <a:pPr lvl="1">
              <a:spcBef>
                <a:spcPts val="600"/>
              </a:spcBef>
              <a:defRPr/>
            </a:pPr>
            <a:endParaRPr lang="en-US" altLang="en-US" sz="2000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468" y="3255246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6337A90-7D56-D7A2-24E1-263BD05BBCEF}"/>
              </a:ext>
            </a:extLst>
          </p:cNvPr>
          <p:cNvGrpSpPr/>
          <p:nvPr/>
        </p:nvGrpSpPr>
        <p:grpSpPr>
          <a:xfrm>
            <a:off x="1314450" y="1605915"/>
            <a:ext cx="6949440" cy="3646170"/>
            <a:chOff x="2311400" y="1293813"/>
            <a:chExt cx="5486400" cy="2898775"/>
          </a:xfrm>
        </p:grpSpPr>
        <p:pic>
          <p:nvPicPr>
            <p:cNvPr id="47107" name="Picture 6">
              <a:extLst>
                <a:ext uri="{FF2B5EF4-FFF2-40B4-BE49-F238E27FC236}">
                  <a16:creationId xmlns:a16="http://schemas.microsoft.com/office/drawing/2014/main" id="{7E3EC9BD-BFCB-4762-8CAD-CDA7B88568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4100" y="1293813"/>
              <a:ext cx="5241925" cy="116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08" name="Picture 7">
              <a:extLst>
                <a:ext uri="{FF2B5EF4-FFF2-40B4-BE49-F238E27FC236}">
                  <a16:creationId xmlns:a16="http://schemas.microsoft.com/office/drawing/2014/main" id="{0A0D3728-9A51-44F1-B179-28CC3F5523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400" y="3130550"/>
              <a:ext cx="5486400" cy="106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 (1)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6138" y="947102"/>
            <a:ext cx="7840662" cy="568822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000" dirty="0"/>
              <a:t>Common in address spaces &gt; 32 bits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The virtual page number is hashed into a page table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This page table contains a chain of elements hashing to the same location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Each element contains (1) the virtual page number (2) the value of the mapped page frame (3) a pointer to the next element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Virtual page numbers are compared in this chain searching for a match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If a match is found, the corresponding physical frame is extracted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Variation for 64-bit addresses is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Similar to hashed but each entry refers to several pages (such as 16) rather than 1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Especially useful for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sz="2000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 (2)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" y="1274763"/>
            <a:ext cx="7795260" cy="449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032668"/>
            <a:ext cx="7697755" cy="5471002"/>
          </a:xfrm>
        </p:spPr>
        <p:txBody>
          <a:bodyPr/>
          <a:lstStyle/>
          <a:p>
            <a:r>
              <a:rPr lang="en-US" altLang="en-US" sz="2000" dirty="0"/>
              <a:t>Rather than each process having a page table and keeping track of all possible logical pages, track all physical pages</a:t>
            </a:r>
          </a:p>
          <a:p>
            <a:r>
              <a:rPr lang="en-US" altLang="en-US" sz="2000" dirty="0"/>
              <a:t>One entry for each real page of memory</a:t>
            </a:r>
          </a:p>
          <a:p>
            <a:r>
              <a:rPr lang="en-US" altLang="en-US" sz="2000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sz="2000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sz="2000" dirty="0"/>
              <a:t>Use hash table to limit the search to one — or at most a few — page-table entries</a:t>
            </a:r>
          </a:p>
          <a:p>
            <a:pPr lvl="1"/>
            <a:r>
              <a:rPr lang="en-US" altLang="en-US" sz="2000" dirty="0"/>
              <a:t>TLB can accelerate access</a:t>
            </a:r>
          </a:p>
          <a:p>
            <a:r>
              <a:rPr lang="en-US" altLang="en-US" sz="2000" dirty="0"/>
              <a:t>But how to implement shared memory?</a:t>
            </a:r>
          </a:p>
          <a:p>
            <a:pPr lvl="1"/>
            <a:r>
              <a:rPr lang="en-US" altLang="en-US" sz="2000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0" y="1263333"/>
            <a:ext cx="6598285" cy="456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(1)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285740"/>
          </a:xfrm>
        </p:spPr>
        <p:txBody>
          <a:bodyPr/>
          <a:lstStyle/>
          <a:p>
            <a:r>
              <a:rPr lang="en-US" altLang="en-US" sz="2000" dirty="0"/>
              <a:t>Consider modern, 64-bit operating system example with tightly integrated HW</a:t>
            </a:r>
          </a:p>
          <a:p>
            <a:pPr lvl="1"/>
            <a:r>
              <a:rPr lang="en-US" altLang="en-US" sz="2000" dirty="0"/>
              <a:t>Goals are efficiency, low overhead</a:t>
            </a:r>
          </a:p>
          <a:p>
            <a:r>
              <a:rPr lang="en-US" altLang="en-US" sz="2000" dirty="0"/>
              <a:t>Based on hashing, but more complex</a:t>
            </a:r>
          </a:p>
          <a:p>
            <a:r>
              <a:rPr lang="en-US" altLang="en-US" sz="2000" dirty="0"/>
              <a:t>Two hash tables</a:t>
            </a:r>
          </a:p>
          <a:p>
            <a:pPr lvl="1"/>
            <a:r>
              <a:rPr lang="en-US" altLang="en-US" sz="2000" dirty="0"/>
              <a:t>One kernel and one for all user processes</a:t>
            </a:r>
          </a:p>
          <a:p>
            <a:pPr lvl="1"/>
            <a:r>
              <a:rPr lang="en-US" altLang="en-US" sz="2000" dirty="0"/>
              <a:t>Each maps memory addresses from virtual to physical memory</a:t>
            </a:r>
          </a:p>
          <a:p>
            <a:pPr lvl="1"/>
            <a:r>
              <a:rPr lang="en-US" altLang="en-US" sz="2000" dirty="0"/>
              <a:t>Each entry represents a contiguous area of mapped virtual memory,</a:t>
            </a:r>
          </a:p>
          <a:p>
            <a:pPr lvl="2"/>
            <a:r>
              <a:rPr lang="en-US" altLang="en-US" sz="2000" dirty="0"/>
              <a:t>More efficient than having a separate hash-table entry for each page</a:t>
            </a:r>
          </a:p>
          <a:p>
            <a:pPr lvl="1"/>
            <a:r>
              <a:rPr lang="en-US" altLang="en-US" sz="2000" dirty="0"/>
              <a:t>Each entry has  base address and  span (indicating the number of pages the entry represents)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(2)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9062" y="936943"/>
            <a:ext cx="7665876" cy="5383847"/>
          </a:xfrm>
        </p:spPr>
        <p:txBody>
          <a:bodyPr/>
          <a:lstStyle/>
          <a:p>
            <a:r>
              <a:rPr lang="en-US" altLang="en-US" sz="2000" dirty="0"/>
              <a:t>TLB holds translation table entries (TTEs) for fast hardware lookups</a:t>
            </a:r>
          </a:p>
          <a:p>
            <a:pPr lvl="1"/>
            <a:r>
              <a:rPr lang="en-US" altLang="en-US" sz="2000" dirty="0"/>
              <a:t>A cache of TTEs reside in a translation storage buffer (TSB)</a:t>
            </a:r>
          </a:p>
          <a:p>
            <a:pPr lvl="2"/>
            <a:r>
              <a:rPr lang="en-US" altLang="en-US" sz="2000" dirty="0"/>
              <a:t>Includes an entry per recently accessed page</a:t>
            </a:r>
          </a:p>
          <a:p>
            <a:r>
              <a:rPr lang="en-US" altLang="en-US" sz="2000" dirty="0"/>
              <a:t>Virtual address reference causes TLB search </a:t>
            </a:r>
          </a:p>
          <a:p>
            <a:pPr lvl="1"/>
            <a:r>
              <a:rPr lang="en-US" altLang="en-US" sz="2000" dirty="0"/>
              <a:t>If miss, hardware walks the in-memory TSB looking for the TTE corresponding to the address</a:t>
            </a:r>
          </a:p>
          <a:p>
            <a:pPr lvl="2"/>
            <a:r>
              <a:rPr lang="en-US" altLang="en-US" sz="2000" dirty="0"/>
              <a:t>If match found, the CPU copies the TSB entry into the TLB and translation completes</a:t>
            </a:r>
          </a:p>
          <a:p>
            <a:pPr lvl="2"/>
            <a:r>
              <a:rPr lang="en-US" altLang="en-US" sz="2000" dirty="0"/>
              <a:t>If no match found, kernel interrupted to search the hash table</a:t>
            </a:r>
          </a:p>
          <a:p>
            <a:pPr lvl="3"/>
            <a:r>
              <a:rPr lang="en-US" altLang="en-US" sz="2000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(1)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2"/>
            <a:ext cx="7679094" cy="5244147"/>
          </a:xfrm>
        </p:spPr>
        <p:txBody>
          <a:bodyPr/>
          <a:lstStyle/>
          <a:p>
            <a:r>
              <a:rPr lang="en-US" altLang="en-US" sz="2000" dirty="0"/>
              <a:t>A process can be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sz="2000" dirty="0"/>
              <a:t> temporarily out of memory to a backing store, and then brought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sz="2000" dirty="0"/>
              <a:t> into memory for continued execution</a:t>
            </a:r>
          </a:p>
          <a:p>
            <a:pPr lvl="1"/>
            <a:r>
              <a:rPr lang="en-US" altLang="en-US" sz="2000" dirty="0"/>
              <a:t>Total physical memory space of processes can exceed physical memory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sz="2000" b="1" dirty="0">
                <a:solidFill>
                  <a:srgbClr val="3366FF"/>
                </a:solidFill>
              </a:rPr>
              <a:t>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sz="2000" dirty="0"/>
              <a:t>Major part of swap time is transfer time; total transfer time is directly proportional to the amount of memory swapped</a:t>
            </a:r>
          </a:p>
          <a:p>
            <a:r>
              <a:rPr lang="en-US" altLang="en-US" sz="2000" dirty="0"/>
              <a:t>System maintains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(2)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sz="2000" dirty="0"/>
              <a:t>Does the swapped out process need to swap back in to same physical addresses?</a:t>
            </a:r>
          </a:p>
          <a:p>
            <a:r>
              <a:rPr lang="en-US" altLang="en-US" sz="2000" dirty="0"/>
              <a:t>Depends on address binding method</a:t>
            </a:r>
          </a:p>
          <a:p>
            <a:pPr lvl="1"/>
            <a:r>
              <a:rPr lang="en-US" altLang="en-US" sz="2000" dirty="0"/>
              <a:t>Plus consider pending I/O to / from process memory space</a:t>
            </a:r>
          </a:p>
          <a:p>
            <a:r>
              <a:rPr lang="en-US" altLang="en-US" sz="2000" dirty="0"/>
              <a:t>Modified versions of swapping are found on many systems (i.e., UNIX, Linux, and Windows)</a:t>
            </a:r>
          </a:p>
          <a:p>
            <a:pPr lvl="1"/>
            <a:r>
              <a:rPr lang="en-US" altLang="en-US" sz="2000" dirty="0"/>
              <a:t>Swapping normally disabled</a:t>
            </a:r>
          </a:p>
          <a:p>
            <a:pPr lvl="1"/>
            <a:r>
              <a:rPr lang="en-US" altLang="en-US" sz="2000" dirty="0"/>
              <a:t>Started if more than threshold amount of memory allocated</a:t>
            </a:r>
          </a:p>
          <a:p>
            <a:pPr lvl="1"/>
            <a:r>
              <a:rPr lang="en-US" altLang="en-US" sz="2000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and Swapping (1)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945062"/>
          </a:xfrm>
        </p:spPr>
        <p:txBody>
          <a:bodyPr/>
          <a:lstStyle/>
          <a:p>
            <a:r>
              <a:rPr lang="en-US" altLang="en-US" sz="2000" dirty="0"/>
              <a:t>If next processes to be put on CPU is not in memory, need to swap out a process and swap in target process</a:t>
            </a:r>
          </a:p>
          <a:p>
            <a:r>
              <a:rPr lang="en-US" altLang="en-US" sz="2000" dirty="0"/>
              <a:t>Context switch time can then be very high</a:t>
            </a:r>
          </a:p>
          <a:p>
            <a:r>
              <a:rPr lang="en-US" altLang="en-US" sz="2000" dirty="0"/>
              <a:t>100MB process swapping to hard disk with transfer rate of 50MB/sec</a:t>
            </a:r>
          </a:p>
          <a:p>
            <a:pPr lvl="1"/>
            <a:r>
              <a:rPr lang="en-US" altLang="en-US" sz="2000" dirty="0"/>
              <a:t>Swap out time of 2000 </a:t>
            </a:r>
            <a:r>
              <a:rPr lang="en-US" altLang="en-US" sz="2000" dirty="0" err="1"/>
              <a:t>ms</a:t>
            </a:r>
            <a:endParaRPr lang="en-US" altLang="en-US" sz="2000" dirty="0"/>
          </a:p>
          <a:p>
            <a:pPr lvl="1"/>
            <a:r>
              <a:rPr lang="en-US" altLang="en-US" sz="2000" dirty="0"/>
              <a:t>Plus swap in of same sized process</a:t>
            </a:r>
          </a:p>
          <a:p>
            <a:pPr lvl="1"/>
            <a:r>
              <a:rPr lang="en-US" altLang="en-US" sz="2000" dirty="0"/>
              <a:t>Total context switch swapping component time of 4000ms (4 seconds)</a:t>
            </a:r>
          </a:p>
          <a:p>
            <a:r>
              <a:rPr lang="en-US" altLang="en-US" sz="2000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sz="2000" dirty="0"/>
              <a:t>System calls to inform OS of memory use via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sz="2000" dirty="0"/>
              <a:t>and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3000" dirty="0"/>
              <a:t>Context Switch Time and Swapping (2)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sz="2000" dirty="0"/>
              <a:t>Other constraints as well on swapping</a:t>
            </a:r>
          </a:p>
          <a:p>
            <a:pPr lvl="1"/>
            <a:r>
              <a:rPr lang="en-US" altLang="en-US" sz="2000" dirty="0"/>
              <a:t>Pending I/O – can’t swap out as I/O would occur to wrong process</a:t>
            </a:r>
          </a:p>
          <a:p>
            <a:pPr lvl="1"/>
            <a:r>
              <a:rPr lang="en-US" altLang="en-US" sz="2000" dirty="0"/>
              <a:t>Or always transfer I/O to kernel space, then to I/O device</a:t>
            </a:r>
          </a:p>
          <a:p>
            <a:pPr lvl="2"/>
            <a:r>
              <a:rPr lang="en-US" altLang="en-US" sz="2000" dirty="0"/>
              <a:t>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sz="2000" dirty="0"/>
              <a:t>, adds overhead</a:t>
            </a:r>
          </a:p>
          <a:p>
            <a:r>
              <a:rPr lang="en-US" altLang="en-US" sz="2000" dirty="0"/>
              <a:t>Standard swapping not used in modern operating systems</a:t>
            </a:r>
          </a:p>
          <a:p>
            <a:pPr lvl="1"/>
            <a:r>
              <a:rPr lang="en-US" altLang="en-US" sz="2000" dirty="0"/>
              <a:t>But modified version common</a:t>
            </a:r>
          </a:p>
          <a:p>
            <a:pPr lvl="2"/>
            <a:r>
              <a:rPr lang="en-US" altLang="en-US" sz="2000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371" y="923290"/>
            <a:ext cx="8127449" cy="5477510"/>
          </a:xfrm>
        </p:spPr>
        <p:txBody>
          <a:bodyPr/>
          <a:lstStyle/>
          <a:p>
            <a:r>
              <a:rPr lang="en-US" altLang="en-US" sz="2000" dirty="0"/>
              <a:t>Not typically supported</a:t>
            </a:r>
          </a:p>
          <a:p>
            <a:pPr lvl="1"/>
            <a:r>
              <a:rPr lang="en-US" altLang="en-US" sz="2000" dirty="0"/>
              <a:t>Flash memory based</a:t>
            </a:r>
          </a:p>
          <a:p>
            <a:pPr lvl="2"/>
            <a:r>
              <a:rPr lang="en-US" altLang="en-US" sz="2000" dirty="0"/>
              <a:t>Small amount of space</a:t>
            </a:r>
          </a:p>
          <a:p>
            <a:pPr lvl="2"/>
            <a:r>
              <a:rPr lang="en-US" altLang="en-US" sz="2000" dirty="0"/>
              <a:t>Limited number of write cycles</a:t>
            </a:r>
          </a:p>
          <a:p>
            <a:pPr lvl="2"/>
            <a:r>
              <a:rPr lang="en-US" altLang="en-US" sz="2000" dirty="0"/>
              <a:t>Poor throughput between flash memory and CPU on mobile platform</a:t>
            </a:r>
          </a:p>
          <a:p>
            <a:r>
              <a:rPr lang="en-US" altLang="en-US" sz="2000" dirty="0"/>
              <a:t>Instead use other methods to free memory if low</a:t>
            </a:r>
          </a:p>
          <a:p>
            <a:pPr lvl="1"/>
            <a:r>
              <a:rPr lang="en-US" altLang="en-US" sz="2000" dirty="0"/>
              <a:t>iOS </a:t>
            </a:r>
            <a:r>
              <a:rPr lang="en-US" altLang="en-US" sz="2000" b="1" i="1" dirty="0"/>
              <a:t>asks</a:t>
            </a:r>
            <a:r>
              <a:rPr lang="en-US" altLang="en-US" sz="2000" dirty="0"/>
              <a:t> apps to voluntarily relinquish allocated memory</a:t>
            </a:r>
          </a:p>
          <a:p>
            <a:pPr lvl="2"/>
            <a:r>
              <a:rPr lang="en-US" altLang="en-US" sz="2000" dirty="0"/>
              <a:t>Read-only data thrown out and reloaded from flash if needed</a:t>
            </a:r>
          </a:p>
          <a:p>
            <a:pPr lvl="2"/>
            <a:r>
              <a:rPr lang="en-US" altLang="en-US" sz="2000" dirty="0"/>
              <a:t>Failure to free can result in termination</a:t>
            </a:r>
          </a:p>
          <a:p>
            <a:pPr lvl="1"/>
            <a:r>
              <a:rPr lang="en-US" altLang="en-US" sz="2000" dirty="0"/>
              <a:t>Android terminates apps if low free memory, but first writes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sz="2000" dirty="0"/>
              <a:t> to flash for fast restart</a:t>
            </a:r>
          </a:p>
          <a:p>
            <a:pPr lvl="1"/>
            <a:r>
              <a:rPr lang="en-US" altLang="en-US" sz="2000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9"/>
            <a:ext cx="7669765" cy="1875472"/>
          </a:xfrm>
        </p:spPr>
        <p:txBody>
          <a:bodyPr/>
          <a:lstStyle/>
          <a:p>
            <a:r>
              <a:rPr lang="en-US" altLang="en-US" sz="2000" dirty="0"/>
              <a:t>Dominant industry chips</a:t>
            </a:r>
          </a:p>
          <a:p>
            <a:r>
              <a:rPr lang="en-US" altLang="en-US" sz="2000" dirty="0"/>
              <a:t>Pentium CPUs are 32-bit and called IA-32 architecture</a:t>
            </a:r>
          </a:p>
          <a:p>
            <a:r>
              <a:rPr lang="en-US" altLang="en-US" sz="2000" dirty="0"/>
              <a:t>Current Intel CPUs are 64-bit and called IA-64 architecture</a:t>
            </a:r>
          </a:p>
          <a:p>
            <a:r>
              <a:rPr lang="en-US" altLang="en-US" sz="2000" dirty="0"/>
              <a:t>Many variations in the chips, cover the main ideas here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Intel IA-32 Architecture (1)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982981"/>
            <a:ext cx="7735918" cy="3223259"/>
          </a:xfrm>
        </p:spPr>
        <p:txBody>
          <a:bodyPr/>
          <a:lstStyle/>
          <a:p>
            <a:r>
              <a:rPr lang="en-US" altLang="en-US" sz="2000" dirty="0"/>
              <a:t>Supports both segmentation and segmentation with paging</a:t>
            </a:r>
          </a:p>
          <a:p>
            <a:pPr lvl="1"/>
            <a:r>
              <a:rPr lang="en-US" altLang="en-US" sz="2000" dirty="0"/>
              <a:t>Each segment can be 4 GB</a:t>
            </a:r>
          </a:p>
          <a:p>
            <a:pPr lvl="1"/>
            <a:r>
              <a:rPr lang="en-US" altLang="en-US" sz="2000" dirty="0"/>
              <a:t>Up to 16 K segments per process</a:t>
            </a:r>
          </a:p>
          <a:p>
            <a:pPr lvl="1"/>
            <a:r>
              <a:rPr lang="en-US" altLang="en-US" sz="2000" dirty="0"/>
              <a:t>Divided into two partitions</a:t>
            </a:r>
          </a:p>
          <a:p>
            <a:pPr lvl="2"/>
            <a:r>
              <a:rPr lang="en-US" altLang="en-US" sz="2000" dirty="0"/>
              <a:t>First partition of up to 8 K segments are private to process (kept 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sz="2000" dirty="0"/>
              <a:t>))</a:t>
            </a:r>
          </a:p>
          <a:p>
            <a:pPr lvl="2"/>
            <a:r>
              <a:rPr lang="en-US" altLang="en-US" sz="2000" dirty="0"/>
              <a:t>Second partition of up to 8K segments shared among all processes (kept 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sz="2000" dirty="0"/>
              <a:t>))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The Intel IA-32 Architecture (2)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CPU generates logical address</a:t>
            </a:r>
          </a:p>
          <a:p>
            <a:pPr lvl="1">
              <a:defRPr/>
            </a:pPr>
            <a:r>
              <a:rPr lang="en-US" altLang="en-US" sz="2000" dirty="0"/>
              <a:t>Selector given to segmentation unit</a:t>
            </a:r>
          </a:p>
          <a:p>
            <a:pPr lvl="2">
              <a:defRPr/>
            </a:pPr>
            <a:r>
              <a:rPr lang="en-US" altLang="en-US" sz="2000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sz="2000" dirty="0"/>
          </a:p>
          <a:p>
            <a:pPr lvl="2">
              <a:defRPr/>
            </a:pPr>
            <a:endParaRPr lang="en-US" altLang="en-US" sz="2000" dirty="0"/>
          </a:p>
          <a:p>
            <a:pPr lvl="1">
              <a:defRPr/>
            </a:pPr>
            <a:r>
              <a:rPr lang="en-US" altLang="en-US" sz="2000" dirty="0"/>
              <a:t>Linear address given to paging unit</a:t>
            </a:r>
          </a:p>
          <a:p>
            <a:pPr lvl="2">
              <a:defRPr/>
            </a:pPr>
            <a:r>
              <a:rPr lang="en-US" altLang="en-US" sz="2000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sz="2000" dirty="0"/>
              <a:t>Paging units form equivalent of MMU</a:t>
            </a:r>
          </a:p>
          <a:p>
            <a:pPr lvl="2">
              <a:defRPr/>
            </a:pPr>
            <a:r>
              <a:rPr lang="en-US" altLang="en-US" sz="2000" dirty="0"/>
              <a:t>Pages sizes can be 4 KB or 4 MB</a:t>
            </a:r>
          </a:p>
          <a:p>
            <a:pPr>
              <a:defRPr/>
            </a:pPr>
            <a:endParaRPr lang="en-US" altLang="en-US" sz="2000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203" y="2610485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6996" y="224631"/>
            <a:ext cx="8467304" cy="6191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69" y="1314450"/>
            <a:ext cx="6852944" cy="420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>
            <a:extLst>
              <a:ext uri="{FF2B5EF4-FFF2-40B4-BE49-F238E27FC236}">
                <a16:creationId xmlns:a16="http://schemas.microsoft.com/office/drawing/2014/main" id="{D2FBD04E-0AD5-4B90-A5FE-1CCDF58F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" y="913764"/>
            <a:ext cx="8435340" cy="275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sz="20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sz="20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sz="20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2000" dirty="0">
                <a:latin typeface="Helvetica" panose="020B0604020202020204" pitchFamily="34" charset="0"/>
              </a:rPr>
              <a:t>(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sz="2000" dirty="0">
                <a:latin typeface="Helvetica" panose="020B0604020202020204" pitchFamily="34" charset="0"/>
              </a:rPr>
              <a:t>)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sz="20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sz="20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sz="20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461" y="95091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0CE6398-8797-4635-8426-2FD70A2B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960" y="964247"/>
            <a:ext cx="3522728" cy="54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462732" cy="325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12858</TotalTime>
  <Words>1888</Words>
  <Application>Microsoft Office PowerPoint</Application>
  <PresentationFormat>全屏显示(4:3)</PresentationFormat>
  <Paragraphs>227</Paragraphs>
  <Slides>34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Monotype Sorts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9 Main Memory (2)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 (1)</vt:lpstr>
      <vt:lpstr>Hashed Page Table (2)</vt:lpstr>
      <vt:lpstr>Inverted Page Table</vt:lpstr>
      <vt:lpstr>Inverted Page Table Architecture</vt:lpstr>
      <vt:lpstr>Oracle SPARC Solaris (1)</vt:lpstr>
      <vt:lpstr>Oracle SPARC Solaris (2)</vt:lpstr>
      <vt:lpstr>Swapping (1)</vt:lpstr>
      <vt:lpstr>Swapping (2)</vt:lpstr>
      <vt:lpstr>Schematic View of Swapping</vt:lpstr>
      <vt:lpstr>Context Switch Time and Swapping (1)</vt:lpstr>
      <vt:lpstr>Context Switch Time and Swapping (2)</vt:lpstr>
      <vt:lpstr>Swapping on Mobile Systems</vt:lpstr>
      <vt:lpstr>Swapping with Paging</vt:lpstr>
      <vt:lpstr>The Intel 32 and 64-bit Architectures</vt:lpstr>
      <vt:lpstr>The Intel IA-32 Architecture (1)</vt:lpstr>
      <vt:lpstr>The Intel IA-32 Architecture (2)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Prof. Chung Yehching (SDS)</cp:lastModifiedBy>
  <cp:revision>356</cp:revision>
  <cp:lastPrinted>2013-09-30T19:34:56Z</cp:lastPrinted>
  <dcterms:created xsi:type="dcterms:W3CDTF">2011-01-13T23:43:38Z</dcterms:created>
  <dcterms:modified xsi:type="dcterms:W3CDTF">2025-10-24T08:04:55Z</dcterms:modified>
</cp:coreProperties>
</file>