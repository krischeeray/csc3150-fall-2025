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35"/>
  </p:notesMasterIdLst>
  <p:handoutMasterIdLst>
    <p:handoutMasterId r:id="rId36"/>
  </p:handoutMasterIdLst>
  <p:sldIdLst>
    <p:sldId id="331" r:id="rId2"/>
    <p:sldId id="332" r:id="rId3"/>
    <p:sldId id="333" r:id="rId4"/>
    <p:sldId id="334" r:id="rId5"/>
    <p:sldId id="377" r:id="rId6"/>
    <p:sldId id="335" r:id="rId7"/>
    <p:sldId id="336" r:id="rId8"/>
    <p:sldId id="337" r:id="rId9"/>
    <p:sldId id="338" r:id="rId10"/>
    <p:sldId id="374" r:id="rId11"/>
    <p:sldId id="378" r:id="rId12"/>
    <p:sldId id="340" r:id="rId13"/>
    <p:sldId id="379" r:id="rId14"/>
    <p:sldId id="341" r:id="rId15"/>
    <p:sldId id="380" r:id="rId16"/>
    <p:sldId id="342" r:id="rId17"/>
    <p:sldId id="343" r:id="rId18"/>
    <p:sldId id="344" r:id="rId19"/>
    <p:sldId id="345" r:id="rId20"/>
    <p:sldId id="346" r:id="rId21"/>
    <p:sldId id="347" r:id="rId22"/>
    <p:sldId id="348" r:id="rId23"/>
    <p:sldId id="349" r:id="rId24"/>
    <p:sldId id="381" r:id="rId25"/>
    <p:sldId id="351" r:id="rId26"/>
    <p:sldId id="352" r:id="rId27"/>
    <p:sldId id="353" r:id="rId28"/>
    <p:sldId id="354" r:id="rId29"/>
    <p:sldId id="382" r:id="rId30"/>
    <p:sldId id="383" r:id="rId31"/>
    <p:sldId id="384" r:id="rId32"/>
    <p:sldId id="385" r:id="rId33"/>
    <p:sldId id="526" r:id="rId34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33" autoAdjust="0"/>
    <p:restoredTop sz="94626"/>
  </p:normalViewPr>
  <p:slideViewPr>
    <p:cSldViewPr snapToGrid="0">
      <p:cViewPr>
        <p:scale>
          <a:sx n="50" d="100"/>
          <a:sy n="50" d="100"/>
        </p:scale>
        <p:origin x="1628" y="160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73" d="100"/>
          <a:sy n="73" d="100"/>
        </p:scale>
        <p:origin x="-1626" y="-114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550C4562-1819-4A4C-8E84-8762598F082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E888F6BF-980E-4154-9582-73071EB466C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437443ED-743B-40CA-A0C4-A5094D1EF90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12D72069-5AE5-45CA-B9B5-C7885281CF2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charset="0"/>
                <a:ea typeface="MS PGothic" charset="-128"/>
              </a:defRPr>
            </a:lvl1pPr>
          </a:lstStyle>
          <a:p>
            <a:pPr>
              <a:defRPr/>
            </a:pPr>
            <a:fld id="{823917F1-2811-4D89-BB39-7F4B860017A8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3FF863A-563B-4650-9916-E2BA748939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A50AAA7-213E-427A-9B08-F380117F32A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5B45F81B-3B51-469E-8039-6D609069770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55A1AB8E-F82E-43C1-AD5C-E4A371BC271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48055955-90A4-4D08-AB1C-A4B30E64B85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BDE66CCC-5F13-4776-85DA-D53B16116D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charset="0"/>
                <a:ea typeface="MS PGothic" charset="-128"/>
              </a:defRPr>
            </a:lvl1pPr>
          </a:lstStyle>
          <a:p>
            <a:pPr>
              <a:defRPr/>
            </a:pPr>
            <a:fld id="{B502DF71-3C45-4C55-AF2B-283333F9BC5B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>
            <a:extLst>
              <a:ext uri="{FF2B5EF4-FFF2-40B4-BE49-F238E27FC236}">
                <a16:creationId xmlns:a16="http://schemas.microsoft.com/office/drawing/2014/main" id="{49BB91D0-98A2-452A-9686-40FABA68D0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54CFF6C-4004-4410-88F0-F4F19A1CCD13}" type="slidenum">
              <a:rPr lang="en-US" altLang="en-US" smtClean="0">
                <a:latin typeface="Helvetica" panose="020B0604020202020204" pitchFamily="34" charset="0"/>
              </a:rPr>
              <a:pPr/>
              <a:t>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665B70CD-1D40-4FBB-B69E-B0BE8DCDA9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A2F07CFF-7563-4EE5-812A-6F8C90FD70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>
            <a:extLst>
              <a:ext uri="{FF2B5EF4-FFF2-40B4-BE49-F238E27FC236}">
                <a16:creationId xmlns:a16="http://schemas.microsoft.com/office/drawing/2014/main" id="{94713BEE-C1CE-484C-819E-C7874EAB19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A73D603-B8D2-4718-A866-542F17F0E427}" type="slidenum">
              <a:rPr lang="en-US" altLang="en-US" smtClean="0">
                <a:latin typeface="Helvetica" panose="020B0604020202020204" pitchFamily="34" charset="0"/>
              </a:rPr>
              <a:pPr/>
              <a:t>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B58D9914-4AE8-433F-9B79-3F92109542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1AF60734-AFF9-4268-9BD1-9AFF6E1D63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>
            <a:extLst>
              <a:ext uri="{FF2B5EF4-FFF2-40B4-BE49-F238E27FC236}">
                <a16:creationId xmlns:a16="http://schemas.microsoft.com/office/drawing/2014/main" id="{5BB938EB-EAE1-4FAC-BCB5-53974E688A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2" name="Rectangle 3">
            <a:extLst>
              <a:ext uri="{FF2B5EF4-FFF2-40B4-BE49-F238E27FC236}">
                <a16:creationId xmlns:a16="http://schemas.microsoft.com/office/drawing/2014/main" id="{9AA36B63-1BA8-465A-9F47-478166EC3C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7">
            <a:extLst>
              <a:ext uri="{FF2B5EF4-FFF2-40B4-BE49-F238E27FC236}">
                <a16:creationId xmlns:a16="http://schemas.microsoft.com/office/drawing/2014/main" id="{27DF9E4E-96D6-414F-8641-F5F4875E71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F3DCFE-B091-466E-897F-AF0229B99FBE}" type="slidenum">
              <a:rPr lang="en-US" altLang="en-US" smtClean="0">
                <a:latin typeface="Helvetica" panose="020B0604020202020204" pitchFamily="34" charset="0"/>
              </a:rPr>
              <a:pPr/>
              <a:t>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FBCEF41C-2D09-4D79-B128-D63857A2F2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D9ACFA5D-A5EC-4373-81C2-0F6EFDCB20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B3B691F4-8A83-4EB6-9CC2-A3360F1AD4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EF4246C7-27CE-4111-80E3-59FD3BCD55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>
            <a:extLst>
              <a:ext uri="{FF2B5EF4-FFF2-40B4-BE49-F238E27FC236}">
                <a16:creationId xmlns:a16="http://schemas.microsoft.com/office/drawing/2014/main" id="{A989082A-5E14-437A-8593-A083C9E0BC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319C771-0D6A-4807-BCDD-77C1F2EE8271}" type="slidenum">
              <a:rPr lang="en-US" altLang="en-US" smtClean="0">
                <a:latin typeface="Helvetica" panose="020B0604020202020204" pitchFamily="34" charset="0"/>
              </a:rPr>
              <a:pPr/>
              <a:t>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2AC42077-757B-4A4C-8A05-7B590F2EC1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AC753078-9E5A-48E2-813D-E5D6523990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B998348D-9A8E-4A1B-A5CC-88DB5AB929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677410E8-14CB-430D-9C9B-CA14C8C01E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2CB3E8E7-C086-4355-9CE8-18739774E7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D7150505-875B-411A-8576-2DD58804D9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B2858C04-233B-4F84-8B85-EA895CEAF2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7E4843CC-89D3-47B0-BBCC-C97C1F2F47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>
            <a:extLst>
              <a:ext uri="{FF2B5EF4-FFF2-40B4-BE49-F238E27FC236}">
                <a16:creationId xmlns:a16="http://schemas.microsoft.com/office/drawing/2014/main" id="{B307F2A2-9C89-4CCD-8947-EF9F7A7FA4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4200DDC-C11B-49B3-97E9-1ED578740C37}" type="slidenum">
              <a:rPr lang="en-US" altLang="en-US" smtClean="0">
                <a:latin typeface="Helvetica" panose="020B0604020202020204" pitchFamily="34" charset="0"/>
              </a:rPr>
              <a:pPr/>
              <a:t>12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FB56883D-676A-482F-9E14-FE9A4AE241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A2F62D35-9C65-414C-A86A-3FDBE9961F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3DF3E7C6-C9CA-4089-A553-275E1982B8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9398EA6-8FE3-4BCE-B6A8-508B0A27C7F8}" type="slidenum">
              <a:rPr lang="en-US" altLang="en-US" smtClean="0">
                <a:latin typeface="Helvetica" panose="020B0604020202020204" pitchFamily="34" charset="0"/>
              </a:rPr>
              <a:pPr/>
              <a:t>14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173988C8-FA90-46B8-B16F-16B1E13B38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E2C96CC4-5B31-40CD-B384-477B7275DA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>
            <a:extLst>
              <a:ext uri="{FF2B5EF4-FFF2-40B4-BE49-F238E27FC236}">
                <a16:creationId xmlns:a16="http://schemas.microsoft.com/office/drawing/2014/main" id="{12803BA9-336C-40B8-B240-AE76B19DBC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6A5F754-A269-48A9-AF00-EE1AB4FE158B}" type="slidenum">
              <a:rPr lang="en-US" altLang="en-US" smtClean="0">
                <a:latin typeface="Helvetica" panose="020B0604020202020204" pitchFamily="34" charset="0"/>
              </a:rPr>
              <a:pPr/>
              <a:t>16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3118FFA9-F8CF-48E9-8DBD-7D20A0B41D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4CD8A752-1AAD-4C50-BBDA-5D51338F2F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>
            <a:extLst>
              <a:ext uri="{FF2B5EF4-FFF2-40B4-BE49-F238E27FC236}">
                <a16:creationId xmlns:a16="http://schemas.microsoft.com/office/drawing/2014/main" id="{EB8C0B8A-AD96-4A57-B567-49E824FFE3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6B8074-FFAA-46E8-A8E7-A2DF12801B2C}" type="slidenum">
              <a:rPr lang="en-US" altLang="en-US" smtClean="0">
                <a:latin typeface="Helvetica" panose="020B0604020202020204" pitchFamily="34" charset="0"/>
              </a:rPr>
              <a:pPr/>
              <a:t>17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6F09C86C-58BC-4607-981A-D231C591FC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0398BD5B-BC5C-4CDB-9D48-4CA967CB7D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>
            <a:extLst>
              <a:ext uri="{FF2B5EF4-FFF2-40B4-BE49-F238E27FC236}">
                <a16:creationId xmlns:a16="http://schemas.microsoft.com/office/drawing/2014/main" id="{2C789749-18B6-4527-94FF-59E54FAC3E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7C39C-CCD1-4085-91E8-2B527B8A2188}" type="slidenum">
              <a:rPr lang="en-US" altLang="en-US" smtClean="0">
                <a:latin typeface="Helvetica" panose="020B0604020202020204" pitchFamily="34" charset="0"/>
              </a:rPr>
              <a:pPr/>
              <a:t>18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30A9510C-2BDE-4137-877F-7D3AEFD825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2C693E25-AC6E-41AC-A5E3-4037EB9E40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>
            <a:extLst>
              <a:ext uri="{FF2B5EF4-FFF2-40B4-BE49-F238E27FC236}">
                <a16:creationId xmlns:a16="http://schemas.microsoft.com/office/drawing/2014/main" id="{466CBFBC-E533-4BF2-B5D5-3A45F5C190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A8AF47D-CB37-4C77-9E61-6FE982C48A6C}" type="slidenum">
              <a:rPr lang="en-US" altLang="en-US" smtClean="0">
                <a:latin typeface="Helvetica" panose="020B0604020202020204" pitchFamily="34" charset="0"/>
              </a:rPr>
              <a:pPr/>
              <a:t>19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77584299-1856-48BE-B736-7EC68096B1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17E5BFC8-6F28-4BDE-8F1C-CE906E2BFF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>
            <a:extLst>
              <a:ext uri="{FF2B5EF4-FFF2-40B4-BE49-F238E27FC236}">
                <a16:creationId xmlns:a16="http://schemas.microsoft.com/office/drawing/2014/main" id="{13071C3A-881C-48B3-B309-1D92C9DD80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6B73719-6FB6-4E20-AE32-14616D4F0E63}" type="slidenum">
              <a:rPr lang="en-US" altLang="en-US" smtClean="0">
                <a:latin typeface="Helvetica" panose="020B0604020202020204" pitchFamily="34" charset="0"/>
              </a:rPr>
              <a:pPr/>
              <a:t>20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1D8F37CA-C0AA-4EA5-95A9-4F33D4E5D4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CFEE2A4B-553A-4DCA-8D0B-3BB07C4342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36DF61C1-FABB-4C2F-A2F6-2A6755D430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0" name="Rectangle 3">
            <a:extLst>
              <a:ext uri="{FF2B5EF4-FFF2-40B4-BE49-F238E27FC236}">
                <a16:creationId xmlns:a16="http://schemas.microsoft.com/office/drawing/2014/main" id="{93420185-E3D4-4A25-8067-B745C75A3F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>
            <a:extLst>
              <a:ext uri="{FF2B5EF4-FFF2-40B4-BE49-F238E27FC236}">
                <a16:creationId xmlns:a16="http://schemas.microsoft.com/office/drawing/2014/main" id="{DE5937DC-D53C-4814-A45E-BF7CA978FE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BF23E72-A12C-4C92-8AE1-BFA934D068FF}" type="slidenum">
              <a:rPr lang="en-US" altLang="en-US" smtClean="0">
                <a:latin typeface="Helvetica" panose="020B0604020202020204" pitchFamily="34" charset="0"/>
              </a:rPr>
              <a:pPr/>
              <a:t>22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C69EBE3A-525E-43F8-98FF-7CCE61EFF8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DBDAC0BA-8814-496D-B065-6E2C7E2CFC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>
            <a:extLst>
              <a:ext uri="{FF2B5EF4-FFF2-40B4-BE49-F238E27FC236}">
                <a16:creationId xmlns:a16="http://schemas.microsoft.com/office/drawing/2014/main" id="{95FB8F64-88BB-4559-9134-E35CDEC201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3C5D0B0-D187-4E63-8B13-81271B8117FB}" type="slidenum">
              <a:rPr lang="en-US" altLang="en-US" smtClean="0">
                <a:latin typeface="Helvetica" panose="020B0604020202020204" pitchFamily="34" charset="0"/>
              </a:rPr>
              <a:pPr/>
              <a:t>28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E7CC628D-83F5-4EEA-8C50-0B294DCF1E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4F97B3F5-0425-41C0-BA0E-2A5645FFB0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D6E874EA-6D46-4D5A-A67E-32C6E4712B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DC88E0-05A8-4892-B21E-9326A8D3E05F}" type="slidenum">
              <a:rPr lang="en-US" altLang="en-US" smtClean="0">
                <a:latin typeface="Times New Roman" panose="02020603050405020304" pitchFamily="18" charset="0"/>
              </a:rPr>
              <a:pPr/>
              <a:t>33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76CF1BC6-EF44-430B-853A-1916C3A573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53BC5144-BC73-40F2-9D46-6DC1B56AC6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393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78E92A4A-A65D-4B54-AD1C-C891575A70C7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CEA9A240-C64D-4B73-B222-A2240BA272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000CE453-DC15-4BB2-AE60-001C25829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8D7109CB-1C1F-43A3-9D41-5E4A557225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8206B863-0953-4381-B842-DD977F05FB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A639C405-F6E2-417F-8A27-5C09EB03E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97C76FE8-CB55-4011-A0E6-A17B9BDC8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CCAE8C83-8EB2-41AB-A5F7-FA7198612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17213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76144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9237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2421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91160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29574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2433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8094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7033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29635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04549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3E799C5B-1F2C-4727-B04D-3C1441425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F7CAF9D1-07DE-4C40-A4D8-E9F6D37A6B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3385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24D6D3A-1B1C-470E-BC9D-4C5D96909C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80568D0-1118-430A-9D7C-4FADA8707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1540BB71-9BEC-4347-834F-C88CB0227E9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BDA1E9C4-BD61-4AC8-9022-3985C6D3F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0ECCE598-0798-4A43-9FF2-062E30ADD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67B8A227-8BCF-4192-8DD5-3E05B704C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charset="0"/>
              </a:rPr>
              <a:t>4.</a:t>
            </a:r>
            <a:fld id="{B8C59114-2645-4608-9BE9-5C330A595960}" type="slidenum">
              <a:rPr lang="en-US" altLang="en-US" sz="1000" b="1" smtClean="0">
                <a:solidFill>
                  <a:srgbClr val="006699"/>
                </a:solidFill>
                <a:latin typeface="Helvetica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39D70C2C-1A21-48F2-880B-506452A645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A88694D3-86E1-44FA-8516-8D3F5E09F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91CD56B2-899D-4DC1-BFE5-E29F3D4F4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83" r:id="rId1"/>
    <p:sldLayoutId id="2147484073" r:id="rId2"/>
    <p:sldLayoutId id="2147484074" r:id="rId3"/>
    <p:sldLayoutId id="2147484075" r:id="rId4"/>
    <p:sldLayoutId id="2147484076" r:id="rId5"/>
    <p:sldLayoutId id="2147484077" r:id="rId6"/>
    <p:sldLayoutId id="2147484078" r:id="rId7"/>
    <p:sldLayoutId id="2147484079" r:id="rId8"/>
    <p:sldLayoutId id="2147484080" r:id="rId9"/>
    <p:sldLayoutId id="2147484081" r:id="rId10"/>
    <p:sldLayoutId id="214748408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89BB6AAA-4250-44C0-8BF1-0E2B0D4E2A2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782638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Chapter 4 </a:t>
            </a:r>
            <a:br>
              <a:rPr lang="en-US" altLang="en-US"/>
            </a:br>
            <a:r>
              <a:rPr lang="en-US" altLang="en-US"/>
              <a:t>Threads &amp; Concurrency (1)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203D3746-8758-479C-93A3-DC90B12F64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452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Outline</a:t>
            </a:r>
          </a:p>
        </p:txBody>
      </p:sp>
      <p:sp>
        <p:nvSpPr>
          <p:cNvPr id="7170" name="Rectangle 3">
            <a:extLst>
              <a:ext uri="{FF2B5EF4-FFF2-40B4-BE49-F238E27FC236}">
                <a16:creationId xmlns:a16="http://schemas.microsoft.com/office/drawing/2014/main" id="{BE2970C8-8537-47B0-BAC1-E14D290768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Overview</a:t>
            </a:r>
          </a:p>
          <a:p>
            <a:r>
              <a:rPr lang="en-US" altLang="en-US"/>
              <a:t>Multicore Programming</a:t>
            </a:r>
          </a:p>
          <a:p>
            <a:r>
              <a:rPr lang="en-US" altLang="en-US"/>
              <a:t>Multithreading Models</a:t>
            </a:r>
          </a:p>
          <a:p>
            <a:r>
              <a:rPr lang="en-US" altLang="en-US"/>
              <a:t>Thread Libraries</a:t>
            </a:r>
          </a:p>
          <a:p>
            <a:r>
              <a:rPr lang="en-US" altLang="en-US"/>
              <a:t>Implicit Threading</a:t>
            </a:r>
          </a:p>
          <a:p>
            <a:r>
              <a:rPr lang="en-US" altLang="en-US"/>
              <a:t>Threading Issues</a:t>
            </a:r>
          </a:p>
          <a:p>
            <a:r>
              <a:rPr lang="en-US" altLang="en-US"/>
              <a:t>Operating System Examples</a:t>
            </a:r>
          </a:p>
          <a:p>
            <a:pPr>
              <a:buFont typeface="Monotype Sorts" pitchFamily="-84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itle 1">
            <a:extLst>
              <a:ext uri="{FF2B5EF4-FFF2-40B4-BE49-F238E27FC236}">
                <a16:creationId xmlns:a16="http://schemas.microsoft.com/office/drawing/2014/main" id="{F4FAEF8D-141E-4014-81C2-5AD32F559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Objectives</a:t>
            </a:r>
          </a:p>
        </p:txBody>
      </p:sp>
      <p:sp>
        <p:nvSpPr>
          <p:cNvPr id="9218" name="Content Placeholder 2">
            <a:extLst>
              <a:ext uri="{FF2B5EF4-FFF2-40B4-BE49-F238E27FC236}">
                <a16:creationId xmlns:a16="http://schemas.microsoft.com/office/drawing/2014/main" id="{69649437-64F3-4573-8F48-4963AC548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450" y="1233488"/>
            <a:ext cx="6940550" cy="4530725"/>
          </a:xfrm>
        </p:spPr>
        <p:txBody>
          <a:bodyPr/>
          <a:lstStyle/>
          <a:p>
            <a:r>
              <a:rPr lang="en-US" altLang="en-US" dirty="0"/>
              <a:t>Identify the basic components of a thread, and contrast threads and processes</a:t>
            </a:r>
          </a:p>
          <a:p>
            <a:r>
              <a:rPr lang="en-US" altLang="en-US" dirty="0"/>
              <a:t>Describe the benefits and challenges of </a:t>
            </a:r>
            <a:r>
              <a:rPr lang="en-US" altLang="en-US" dirty="0" err="1"/>
              <a:t>designng</a:t>
            </a:r>
            <a:r>
              <a:rPr lang="en-US" altLang="en-US" dirty="0"/>
              <a:t> multithreaded applications</a:t>
            </a:r>
          </a:p>
          <a:p>
            <a:r>
              <a:rPr lang="en-US" altLang="en-US" dirty="0"/>
              <a:t>Illustrate different approaches to implicit threading including thread pools, fork-join, and Grand Central Dispatch</a:t>
            </a:r>
          </a:p>
          <a:p>
            <a:r>
              <a:rPr lang="en-US" altLang="en-US" dirty="0"/>
              <a:t>Describe how the Windows and Linux operating systems represent threads</a:t>
            </a:r>
          </a:p>
          <a:p>
            <a:r>
              <a:rPr lang="en-US" altLang="en-US" dirty="0"/>
              <a:t>Designing multithreaded applications using the </a:t>
            </a:r>
            <a:r>
              <a:rPr lang="en-US" altLang="en-US" dirty="0" err="1"/>
              <a:t>Pthreads</a:t>
            </a:r>
            <a:r>
              <a:rPr lang="en-US" altLang="en-US" dirty="0"/>
              <a:t>, Java, and Windows threading APIs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itle 1">
            <a:extLst>
              <a:ext uri="{FF2B5EF4-FFF2-40B4-BE49-F238E27FC236}">
                <a16:creationId xmlns:a16="http://schemas.microsoft.com/office/drawing/2014/main" id="{71774012-3807-4498-B991-8D9050F65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2868"/>
            <a:ext cx="8229600" cy="576262"/>
          </a:xfrm>
        </p:spPr>
        <p:txBody>
          <a:bodyPr/>
          <a:lstStyle/>
          <a:p>
            <a:r>
              <a:rPr lang="en-US" altLang="en-US" dirty="0"/>
              <a:t>Motivation</a:t>
            </a:r>
          </a:p>
        </p:txBody>
      </p:sp>
      <p:sp>
        <p:nvSpPr>
          <p:cNvPr id="11266" name="Content Placeholder 2">
            <a:extLst>
              <a:ext uri="{FF2B5EF4-FFF2-40B4-BE49-F238E27FC236}">
                <a16:creationId xmlns:a16="http://schemas.microsoft.com/office/drawing/2014/main" id="{284F1CF5-435D-4BB1-9339-BE39F15E2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450" y="1233488"/>
            <a:ext cx="7697470" cy="4530725"/>
          </a:xfrm>
        </p:spPr>
        <p:txBody>
          <a:bodyPr/>
          <a:lstStyle/>
          <a:p>
            <a:r>
              <a:rPr lang="en-US" altLang="en-US" dirty="0"/>
              <a:t>Most modern applications are multithreaded</a:t>
            </a:r>
          </a:p>
          <a:p>
            <a:r>
              <a:rPr lang="en-US" altLang="en-US" dirty="0"/>
              <a:t>Threads run within application</a:t>
            </a:r>
          </a:p>
          <a:p>
            <a:r>
              <a:rPr lang="en-US" altLang="en-US" dirty="0"/>
              <a:t>Multiple tasks with the application can be implemented by separate threads</a:t>
            </a:r>
          </a:p>
          <a:p>
            <a:pPr lvl="1"/>
            <a:r>
              <a:rPr lang="en-US" altLang="en-US" dirty="0"/>
              <a:t>Update display</a:t>
            </a:r>
          </a:p>
          <a:p>
            <a:pPr lvl="1"/>
            <a:r>
              <a:rPr lang="en-US" altLang="en-US" dirty="0"/>
              <a:t>Fetch data</a:t>
            </a:r>
          </a:p>
          <a:p>
            <a:pPr lvl="1"/>
            <a:r>
              <a:rPr lang="en-US" altLang="en-US" dirty="0"/>
              <a:t>Spell checking</a:t>
            </a:r>
          </a:p>
          <a:p>
            <a:pPr lvl="1"/>
            <a:r>
              <a:rPr lang="en-US" altLang="en-US" dirty="0"/>
              <a:t>Answer a network request</a:t>
            </a:r>
          </a:p>
          <a:p>
            <a:r>
              <a:rPr lang="en-US" altLang="en-US" dirty="0"/>
              <a:t>Process creation is heavy-weight while thread creation is light-weight</a:t>
            </a:r>
          </a:p>
          <a:p>
            <a:r>
              <a:rPr lang="en-US" altLang="en-US" dirty="0"/>
              <a:t>Can simplify code, increase efficiency</a:t>
            </a:r>
          </a:p>
          <a:p>
            <a:r>
              <a:rPr lang="en-US" altLang="en-US" dirty="0"/>
              <a:t>Kernels are generally multithreaded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>
            <a:extLst>
              <a:ext uri="{FF2B5EF4-FFF2-40B4-BE49-F238E27FC236}">
                <a16:creationId xmlns:a16="http://schemas.microsoft.com/office/drawing/2014/main" id="{46D3DE18-7E7E-4C93-8C78-DD142B08CC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9300" y="228830"/>
            <a:ext cx="84994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Single and Multithreaded Processes</a:t>
            </a:r>
          </a:p>
        </p:txBody>
      </p:sp>
      <p:pic>
        <p:nvPicPr>
          <p:cNvPr id="12290" name="Picture 1">
            <a:extLst>
              <a:ext uri="{FF2B5EF4-FFF2-40B4-BE49-F238E27FC236}">
                <a16:creationId xmlns:a16="http://schemas.microsoft.com/office/drawing/2014/main" id="{0489C83A-880F-4FB0-8474-2FE1A357C5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" y="1282700"/>
            <a:ext cx="7626350" cy="428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>
            <a:extLst>
              <a:ext uri="{FF2B5EF4-FFF2-40B4-BE49-F238E27FC236}">
                <a16:creationId xmlns:a16="http://schemas.microsoft.com/office/drawing/2014/main" id="{FE08425D-ED51-450A-B441-45E2EB4C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825" y="16887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Multithreaded Server Architecture</a:t>
            </a:r>
          </a:p>
        </p:txBody>
      </p:sp>
      <p:pic>
        <p:nvPicPr>
          <p:cNvPr id="14338" name="Picture 1">
            <a:extLst>
              <a:ext uri="{FF2B5EF4-FFF2-40B4-BE49-F238E27FC236}">
                <a16:creationId xmlns:a16="http://schemas.microsoft.com/office/drawing/2014/main" id="{CF5D0D58-5C7A-45B8-AD7F-B5E9EF9199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" y="2006600"/>
            <a:ext cx="7966075" cy="284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CB64F3E7-BE56-4BF5-89DF-866E7EA88B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2013" y="481242"/>
            <a:ext cx="6951662" cy="312738"/>
          </a:xfrm>
        </p:spPr>
        <p:txBody>
          <a:bodyPr/>
          <a:lstStyle/>
          <a:p>
            <a:pPr eaLnBrk="1" hangingPunct="1"/>
            <a:r>
              <a:rPr lang="en-US" altLang="en-US" dirty="0"/>
              <a:t>Benefits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AEFC87E0-114C-4BFC-8B34-FD5EF6B87D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207250" cy="4530725"/>
          </a:xfrm>
        </p:spPr>
        <p:txBody>
          <a:bodyPr/>
          <a:lstStyle/>
          <a:p>
            <a:r>
              <a:rPr lang="en-US" altLang="en-US" b="1" dirty="0"/>
              <a:t>Responsiveness – </a:t>
            </a:r>
            <a:r>
              <a:rPr lang="en-US" altLang="en-US" dirty="0"/>
              <a:t>may allow continued execution if part of process is blocked, especially important for user interfaces</a:t>
            </a:r>
          </a:p>
          <a:p>
            <a:r>
              <a:rPr lang="en-US" altLang="en-US" b="1" dirty="0"/>
              <a:t>Resource Sharing – </a:t>
            </a:r>
            <a:r>
              <a:rPr lang="en-US" altLang="en-US" dirty="0"/>
              <a:t>threads share resources of process, easier than shared memory or message passing</a:t>
            </a:r>
          </a:p>
          <a:p>
            <a:r>
              <a:rPr lang="en-US" altLang="en-US" b="1" dirty="0"/>
              <a:t>Economy – </a:t>
            </a:r>
            <a:r>
              <a:rPr lang="en-US" altLang="en-US" dirty="0"/>
              <a:t>cheaper than process creation, thread switching lower overhead than context switching</a:t>
            </a:r>
          </a:p>
          <a:p>
            <a:r>
              <a:rPr lang="en-US" altLang="en-US" b="1" dirty="0"/>
              <a:t>Scalability – </a:t>
            </a:r>
            <a:r>
              <a:rPr lang="en-US" altLang="en-US" dirty="0"/>
              <a:t>process can take advantage of multicore architectures</a:t>
            </a:r>
            <a:br>
              <a:rPr lang="en-US" altLang="en-US" dirty="0"/>
            </a:br>
            <a:endParaRPr lang="en-US" altLang="en-US" dirty="0"/>
          </a:p>
          <a:p>
            <a:endParaRPr lang="en-US" altLang="en-US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5DAE641A-82E5-4706-A422-7614EF045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825" y="222868"/>
            <a:ext cx="76739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Multicore Programming</a:t>
            </a:r>
          </a:p>
        </p:txBody>
      </p:sp>
      <p:sp>
        <p:nvSpPr>
          <p:cNvPr id="18434" name="Content Placeholder 2">
            <a:extLst>
              <a:ext uri="{FF2B5EF4-FFF2-40B4-BE49-F238E27FC236}">
                <a16:creationId xmlns:a16="http://schemas.microsoft.com/office/drawing/2014/main" id="{A7143B20-81F4-4C44-95F8-D8F686F2F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002" y="1208088"/>
            <a:ext cx="7723188" cy="4530725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Multicore</a:t>
            </a:r>
            <a:r>
              <a:rPr lang="en-US" altLang="en-US" dirty="0"/>
              <a:t> 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multiprocessor</a:t>
            </a:r>
            <a:r>
              <a:rPr lang="en-US" altLang="en-US" dirty="0"/>
              <a:t> systems puts pressure on programmers, challenges include:</a:t>
            </a:r>
          </a:p>
          <a:p>
            <a:pPr lvl="1"/>
            <a:r>
              <a:rPr lang="en-US" altLang="en-US" b="1" dirty="0"/>
              <a:t>Dividing activities</a:t>
            </a:r>
          </a:p>
          <a:p>
            <a:pPr lvl="1"/>
            <a:r>
              <a:rPr lang="en-US" altLang="en-US" b="1" dirty="0"/>
              <a:t>Balance</a:t>
            </a:r>
          </a:p>
          <a:p>
            <a:pPr lvl="1"/>
            <a:r>
              <a:rPr lang="en-US" altLang="en-US" b="1" dirty="0"/>
              <a:t>Data splitting</a:t>
            </a:r>
          </a:p>
          <a:p>
            <a:pPr lvl="1"/>
            <a:r>
              <a:rPr lang="en-US" altLang="en-US" b="1" dirty="0"/>
              <a:t>Data dependency</a:t>
            </a:r>
          </a:p>
          <a:p>
            <a:pPr lvl="1"/>
            <a:r>
              <a:rPr lang="en-US" altLang="en-US" b="1" dirty="0"/>
              <a:t>Testing and debugging</a:t>
            </a:r>
          </a:p>
          <a:p>
            <a:r>
              <a:rPr lang="en-US" altLang="en-US" b="1" i="1" dirty="0"/>
              <a:t>Parallelism</a:t>
            </a:r>
            <a:r>
              <a:rPr lang="en-US" altLang="en-US" dirty="0"/>
              <a:t> implies a system can perform more than one task simultaneously</a:t>
            </a:r>
          </a:p>
          <a:p>
            <a:r>
              <a:rPr lang="en-US" altLang="en-US" b="1" i="1" dirty="0"/>
              <a:t>Concurrency</a:t>
            </a:r>
            <a:r>
              <a:rPr lang="en-US" altLang="en-US" dirty="0"/>
              <a:t> supports more than one task making progress</a:t>
            </a:r>
          </a:p>
          <a:p>
            <a:pPr lvl="1"/>
            <a:r>
              <a:rPr lang="en-US" altLang="en-US" dirty="0"/>
              <a:t>Single processor / core, scheduler providing concurrency</a:t>
            </a:r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>
            <a:extLst>
              <a:ext uri="{FF2B5EF4-FFF2-40B4-BE49-F238E27FC236}">
                <a16:creationId xmlns:a16="http://schemas.microsoft.com/office/drawing/2014/main" id="{99AFB161-ED93-4730-90CF-60C15CF17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22221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Concurrency vs. Parallelism</a:t>
            </a:r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D036A6A0-4CE5-4725-A8D1-F915FCFB1B90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802433" y="1163638"/>
            <a:ext cx="7912359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b="1" dirty="0"/>
              <a:t>Concurrent execution on single-core system:</a:t>
            </a:r>
          </a:p>
          <a:p>
            <a:endParaRPr lang="en-US" altLang="en-US" b="1" dirty="0"/>
          </a:p>
          <a:p>
            <a:endParaRPr lang="en-US" altLang="en-US" b="1" dirty="0"/>
          </a:p>
          <a:p>
            <a:endParaRPr lang="en-US" altLang="en-US" b="1" dirty="0"/>
          </a:p>
          <a:p>
            <a:pPr>
              <a:buFontTx/>
              <a:buNone/>
            </a:pPr>
            <a:endParaRPr lang="en-US" altLang="en-US" b="1" dirty="0"/>
          </a:p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b="1" dirty="0"/>
              <a:t>Parallelism on a multi-core system:</a:t>
            </a:r>
          </a:p>
          <a:p>
            <a:endParaRPr lang="en-US" altLang="en-US" b="1" dirty="0"/>
          </a:p>
        </p:txBody>
      </p:sp>
      <p:pic>
        <p:nvPicPr>
          <p:cNvPr id="20483" name="Picture 1">
            <a:extLst>
              <a:ext uri="{FF2B5EF4-FFF2-40B4-BE49-F238E27FC236}">
                <a16:creationId xmlns:a16="http://schemas.microsoft.com/office/drawing/2014/main" id="{823F49F0-4145-4731-B6A8-7F150BB638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13" y="1830388"/>
            <a:ext cx="7799387" cy="86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4" name="Picture 2">
            <a:extLst>
              <a:ext uri="{FF2B5EF4-FFF2-40B4-BE49-F238E27FC236}">
                <a16:creationId xmlns:a16="http://schemas.microsoft.com/office/drawing/2014/main" id="{B2355580-5738-4BF5-8926-EC91E28B04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5675" y="3647589"/>
            <a:ext cx="4692650" cy="162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>
            <a:extLst>
              <a:ext uri="{FF2B5EF4-FFF2-40B4-BE49-F238E27FC236}">
                <a16:creationId xmlns:a16="http://schemas.microsoft.com/office/drawing/2014/main" id="{CAD927E8-64DE-4671-A690-608A4563E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825" y="213537"/>
            <a:ext cx="76739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Multicore Programming</a:t>
            </a:r>
          </a:p>
        </p:txBody>
      </p:sp>
      <p:sp>
        <p:nvSpPr>
          <p:cNvPr id="22530" name="Content Placeholder 2">
            <a:extLst>
              <a:ext uri="{FF2B5EF4-FFF2-40B4-BE49-F238E27FC236}">
                <a16:creationId xmlns:a16="http://schemas.microsoft.com/office/drawing/2014/main" id="{9FB1F3DE-869C-4D7F-9A3F-53A8F1DC9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450" y="1233488"/>
            <a:ext cx="7156450" cy="4530725"/>
          </a:xfrm>
        </p:spPr>
        <p:txBody>
          <a:bodyPr/>
          <a:lstStyle/>
          <a:p>
            <a:r>
              <a:rPr lang="en-US" altLang="en-US" dirty="0"/>
              <a:t>Types of parallelism 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Data parallelism </a:t>
            </a:r>
            <a:r>
              <a:rPr lang="en-US" altLang="en-US" dirty="0"/>
              <a:t>– distributes subsets of the same data across multiple cores, same operation on each</a:t>
            </a:r>
            <a:endParaRPr lang="en-US" altLang="en-US" b="1" dirty="0">
              <a:solidFill>
                <a:srgbClr val="3366FF"/>
              </a:solidFill>
            </a:endParaRP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Task parallelism </a:t>
            </a:r>
            <a:r>
              <a:rPr lang="en-US" altLang="en-US" dirty="0"/>
              <a:t>– distributing threads across cores, each thread performing unique operation</a:t>
            </a:r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>
            <a:extLst>
              <a:ext uri="{FF2B5EF4-FFF2-40B4-BE49-F238E27FC236}">
                <a16:creationId xmlns:a16="http://schemas.microsoft.com/office/drawing/2014/main" id="{F297ACC2-6415-49B5-B30C-3C6679A21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Data and Task Parallelism</a:t>
            </a:r>
          </a:p>
        </p:txBody>
      </p:sp>
      <p:pic>
        <p:nvPicPr>
          <p:cNvPr id="24578" name="Picture 1">
            <a:extLst>
              <a:ext uri="{FF2B5EF4-FFF2-40B4-BE49-F238E27FC236}">
                <a16:creationId xmlns:a16="http://schemas.microsoft.com/office/drawing/2014/main" id="{7C4056CB-23F8-4E11-9D19-A3540316F5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300" y="1473200"/>
            <a:ext cx="5851525" cy="390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8081C5BE-54CB-4060-BFB3-18429EA462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9606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Amdahl’s Law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6A1AEDCB-DDB2-4B98-87D9-BFA079D3CF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9950" y="1106488"/>
            <a:ext cx="7900988" cy="4530725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cs typeface="ＭＳ Ｐゴシック" charset="-128"/>
              </a:rPr>
              <a:t>Identifies performance gains from adding additional cores to an application that has both serial and parallel components</a:t>
            </a:r>
          </a:p>
          <a:p>
            <a:pPr>
              <a:defRPr/>
            </a:pPr>
            <a:r>
              <a:rPr lang="en-US" altLang="en-US" i="1" dirty="0">
                <a:cs typeface="ＭＳ Ｐゴシック" charset="-128"/>
              </a:rPr>
              <a:t>S</a:t>
            </a:r>
            <a:r>
              <a:rPr lang="en-US" altLang="en-US" dirty="0">
                <a:cs typeface="ＭＳ Ｐゴシック" charset="-128"/>
              </a:rPr>
              <a:t> is serial portion</a:t>
            </a:r>
          </a:p>
          <a:p>
            <a:pPr>
              <a:defRPr/>
            </a:pPr>
            <a:r>
              <a:rPr lang="en-US" altLang="en-US" i="1" dirty="0">
                <a:cs typeface="ＭＳ Ｐゴシック" charset="-128"/>
              </a:rPr>
              <a:t>N</a:t>
            </a:r>
            <a:r>
              <a:rPr lang="en-US" altLang="en-US" dirty="0">
                <a:cs typeface="ＭＳ Ｐゴシック" charset="-128"/>
              </a:rPr>
              <a:t> processing cores</a:t>
            </a:r>
          </a:p>
          <a:p>
            <a:pPr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defRPr/>
            </a:pPr>
            <a:endParaRPr lang="en-US" altLang="en-US" dirty="0">
              <a:cs typeface="ＭＳ Ｐゴシック" charset="-128"/>
            </a:endParaRPr>
          </a:p>
          <a:p>
            <a:pPr marL="0" indent="0">
              <a:buFont typeface="Monotype Sorts" pitchFamily="-84" charset="2"/>
              <a:buNone/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defRPr/>
            </a:pPr>
            <a:r>
              <a:rPr lang="en-US" altLang="en-US" dirty="0">
                <a:cs typeface="ＭＳ Ｐゴシック" charset="-128"/>
              </a:rPr>
              <a:t>That is, if application is 75% parallel / 25% serial, moving from 1 to 2 cores results in speedup of 1.6 times</a:t>
            </a:r>
          </a:p>
          <a:p>
            <a:pPr>
              <a:defRPr/>
            </a:pPr>
            <a:r>
              <a:rPr lang="en-US" altLang="en-US" dirty="0">
                <a:cs typeface="ＭＳ Ｐゴシック" charset="-128"/>
              </a:rPr>
              <a:t>As </a:t>
            </a:r>
            <a:r>
              <a:rPr lang="en-US" altLang="en-US" i="1" dirty="0">
                <a:cs typeface="ＭＳ Ｐゴシック" charset="-128"/>
              </a:rPr>
              <a:t>N</a:t>
            </a:r>
            <a:r>
              <a:rPr lang="en-US" altLang="en-US" dirty="0">
                <a:cs typeface="ＭＳ Ｐゴシック" charset="-128"/>
              </a:rPr>
              <a:t> approaches infinity, speedup approaches 1 / </a:t>
            </a:r>
            <a:r>
              <a:rPr lang="en-US" altLang="en-US" i="1" dirty="0">
                <a:cs typeface="ＭＳ Ｐゴシック" charset="-128"/>
              </a:rPr>
              <a:t>S</a:t>
            </a:r>
          </a:p>
          <a:p>
            <a:pPr>
              <a:buFont typeface="Monotype Sorts" pitchFamily="-84" charset="2"/>
              <a:buNone/>
              <a:defRPr/>
            </a:pPr>
            <a:br>
              <a:rPr lang="en-US" altLang="en-US" b="1" dirty="0">
                <a:cs typeface="ＭＳ Ｐゴシック" charset="-128"/>
              </a:rPr>
            </a:br>
            <a:r>
              <a:rPr lang="en-US" altLang="en-US" b="1" dirty="0">
                <a:cs typeface="ＭＳ Ｐゴシック" charset="-128"/>
              </a:rPr>
              <a:t>Serial portion of an application has disproportionate  effect on performance gained by adding additional cores</a:t>
            </a:r>
          </a:p>
          <a:p>
            <a:pPr>
              <a:buFont typeface="Monotype Sorts" pitchFamily="-84" charset="2"/>
              <a:buNone/>
              <a:defRPr/>
            </a:pPr>
            <a:endParaRPr lang="en-US" altLang="en-US" sz="800" b="1" dirty="0">
              <a:cs typeface="ＭＳ Ｐゴシック" charset="-128"/>
            </a:endParaRPr>
          </a:p>
          <a:p>
            <a:pPr>
              <a:defRPr/>
            </a:pPr>
            <a:r>
              <a:rPr lang="en-US" altLang="en-US" dirty="0">
                <a:cs typeface="ＭＳ Ｐゴシック" charset="-128"/>
              </a:rPr>
              <a:t>But does the law take into account contemporary multicore systems?</a:t>
            </a:r>
          </a:p>
        </p:txBody>
      </p:sp>
      <p:pic>
        <p:nvPicPr>
          <p:cNvPr id="25603" name="Picture 1" descr="Screen Shot 2012-12-04 at 7.54.07 PM.png">
            <a:extLst>
              <a:ext uri="{FF2B5EF4-FFF2-40B4-BE49-F238E27FC236}">
                <a16:creationId xmlns:a16="http://schemas.microsoft.com/office/drawing/2014/main" id="{73692B8D-A89E-4AD0-A1E3-ED895D4F40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6117" y="2597182"/>
            <a:ext cx="2430463" cy="90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>
            <a:extLst>
              <a:ext uri="{FF2B5EF4-FFF2-40B4-BE49-F238E27FC236}">
                <a16:creationId xmlns:a16="http://schemas.microsoft.com/office/drawing/2014/main" id="{681CBC2B-DB28-4332-A1D1-A51237439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4522"/>
            <a:ext cx="8229600" cy="576262"/>
          </a:xfrm>
        </p:spPr>
        <p:txBody>
          <a:bodyPr/>
          <a:lstStyle/>
          <a:p>
            <a:r>
              <a:rPr lang="en-US" altLang="en-US" dirty="0"/>
              <a:t>Amdahl’s Law</a:t>
            </a:r>
          </a:p>
        </p:txBody>
      </p:sp>
      <p:pic>
        <p:nvPicPr>
          <p:cNvPr id="27650" name="Picture 3">
            <a:extLst>
              <a:ext uri="{FF2B5EF4-FFF2-40B4-BE49-F238E27FC236}">
                <a16:creationId xmlns:a16="http://schemas.microsoft.com/office/drawing/2014/main" id="{9173F832-D0B8-4682-8422-824AC9A2C50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4" t="5385" r="4016" b="1422"/>
          <a:stretch/>
        </p:blipFill>
        <p:spPr bwMode="auto">
          <a:xfrm>
            <a:off x="1257300" y="1143052"/>
            <a:ext cx="6819900" cy="4787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30A3DCFF-94B3-4FFC-B2A6-FE43AD179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625" y="229606"/>
            <a:ext cx="78263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User Threads and Kernel Threads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BA746B80-CDA4-4092-8028-5DF7040388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User threads </a:t>
            </a:r>
            <a:r>
              <a:rPr lang="en-US" altLang="en-US" dirty="0"/>
              <a:t>- management done by user-level threads library</a:t>
            </a:r>
          </a:p>
          <a:p>
            <a:r>
              <a:rPr lang="en-US" altLang="en-US" dirty="0"/>
              <a:t>Three primary thread libraries:</a:t>
            </a:r>
          </a:p>
          <a:p>
            <a:pPr lvl="1"/>
            <a:r>
              <a:rPr lang="en-US" altLang="en-US" dirty="0"/>
              <a:t> POSIX </a:t>
            </a:r>
            <a:r>
              <a:rPr lang="en-US" altLang="en-US" b="1" dirty="0" err="1">
                <a:solidFill>
                  <a:srgbClr val="006699"/>
                </a:solidFill>
                <a:latin typeface="+mj-lt"/>
              </a:rPr>
              <a:t>Pthreads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 Windows threads</a:t>
            </a:r>
          </a:p>
          <a:p>
            <a:pPr lvl="1"/>
            <a:r>
              <a:rPr lang="en-US" altLang="en-US" dirty="0"/>
              <a:t> Java threads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Kernel threads </a:t>
            </a:r>
            <a:r>
              <a:rPr lang="en-US" altLang="en-US" dirty="0"/>
              <a:t>- Supported by the Kernel</a:t>
            </a:r>
          </a:p>
          <a:p>
            <a:r>
              <a:rPr lang="en-US" altLang="en-US" dirty="0"/>
              <a:t>Examples – virtually all general-purpose operating systems, including:</a:t>
            </a:r>
          </a:p>
          <a:p>
            <a:pPr lvl="1"/>
            <a:r>
              <a:rPr lang="en-US" altLang="en-US" dirty="0"/>
              <a:t>Windows </a:t>
            </a:r>
          </a:p>
          <a:p>
            <a:pPr lvl="1"/>
            <a:r>
              <a:rPr lang="en-US" altLang="en-US" dirty="0"/>
              <a:t>Linux</a:t>
            </a:r>
          </a:p>
          <a:p>
            <a:pPr lvl="1"/>
            <a:r>
              <a:rPr lang="en-US" altLang="en-US" dirty="0"/>
              <a:t>Mac OS X</a:t>
            </a:r>
          </a:p>
          <a:p>
            <a:pPr lvl="1"/>
            <a:r>
              <a:rPr lang="en-US" altLang="en-US" dirty="0"/>
              <a:t>iOS</a:t>
            </a:r>
          </a:p>
          <a:p>
            <a:pPr lvl="1"/>
            <a:r>
              <a:rPr lang="en-US" altLang="en-US" dirty="0"/>
              <a:t>Android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>
            <a:extLst>
              <a:ext uri="{FF2B5EF4-FFF2-40B4-BE49-F238E27FC236}">
                <a16:creationId xmlns:a16="http://schemas.microsoft.com/office/drawing/2014/main" id="{13ED592C-0C4E-45A3-A96C-C192AD946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User and Kernel Threads</a:t>
            </a:r>
          </a:p>
        </p:txBody>
      </p:sp>
      <p:pic>
        <p:nvPicPr>
          <p:cNvPr id="30722" name="Picture 1">
            <a:extLst>
              <a:ext uri="{FF2B5EF4-FFF2-40B4-BE49-F238E27FC236}">
                <a16:creationId xmlns:a16="http://schemas.microsoft.com/office/drawing/2014/main" id="{2BDB5D90-D947-41F8-BDFE-DD7C4ED2F1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0938" y="1901825"/>
            <a:ext cx="4826000" cy="266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27C60FED-BD89-4655-8023-6D89846C21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623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Multithreading Models</a:t>
            </a:r>
          </a:p>
        </p:txBody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0986761F-3FB5-4AD0-B6CE-CA9BD246E1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Many-to-One</a:t>
            </a:r>
          </a:p>
          <a:p>
            <a:r>
              <a:rPr lang="en-US" altLang="en-US" dirty="0"/>
              <a:t>One-to-One</a:t>
            </a:r>
          </a:p>
          <a:p>
            <a:r>
              <a:rPr lang="en-US" altLang="en-US" dirty="0"/>
              <a:t>Many-to-Many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1428C89C-D1C7-44B6-B4FD-1F83ABA1D4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28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Many-to-One</a:t>
            </a:r>
          </a:p>
        </p:txBody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5D915EFA-C388-487C-B6EF-E80827050A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721730" cy="4530725"/>
          </a:xfrm>
        </p:spPr>
        <p:txBody>
          <a:bodyPr/>
          <a:lstStyle/>
          <a:p>
            <a:r>
              <a:rPr lang="en-US" altLang="en-US" dirty="0"/>
              <a:t>Many user-level threads mapped to single kernel thread</a:t>
            </a:r>
          </a:p>
          <a:p>
            <a:r>
              <a:rPr lang="en-US" altLang="en-US" dirty="0"/>
              <a:t>One thread blocking causes all to block</a:t>
            </a:r>
          </a:p>
          <a:p>
            <a:r>
              <a:rPr lang="en-US" altLang="en-US" dirty="0"/>
              <a:t>Multiple threads may not run in parallel on multicore system because only one may be in kernel at a time</a:t>
            </a:r>
          </a:p>
          <a:p>
            <a:r>
              <a:rPr lang="en-US" altLang="en-US" dirty="0"/>
              <a:t>Few systems currently use this model</a:t>
            </a:r>
          </a:p>
          <a:p>
            <a:r>
              <a:rPr lang="en-US" altLang="en-US" dirty="0"/>
              <a:t>Examples: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Solaris Green Threads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GNU Portable Threads</a:t>
            </a:r>
          </a:p>
        </p:txBody>
      </p:sp>
      <p:pic>
        <p:nvPicPr>
          <p:cNvPr id="33795" name="Picture 1">
            <a:extLst>
              <a:ext uri="{FF2B5EF4-FFF2-40B4-BE49-F238E27FC236}">
                <a16:creationId xmlns:a16="http://schemas.microsoft.com/office/drawing/2014/main" id="{6B215585-915F-44AD-918A-FBC0A438F8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8955" y="3672082"/>
            <a:ext cx="3959225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4FBEFB0E-7F3F-4EF4-9827-FE005FBB4E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452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One-to-One</a:t>
            </a: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C9353153-B94C-4BC4-A944-80F7FC0E31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49" y="1233488"/>
            <a:ext cx="7628423" cy="4530725"/>
          </a:xfrm>
        </p:spPr>
        <p:txBody>
          <a:bodyPr/>
          <a:lstStyle/>
          <a:p>
            <a:r>
              <a:rPr lang="en-US" altLang="en-US" dirty="0"/>
              <a:t>Each user-level thread maps to kernel thread</a:t>
            </a:r>
          </a:p>
          <a:p>
            <a:r>
              <a:rPr lang="en-US" altLang="en-US" dirty="0"/>
              <a:t>Creating a user-level thread creates a kernel thread</a:t>
            </a:r>
          </a:p>
          <a:p>
            <a:r>
              <a:rPr lang="en-US" altLang="en-US" dirty="0"/>
              <a:t>More concurrency than many-to-one</a:t>
            </a:r>
          </a:p>
          <a:p>
            <a:r>
              <a:rPr lang="en-US" altLang="en-US" dirty="0"/>
              <a:t>Number of threads per process sometimes restricted due to overhead</a:t>
            </a:r>
          </a:p>
          <a:p>
            <a:r>
              <a:rPr lang="en-US" altLang="en-US" dirty="0"/>
              <a:t>Examples</a:t>
            </a:r>
          </a:p>
          <a:p>
            <a:pPr lvl="1"/>
            <a:r>
              <a:rPr lang="en-US" altLang="en-US" dirty="0"/>
              <a:t>Windows</a:t>
            </a:r>
          </a:p>
          <a:p>
            <a:pPr lvl="1"/>
            <a:r>
              <a:rPr lang="en-US" altLang="en-US" dirty="0"/>
              <a:t>Linux</a:t>
            </a:r>
          </a:p>
        </p:txBody>
      </p:sp>
      <p:pic>
        <p:nvPicPr>
          <p:cNvPr id="35843" name="Picture 1">
            <a:extLst>
              <a:ext uri="{FF2B5EF4-FFF2-40B4-BE49-F238E27FC236}">
                <a16:creationId xmlns:a16="http://schemas.microsoft.com/office/drawing/2014/main" id="{EF8F904A-031A-45E1-82C4-C375DF8A63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4625" y="3349625"/>
            <a:ext cx="3914775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C6AC490D-7E71-499F-80A2-0817A44950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452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Many-to-Many Model</a:t>
            </a:r>
          </a:p>
        </p:txBody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6A3ECDFD-78CA-4E72-9500-110C179082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8" y="1155700"/>
            <a:ext cx="7607785" cy="4445000"/>
          </a:xfrm>
        </p:spPr>
        <p:txBody>
          <a:bodyPr/>
          <a:lstStyle/>
          <a:p>
            <a:r>
              <a:rPr lang="en-US" altLang="en-US" dirty="0"/>
              <a:t>Allows many user level threads to be mapped to many kernel threads</a:t>
            </a:r>
          </a:p>
          <a:p>
            <a:r>
              <a:rPr lang="en-US" altLang="en-US" dirty="0"/>
              <a:t>Allows the  operating system to create a sufficient number of kernel threads</a:t>
            </a:r>
          </a:p>
          <a:p>
            <a:r>
              <a:rPr lang="en-US" altLang="en-US" dirty="0"/>
              <a:t>Windows  with the </a:t>
            </a:r>
            <a:r>
              <a:rPr lang="en-US" altLang="en-US" i="1" dirty="0" err="1"/>
              <a:t>ThreadFiber</a:t>
            </a:r>
            <a:r>
              <a:rPr lang="en-US" altLang="en-US" dirty="0"/>
              <a:t> package</a:t>
            </a:r>
          </a:p>
          <a:p>
            <a:r>
              <a:rPr lang="en-US" altLang="en-US" dirty="0"/>
              <a:t>Otherwise not very common</a:t>
            </a:r>
          </a:p>
        </p:txBody>
      </p:sp>
      <p:pic>
        <p:nvPicPr>
          <p:cNvPr id="37891" name="Picture 1">
            <a:extLst>
              <a:ext uri="{FF2B5EF4-FFF2-40B4-BE49-F238E27FC236}">
                <a16:creationId xmlns:a16="http://schemas.microsoft.com/office/drawing/2014/main" id="{CCAA589D-3ED6-47FF-8B49-15D8580890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378200"/>
            <a:ext cx="3943350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A98DC882-9265-4F2A-AAAB-DD166A263E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83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Two-level Model</a:t>
            </a:r>
          </a:p>
        </p:txBody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A2E2CD6A-C625-47A4-91CD-EAFB177081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87" y="1155700"/>
            <a:ext cx="7641739" cy="4456113"/>
          </a:xfrm>
        </p:spPr>
        <p:txBody>
          <a:bodyPr/>
          <a:lstStyle/>
          <a:p>
            <a:r>
              <a:rPr lang="en-US" altLang="en-US" dirty="0"/>
              <a:t>Similar to M:M, except that it allows a user thread to be </a:t>
            </a:r>
            <a:r>
              <a:rPr lang="en-US" altLang="en-US" b="1" dirty="0"/>
              <a:t>bound</a:t>
            </a:r>
            <a:r>
              <a:rPr lang="en-US" altLang="en-US" dirty="0"/>
              <a:t> to kernel thread</a:t>
            </a:r>
          </a:p>
        </p:txBody>
      </p:sp>
      <p:pic>
        <p:nvPicPr>
          <p:cNvPr id="39939" name="Picture 1">
            <a:extLst>
              <a:ext uri="{FF2B5EF4-FFF2-40B4-BE49-F238E27FC236}">
                <a16:creationId xmlns:a16="http://schemas.microsoft.com/office/drawing/2014/main" id="{95426A68-78A8-483B-AE90-0C4299BC76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1100" y="2336800"/>
            <a:ext cx="4222750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>
            <a:extLst>
              <a:ext uri="{FF2B5EF4-FFF2-40B4-BE49-F238E27FC236}">
                <a16:creationId xmlns:a16="http://schemas.microsoft.com/office/drawing/2014/main" id="{26BE45F0-3DE5-4D5E-A6DF-893325F24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6906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Thread Libraries</a:t>
            </a:r>
          </a:p>
        </p:txBody>
      </p:sp>
      <p:sp>
        <p:nvSpPr>
          <p:cNvPr id="41986" name="Content Placeholder 2">
            <a:extLst>
              <a:ext uri="{FF2B5EF4-FFF2-40B4-BE49-F238E27FC236}">
                <a16:creationId xmlns:a16="http://schemas.microsoft.com/office/drawing/2014/main" id="{656EC163-3A42-463F-98B9-34FCCA5B7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442" y="1233488"/>
            <a:ext cx="7703067" cy="4530725"/>
          </a:xfrm>
        </p:spPr>
        <p:txBody>
          <a:bodyPr/>
          <a:lstStyle/>
          <a:p>
            <a:r>
              <a:rPr lang="en-US" altLang="en-US" b="1" dirty="0">
                <a:solidFill>
                  <a:srgbClr val="3366FF"/>
                </a:solidFill>
              </a:rPr>
              <a:t>Thread library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provides programmer with API for creating and managing threads</a:t>
            </a:r>
          </a:p>
          <a:p>
            <a:r>
              <a:rPr lang="en-US" altLang="en-US" dirty="0"/>
              <a:t>Two primary ways of implementing</a:t>
            </a:r>
          </a:p>
          <a:p>
            <a:pPr lvl="1"/>
            <a:r>
              <a:rPr lang="en-US" altLang="en-US" dirty="0"/>
              <a:t>Library entirely in user space</a:t>
            </a:r>
          </a:p>
          <a:p>
            <a:pPr lvl="1"/>
            <a:r>
              <a:rPr lang="en-US" altLang="en-US" dirty="0"/>
              <a:t>Kernel-level library supported by the OS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8F382B6E-9987-479D-9B85-186AB98DDD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027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Pthreads</a:t>
            </a:r>
            <a:endParaRPr lang="en-US" altLang="en-US" dirty="0"/>
          </a:p>
        </p:txBody>
      </p:sp>
      <p:sp>
        <p:nvSpPr>
          <p:cNvPr id="44034" name="Rectangle 3">
            <a:extLst>
              <a:ext uri="{FF2B5EF4-FFF2-40B4-BE49-F238E27FC236}">
                <a16:creationId xmlns:a16="http://schemas.microsoft.com/office/drawing/2014/main" id="{9DE6F01A-727E-4FA1-9360-3180865E3C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6" y="1233488"/>
            <a:ext cx="7613780" cy="4465637"/>
          </a:xfrm>
        </p:spPr>
        <p:txBody>
          <a:bodyPr/>
          <a:lstStyle/>
          <a:p>
            <a:r>
              <a:rPr lang="en-US" altLang="en-US" dirty="0"/>
              <a:t>May be provided either as user-level or kernel-level</a:t>
            </a:r>
          </a:p>
          <a:p>
            <a:r>
              <a:rPr lang="en-US" altLang="en-US" dirty="0"/>
              <a:t>A POSIX standard (IEEE 1003.1c) API for thread creation and synchronization</a:t>
            </a:r>
          </a:p>
          <a:p>
            <a:r>
              <a:rPr lang="en-US" altLang="en-US" b="1" i="1" dirty="0"/>
              <a:t>Specification</a:t>
            </a:r>
            <a:r>
              <a:rPr lang="en-US" altLang="en-US" dirty="0"/>
              <a:t>, not </a:t>
            </a:r>
            <a:r>
              <a:rPr lang="en-US" altLang="en-US" b="1" i="1" dirty="0"/>
              <a:t>implementation</a:t>
            </a:r>
            <a:endParaRPr lang="en-US" altLang="en-US" dirty="0"/>
          </a:p>
          <a:p>
            <a:r>
              <a:rPr lang="en-US" altLang="en-US" dirty="0"/>
              <a:t>API specifies behavior of the thread library, implementation is up to development of the library</a:t>
            </a:r>
          </a:p>
          <a:p>
            <a:r>
              <a:rPr lang="en-US" altLang="en-US" dirty="0"/>
              <a:t>Common in UNIX operating systems (Linux &amp; Mac OS X)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>
            <a:extLst>
              <a:ext uri="{FF2B5EF4-FFF2-40B4-BE49-F238E27FC236}">
                <a16:creationId xmlns:a16="http://schemas.microsoft.com/office/drawing/2014/main" id="{0043C8C3-F0F7-45F5-8A7A-9650671B0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0275"/>
            <a:ext cx="8229600" cy="576262"/>
          </a:xfrm>
        </p:spPr>
        <p:txBody>
          <a:bodyPr/>
          <a:lstStyle/>
          <a:p>
            <a:r>
              <a:rPr lang="en-US" altLang="en-US" dirty="0" err="1"/>
              <a:t>Pthreads</a:t>
            </a:r>
            <a:r>
              <a:rPr lang="en-US" altLang="en-US" dirty="0"/>
              <a:t> Example</a:t>
            </a:r>
          </a:p>
        </p:txBody>
      </p:sp>
      <p:pic>
        <p:nvPicPr>
          <p:cNvPr id="46082" name="Picture 1">
            <a:extLst>
              <a:ext uri="{FF2B5EF4-FFF2-40B4-BE49-F238E27FC236}">
                <a16:creationId xmlns:a16="http://schemas.microsoft.com/office/drawing/2014/main" id="{9A3D775D-6FA1-4646-A7D2-CE6E80B510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863" y="949325"/>
            <a:ext cx="7137400" cy="535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>
            <a:extLst>
              <a:ext uri="{FF2B5EF4-FFF2-40B4-BE49-F238E27FC236}">
                <a16:creationId xmlns:a16="http://schemas.microsoft.com/office/drawing/2014/main" id="{9245F2F6-2CCF-4D21-8E1F-CB638D277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4522"/>
            <a:ext cx="8229600" cy="576262"/>
          </a:xfrm>
        </p:spPr>
        <p:txBody>
          <a:bodyPr/>
          <a:lstStyle/>
          <a:p>
            <a:r>
              <a:rPr lang="en-US" altLang="en-US" dirty="0" err="1"/>
              <a:t>Pthreads</a:t>
            </a:r>
            <a:r>
              <a:rPr lang="en-US" altLang="en-US" dirty="0"/>
              <a:t> Example (Cont.)</a:t>
            </a:r>
          </a:p>
        </p:txBody>
      </p:sp>
      <p:pic>
        <p:nvPicPr>
          <p:cNvPr id="47106" name="Picture 2">
            <a:extLst>
              <a:ext uri="{FF2B5EF4-FFF2-40B4-BE49-F238E27FC236}">
                <a16:creationId xmlns:a16="http://schemas.microsoft.com/office/drawing/2014/main" id="{78685247-D5BA-441C-A8DF-77393E66C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057400"/>
            <a:ext cx="5638800" cy="273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>
            <a:extLst>
              <a:ext uri="{FF2B5EF4-FFF2-40B4-BE49-F238E27FC236}">
                <a16:creationId xmlns:a16="http://schemas.microsoft.com/office/drawing/2014/main" id="{3030B908-CBBC-46B7-AB64-06E0AE91F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938" y="222868"/>
            <a:ext cx="7793037" cy="576262"/>
          </a:xfrm>
        </p:spPr>
        <p:txBody>
          <a:bodyPr/>
          <a:lstStyle/>
          <a:p>
            <a:r>
              <a:rPr lang="en-US" altLang="en-US" dirty="0" err="1"/>
              <a:t>Pthreads</a:t>
            </a:r>
            <a:r>
              <a:rPr lang="en-US" altLang="en-US" dirty="0"/>
              <a:t> Code for Joining 10 Threads</a:t>
            </a:r>
          </a:p>
        </p:txBody>
      </p:sp>
      <p:pic>
        <p:nvPicPr>
          <p:cNvPr id="48130" name="Picture 1">
            <a:extLst>
              <a:ext uri="{FF2B5EF4-FFF2-40B4-BE49-F238E27FC236}">
                <a16:creationId xmlns:a16="http://schemas.microsoft.com/office/drawing/2014/main" id="{67BD81D9-A50E-47F3-9F79-4E6B618DDE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613" y="1447800"/>
            <a:ext cx="5438775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>
            <a:extLst>
              <a:ext uri="{FF2B5EF4-FFF2-40B4-BE49-F238E27FC236}">
                <a16:creationId xmlns:a16="http://schemas.microsoft.com/office/drawing/2014/main" id="{7CECD3BA-62CC-49CF-A3B0-2E894A8AF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26237"/>
            <a:ext cx="7239000" cy="576262"/>
          </a:xfrm>
        </p:spPr>
        <p:txBody>
          <a:bodyPr/>
          <a:lstStyle/>
          <a:p>
            <a:r>
              <a:rPr lang="en-US" altLang="en-US" sz="3000" dirty="0"/>
              <a:t>Windows  Multithreaded C Program (1)</a:t>
            </a:r>
          </a:p>
        </p:txBody>
      </p:sp>
      <p:pic>
        <p:nvPicPr>
          <p:cNvPr id="49154" name="Picture 1">
            <a:extLst>
              <a:ext uri="{FF2B5EF4-FFF2-40B4-BE49-F238E27FC236}">
                <a16:creationId xmlns:a16="http://schemas.microsoft.com/office/drawing/2014/main" id="{059F8F90-7DAA-4C82-9441-2A6B6B6451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200" y="1587500"/>
            <a:ext cx="6829160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>
            <a:extLst>
              <a:ext uri="{FF2B5EF4-FFF2-40B4-BE49-F238E27FC236}">
                <a16:creationId xmlns:a16="http://schemas.microsoft.com/office/drawing/2014/main" id="{1E8315E7-366C-43D5-A792-8CEC9E0CA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359" y="222868"/>
            <a:ext cx="8026141" cy="576262"/>
          </a:xfrm>
        </p:spPr>
        <p:txBody>
          <a:bodyPr/>
          <a:lstStyle/>
          <a:p>
            <a:r>
              <a:rPr lang="en-US" altLang="en-US" sz="3000" dirty="0"/>
              <a:t>Windows  Multithreaded C Program (2)</a:t>
            </a:r>
          </a:p>
        </p:txBody>
      </p:sp>
      <p:pic>
        <p:nvPicPr>
          <p:cNvPr id="50178" name="Picture 3">
            <a:extLst>
              <a:ext uri="{FF2B5EF4-FFF2-40B4-BE49-F238E27FC236}">
                <a16:creationId xmlns:a16="http://schemas.microsoft.com/office/drawing/2014/main" id="{52F3D5AE-9E92-48CC-B027-69AF987155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4" t="1459" r="5753"/>
          <a:stretch/>
        </p:blipFill>
        <p:spPr bwMode="auto">
          <a:xfrm>
            <a:off x="1701800" y="953469"/>
            <a:ext cx="5943600" cy="568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4">
            <a:extLst>
              <a:ext uri="{FF2B5EF4-FFF2-40B4-BE49-F238E27FC236}">
                <a16:creationId xmlns:a16="http://schemas.microsoft.com/office/drawing/2014/main" id="{C1AEEAB0-CD68-4885-8DE2-6E1B4D4613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623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Java Threads</a:t>
            </a:r>
          </a:p>
        </p:txBody>
      </p:sp>
      <p:sp>
        <p:nvSpPr>
          <p:cNvPr id="51202" name="Rectangle 5">
            <a:extLst>
              <a:ext uri="{FF2B5EF4-FFF2-40B4-BE49-F238E27FC236}">
                <a16:creationId xmlns:a16="http://schemas.microsoft.com/office/drawing/2014/main" id="{570CFFC5-7BD7-485F-B933-EB13E069C1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213" y="1231900"/>
            <a:ext cx="7688975" cy="3746500"/>
          </a:xfrm>
        </p:spPr>
        <p:txBody>
          <a:bodyPr/>
          <a:lstStyle/>
          <a:p>
            <a:r>
              <a:rPr lang="en-US" altLang="en-US" dirty="0"/>
              <a:t>Java threads are managed by the JVM</a:t>
            </a:r>
          </a:p>
          <a:p>
            <a:r>
              <a:rPr lang="en-US" altLang="en-US" dirty="0"/>
              <a:t>Typically implemented using the threads model provided by underlying OS</a:t>
            </a:r>
          </a:p>
          <a:p>
            <a:r>
              <a:rPr lang="en-US" altLang="en-US" dirty="0"/>
              <a:t>Java threads may be created by:</a:t>
            </a:r>
          </a:p>
          <a:p>
            <a:pPr lvl="1"/>
            <a:r>
              <a:rPr lang="en-US" altLang="en-US" dirty="0"/>
              <a:t>Extending Thread class</a:t>
            </a:r>
          </a:p>
          <a:p>
            <a:pPr lvl="1"/>
            <a:r>
              <a:rPr lang="en-US" altLang="en-US" dirty="0"/>
              <a:t>Implementing the Runnable interface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  <a:p>
            <a:pPr marL="457200" lvl="1" indent="0">
              <a:buNone/>
            </a:pPr>
            <a:endParaRPr lang="en-US" altLang="en-US" sz="900" dirty="0"/>
          </a:p>
          <a:p>
            <a:pPr lvl="1"/>
            <a:r>
              <a:rPr lang="en-US" altLang="en-US" dirty="0"/>
              <a:t>Standard practice is to implement Runnable interface</a:t>
            </a:r>
            <a:br>
              <a:rPr lang="en-US" altLang="en-US" dirty="0"/>
            </a:br>
            <a:endParaRPr lang="en-US" altLang="en-US" dirty="0"/>
          </a:p>
        </p:txBody>
      </p:sp>
      <p:pic>
        <p:nvPicPr>
          <p:cNvPr id="51203" name="Picture 1" descr="Screen Shot 2012-12-04 at 9.09.28 PM.png">
            <a:extLst>
              <a:ext uri="{FF2B5EF4-FFF2-40B4-BE49-F238E27FC236}">
                <a16:creationId xmlns:a16="http://schemas.microsoft.com/office/drawing/2014/main" id="{0C728E61-EF06-4D16-9CCE-0AA7C7626B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8675" y="3503613"/>
            <a:ext cx="3773488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le 1">
            <a:extLst>
              <a:ext uri="{FF2B5EF4-FFF2-40B4-BE49-F238E27FC236}">
                <a16:creationId xmlns:a16="http://schemas.microsoft.com/office/drawing/2014/main" id="{C60F206A-FBEA-44F3-B6C2-45680ED56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4522"/>
            <a:ext cx="8229600" cy="576262"/>
          </a:xfrm>
        </p:spPr>
        <p:txBody>
          <a:bodyPr/>
          <a:lstStyle/>
          <a:p>
            <a:r>
              <a:rPr lang="en-US" altLang="en-US" dirty="0"/>
              <a:t>Java Threads</a:t>
            </a:r>
          </a:p>
        </p:txBody>
      </p:sp>
      <p:sp>
        <p:nvSpPr>
          <p:cNvPr id="53250" name="TextBox 2">
            <a:extLst>
              <a:ext uri="{FF2B5EF4-FFF2-40B4-BE49-F238E27FC236}">
                <a16:creationId xmlns:a16="http://schemas.microsoft.com/office/drawing/2014/main" id="{93AD19CF-3C73-477D-B858-C3606B2B5F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1413" y="1062038"/>
            <a:ext cx="4657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>
                <a:latin typeface="Verdana" panose="020B0604030504040204" pitchFamily="34" charset="0"/>
              </a:rPr>
              <a:t>Implementing Runnable interface:</a:t>
            </a:r>
          </a:p>
        </p:txBody>
      </p:sp>
      <p:pic>
        <p:nvPicPr>
          <p:cNvPr id="53251" name="Picture 3">
            <a:extLst>
              <a:ext uri="{FF2B5EF4-FFF2-40B4-BE49-F238E27FC236}">
                <a16:creationId xmlns:a16="http://schemas.microsoft.com/office/drawing/2014/main" id="{3A6E59B6-1369-4D02-9B41-9466C54EE0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75" y="1492250"/>
            <a:ext cx="4826000" cy="157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2" name="Rectangle 4">
            <a:extLst>
              <a:ext uri="{FF2B5EF4-FFF2-40B4-BE49-F238E27FC236}">
                <a16:creationId xmlns:a16="http://schemas.microsoft.com/office/drawing/2014/main" id="{5D600B74-6680-4450-BB6F-CBCFF22AA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4438" y="3014663"/>
            <a:ext cx="2546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 dirty="0">
                <a:latin typeface="Verdana" panose="020B0604030504040204" pitchFamily="34" charset="0"/>
              </a:rPr>
              <a:t>Creating a thread:</a:t>
            </a:r>
          </a:p>
        </p:txBody>
      </p:sp>
      <p:pic>
        <p:nvPicPr>
          <p:cNvPr id="53253" name="Picture 5">
            <a:extLst>
              <a:ext uri="{FF2B5EF4-FFF2-40B4-BE49-F238E27FC236}">
                <a16:creationId xmlns:a16="http://schemas.microsoft.com/office/drawing/2014/main" id="{3157C5FE-DF44-43EE-B465-730C09A7D0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413" y="3494088"/>
            <a:ext cx="4800600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4" name="Rectangle 6">
            <a:extLst>
              <a:ext uri="{FF2B5EF4-FFF2-40B4-BE49-F238E27FC236}">
                <a16:creationId xmlns:a16="http://schemas.microsoft.com/office/drawing/2014/main" id="{B7EDA4AE-092F-4D4E-9689-344AD518F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4438" y="4219575"/>
            <a:ext cx="28495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>
                <a:latin typeface="Verdana" panose="020B0604030504040204" pitchFamily="34" charset="0"/>
              </a:rPr>
              <a:t>Waiting on a thread:</a:t>
            </a:r>
          </a:p>
        </p:txBody>
      </p:sp>
      <p:pic>
        <p:nvPicPr>
          <p:cNvPr id="53255" name="Picture 7">
            <a:extLst>
              <a:ext uri="{FF2B5EF4-FFF2-40B4-BE49-F238E27FC236}">
                <a16:creationId xmlns:a16="http://schemas.microsoft.com/office/drawing/2014/main" id="{6EBBEE03-6B80-4FB8-8BA5-A69C6B3074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75" y="4657725"/>
            <a:ext cx="4114800" cy="127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>
            <a:extLst>
              <a:ext uri="{FF2B5EF4-FFF2-40B4-BE49-F238E27FC236}">
                <a16:creationId xmlns:a16="http://schemas.microsoft.com/office/drawing/2014/main" id="{13BB46A0-1D14-4FC6-A460-C90F6E2D3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Java Executor Framework (1)</a:t>
            </a:r>
          </a:p>
        </p:txBody>
      </p:sp>
      <p:sp>
        <p:nvSpPr>
          <p:cNvPr id="54274" name="Content Placeholder 2">
            <a:extLst>
              <a:ext uri="{FF2B5EF4-FFF2-40B4-BE49-F238E27FC236}">
                <a16:creationId xmlns:a16="http://schemas.microsoft.com/office/drawing/2014/main" id="{0D32A769-ACA8-4BB5-9FC7-1A36C936D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dirty="0"/>
              <a:t>Rather than explicitly creating threads, Java also allows thread creation around the Executor interface:</a:t>
            </a: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endParaRPr lang="en-US" altLang="en-US" sz="2000" dirty="0"/>
          </a:p>
          <a:p>
            <a:r>
              <a:rPr lang="en-US" altLang="en-US" sz="2000" dirty="0"/>
              <a:t>The Executor is used as follows:</a:t>
            </a:r>
            <a:br>
              <a:rPr lang="en-US" altLang="en-US" sz="2000" dirty="0"/>
            </a:br>
            <a:br>
              <a:rPr lang="en-US" altLang="en-US" sz="2000" dirty="0"/>
            </a:br>
            <a:endParaRPr lang="en-US" altLang="en-US" sz="2000" dirty="0"/>
          </a:p>
        </p:txBody>
      </p:sp>
      <p:pic>
        <p:nvPicPr>
          <p:cNvPr id="54275" name="Picture 3">
            <a:extLst>
              <a:ext uri="{FF2B5EF4-FFF2-40B4-BE49-F238E27FC236}">
                <a16:creationId xmlns:a16="http://schemas.microsoft.com/office/drawing/2014/main" id="{925F2420-3B38-4BBF-95DB-0D1FB6F500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463" y="2118764"/>
            <a:ext cx="5249036" cy="14372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76" name="Picture 4">
            <a:extLst>
              <a:ext uri="{FF2B5EF4-FFF2-40B4-BE49-F238E27FC236}">
                <a16:creationId xmlns:a16="http://schemas.microsoft.com/office/drawing/2014/main" id="{83D93813-F376-44DC-802B-F865A1A104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4701" y="4273550"/>
            <a:ext cx="4552000" cy="922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le 1">
            <a:extLst>
              <a:ext uri="{FF2B5EF4-FFF2-40B4-BE49-F238E27FC236}">
                <a16:creationId xmlns:a16="http://schemas.microsoft.com/office/drawing/2014/main" id="{59A55039-19E6-4761-9A88-54FE62723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Java Executor Framework (2)</a:t>
            </a:r>
          </a:p>
        </p:txBody>
      </p:sp>
      <p:pic>
        <p:nvPicPr>
          <p:cNvPr id="55298" name="Picture 4">
            <a:extLst>
              <a:ext uri="{FF2B5EF4-FFF2-40B4-BE49-F238E27FC236}">
                <a16:creationId xmlns:a16="http://schemas.microsoft.com/office/drawing/2014/main" id="{FA43B0FA-FE5E-400F-8A43-708B3CC2939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89" b="4609"/>
          <a:stretch/>
        </p:blipFill>
        <p:spPr bwMode="auto">
          <a:xfrm>
            <a:off x="1473200" y="1033731"/>
            <a:ext cx="6937308" cy="53419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>
            <a:extLst>
              <a:ext uri="{FF2B5EF4-FFF2-40B4-BE49-F238E27FC236}">
                <a16:creationId xmlns:a16="http://schemas.microsoft.com/office/drawing/2014/main" id="{D3D9F2F0-9A6E-4213-BD42-4A873B705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Java Executor Framework (3)</a:t>
            </a:r>
          </a:p>
        </p:txBody>
      </p:sp>
      <p:pic>
        <p:nvPicPr>
          <p:cNvPr id="56322" name="Picture 2">
            <a:extLst>
              <a:ext uri="{FF2B5EF4-FFF2-40B4-BE49-F238E27FC236}">
                <a16:creationId xmlns:a16="http://schemas.microsoft.com/office/drawing/2014/main" id="{60CA2FFB-E1A5-46F6-B0CB-5515AE97949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26"/>
          <a:stretch/>
        </p:blipFill>
        <p:spPr bwMode="auto">
          <a:xfrm>
            <a:off x="774700" y="1453131"/>
            <a:ext cx="7912100" cy="3614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EF40B-8258-1C50-595A-6227E7D87B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Take a Break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5867001"/>
      </p:ext>
    </p:extLst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15497</TotalTime>
  <Words>835</Words>
  <Application>Microsoft Office PowerPoint</Application>
  <PresentationFormat>全屏显示(4:3)</PresentationFormat>
  <Paragraphs>157</Paragraphs>
  <Slides>33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2" baseType="lpstr">
      <vt:lpstr>Monotype Sorts</vt:lpstr>
      <vt:lpstr>ＭＳ Ｐゴシック</vt:lpstr>
      <vt:lpstr>Arial</vt:lpstr>
      <vt:lpstr>Helvetica</vt:lpstr>
      <vt:lpstr>Times New Roman</vt:lpstr>
      <vt:lpstr>Verdana</vt:lpstr>
      <vt:lpstr>Webdings</vt:lpstr>
      <vt:lpstr>Wingdings</vt:lpstr>
      <vt:lpstr>os-8</vt:lpstr>
      <vt:lpstr>Chapter 4  Threads &amp; Concurrency (1) </vt:lpstr>
      <vt:lpstr>Outline</vt:lpstr>
      <vt:lpstr>Objectives</vt:lpstr>
      <vt:lpstr>Motivation</vt:lpstr>
      <vt:lpstr>Single and Multithreaded Processes</vt:lpstr>
      <vt:lpstr>Multithreaded Server Architecture</vt:lpstr>
      <vt:lpstr>Benefits</vt:lpstr>
      <vt:lpstr>Multicore Programming</vt:lpstr>
      <vt:lpstr>Concurrency vs. Parallelism</vt:lpstr>
      <vt:lpstr>Multicore Programming</vt:lpstr>
      <vt:lpstr>Data and Task Parallelism</vt:lpstr>
      <vt:lpstr>Amdahl’s Law</vt:lpstr>
      <vt:lpstr>Amdahl’s Law</vt:lpstr>
      <vt:lpstr>User Threads and Kernel Threads</vt:lpstr>
      <vt:lpstr>User and Kernel Threads</vt:lpstr>
      <vt:lpstr>Multithreading Models</vt:lpstr>
      <vt:lpstr>Many-to-One</vt:lpstr>
      <vt:lpstr>One-to-One</vt:lpstr>
      <vt:lpstr>Many-to-Many Model</vt:lpstr>
      <vt:lpstr>Two-level Model</vt:lpstr>
      <vt:lpstr>Thread Libraries</vt:lpstr>
      <vt:lpstr>Pthreads</vt:lpstr>
      <vt:lpstr>Pthreads Example</vt:lpstr>
      <vt:lpstr>Pthreads Example (Cont.)</vt:lpstr>
      <vt:lpstr>Pthreads Code for Joining 10 Threads</vt:lpstr>
      <vt:lpstr>Windows  Multithreaded C Program (1)</vt:lpstr>
      <vt:lpstr>Windows  Multithreaded C Program (2)</vt:lpstr>
      <vt:lpstr>Java Threads</vt:lpstr>
      <vt:lpstr>Java Threads</vt:lpstr>
      <vt:lpstr>Java Executor Framework (1)</vt:lpstr>
      <vt:lpstr>Java Executor Framework (2)</vt:lpstr>
      <vt:lpstr>Java Executor Framework (3)</vt:lpstr>
      <vt:lpstr>Take a Break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Yeh-Ching Chung</cp:lastModifiedBy>
  <cp:revision>233</cp:revision>
  <cp:lastPrinted>2013-09-10T17:57:57Z</cp:lastPrinted>
  <dcterms:created xsi:type="dcterms:W3CDTF">2011-01-13T23:43:38Z</dcterms:created>
  <dcterms:modified xsi:type="dcterms:W3CDTF">2025-10-14T00:01:21Z</dcterms:modified>
</cp:coreProperties>
</file>