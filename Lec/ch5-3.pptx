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64" r:id="rId1"/>
  </p:sldMasterIdLst>
  <p:notesMasterIdLst>
    <p:notesMasterId r:id="rId30"/>
  </p:notesMasterIdLst>
  <p:handoutMasterIdLst>
    <p:handoutMasterId r:id="rId31"/>
  </p:handoutMasterIdLst>
  <p:sldIdLst>
    <p:sldId id="331" r:id="rId2"/>
    <p:sldId id="374" r:id="rId3"/>
    <p:sldId id="375" r:id="rId4"/>
    <p:sldId id="376" r:id="rId5"/>
    <p:sldId id="377" r:id="rId6"/>
    <p:sldId id="378" r:id="rId7"/>
    <p:sldId id="379" r:id="rId8"/>
    <p:sldId id="410" r:id="rId9"/>
    <p:sldId id="380" r:id="rId10"/>
    <p:sldId id="381" r:id="rId11"/>
    <p:sldId id="382" r:id="rId12"/>
    <p:sldId id="409" r:id="rId13"/>
    <p:sldId id="383" r:id="rId14"/>
    <p:sldId id="384" r:id="rId15"/>
    <p:sldId id="398" r:id="rId16"/>
    <p:sldId id="385" r:id="rId17"/>
    <p:sldId id="386" r:id="rId18"/>
    <p:sldId id="387" r:id="rId19"/>
    <p:sldId id="388" r:id="rId20"/>
    <p:sldId id="389" r:id="rId21"/>
    <p:sldId id="390" r:id="rId22"/>
    <p:sldId id="391" r:id="rId23"/>
    <p:sldId id="392" r:id="rId24"/>
    <p:sldId id="393" r:id="rId25"/>
    <p:sldId id="394" r:id="rId26"/>
    <p:sldId id="395" r:id="rId27"/>
    <p:sldId id="396" r:id="rId28"/>
    <p:sldId id="417" r:id="rId29"/>
  </p:sldIdLst>
  <p:sldSz cx="9144000" cy="6858000" type="screen4x3"/>
  <p:notesSz cx="7086600" cy="93726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816">
          <p15:clr>
            <a:srgbClr val="A4A3A4"/>
          </p15:clr>
        </p15:guide>
        <p15:guide id="2" pos="4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CCECFF"/>
    <a:srgbClr val="66CCFF"/>
    <a:srgbClr val="CCFFFF"/>
    <a:srgbClr val="F8F8F8"/>
    <a:srgbClr val="EAEAEA"/>
    <a:srgbClr val="CC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485" autoAdjust="0"/>
    <p:restoredTop sz="94635"/>
  </p:normalViewPr>
  <p:slideViewPr>
    <p:cSldViewPr snapToGrid="0">
      <p:cViewPr varScale="1">
        <p:scale>
          <a:sx n="56" d="100"/>
          <a:sy n="56" d="100"/>
        </p:scale>
        <p:origin x="1436" y="36"/>
      </p:cViewPr>
      <p:guideLst>
        <p:guide orient="horz" pos="816"/>
        <p:guide pos="4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" d="1"/>
        <a:sy n="1" d="1"/>
      </p:scale>
      <p:origin x="0" y="-96"/>
    </p:cViewPr>
  </p:sorter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>
            <a:extLst>
              <a:ext uri="{FF2B5EF4-FFF2-40B4-BE49-F238E27FC236}">
                <a16:creationId xmlns:a16="http://schemas.microsoft.com/office/drawing/2014/main" id="{2027A3F3-A935-4BDC-812E-9120B643162F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06738" cy="446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89090" tIns="44546" rIns="89090" bIns="44546" numCol="1" anchor="ctr" anchorCtr="0" compatLnSpc="1">
            <a:prstTxWarp prst="textNoShape">
              <a:avLst/>
            </a:prstTxWarp>
          </a:bodyPr>
          <a:lstStyle>
            <a:lvl1pPr defTabSz="890588">
              <a:defRPr sz="1100">
                <a:latin typeface="Helvetica" panose="020B0604020202020204" pitchFamily="34" charset="0"/>
              </a:defRPr>
            </a:lvl1pPr>
          </a:lstStyle>
          <a:p>
            <a:endParaRPr lang="en-US" altLang="en-US"/>
          </a:p>
        </p:txBody>
      </p:sp>
      <p:sp>
        <p:nvSpPr>
          <p:cNvPr id="46083" name="Rectangle 3">
            <a:extLst>
              <a:ext uri="{FF2B5EF4-FFF2-40B4-BE49-F238E27FC236}">
                <a16:creationId xmlns:a16="http://schemas.microsoft.com/office/drawing/2014/main" id="{7271601B-176A-4BB3-AC87-58251574C751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94150" y="0"/>
            <a:ext cx="3105150" cy="446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89090" tIns="44546" rIns="89090" bIns="44546" numCol="1" anchor="ctr" anchorCtr="0" compatLnSpc="1">
            <a:prstTxWarp prst="textNoShape">
              <a:avLst/>
            </a:prstTxWarp>
          </a:bodyPr>
          <a:lstStyle>
            <a:lvl1pPr algn="r" defTabSz="890588">
              <a:defRPr sz="1100">
                <a:latin typeface="Helvetica" panose="020B0604020202020204" pitchFamily="34" charset="0"/>
              </a:defRPr>
            </a:lvl1pPr>
          </a:lstStyle>
          <a:p>
            <a:endParaRPr lang="en-US" altLang="en-US"/>
          </a:p>
        </p:txBody>
      </p:sp>
      <p:sp>
        <p:nvSpPr>
          <p:cNvPr id="46084" name="Rectangle 4">
            <a:extLst>
              <a:ext uri="{FF2B5EF4-FFF2-40B4-BE49-F238E27FC236}">
                <a16:creationId xmlns:a16="http://schemas.microsoft.com/office/drawing/2014/main" id="{AC7F65B7-06EB-44DB-B452-D2D383181528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939213"/>
            <a:ext cx="3106738" cy="446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89090" tIns="44546" rIns="89090" bIns="44546" numCol="1" anchor="b" anchorCtr="0" compatLnSpc="1">
            <a:prstTxWarp prst="textNoShape">
              <a:avLst/>
            </a:prstTxWarp>
          </a:bodyPr>
          <a:lstStyle>
            <a:lvl1pPr defTabSz="890588">
              <a:defRPr sz="1100">
                <a:latin typeface="Helvetica" panose="020B0604020202020204" pitchFamily="34" charset="0"/>
              </a:defRPr>
            </a:lvl1pPr>
          </a:lstStyle>
          <a:p>
            <a:endParaRPr lang="en-US" altLang="en-US"/>
          </a:p>
        </p:txBody>
      </p:sp>
      <p:sp>
        <p:nvSpPr>
          <p:cNvPr id="46085" name="Rectangle 5">
            <a:extLst>
              <a:ext uri="{FF2B5EF4-FFF2-40B4-BE49-F238E27FC236}">
                <a16:creationId xmlns:a16="http://schemas.microsoft.com/office/drawing/2014/main" id="{B2508938-9467-485D-A454-F81218F2ADB1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94150" y="8939213"/>
            <a:ext cx="3105150" cy="446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89090" tIns="44546" rIns="89090" bIns="44546" numCol="1" anchor="b" anchorCtr="0" compatLnSpc="1">
            <a:prstTxWarp prst="textNoShape">
              <a:avLst/>
            </a:prstTxWarp>
          </a:bodyPr>
          <a:lstStyle>
            <a:lvl1pPr algn="r" defTabSz="890588">
              <a:defRPr sz="1100">
                <a:latin typeface="Helvetica" charset="0"/>
                <a:ea typeface="MS PGothic" charset="-128"/>
              </a:defRPr>
            </a:lvl1pPr>
          </a:lstStyle>
          <a:p>
            <a:pPr>
              <a:defRPr/>
            </a:pPr>
            <a:fld id="{E0F0762C-192C-43F0-9235-1ED3B30BABF7}" type="slidenum">
              <a:rPr lang="en-US" altLang="x-none"/>
              <a:pPr>
                <a:defRPr/>
              </a:pPr>
              <a:t>‹#›</a:t>
            </a:fld>
            <a:endParaRPr lang="en-US" altLang="x-none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999FA718-A6D5-4F45-AA4A-4BEBC20AD73D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0225" cy="466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4035" tIns="47017" rIns="94035" bIns="47017" numCol="1" anchor="ctr" anchorCtr="0" compatLnSpc="1">
            <a:prstTxWarp prst="textNoShape">
              <a:avLst/>
            </a:prstTxWarp>
          </a:bodyPr>
          <a:lstStyle>
            <a:lvl1pPr defTabSz="939800">
              <a:defRPr sz="1200">
                <a:latin typeface="Times New Roman" panose="02020603050405020304" pitchFamily="18" charset="0"/>
              </a:defRPr>
            </a:lvl1pPr>
          </a:lstStyle>
          <a:p>
            <a:endParaRPr lang="en-US" altLang="en-US"/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D00055E3-33CD-4C16-B1E7-137DC8ED0737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4016375" y="0"/>
            <a:ext cx="3070225" cy="466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4035" tIns="47017" rIns="94035" bIns="47017" numCol="1" anchor="ctr" anchorCtr="0" compatLnSpc="1">
            <a:prstTxWarp prst="textNoShape">
              <a:avLst/>
            </a:prstTxWarp>
          </a:bodyPr>
          <a:lstStyle>
            <a:lvl1pPr algn="r" defTabSz="939800">
              <a:defRPr sz="1200">
                <a:latin typeface="Times New Roman" panose="02020603050405020304" pitchFamily="18" charset="0"/>
              </a:defRPr>
            </a:lvl1pPr>
          </a:lstStyle>
          <a:p>
            <a:endParaRPr lang="en-US" altLang="en-US"/>
          </a:p>
        </p:txBody>
      </p:sp>
      <p:sp>
        <p:nvSpPr>
          <p:cNvPr id="3076" name="Rectangle 4">
            <a:extLst>
              <a:ext uri="{FF2B5EF4-FFF2-40B4-BE49-F238E27FC236}">
                <a16:creationId xmlns:a16="http://schemas.microsoft.com/office/drawing/2014/main" id="{4A5BA436-A0A2-4A15-B145-2DD97D7A3078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00150" y="704850"/>
            <a:ext cx="4687888" cy="351472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9" name="Rectangle 5">
            <a:extLst>
              <a:ext uri="{FF2B5EF4-FFF2-40B4-BE49-F238E27FC236}">
                <a16:creationId xmlns:a16="http://schemas.microsoft.com/office/drawing/2014/main" id="{7145563E-578D-4EA3-A924-014C2A79C5AF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44563" y="4452938"/>
            <a:ext cx="5197475" cy="42148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4035" tIns="47017" rIns="94035" bIns="47017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150" name="Rectangle 6">
            <a:extLst>
              <a:ext uri="{FF2B5EF4-FFF2-40B4-BE49-F238E27FC236}">
                <a16:creationId xmlns:a16="http://schemas.microsoft.com/office/drawing/2014/main" id="{1EE489C0-8AB7-4BF4-AFB6-59687BD0D42A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905875"/>
            <a:ext cx="3070225" cy="466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4035" tIns="47017" rIns="94035" bIns="47017" numCol="1" anchor="b" anchorCtr="0" compatLnSpc="1">
            <a:prstTxWarp prst="textNoShape">
              <a:avLst/>
            </a:prstTxWarp>
          </a:bodyPr>
          <a:lstStyle>
            <a:lvl1pPr defTabSz="939800">
              <a:defRPr sz="1200">
                <a:latin typeface="Times New Roman" panose="02020603050405020304" pitchFamily="18" charset="0"/>
              </a:defRPr>
            </a:lvl1pPr>
          </a:lstStyle>
          <a:p>
            <a:endParaRPr lang="en-US" altLang="en-US"/>
          </a:p>
        </p:txBody>
      </p:sp>
      <p:sp>
        <p:nvSpPr>
          <p:cNvPr id="6151" name="Rectangle 7">
            <a:extLst>
              <a:ext uri="{FF2B5EF4-FFF2-40B4-BE49-F238E27FC236}">
                <a16:creationId xmlns:a16="http://schemas.microsoft.com/office/drawing/2014/main" id="{311BAF64-3980-48A7-93B5-275428159D1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16375" y="8905875"/>
            <a:ext cx="3070225" cy="466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4035" tIns="47017" rIns="94035" bIns="47017" numCol="1" anchor="b" anchorCtr="0" compatLnSpc="1">
            <a:prstTxWarp prst="textNoShape">
              <a:avLst/>
            </a:prstTxWarp>
          </a:bodyPr>
          <a:lstStyle>
            <a:lvl1pPr algn="r" defTabSz="939800">
              <a:defRPr sz="1200">
                <a:latin typeface="Times New Roman" charset="0"/>
                <a:ea typeface="MS PGothic" charset="-128"/>
              </a:defRPr>
            </a:lvl1pPr>
          </a:lstStyle>
          <a:p>
            <a:pPr>
              <a:defRPr/>
            </a:pPr>
            <a:fld id="{C9F949B7-291A-4420-9D9C-B1ABA67FB313}" type="slidenum">
              <a:rPr lang="en-US" altLang="x-none"/>
              <a:pPr>
                <a:defRPr/>
              </a:pPr>
              <a:t>‹#›</a:t>
            </a:fld>
            <a:endParaRPr lang="en-US" altLang="x-non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MS PGothic" panose="020B0600070205080204" pitchFamily="34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Rectangle 7">
            <a:extLst>
              <a:ext uri="{FF2B5EF4-FFF2-40B4-BE49-F238E27FC236}">
                <a16:creationId xmlns:a16="http://schemas.microsoft.com/office/drawing/2014/main" id="{5776ACBD-4645-43B7-892F-697D57D4952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70CF72FA-BC85-4452-9FD4-6F163D5E4845}" type="slidenum">
              <a:rPr lang="en-US" altLang="en-US" smtClean="0">
                <a:latin typeface="Times New Roman" panose="02020603050405020304" pitchFamily="18" charset="0"/>
              </a:rPr>
              <a:pPr/>
              <a:t>1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6146" name="Rectangle 2">
            <a:extLst>
              <a:ext uri="{FF2B5EF4-FFF2-40B4-BE49-F238E27FC236}">
                <a16:creationId xmlns:a16="http://schemas.microsoft.com/office/drawing/2014/main" id="{48A88ED8-0C05-4DF8-A678-F55DA039B32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374978C2-165A-418A-AF53-B86870696AE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7" name="Rectangle 7">
            <a:extLst>
              <a:ext uri="{FF2B5EF4-FFF2-40B4-BE49-F238E27FC236}">
                <a16:creationId xmlns:a16="http://schemas.microsoft.com/office/drawing/2014/main" id="{6F281DE9-7498-4090-B348-71231F97FD2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DA0BAF53-828A-49F4-8077-26BB561564F9}" type="slidenum">
              <a:rPr lang="en-US" altLang="en-US" smtClean="0">
                <a:latin typeface="Times New Roman" panose="02020603050405020304" pitchFamily="18" charset="0"/>
              </a:rPr>
              <a:pPr/>
              <a:t>2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01378" name="Rectangle 2">
            <a:extLst>
              <a:ext uri="{FF2B5EF4-FFF2-40B4-BE49-F238E27FC236}">
                <a16:creationId xmlns:a16="http://schemas.microsoft.com/office/drawing/2014/main" id="{6B68C51B-7F25-49DC-8F26-B5ECF0C025B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1379" name="Rectangle 3">
            <a:extLst>
              <a:ext uri="{FF2B5EF4-FFF2-40B4-BE49-F238E27FC236}">
                <a16:creationId xmlns:a16="http://schemas.microsoft.com/office/drawing/2014/main" id="{E5863E4C-7BE6-4289-9CB8-26E477DE0E1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5" name="Rectangle 7">
            <a:extLst>
              <a:ext uri="{FF2B5EF4-FFF2-40B4-BE49-F238E27FC236}">
                <a16:creationId xmlns:a16="http://schemas.microsoft.com/office/drawing/2014/main" id="{D8A4CFDB-1B15-4236-A42E-7505D8A4987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66628204-E272-49CF-9F32-BF3F333C9D84}" type="slidenum">
              <a:rPr lang="en-US" altLang="en-US" smtClean="0">
                <a:latin typeface="Times New Roman" panose="02020603050405020304" pitchFamily="18" charset="0"/>
              </a:rPr>
              <a:pPr/>
              <a:t>3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03426" name="Rectangle 2">
            <a:extLst>
              <a:ext uri="{FF2B5EF4-FFF2-40B4-BE49-F238E27FC236}">
                <a16:creationId xmlns:a16="http://schemas.microsoft.com/office/drawing/2014/main" id="{C0102936-7E09-430D-892F-94CD298AAA3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3427" name="Rectangle 3">
            <a:extLst>
              <a:ext uri="{FF2B5EF4-FFF2-40B4-BE49-F238E27FC236}">
                <a16:creationId xmlns:a16="http://schemas.microsoft.com/office/drawing/2014/main" id="{24DB5797-0DCA-4C75-9E95-296E5A8A24B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3" name="Rectangle 7">
            <a:extLst>
              <a:ext uri="{FF2B5EF4-FFF2-40B4-BE49-F238E27FC236}">
                <a16:creationId xmlns:a16="http://schemas.microsoft.com/office/drawing/2014/main" id="{374C7EC4-F5B4-44B3-B62A-A28A21B6FE8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BE3D624F-2319-4971-BD9E-DD1BA8AA2210}" type="slidenum">
              <a:rPr lang="en-US" altLang="en-US" smtClean="0">
                <a:latin typeface="Times New Roman" panose="02020603050405020304" pitchFamily="18" charset="0"/>
              </a:rPr>
              <a:pPr/>
              <a:t>4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05474" name="Rectangle 2">
            <a:extLst>
              <a:ext uri="{FF2B5EF4-FFF2-40B4-BE49-F238E27FC236}">
                <a16:creationId xmlns:a16="http://schemas.microsoft.com/office/drawing/2014/main" id="{AF7E44E0-A93B-4500-931E-F814DE1DA12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5475" name="Rectangle 3">
            <a:extLst>
              <a:ext uri="{FF2B5EF4-FFF2-40B4-BE49-F238E27FC236}">
                <a16:creationId xmlns:a16="http://schemas.microsoft.com/office/drawing/2014/main" id="{A4368273-6DBC-4628-8DEB-11600A203A4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1" name="Rectangle 7">
            <a:extLst>
              <a:ext uri="{FF2B5EF4-FFF2-40B4-BE49-F238E27FC236}">
                <a16:creationId xmlns:a16="http://schemas.microsoft.com/office/drawing/2014/main" id="{62FCB5DA-A3EA-4F94-870C-C18A20A4CC8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2DA7A980-1C06-4A44-B4F7-1A8E4D6C7491}" type="slidenum">
              <a:rPr lang="en-US" altLang="en-US" smtClean="0">
                <a:latin typeface="Times New Roman" panose="02020603050405020304" pitchFamily="18" charset="0"/>
              </a:rPr>
              <a:pPr/>
              <a:t>5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07522" name="Rectangle 2">
            <a:extLst>
              <a:ext uri="{FF2B5EF4-FFF2-40B4-BE49-F238E27FC236}">
                <a16:creationId xmlns:a16="http://schemas.microsoft.com/office/drawing/2014/main" id="{15C739DA-0C35-42A2-B92D-D03C6D99E8A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7523" name="Rectangle 3">
            <a:extLst>
              <a:ext uri="{FF2B5EF4-FFF2-40B4-BE49-F238E27FC236}">
                <a16:creationId xmlns:a16="http://schemas.microsoft.com/office/drawing/2014/main" id="{97F686E3-9FAA-4D73-BB67-E0221D7B3CD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69" name="Rectangle 7">
            <a:extLst>
              <a:ext uri="{FF2B5EF4-FFF2-40B4-BE49-F238E27FC236}">
                <a16:creationId xmlns:a16="http://schemas.microsoft.com/office/drawing/2014/main" id="{0ED619BB-69AA-4187-8508-5C6D20F5F3E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FEC6BA39-A472-4B3B-A7DF-4F396B3C17E7}" type="slidenum">
              <a:rPr lang="en-US" altLang="en-US" smtClean="0">
                <a:latin typeface="Times New Roman" panose="02020603050405020304" pitchFamily="18" charset="0"/>
              </a:rPr>
              <a:pPr/>
              <a:t>6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09570" name="Rectangle 2">
            <a:extLst>
              <a:ext uri="{FF2B5EF4-FFF2-40B4-BE49-F238E27FC236}">
                <a16:creationId xmlns:a16="http://schemas.microsoft.com/office/drawing/2014/main" id="{F413F31A-C6FC-4BAD-849E-A6DB7776843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9571" name="Rectangle 3">
            <a:extLst>
              <a:ext uri="{FF2B5EF4-FFF2-40B4-BE49-F238E27FC236}">
                <a16:creationId xmlns:a16="http://schemas.microsoft.com/office/drawing/2014/main" id="{0D3B88A5-CEE8-40BD-9808-2CDA6AB3D4A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7" name="Rectangle 7">
            <a:extLst>
              <a:ext uri="{FF2B5EF4-FFF2-40B4-BE49-F238E27FC236}">
                <a16:creationId xmlns:a16="http://schemas.microsoft.com/office/drawing/2014/main" id="{DAC8869F-FF99-4234-BF9F-6981A2322E7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88F9C382-E9CB-4121-9295-821692F9295E}" type="slidenum">
              <a:rPr lang="en-US" altLang="en-US" smtClean="0">
                <a:latin typeface="Times New Roman" panose="02020603050405020304" pitchFamily="18" charset="0"/>
              </a:rPr>
              <a:pPr/>
              <a:t>7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11618" name="Rectangle 2">
            <a:extLst>
              <a:ext uri="{FF2B5EF4-FFF2-40B4-BE49-F238E27FC236}">
                <a16:creationId xmlns:a16="http://schemas.microsoft.com/office/drawing/2014/main" id="{F4B9B201-551A-4715-A46B-58B15F54828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1619" name="Rectangle 3">
            <a:extLst>
              <a:ext uri="{FF2B5EF4-FFF2-40B4-BE49-F238E27FC236}">
                <a16:creationId xmlns:a16="http://schemas.microsoft.com/office/drawing/2014/main" id="{425B08B2-27C5-4BFD-AF86-46493468446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5" name="Rectangle 7">
            <a:extLst>
              <a:ext uri="{FF2B5EF4-FFF2-40B4-BE49-F238E27FC236}">
                <a16:creationId xmlns:a16="http://schemas.microsoft.com/office/drawing/2014/main" id="{2791A9A1-933F-48E4-A663-A9A44F38422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38144CDA-524B-42CB-B6A8-1F82635CA2A0}" type="slidenum">
              <a:rPr lang="en-US" altLang="en-US" smtClean="0">
                <a:latin typeface="Times New Roman" panose="02020603050405020304" pitchFamily="18" charset="0"/>
              </a:rPr>
              <a:pPr/>
              <a:t>8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13666" name="Rectangle 2">
            <a:extLst>
              <a:ext uri="{FF2B5EF4-FFF2-40B4-BE49-F238E27FC236}">
                <a16:creationId xmlns:a16="http://schemas.microsoft.com/office/drawing/2014/main" id="{22B584FC-47BF-4329-A73D-AE03445B463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3667" name="Rectangle 3">
            <a:extLst>
              <a:ext uri="{FF2B5EF4-FFF2-40B4-BE49-F238E27FC236}">
                <a16:creationId xmlns:a16="http://schemas.microsoft.com/office/drawing/2014/main" id="{0EF88E9A-5692-479E-86D8-D453385FBD4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9170022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5" name="Rectangle 7">
            <a:extLst>
              <a:ext uri="{FF2B5EF4-FFF2-40B4-BE49-F238E27FC236}">
                <a16:creationId xmlns:a16="http://schemas.microsoft.com/office/drawing/2014/main" id="{2791A9A1-933F-48E4-A663-A9A44F38422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38144CDA-524B-42CB-B6A8-1F82635CA2A0}" type="slidenum">
              <a:rPr lang="en-US" altLang="en-US" smtClean="0">
                <a:latin typeface="Times New Roman" panose="02020603050405020304" pitchFamily="18" charset="0"/>
              </a:rPr>
              <a:pPr/>
              <a:t>9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13666" name="Rectangle 2">
            <a:extLst>
              <a:ext uri="{FF2B5EF4-FFF2-40B4-BE49-F238E27FC236}">
                <a16:creationId xmlns:a16="http://schemas.microsoft.com/office/drawing/2014/main" id="{22B584FC-47BF-4329-A73D-AE03445B463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3667" name="Rectangle 3">
            <a:extLst>
              <a:ext uri="{FF2B5EF4-FFF2-40B4-BE49-F238E27FC236}">
                <a16:creationId xmlns:a16="http://schemas.microsoft.com/office/drawing/2014/main" id="{0EF88E9A-5692-479E-86D8-D453385FBD4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3" name="Rectangle 7">
            <a:extLst>
              <a:ext uri="{FF2B5EF4-FFF2-40B4-BE49-F238E27FC236}">
                <a16:creationId xmlns:a16="http://schemas.microsoft.com/office/drawing/2014/main" id="{04233C27-8849-4252-91D2-6553BF31ECA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43033E44-AE0A-43BF-A520-184D3757D382}" type="slidenum">
              <a:rPr lang="en-US" altLang="en-US" smtClean="0">
                <a:latin typeface="Times New Roman" panose="02020603050405020304" pitchFamily="18" charset="0"/>
              </a:rPr>
              <a:pPr/>
              <a:t>10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15714" name="Rectangle 2">
            <a:extLst>
              <a:ext uri="{FF2B5EF4-FFF2-40B4-BE49-F238E27FC236}">
                <a16:creationId xmlns:a16="http://schemas.microsoft.com/office/drawing/2014/main" id="{A615ED96-D2E9-4926-A603-58BB1586777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5715" name="Rectangle 3">
            <a:extLst>
              <a:ext uri="{FF2B5EF4-FFF2-40B4-BE49-F238E27FC236}">
                <a16:creationId xmlns:a16="http://schemas.microsoft.com/office/drawing/2014/main" id="{17D404A4-62DB-49DD-A17D-967D6DD89AB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1" name="Rectangle 7">
            <a:extLst>
              <a:ext uri="{FF2B5EF4-FFF2-40B4-BE49-F238E27FC236}">
                <a16:creationId xmlns:a16="http://schemas.microsoft.com/office/drawing/2014/main" id="{3F17DCC5-0162-4C65-A6B7-1F3634D871F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E9309D8D-5C8E-47B5-B76C-995FF4B425D8}" type="slidenum">
              <a:rPr lang="en-US" altLang="en-US" smtClean="0">
                <a:latin typeface="Times New Roman" panose="02020603050405020304" pitchFamily="18" charset="0"/>
              </a:rPr>
              <a:pPr/>
              <a:t>16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22882" name="Rectangle 2">
            <a:extLst>
              <a:ext uri="{FF2B5EF4-FFF2-40B4-BE49-F238E27FC236}">
                <a16:creationId xmlns:a16="http://schemas.microsoft.com/office/drawing/2014/main" id="{A6EEBBBF-E4B7-44BF-8D3E-4E75A9CF28A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883" name="Rectangle 3">
            <a:extLst>
              <a:ext uri="{FF2B5EF4-FFF2-40B4-BE49-F238E27FC236}">
                <a16:creationId xmlns:a16="http://schemas.microsoft.com/office/drawing/2014/main" id="{3DF1B668-5AF4-487A-B6A0-0D84D219C79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3" name="Rectangle 7">
            <a:extLst>
              <a:ext uri="{FF2B5EF4-FFF2-40B4-BE49-F238E27FC236}">
                <a16:creationId xmlns:a16="http://schemas.microsoft.com/office/drawing/2014/main" id="{5C5A5839-50F4-45D9-AEAE-5667E211352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C74F695C-5F2E-482E-8B6B-62AF14C87ED6}" type="slidenum">
              <a:rPr lang="en-US" altLang="en-US" smtClean="0">
                <a:latin typeface="Times New Roman" panose="02020603050405020304" pitchFamily="18" charset="0"/>
              </a:rPr>
              <a:pPr/>
              <a:t>18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25954" name="Rectangle 2">
            <a:extLst>
              <a:ext uri="{FF2B5EF4-FFF2-40B4-BE49-F238E27FC236}">
                <a16:creationId xmlns:a16="http://schemas.microsoft.com/office/drawing/2014/main" id="{AFDE3679-E12F-4EC6-AEFF-563863F2D18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5955" name="Rectangle 3">
            <a:extLst>
              <a:ext uri="{FF2B5EF4-FFF2-40B4-BE49-F238E27FC236}">
                <a16:creationId xmlns:a16="http://schemas.microsoft.com/office/drawing/2014/main" id="{91F7994F-0D20-4662-93D9-382F1278168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1" name="Rectangle 2">
            <a:extLst>
              <a:ext uri="{FF2B5EF4-FFF2-40B4-BE49-F238E27FC236}">
                <a16:creationId xmlns:a16="http://schemas.microsoft.com/office/drawing/2014/main" id="{6D8B87B8-4A4B-41E0-AC9C-6A94DDEE4E7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8002" name="Rectangle 3">
            <a:extLst>
              <a:ext uri="{FF2B5EF4-FFF2-40B4-BE49-F238E27FC236}">
                <a16:creationId xmlns:a16="http://schemas.microsoft.com/office/drawing/2014/main" id="{51DE5DE0-7651-48B8-98BA-EBB364F88CF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73" name="Rectangle 7">
            <a:extLst>
              <a:ext uri="{FF2B5EF4-FFF2-40B4-BE49-F238E27FC236}">
                <a16:creationId xmlns:a16="http://schemas.microsoft.com/office/drawing/2014/main" id="{B4D2F53A-EAE3-418A-BB66-6424E5A129D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2C970466-3449-4494-8D09-9CEF39776B3E}" type="slidenum">
              <a:rPr lang="en-US" altLang="en-US" smtClean="0">
                <a:latin typeface="Times New Roman" panose="02020603050405020304" pitchFamily="18" charset="0"/>
              </a:rPr>
              <a:pPr/>
              <a:t>21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31074" name="Rectangle 2">
            <a:extLst>
              <a:ext uri="{FF2B5EF4-FFF2-40B4-BE49-F238E27FC236}">
                <a16:creationId xmlns:a16="http://schemas.microsoft.com/office/drawing/2014/main" id="{B822E183-1692-4D48-BA88-87F0B182297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1075" name="Rectangle 3">
            <a:extLst>
              <a:ext uri="{FF2B5EF4-FFF2-40B4-BE49-F238E27FC236}">
                <a16:creationId xmlns:a16="http://schemas.microsoft.com/office/drawing/2014/main" id="{CA1A4E23-F289-4B51-A9B3-418DE56116B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21" name="Rectangle 7">
            <a:extLst>
              <a:ext uri="{FF2B5EF4-FFF2-40B4-BE49-F238E27FC236}">
                <a16:creationId xmlns:a16="http://schemas.microsoft.com/office/drawing/2014/main" id="{EDA12628-4C86-479D-9171-1641D98D7BD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1C541504-7C9A-4526-994E-304A048D608D}" type="slidenum">
              <a:rPr lang="en-US" altLang="en-US" smtClean="0">
                <a:latin typeface="Times New Roman" panose="02020603050405020304" pitchFamily="18" charset="0"/>
              </a:rPr>
              <a:pPr/>
              <a:t>22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33122" name="Rectangle 2">
            <a:extLst>
              <a:ext uri="{FF2B5EF4-FFF2-40B4-BE49-F238E27FC236}">
                <a16:creationId xmlns:a16="http://schemas.microsoft.com/office/drawing/2014/main" id="{13D5EBB1-DC43-4A05-9978-1A0E671EAC8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3123" name="Rectangle 3">
            <a:extLst>
              <a:ext uri="{FF2B5EF4-FFF2-40B4-BE49-F238E27FC236}">
                <a16:creationId xmlns:a16="http://schemas.microsoft.com/office/drawing/2014/main" id="{7653D829-07D7-4B63-8D2E-7CD44E19082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41" name="Rectangle 7">
            <a:extLst>
              <a:ext uri="{FF2B5EF4-FFF2-40B4-BE49-F238E27FC236}">
                <a16:creationId xmlns:a16="http://schemas.microsoft.com/office/drawing/2014/main" id="{A350F77D-618E-4516-9F52-31972751586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00EA1C6A-8A64-43BB-91B2-5F5909240046}" type="slidenum">
              <a:rPr lang="en-US" altLang="en-US" smtClean="0">
                <a:latin typeface="Times New Roman" panose="02020603050405020304" pitchFamily="18" charset="0"/>
              </a:rPr>
              <a:pPr/>
              <a:t>26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38242" name="Rectangle 2">
            <a:extLst>
              <a:ext uri="{FF2B5EF4-FFF2-40B4-BE49-F238E27FC236}">
                <a16:creationId xmlns:a16="http://schemas.microsoft.com/office/drawing/2014/main" id="{6A5F7160-2558-4837-96D7-957DDEA6B04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8243" name="Rectangle 3">
            <a:extLst>
              <a:ext uri="{FF2B5EF4-FFF2-40B4-BE49-F238E27FC236}">
                <a16:creationId xmlns:a16="http://schemas.microsoft.com/office/drawing/2014/main" id="{84B2144B-1F9A-405F-AA84-7C73138F265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313" name="Rectangle 7">
            <a:extLst>
              <a:ext uri="{FF2B5EF4-FFF2-40B4-BE49-F238E27FC236}">
                <a16:creationId xmlns:a16="http://schemas.microsoft.com/office/drawing/2014/main" id="{51B6C076-F21F-4CA5-822D-C9D69050FB8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B8EB864C-7330-4E1B-A037-7D79409E01F4}" type="slidenum">
              <a:rPr lang="en-US" altLang="en-US" smtClean="0">
                <a:latin typeface="Times New Roman" panose="02020603050405020304" pitchFamily="18" charset="0"/>
              </a:rPr>
              <a:pPr/>
              <a:t>28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41314" name="Rectangle 2">
            <a:extLst>
              <a:ext uri="{FF2B5EF4-FFF2-40B4-BE49-F238E27FC236}">
                <a16:creationId xmlns:a16="http://schemas.microsoft.com/office/drawing/2014/main" id="{5F4496CA-0A38-4ECE-A790-5883B82226E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1315" name="Rectangle 3">
            <a:extLst>
              <a:ext uri="{FF2B5EF4-FFF2-40B4-BE49-F238E27FC236}">
                <a16:creationId xmlns:a16="http://schemas.microsoft.com/office/drawing/2014/main" id="{9685A671-4583-4556-B3BD-CB96D62C924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>
            <a:extLst>
              <a:ext uri="{FF2B5EF4-FFF2-40B4-BE49-F238E27FC236}">
                <a16:creationId xmlns:a16="http://schemas.microsoft.com/office/drawing/2014/main" id="{F9054E9F-B0F7-4A1B-8874-547788B722C4}"/>
              </a:ext>
            </a:extLst>
          </p:cNvPr>
          <p:cNvGrpSpPr>
            <a:grpSpLocks/>
          </p:cNvGrpSpPr>
          <p:nvPr/>
        </p:nvGrpSpPr>
        <p:grpSpPr bwMode="auto">
          <a:xfrm>
            <a:off x="198438" y="2960688"/>
            <a:ext cx="8610600" cy="201612"/>
            <a:chOff x="125" y="1865"/>
            <a:chExt cx="5424" cy="127"/>
          </a:xfrm>
        </p:grpSpPr>
        <p:sp>
          <p:nvSpPr>
            <p:cNvPr id="4" name="Rectangle 4">
              <a:extLst>
                <a:ext uri="{FF2B5EF4-FFF2-40B4-BE49-F238E27FC236}">
                  <a16:creationId xmlns:a16="http://schemas.microsoft.com/office/drawing/2014/main" id="{1B0B5327-705F-4338-8684-BE3C6B32B1E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5" y="1865"/>
              <a:ext cx="1808" cy="127"/>
            </a:xfrm>
            <a:prstGeom prst="rect">
              <a:avLst/>
            </a:prstGeom>
            <a:solidFill>
              <a:srgbClr val="336699"/>
            </a:soli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9pPr>
            </a:lstStyle>
            <a:p>
              <a:pPr>
                <a:defRPr/>
              </a:pPr>
              <a:endParaRPr lang="en-US" altLang="en-US"/>
            </a:p>
          </p:txBody>
        </p:sp>
        <p:sp>
          <p:nvSpPr>
            <p:cNvPr id="5" name="Rectangle 5">
              <a:extLst>
                <a:ext uri="{FF2B5EF4-FFF2-40B4-BE49-F238E27FC236}">
                  <a16:creationId xmlns:a16="http://schemas.microsoft.com/office/drawing/2014/main" id="{F9912C43-735E-4FCD-9C20-4B4E9F5D4C0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33" y="1865"/>
              <a:ext cx="1808" cy="127"/>
            </a:xfrm>
            <a:prstGeom prst="rect">
              <a:avLst/>
            </a:prstGeom>
            <a:solidFill>
              <a:srgbClr val="99CCFF"/>
            </a:soli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9pPr>
            </a:lstStyle>
            <a:p>
              <a:pPr>
                <a:defRPr/>
              </a:pPr>
              <a:endParaRPr lang="en-US" altLang="en-US"/>
            </a:p>
          </p:txBody>
        </p:sp>
        <p:sp>
          <p:nvSpPr>
            <p:cNvPr id="6" name="Rectangle 6">
              <a:extLst>
                <a:ext uri="{FF2B5EF4-FFF2-40B4-BE49-F238E27FC236}">
                  <a16:creationId xmlns:a16="http://schemas.microsoft.com/office/drawing/2014/main" id="{8B2B38F7-FF3D-4D34-8AF3-C5E2B22472F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41" y="1865"/>
              <a:ext cx="1808" cy="127"/>
            </a:xfrm>
            <a:prstGeom prst="rect">
              <a:avLst/>
            </a:prstGeom>
            <a:solidFill>
              <a:srgbClr val="336699"/>
            </a:soli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9pPr>
            </a:lstStyle>
            <a:p>
              <a:pPr>
                <a:defRPr/>
              </a:pPr>
              <a:endParaRPr lang="en-US" altLang="en-US"/>
            </a:p>
          </p:txBody>
        </p:sp>
      </p:grpSp>
      <p:sp>
        <p:nvSpPr>
          <p:cNvPr id="7" name="Text Box 7">
            <a:extLst>
              <a:ext uri="{FF2B5EF4-FFF2-40B4-BE49-F238E27FC236}">
                <a16:creationId xmlns:a16="http://schemas.microsoft.com/office/drawing/2014/main" id="{39D6487E-E59C-4825-A316-F9FD0074A5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89700" y="6588125"/>
            <a:ext cx="2713038" cy="24447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altLang="en-US" sz="1000" b="1" dirty="0">
                <a:solidFill>
                  <a:srgbClr val="336699"/>
                </a:solidFill>
                <a:latin typeface="Helvetica" pitchFamily="-84" charset="0"/>
              </a:rPr>
              <a:t>Silberschatz, Galvin and Gagne ©2018</a:t>
            </a:r>
          </a:p>
        </p:txBody>
      </p:sp>
      <p:sp>
        <p:nvSpPr>
          <p:cNvPr id="8" name="Text Box 8">
            <a:extLst>
              <a:ext uri="{FF2B5EF4-FFF2-40B4-BE49-F238E27FC236}">
                <a16:creationId xmlns:a16="http://schemas.microsoft.com/office/drawing/2014/main" id="{0BACFF7A-A989-4729-8688-C6C2FD0049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988" y="6613525"/>
            <a:ext cx="2730500" cy="246063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en-US" altLang="en-US" sz="1000" b="1" dirty="0">
                <a:solidFill>
                  <a:srgbClr val="336699"/>
                </a:solidFill>
                <a:latin typeface="Helvetica" pitchFamily="-84" charset="0"/>
              </a:rPr>
              <a:t>Operating System Concepts – 10</a:t>
            </a:r>
            <a:r>
              <a:rPr lang="en-US" altLang="en-US" sz="1000" b="1" baseline="30000" dirty="0">
                <a:solidFill>
                  <a:srgbClr val="336699"/>
                </a:solidFill>
                <a:latin typeface="Helvetica" pitchFamily="-84" charset="0"/>
              </a:rPr>
              <a:t>th</a:t>
            </a:r>
            <a:r>
              <a:rPr lang="en-US" altLang="en-US" sz="1000" b="1" dirty="0">
                <a:solidFill>
                  <a:srgbClr val="336699"/>
                </a:solidFill>
                <a:latin typeface="Helvetica" pitchFamily="-84" charset="0"/>
              </a:rPr>
              <a:t> Edition</a:t>
            </a:r>
          </a:p>
        </p:txBody>
      </p:sp>
      <p:pic>
        <p:nvPicPr>
          <p:cNvPr id="9" name="Picture 9" descr="dino_4">
            <a:extLst>
              <a:ext uri="{FF2B5EF4-FFF2-40B4-BE49-F238E27FC236}">
                <a16:creationId xmlns:a16="http://schemas.microsoft.com/office/drawing/2014/main" id="{62320D51-40DC-47DF-B772-6310A5073C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60738" y="4157663"/>
            <a:ext cx="2062162" cy="1593850"/>
          </a:xfrm>
          <a:prstGeom prst="rect">
            <a:avLst/>
          </a:prstGeom>
          <a:noFill/>
          <a:ln w="76200">
            <a:solidFill>
              <a:srgbClr val="336699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angle 10">
            <a:extLst>
              <a:ext uri="{FF2B5EF4-FFF2-40B4-BE49-F238E27FC236}">
                <a16:creationId xmlns:a16="http://schemas.microsoft.com/office/drawing/2014/main" id="{B4F18C78-A1C0-4229-859F-4A1EAA01B0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24213" y="4006850"/>
            <a:ext cx="2336800" cy="1887538"/>
          </a:xfrm>
          <a:prstGeom prst="rect">
            <a:avLst/>
          </a:prstGeom>
          <a:noFill/>
          <a:ln w="57150" cmpd="thinThick">
            <a:solidFill>
              <a:srgbClr val="66CCFF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15257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685800"/>
            <a:ext cx="7772400" cy="2127250"/>
          </a:xfrm>
        </p:spPr>
        <p:txBody>
          <a:bodyPr/>
          <a:lstStyle>
            <a:lvl1pPr>
              <a:defRPr sz="430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8483053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827452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5234108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06450" y="1233488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97450" y="1233488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31639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701345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8545889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463027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447004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157027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189475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91338" y="277813"/>
            <a:ext cx="2144712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7813"/>
            <a:ext cx="6281738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212786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dino_3">
            <a:extLst>
              <a:ext uri="{FF2B5EF4-FFF2-40B4-BE49-F238E27FC236}">
                <a16:creationId xmlns:a16="http://schemas.microsoft.com/office/drawing/2014/main" id="{DB124D09-86E8-40B1-99F0-1209287C13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750" y="0"/>
            <a:ext cx="1195388" cy="908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7" name="Rectangle 3">
            <a:extLst>
              <a:ext uri="{FF2B5EF4-FFF2-40B4-BE49-F238E27FC236}">
                <a16:creationId xmlns:a16="http://schemas.microsoft.com/office/drawing/2014/main" id="{101563B5-6DEC-40C9-94C1-11A3E355C2E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33853"/>
            <a:ext cx="8229600" cy="576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97A89EDA-A1F4-4710-BBC1-A142F18D092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06450" y="1233488"/>
            <a:ext cx="7727950" cy="453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dirty="0"/>
              <a:t>Click to edit Master text styles</a:t>
            </a:r>
          </a:p>
          <a:p>
            <a:pPr lvl="1"/>
            <a:r>
              <a:rPr lang="en-US" altLang="en-US" dirty="0"/>
              <a:t>Second level</a:t>
            </a:r>
          </a:p>
          <a:p>
            <a:pPr lvl="2"/>
            <a:r>
              <a:rPr lang="en-US" altLang="en-US" dirty="0"/>
              <a:t>Third level</a:t>
            </a:r>
          </a:p>
          <a:p>
            <a:pPr lvl="3"/>
            <a:r>
              <a:rPr lang="en-US" altLang="en-US" dirty="0"/>
              <a:t>Fourth level</a:t>
            </a:r>
          </a:p>
          <a:p>
            <a:pPr lvl="4"/>
            <a:r>
              <a:rPr lang="en-US" altLang="en-US" dirty="0"/>
              <a:t>Fifth level</a:t>
            </a:r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7773D04D-003A-405C-9D9C-1709ED0561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28600" cy="2286000"/>
          </a:xfrm>
          <a:prstGeom prst="rect">
            <a:avLst/>
          </a:prstGeom>
          <a:solidFill>
            <a:srgbClr val="336699"/>
          </a:solidFill>
          <a:ln>
            <a:noFill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 algn="ctr" eaLnBrk="1" hangingPunct="1">
              <a:defRPr/>
            </a:pPr>
            <a:endParaRPr lang="en-US" altLang="en-US" sz="2400">
              <a:latin typeface="Times New Roman" pitchFamily="18" charset="0"/>
            </a:endParaRPr>
          </a:p>
        </p:txBody>
      </p:sp>
      <p:sp>
        <p:nvSpPr>
          <p:cNvPr id="1030" name="Line 6">
            <a:extLst>
              <a:ext uri="{FF2B5EF4-FFF2-40B4-BE49-F238E27FC236}">
                <a16:creationId xmlns:a16="http://schemas.microsoft.com/office/drawing/2014/main" id="{7AA57875-966E-44EB-9268-6903F2C1DDAD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" y="860425"/>
            <a:ext cx="8077200" cy="0"/>
          </a:xfrm>
          <a:prstGeom prst="line">
            <a:avLst/>
          </a:prstGeom>
          <a:noFill/>
          <a:ln w="19050">
            <a:solidFill>
              <a:srgbClr val="3366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31" name="Rectangle 7">
            <a:extLst>
              <a:ext uri="{FF2B5EF4-FFF2-40B4-BE49-F238E27FC236}">
                <a16:creationId xmlns:a16="http://schemas.microsoft.com/office/drawing/2014/main" id="{B805250A-2DE9-48CE-9970-F8DC7B1A99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286000"/>
            <a:ext cx="228600" cy="2286000"/>
          </a:xfrm>
          <a:prstGeom prst="rect">
            <a:avLst/>
          </a:prstGeom>
          <a:solidFill>
            <a:srgbClr val="99CCFF"/>
          </a:solidFill>
          <a:ln>
            <a:noFill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 algn="ctr" eaLnBrk="1" hangingPunct="1">
              <a:defRPr/>
            </a:pPr>
            <a:endParaRPr lang="en-US" altLang="en-US" sz="2400">
              <a:latin typeface="Times New Roman" pitchFamily="18" charset="0"/>
            </a:endParaRPr>
          </a:p>
        </p:txBody>
      </p:sp>
      <p:sp>
        <p:nvSpPr>
          <p:cNvPr id="1032" name="Rectangle 8">
            <a:extLst>
              <a:ext uri="{FF2B5EF4-FFF2-40B4-BE49-F238E27FC236}">
                <a16:creationId xmlns:a16="http://schemas.microsoft.com/office/drawing/2014/main" id="{5DF010FB-BF4A-4539-85F6-EF017614C4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572000"/>
            <a:ext cx="228600" cy="2286000"/>
          </a:xfrm>
          <a:prstGeom prst="rect">
            <a:avLst/>
          </a:prstGeom>
          <a:solidFill>
            <a:srgbClr val="336699"/>
          </a:solidFill>
          <a:ln>
            <a:noFill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 algn="ctr" eaLnBrk="1" hangingPunct="1">
              <a:defRPr/>
            </a:pPr>
            <a:endParaRPr lang="en-US" altLang="en-US" sz="2400">
              <a:latin typeface="Times New Roman" pitchFamily="18" charset="0"/>
            </a:endParaRPr>
          </a:p>
        </p:txBody>
      </p:sp>
      <p:sp>
        <p:nvSpPr>
          <p:cNvPr id="1033" name="Text Box 9">
            <a:extLst>
              <a:ext uri="{FF2B5EF4-FFF2-40B4-BE49-F238E27FC236}">
                <a16:creationId xmlns:a16="http://schemas.microsoft.com/office/drawing/2014/main" id="{F35EB3C6-158A-401E-AF69-45BFE965FB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56147" y="6613525"/>
            <a:ext cx="447558" cy="246221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altLang="en-US" sz="1000" b="1" dirty="0">
                <a:solidFill>
                  <a:srgbClr val="006699"/>
                </a:solidFill>
                <a:latin typeface="Helvetica" charset="0"/>
              </a:rPr>
              <a:t>5.</a:t>
            </a:r>
            <a:fld id="{4EB6AB46-21AB-49DC-9DBD-606B37BEB33B}" type="slidenum">
              <a:rPr lang="en-US" altLang="en-US" sz="1000" b="1" smtClean="0">
                <a:solidFill>
                  <a:srgbClr val="006699"/>
                </a:solidFill>
                <a:latin typeface="Helvetica" charset="0"/>
              </a:rPr>
              <a:pPr algn="ctr">
                <a:spcBef>
                  <a:spcPct val="50000"/>
                </a:spcBef>
                <a:defRPr/>
              </a:pPr>
              <a:t>‹#›</a:t>
            </a:fld>
            <a:endParaRPr lang="en-US" altLang="en-US" sz="1000" b="1" dirty="0">
              <a:solidFill>
                <a:srgbClr val="006699"/>
              </a:solidFill>
              <a:latin typeface="Helvetica" charset="0"/>
            </a:endParaRPr>
          </a:p>
        </p:txBody>
      </p:sp>
      <p:sp>
        <p:nvSpPr>
          <p:cNvPr id="1034" name="Text Box 10">
            <a:extLst>
              <a:ext uri="{FF2B5EF4-FFF2-40B4-BE49-F238E27FC236}">
                <a16:creationId xmlns:a16="http://schemas.microsoft.com/office/drawing/2014/main" id="{D78F82E7-FC4D-4DEF-BAC0-15DF6AAD70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89700" y="6588125"/>
            <a:ext cx="2713038" cy="24447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altLang="en-US" sz="1000" b="1" dirty="0">
                <a:solidFill>
                  <a:srgbClr val="006699"/>
                </a:solidFill>
                <a:latin typeface="Helvetica" pitchFamily="-84" charset="0"/>
              </a:rPr>
              <a:t>Silberschatz, Galvin and Gagne ©2018</a:t>
            </a:r>
          </a:p>
        </p:txBody>
      </p:sp>
      <p:sp>
        <p:nvSpPr>
          <p:cNvPr id="1035" name="Text Box 11">
            <a:extLst>
              <a:ext uri="{FF2B5EF4-FFF2-40B4-BE49-F238E27FC236}">
                <a16:creationId xmlns:a16="http://schemas.microsoft.com/office/drawing/2014/main" id="{A47C3AE5-5C42-45F2-A307-C022C640A4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5738" y="6595087"/>
            <a:ext cx="2730500" cy="24606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en-US" altLang="en-US" sz="1000" b="1" dirty="0">
                <a:solidFill>
                  <a:srgbClr val="006699"/>
                </a:solidFill>
                <a:latin typeface="Helvetica" pitchFamily="-84" charset="0"/>
              </a:rPr>
              <a:t>Operating System Concepts – 10</a:t>
            </a:r>
            <a:r>
              <a:rPr lang="en-US" altLang="en-US" sz="1000" b="1" baseline="30000" dirty="0">
                <a:solidFill>
                  <a:srgbClr val="006699"/>
                </a:solidFill>
                <a:latin typeface="Helvetica" pitchFamily="-84" charset="0"/>
              </a:rPr>
              <a:t>th</a:t>
            </a:r>
            <a:r>
              <a:rPr lang="en-US" altLang="en-US" sz="1000" b="1" dirty="0">
                <a:solidFill>
                  <a:srgbClr val="006699"/>
                </a:solidFill>
                <a:latin typeface="Helvetica" pitchFamily="-84" charset="0"/>
              </a:rPr>
              <a:t> Edition</a:t>
            </a:r>
          </a:p>
        </p:txBody>
      </p:sp>
      <p:pic>
        <p:nvPicPr>
          <p:cNvPr id="1036" name="Picture 12" descr="dino_6">
            <a:extLst>
              <a:ext uri="{FF2B5EF4-FFF2-40B4-BE49-F238E27FC236}">
                <a16:creationId xmlns:a16="http://schemas.microsoft.com/office/drawing/2014/main" id="{502C53CD-F3D0-4970-8364-2ED201BCF7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73988" y="5849938"/>
            <a:ext cx="1284287" cy="79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107" r:id="rId1"/>
    <p:sldLayoutId id="2147484097" r:id="rId2"/>
    <p:sldLayoutId id="2147484098" r:id="rId3"/>
    <p:sldLayoutId id="2147484099" r:id="rId4"/>
    <p:sldLayoutId id="2147484100" r:id="rId5"/>
    <p:sldLayoutId id="2147484101" r:id="rId6"/>
    <p:sldLayoutId id="2147484102" r:id="rId7"/>
    <p:sldLayoutId id="2147484103" r:id="rId8"/>
    <p:sldLayoutId id="2147484104" r:id="rId9"/>
    <p:sldLayoutId id="2147484105" r:id="rId10"/>
    <p:sldLayoutId id="2147484106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+mj-lt"/>
          <a:ea typeface="MS PGothic" pitchFamily="34" charset="-128"/>
          <a:cs typeface="MS PGothic" panose="020B0600070205080204" pitchFamily="34" charset="-128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  <a:ea typeface="MS PGothic" pitchFamily="34" charset="-128"/>
          <a:cs typeface="MS PGothic" panose="020B0600070205080204" pitchFamily="34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  <a:ea typeface="MS PGothic" pitchFamily="34" charset="-128"/>
          <a:cs typeface="MS PGothic" panose="020B0600070205080204" pitchFamily="34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  <a:ea typeface="MS PGothic" pitchFamily="34" charset="-128"/>
          <a:cs typeface="MS PGothic" panose="020B0600070205080204" pitchFamily="34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  <a:ea typeface="MS PGothic" pitchFamily="34" charset="-128"/>
          <a:cs typeface="MS PGothic" panose="020B0600070205080204" pitchFamily="34" charset="-128"/>
        </a:defRPr>
      </a:lvl5pPr>
      <a:lvl6pPr marL="4572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35000"/>
        </a:spcBef>
        <a:spcAft>
          <a:spcPct val="0"/>
        </a:spcAft>
        <a:buClr>
          <a:srgbClr val="993300"/>
        </a:buClr>
        <a:buSzPct val="110000"/>
        <a:buFont typeface="Wingdings" panose="05000000000000000000" pitchFamily="2" charset="2"/>
        <a:buChar char="§"/>
        <a:defRPr kumimoji="1">
          <a:solidFill>
            <a:schemeClr val="tx1"/>
          </a:solidFill>
          <a:latin typeface="+mn-lt"/>
          <a:ea typeface="MS PGothic" pitchFamily="34" charset="-128"/>
          <a:cs typeface="MS PGothic" panose="020B0600070205080204" pitchFamily="34" charset="-128"/>
        </a:defRPr>
      </a:lvl1pPr>
      <a:lvl2pPr marL="742950" indent="-285750" algn="l" rtl="0" eaLnBrk="0" fontAlgn="base" hangingPunct="0">
        <a:spcBef>
          <a:spcPct val="35000"/>
        </a:spcBef>
        <a:spcAft>
          <a:spcPct val="0"/>
        </a:spcAft>
        <a:buClr>
          <a:srgbClr val="CC6600"/>
        </a:buClr>
        <a:buSzPct val="110000"/>
        <a:buFont typeface="Arial" panose="020B0604020202020204" pitchFamily="34" charset="0"/>
        <a:buChar char="•"/>
        <a:defRPr kumimoji="1">
          <a:solidFill>
            <a:schemeClr val="tx1"/>
          </a:solidFill>
          <a:latin typeface="+mn-lt"/>
          <a:ea typeface="MS PGothic" pitchFamily="34" charset="-128"/>
        </a:defRPr>
      </a:lvl2pPr>
      <a:lvl3pPr marL="1085850" indent="-228600" algn="l" rtl="0" eaLnBrk="0" fontAlgn="base" hangingPunct="0">
        <a:spcBef>
          <a:spcPct val="35000"/>
        </a:spcBef>
        <a:spcAft>
          <a:spcPct val="0"/>
        </a:spcAft>
        <a:buClr>
          <a:srgbClr val="009900"/>
        </a:buClr>
        <a:buSzPct val="75000"/>
        <a:buFont typeface="Webdings" panose="05030102010509060703" pitchFamily="18" charset="2"/>
        <a:buChar char="4"/>
        <a:defRPr kumimoji="1">
          <a:solidFill>
            <a:schemeClr val="tx1"/>
          </a:solidFill>
          <a:latin typeface="+mn-lt"/>
          <a:ea typeface="MS PGothic" pitchFamily="34" charset="-128"/>
        </a:defRPr>
      </a:lvl3pPr>
      <a:lvl4pPr marL="1428750" indent="-228600" algn="l" rtl="0" eaLnBrk="0" fontAlgn="base" hangingPunct="0">
        <a:spcBef>
          <a:spcPct val="35000"/>
        </a:spcBef>
        <a:spcAft>
          <a:spcPct val="0"/>
        </a:spcAft>
        <a:buClr>
          <a:schemeClr val="hlink"/>
        </a:buClr>
        <a:buSzPct val="75000"/>
        <a:buChar char="–"/>
        <a:defRPr kumimoji="1">
          <a:solidFill>
            <a:schemeClr val="tx1"/>
          </a:solidFill>
          <a:latin typeface="+mn-lt"/>
          <a:ea typeface="MS PGothic" pitchFamily="34" charset="-128"/>
        </a:defRPr>
      </a:lvl4pPr>
      <a:lvl5pPr marL="17716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MS PGothic" pitchFamily="34" charset="-128"/>
        </a:defRPr>
      </a:lvl5pPr>
      <a:lvl6pPr marL="22288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6pPr>
      <a:lvl7pPr marL="26860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7pPr>
      <a:lvl8pPr marL="31432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8pPr>
      <a:lvl9pPr marL="36004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1" name="Rectangle 2">
            <a:extLst>
              <a:ext uri="{FF2B5EF4-FFF2-40B4-BE49-F238E27FC236}">
                <a16:creationId xmlns:a16="http://schemas.microsoft.com/office/drawing/2014/main" id="{218F8D62-A6F5-4F18-9BB3-A18FA6B4E228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250371" y="782638"/>
            <a:ext cx="8534399" cy="2127250"/>
          </a:xfrm>
        </p:spPr>
        <p:txBody>
          <a:bodyPr/>
          <a:lstStyle/>
          <a:p>
            <a:pPr eaLnBrk="1" hangingPunct="1"/>
            <a:r>
              <a:rPr lang="en-US" altLang="en-US"/>
              <a:t>Chapter 5</a:t>
            </a:r>
            <a:br>
              <a:rPr lang="en-US" altLang="en-US"/>
            </a:br>
            <a:r>
              <a:rPr lang="en-US" altLang="en-US"/>
              <a:t>CPU </a:t>
            </a:r>
            <a:r>
              <a:rPr lang="en-US" altLang="en-US" dirty="0"/>
              <a:t>Scheduling (3)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3" name="Rectangle 2">
            <a:extLst>
              <a:ext uri="{FF2B5EF4-FFF2-40B4-BE49-F238E27FC236}">
                <a16:creationId xmlns:a16="http://schemas.microsoft.com/office/drawing/2014/main" id="{459B5F4F-799A-48B7-A0B7-53ED0A70A79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35038" y="128006"/>
            <a:ext cx="7751762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Proportional Share Scheduling</a:t>
            </a:r>
          </a:p>
        </p:txBody>
      </p:sp>
      <p:sp>
        <p:nvSpPr>
          <p:cNvPr id="100354" name="Rectangle 3">
            <a:extLst>
              <a:ext uri="{FF2B5EF4-FFF2-40B4-BE49-F238E27FC236}">
                <a16:creationId xmlns:a16="http://schemas.microsoft.com/office/drawing/2014/main" id="{8CF6342D-B4EF-40C5-AE28-E1BC86249E9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11763" y="1125855"/>
            <a:ext cx="7751762" cy="4441825"/>
          </a:xfrm>
        </p:spPr>
        <p:txBody>
          <a:bodyPr/>
          <a:lstStyle/>
          <a:p>
            <a:r>
              <a:rPr lang="en-US" altLang="en-US" sz="2000" i="1" dirty="0"/>
              <a:t>T</a:t>
            </a:r>
            <a:r>
              <a:rPr lang="en-US" altLang="en-US" sz="2000" dirty="0"/>
              <a:t> shares are allocated among all processes in the system</a:t>
            </a:r>
          </a:p>
          <a:p>
            <a:r>
              <a:rPr lang="en-US" altLang="en-US" sz="2000" dirty="0"/>
              <a:t>An application receives </a:t>
            </a:r>
            <a:r>
              <a:rPr lang="en-US" altLang="en-US" sz="2000" i="1" dirty="0"/>
              <a:t>N</a:t>
            </a:r>
            <a:r>
              <a:rPr lang="en-US" altLang="en-US" sz="2000" dirty="0"/>
              <a:t> shares where </a:t>
            </a:r>
            <a:r>
              <a:rPr lang="en-US" altLang="en-US" sz="2000" i="1" dirty="0"/>
              <a:t>N &lt; T</a:t>
            </a:r>
            <a:endParaRPr lang="en-US" altLang="en-US" sz="2000" dirty="0"/>
          </a:p>
          <a:p>
            <a:r>
              <a:rPr lang="en-US" altLang="en-US" sz="2000" dirty="0"/>
              <a:t>This ensures each application will receive </a:t>
            </a:r>
            <a:r>
              <a:rPr lang="en-US" altLang="en-US" sz="2000" b="1" i="1" dirty="0"/>
              <a:t>N</a:t>
            </a:r>
            <a:r>
              <a:rPr lang="en-US" altLang="en-US" sz="2000" i="1" dirty="0"/>
              <a:t> / T</a:t>
            </a:r>
            <a:r>
              <a:rPr lang="en-US" altLang="en-US" sz="2000" dirty="0"/>
              <a:t> of the total processor time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1" name="Rectangle 2">
            <a:extLst>
              <a:ext uri="{FF2B5EF4-FFF2-40B4-BE49-F238E27FC236}">
                <a16:creationId xmlns:a16="http://schemas.microsoft.com/office/drawing/2014/main" id="{12676C37-E63F-44FF-91CF-ECA19EFBA29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3400" y="71120"/>
            <a:ext cx="8229600" cy="661035"/>
          </a:xfrm>
        </p:spPr>
        <p:txBody>
          <a:bodyPr/>
          <a:lstStyle/>
          <a:p>
            <a:pPr eaLnBrk="1" hangingPunct="1"/>
            <a:r>
              <a:rPr lang="en-US" altLang="en-US" dirty="0"/>
              <a:t>POSIX Real-Time Scheduling</a:t>
            </a:r>
          </a:p>
        </p:txBody>
      </p:sp>
      <p:sp>
        <p:nvSpPr>
          <p:cNvPr id="56323" name="Rectangle 3">
            <a:extLst>
              <a:ext uri="{FF2B5EF4-FFF2-40B4-BE49-F238E27FC236}">
                <a16:creationId xmlns:a16="http://schemas.microsoft.com/office/drawing/2014/main" id="{C9DDF1F7-83DC-4186-8D07-64F7BA9D5BE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74441" y="1001394"/>
            <a:ext cx="7753739" cy="5132705"/>
          </a:xfrm>
        </p:spPr>
        <p:txBody>
          <a:bodyPr/>
          <a:lstStyle/>
          <a:p>
            <a:pPr marL="344488" indent="-344488"/>
            <a:r>
              <a:rPr lang="en-US" altLang="en-US" sz="2000" dirty="0"/>
              <a:t>The POSIX.1b standard</a:t>
            </a:r>
          </a:p>
          <a:p>
            <a:pPr marL="344488" indent="-344488"/>
            <a:r>
              <a:rPr lang="en-US" altLang="en-US" sz="2000" dirty="0"/>
              <a:t>API provides functions for managing real-time threads</a:t>
            </a:r>
          </a:p>
          <a:p>
            <a:pPr marL="344488" indent="-344488"/>
            <a:r>
              <a:rPr lang="en-US" altLang="en-US" sz="2000" dirty="0"/>
              <a:t>Defines two scheduling classes for real-time threads:</a:t>
            </a:r>
          </a:p>
          <a:p>
            <a:pPr marL="744538" lvl="1" indent="-344488">
              <a:buFont typeface="Arial" panose="020B0604020202020204" pitchFamily="34" charset="0"/>
              <a:buAutoNum type="arabicPeriod"/>
            </a:pPr>
            <a:r>
              <a:rPr lang="en-US" altLang="en-US" sz="2000" dirty="0"/>
              <a:t>SCHED_FIFO - threads are scheduled using a FCFS strategy with a FIFO queue. There is no time-slicing for threads of equal priority</a:t>
            </a:r>
          </a:p>
          <a:p>
            <a:pPr marL="744538" lvl="1" indent="-344488">
              <a:buFont typeface="Arial" panose="020B0604020202020204" pitchFamily="34" charset="0"/>
              <a:buAutoNum type="arabicPeriod"/>
            </a:pPr>
            <a:r>
              <a:rPr lang="en-US" altLang="en-US" sz="2000" dirty="0"/>
              <a:t>SCHED_RR - similar to SCHED_FIFO except time-slicing occurs for threads of equal priority</a:t>
            </a:r>
          </a:p>
          <a:p>
            <a:pPr marL="344488" indent="-344488"/>
            <a:r>
              <a:rPr lang="en-US" altLang="en-US" sz="2000" dirty="0"/>
              <a:t>Defines two functions for getting and setting scheduling policy:</a:t>
            </a:r>
          </a:p>
          <a:p>
            <a:pPr marL="744538" lvl="1" indent="-344488">
              <a:buFont typeface="Arial" panose="020B0604020202020204" pitchFamily="34" charset="0"/>
              <a:buAutoNum type="arabicPeriod"/>
            </a:pPr>
            <a:r>
              <a:rPr lang="en-US" altLang="en-US" sz="2000" dirty="0">
                <a:cs typeface="Courier New" panose="02070309020205020404" pitchFamily="49" charset="0"/>
              </a:rPr>
              <a:t> </a:t>
            </a:r>
            <a:r>
              <a:rPr lang="en-US" alt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pthread_attr_getsched_policy</a:t>
            </a: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pthread_attr_t</a:t>
            </a: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*</a:t>
            </a:r>
            <a:r>
              <a:rPr lang="en-US" alt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attr</a:t>
            </a: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, int *policy) </a:t>
            </a:r>
          </a:p>
          <a:p>
            <a:pPr marL="744538" lvl="1" indent="-344488">
              <a:buFont typeface="Arial" panose="020B0604020202020204" pitchFamily="34" charset="0"/>
              <a:buAutoNum type="arabicPeriod"/>
            </a:pPr>
            <a:r>
              <a:rPr lang="en-US" altLang="en-US" sz="2000" dirty="0">
                <a:cs typeface="Courier New" panose="02070309020205020404" pitchFamily="49" charset="0"/>
              </a:rPr>
              <a:t> </a:t>
            </a:r>
            <a:r>
              <a:rPr lang="en-US" alt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pthread_attr_setsched_policy</a:t>
            </a: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pthread_attr_t</a:t>
            </a: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*</a:t>
            </a:r>
            <a:r>
              <a:rPr lang="en-US" alt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attr</a:t>
            </a: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, int policy)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49" name="Rectangle 2">
            <a:extLst>
              <a:ext uri="{FF2B5EF4-FFF2-40B4-BE49-F238E27FC236}">
                <a16:creationId xmlns:a16="http://schemas.microsoft.com/office/drawing/2014/main" id="{B7D51925-D583-4FC2-9CB5-E5599A1B8B8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30960" y="228177"/>
            <a:ext cx="717804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POSIX Real-Time Scheduling API (1)</a:t>
            </a:r>
          </a:p>
        </p:txBody>
      </p:sp>
      <p:sp>
        <p:nvSpPr>
          <p:cNvPr id="104450" name="Rectangle 3">
            <a:extLst>
              <a:ext uri="{FF2B5EF4-FFF2-40B4-BE49-F238E27FC236}">
                <a16:creationId xmlns:a16="http://schemas.microsoft.com/office/drawing/2014/main" id="{9965A94C-BC3D-4A28-8EC9-9D5F7E2964D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06450" y="1066799"/>
            <a:ext cx="7702550" cy="5359401"/>
          </a:xfrm>
        </p:spPr>
        <p:txBody>
          <a:bodyPr/>
          <a:lstStyle/>
          <a:p>
            <a:pPr marL="0" indent="0">
              <a:buFont typeface="Monotype Sorts" pitchFamily="-84" charset="2"/>
              <a:buNone/>
            </a:pPr>
            <a:r>
              <a:rPr lang="en-US" altLang="en-US" sz="1500" b="1" dirty="0">
                <a:latin typeface="黑体" panose="02010609060101010101" pitchFamily="49" charset="-122"/>
                <a:ea typeface="黑体" panose="02010609060101010101" pitchFamily="49" charset="-122"/>
              </a:rPr>
              <a:t>#include &lt;</a:t>
            </a:r>
            <a:r>
              <a:rPr lang="en-US" altLang="en-US" sz="1500" b="1" dirty="0" err="1">
                <a:latin typeface="黑体" panose="02010609060101010101" pitchFamily="49" charset="-122"/>
                <a:ea typeface="黑体" panose="02010609060101010101" pitchFamily="49" charset="-122"/>
              </a:rPr>
              <a:t>pthread.h</a:t>
            </a:r>
            <a:r>
              <a:rPr lang="en-US" altLang="en-US" sz="1500" b="1" dirty="0">
                <a:latin typeface="黑体" panose="02010609060101010101" pitchFamily="49" charset="-122"/>
                <a:ea typeface="黑体" panose="02010609060101010101" pitchFamily="49" charset="-122"/>
              </a:rPr>
              <a:t>&gt; </a:t>
            </a:r>
          </a:p>
          <a:p>
            <a:pPr marL="0" indent="0">
              <a:buFont typeface="Monotype Sorts" pitchFamily="-84" charset="2"/>
              <a:buNone/>
            </a:pPr>
            <a:r>
              <a:rPr lang="en-US" altLang="en-US" sz="1500" b="1" dirty="0">
                <a:latin typeface="黑体" panose="02010609060101010101" pitchFamily="49" charset="-122"/>
                <a:ea typeface="黑体" panose="02010609060101010101" pitchFamily="49" charset="-122"/>
              </a:rPr>
              <a:t>#include &lt;</a:t>
            </a:r>
            <a:r>
              <a:rPr lang="en-US" altLang="en-US" sz="1500" b="1" dirty="0" err="1">
                <a:latin typeface="黑体" panose="02010609060101010101" pitchFamily="49" charset="-122"/>
                <a:ea typeface="黑体" panose="02010609060101010101" pitchFamily="49" charset="-122"/>
              </a:rPr>
              <a:t>stdio.h</a:t>
            </a:r>
            <a:r>
              <a:rPr lang="en-US" altLang="en-US" sz="1500" b="1" dirty="0">
                <a:latin typeface="黑体" panose="02010609060101010101" pitchFamily="49" charset="-122"/>
                <a:ea typeface="黑体" panose="02010609060101010101" pitchFamily="49" charset="-122"/>
              </a:rPr>
              <a:t>&gt; </a:t>
            </a:r>
          </a:p>
          <a:p>
            <a:pPr marL="0" indent="0">
              <a:buFont typeface="Monotype Sorts" pitchFamily="-84" charset="2"/>
              <a:buNone/>
            </a:pPr>
            <a:r>
              <a:rPr lang="en-US" altLang="en-US" sz="1500" b="1" dirty="0">
                <a:latin typeface="黑体" panose="02010609060101010101" pitchFamily="49" charset="-122"/>
                <a:ea typeface="黑体" panose="02010609060101010101" pitchFamily="49" charset="-122"/>
              </a:rPr>
              <a:t>#define NUM_THREADS 5 </a:t>
            </a:r>
          </a:p>
          <a:p>
            <a:pPr marL="0" indent="0">
              <a:buFont typeface="Monotype Sorts" pitchFamily="-84" charset="2"/>
              <a:buNone/>
            </a:pPr>
            <a:r>
              <a:rPr lang="en-US" altLang="en-US" sz="1500" b="1" dirty="0">
                <a:latin typeface="黑体" panose="02010609060101010101" pitchFamily="49" charset="-122"/>
                <a:ea typeface="黑体" panose="02010609060101010101" pitchFamily="49" charset="-122"/>
              </a:rPr>
              <a:t>int main(int </a:t>
            </a:r>
            <a:r>
              <a:rPr lang="en-US" altLang="en-US" sz="1500" b="1" dirty="0" err="1">
                <a:latin typeface="黑体" panose="02010609060101010101" pitchFamily="49" charset="-122"/>
                <a:ea typeface="黑体" panose="02010609060101010101" pitchFamily="49" charset="-122"/>
              </a:rPr>
              <a:t>argc</a:t>
            </a:r>
            <a:r>
              <a:rPr lang="en-US" altLang="en-US" sz="1500" b="1" dirty="0">
                <a:latin typeface="黑体" panose="02010609060101010101" pitchFamily="49" charset="-122"/>
                <a:ea typeface="黑体" panose="02010609060101010101" pitchFamily="49" charset="-122"/>
              </a:rPr>
              <a:t>, char *</a:t>
            </a:r>
            <a:r>
              <a:rPr lang="en-US" altLang="en-US" sz="1500" b="1" dirty="0" err="1">
                <a:latin typeface="黑体" panose="02010609060101010101" pitchFamily="49" charset="-122"/>
                <a:ea typeface="黑体" panose="02010609060101010101" pitchFamily="49" charset="-122"/>
              </a:rPr>
              <a:t>argv</a:t>
            </a:r>
            <a:r>
              <a:rPr lang="en-US" altLang="en-US" sz="1500" b="1" dirty="0">
                <a:latin typeface="黑体" panose="02010609060101010101" pitchFamily="49" charset="-122"/>
                <a:ea typeface="黑体" panose="02010609060101010101" pitchFamily="49" charset="-122"/>
              </a:rPr>
              <a:t>[]) </a:t>
            </a:r>
          </a:p>
          <a:p>
            <a:pPr marL="0" indent="0">
              <a:buFont typeface="Monotype Sorts" pitchFamily="-84" charset="2"/>
              <a:buNone/>
            </a:pPr>
            <a:r>
              <a:rPr lang="en-US" altLang="en-US" sz="1500" b="1" dirty="0">
                <a:latin typeface="黑体" panose="02010609060101010101" pitchFamily="49" charset="-122"/>
                <a:ea typeface="黑体" panose="02010609060101010101" pitchFamily="49" charset="-122"/>
              </a:rPr>
              <a:t>{ </a:t>
            </a:r>
          </a:p>
          <a:p>
            <a:pPr marL="0" indent="0">
              <a:buFont typeface="Monotype Sorts" pitchFamily="-84" charset="2"/>
              <a:buNone/>
            </a:pPr>
            <a:r>
              <a:rPr lang="en-US" altLang="en-US" sz="1500" b="1" dirty="0">
                <a:latin typeface="黑体" panose="02010609060101010101" pitchFamily="49" charset="-122"/>
                <a:ea typeface="黑体" panose="02010609060101010101" pitchFamily="49" charset="-122"/>
              </a:rPr>
              <a:t>   int </a:t>
            </a:r>
            <a:r>
              <a:rPr lang="en-US" altLang="en-US" sz="1500" b="1" dirty="0" err="1">
                <a:latin typeface="黑体" panose="02010609060101010101" pitchFamily="49" charset="-122"/>
                <a:ea typeface="黑体" panose="02010609060101010101" pitchFamily="49" charset="-122"/>
              </a:rPr>
              <a:t>i</a:t>
            </a:r>
            <a:r>
              <a:rPr lang="en-US" altLang="en-US" sz="1500" b="1" dirty="0">
                <a:latin typeface="黑体" panose="02010609060101010101" pitchFamily="49" charset="-122"/>
                <a:ea typeface="黑体" panose="02010609060101010101" pitchFamily="49" charset="-122"/>
              </a:rPr>
              <a:t>, policy;</a:t>
            </a:r>
            <a:br>
              <a:rPr lang="en-US" altLang="en-US" sz="1500" b="1" dirty="0">
                <a:latin typeface="黑体" panose="02010609060101010101" pitchFamily="49" charset="-122"/>
                <a:ea typeface="黑体" panose="02010609060101010101" pitchFamily="49" charset="-122"/>
              </a:rPr>
            </a:br>
            <a:r>
              <a:rPr lang="en-US" altLang="en-US" sz="1500" b="1" dirty="0">
                <a:latin typeface="黑体" panose="02010609060101010101" pitchFamily="49" charset="-122"/>
                <a:ea typeface="黑体" panose="02010609060101010101" pitchFamily="49" charset="-122"/>
              </a:rPr>
              <a:t>   </a:t>
            </a:r>
            <a:r>
              <a:rPr lang="en-US" altLang="en-US" sz="1500" b="1" dirty="0" err="1">
                <a:latin typeface="黑体" panose="02010609060101010101" pitchFamily="49" charset="-122"/>
                <a:ea typeface="黑体" panose="02010609060101010101" pitchFamily="49" charset="-122"/>
              </a:rPr>
              <a:t>pthread_t_tid</a:t>
            </a:r>
            <a:r>
              <a:rPr lang="en-US" altLang="en-US" sz="1500" b="1" dirty="0">
                <a:latin typeface="黑体" panose="02010609060101010101" pitchFamily="49" charset="-122"/>
                <a:ea typeface="黑体" panose="02010609060101010101" pitchFamily="49" charset="-122"/>
              </a:rPr>
              <a:t>[NUM_THREADS]; </a:t>
            </a:r>
          </a:p>
          <a:p>
            <a:pPr marL="0" indent="0">
              <a:buFont typeface="Monotype Sorts" pitchFamily="-84" charset="2"/>
              <a:buNone/>
            </a:pPr>
            <a:r>
              <a:rPr lang="en-US" altLang="en-US" sz="1500" b="1" dirty="0">
                <a:latin typeface="黑体" panose="02010609060101010101" pitchFamily="49" charset="-122"/>
                <a:ea typeface="黑体" panose="02010609060101010101" pitchFamily="49" charset="-122"/>
              </a:rPr>
              <a:t>   </a:t>
            </a:r>
            <a:r>
              <a:rPr lang="en-US" altLang="en-US" sz="1500" b="1" dirty="0" err="1">
                <a:latin typeface="黑体" panose="02010609060101010101" pitchFamily="49" charset="-122"/>
                <a:ea typeface="黑体" panose="02010609060101010101" pitchFamily="49" charset="-122"/>
              </a:rPr>
              <a:t>pthread_attr_t</a:t>
            </a:r>
            <a:r>
              <a:rPr lang="en-US" altLang="en-US" sz="1500" b="1" dirty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en-US" sz="1500" b="1" dirty="0" err="1">
                <a:latin typeface="黑体" panose="02010609060101010101" pitchFamily="49" charset="-122"/>
                <a:ea typeface="黑体" panose="02010609060101010101" pitchFamily="49" charset="-122"/>
              </a:rPr>
              <a:t>attr</a:t>
            </a:r>
            <a:r>
              <a:rPr lang="en-US" altLang="en-US" sz="1500" b="1" dirty="0">
                <a:latin typeface="黑体" panose="02010609060101010101" pitchFamily="49" charset="-122"/>
                <a:ea typeface="黑体" panose="02010609060101010101" pitchFamily="49" charset="-122"/>
              </a:rPr>
              <a:t>; </a:t>
            </a:r>
          </a:p>
          <a:p>
            <a:pPr marL="0" indent="0">
              <a:buFont typeface="Monotype Sorts" pitchFamily="-84" charset="2"/>
              <a:buNone/>
            </a:pPr>
            <a:r>
              <a:rPr lang="en-US" altLang="en-US" sz="1500" b="1" dirty="0">
                <a:latin typeface="黑体" panose="02010609060101010101" pitchFamily="49" charset="-122"/>
                <a:ea typeface="黑体" panose="02010609060101010101" pitchFamily="49" charset="-122"/>
              </a:rPr>
              <a:t>   /* get the default attributes */ </a:t>
            </a:r>
          </a:p>
          <a:p>
            <a:pPr marL="0" indent="0">
              <a:buFont typeface="Monotype Sorts" pitchFamily="-84" charset="2"/>
              <a:buNone/>
            </a:pPr>
            <a:r>
              <a:rPr lang="en-US" altLang="en-US" sz="1500" b="1" dirty="0">
                <a:latin typeface="黑体" panose="02010609060101010101" pitchFamily="49" charset="-122"/>
                <a:ea typeface="黑体" panose="02010609060101010101" pitchFamily="49" charset="-122"/>
              </a:rPr>
              <a:t>   </a:t>
            </a:r>
            <a:r>
              <a:rPr lang="en-US" altLang="en-US" sz="1500" b="1" dirty="0" err="1">
                <a:latin typeface="黑体" panose="02010609060101010101" pitchFamily="49" charset="-122"/>
                <a:ea typeface="黑体" panose="02010609060101010101" pitchFamily="49" charset="-122"/>
              </a:rPr>
              <a:t>pthread_attr_init</a:t>
            </a:r>
            <a:r>
              <a:rPr lang="en-US" altLang="en-US" sz="1500" b="1" dirty="0">
                <a:latin typeface="黑体" panose="02010609060101010101" pitchFamily="49" charset="-122"/>
                <a:ea typeface="黑体" panose="02010609060101010101" pitchFamily="49" charset="-122"/>
              </a:rPr>
              <a:t>(&amp;</a:t>
            </a:r>
            <a:r>
              <a:rPr lang="en-US" altLang="en-US" sz="1500" b="1" dirty="0" err="1">
                <a:latin typeface="黑体" panose="02010609060101010101" pitchFamily="49" charset="-122"/>
                <a:ea typeface="黑体" panose="02010609060101010101" pitchFamily="49" charset="-122"/>
              </a:rPr>
              <a:t>attr</a:t>
            </a:r>
            <a:r>
              <a:rPr lang="en-US" altLang="en-US" sz="1500" b="1" dirty="0">
                <a:latin typeface="黑体" panose="02010609060101010101" pitchFamily="49" charset="-122"/>
                <a:ea typeface="黑体" panose="02010609060101010101" pitchFamily="49" charset="-122"/>
              </a:rPr>
              <a:t>); </a:t>
            </a:r>
          </a:p>
          <a:p>
            <a:pPr marL="0" indent="0">
              <a:buFont typeface="Monotype Sorts" pitchFamily="-84" charset="2"/>
              <a:buNone/>
            </a:pPr>
            <a:r>
              <a:rPr lang="en-US" altLang="en-US" sz="1500" b="1" dirty="0">
                <a:latin typeface="黑体" panose="02010609060101010101" pitchFamily="49" charset="-122"/>
                <a:ea typeface="黑体" panose="02010609060101010101" pitchFamily="49" charset="-122"/>
              </a:rPr>
              <a:t>   /* get the current scheduling policy */</a:t>
            </a:r>
            <a:br>
              <a:rPr lang="en-US" altLang="en-US" sz="1500" b="1" dirty="0">
                <a:latin typeface="黑体" panose="02010609060101010101" pitchFamily="49" charset="-122"/>
                <a:ea typeface="黑体" panose="02010609060101010101" pitchFamily="49" charset="-122"/>
              </a:rPr>
            </a:br>
            <a:r>
              <a:rPr lang="en-US" altLang="en-US" sz="1500" b="1" dirty="0">
                <a:latin typeface="黑体" panose="02010609060101010101" pitchFamily="49" charset="-122"/>
                <a:ea typeface="黑体" panose="02010609060101010101" pitchFamily="49" charset="-122"/>
              </a:rPr>
              <a:t>   if (</a:t>
            </a:r>
            <a:r>
              <a:rPr lang="en-US" altLang="en-US" sz="1500" b="1" dirty="0" err="1">
                <a:latin typeface="黑体" panose="02010609060101010101" pitchFamily="49" charset="-122"/>
                <a:ea typeface="黑体" panose="02010609060101010101" pitchFamily="49" charset="-122"/>
              </a:rPr>
              <a:t>pthread_attr_getschedpolicy</a:t>
            </a:r>
            <a:r>
              <a:rPr lang="en-US" altLang="en-US" sz="1500" b="1" dirty="0">
                <a:latin typeface="黑体" panose="02010609060101010101" pitchFamily="49" charset="-122"/>
                <a:ea typeface="黑体" panose="02010609060101010101" pitchFamily="49" charset="-122"/>
              </a:rPr>
              <a:t>(&amp;</a:t>
            </a:r>
            <a:r>
              <a:rPr lang="en-US" altLang="en-US" sz="1500" b="1" dirty="0" err="1">
                <a:latin typeface="黑体" panose="02010609060101010101" pitchFamily="49" charset="-122"/>
                <a:ea typeface="黑体" panose="02010609060101010101" pitchFamily="49" charset="-122"/>
              </a:rPr>
              <a:t>attr</a:t>
            </a:r>
            <a:r>
              <a:rPr lang="en-US" altLang="en-US" sz="1500" b="1" dirty="0">
                <a:latin typeface="黑体" panose="02010609060101010101" pitchFamily="49" charset="-122"/>
                <a:ea typeface="黑体" panose="02010609060101010101" pitchFamily="49" charset="-122"/>
              </a:rPr>
              <a:t>, &amp;policy) != 0) </a:t>
            </a:r>
          </a:p>
          <a:p>
            <a:pPr marL="0" indent="0">
              <a:buFont typeface="Monotype Sorts" pitchFamily="-84" charset="2"/>
              <a:buNone/>
            </a:pPr>
            <a:r>
              <a:rPr lang="en-US" altLang="en-US" sz="1500" b="1" dirty="0">
                <a:latin typeface="黑体" panose="02010609060101010101" pitchFamily="49" charset="-122"/>
                <a:ea typeface="黑体" panose="02010609060101010101" pitchFamily="49" charset="-122"/>
              </a:rPr>
              <a:t>      </a:t>
            </a:r>
            <a:r>
              <a:rPr lang="en-US" altLang="en-US" sz="1500" b="1" dirty="0" err="1">
                <a:latin typeface="黑体" panose="02010609060101010101" pitchFamily="49" charset="-122"/>
                <a:ea typeface="黑体" panose="02010609060101010101" pitchFamily="49" charset="-122"/>
              </a:rPr>
              <a:t>fprintf</a:t>
            </a:r>
            <a:r>
              <a:rPr lang="en-US" altLang="en-US" sz="1500" b="1" dirty="0">
                <a:latin typeface="黑体" panose="02010609060101010101" pitchFamily="49" charset="-122"/>
                <a:ea typeface="黑体" panose="02010609060101010101" pitchFamily="49" charset="-122"/>
              </a:rPr>
              <a:t>(stderr, "Unable to get policy.\n"); </a:t>
            </a:r>
          </a:p>
          <a:p>
            <a:pPr marL="0" indent="0">
              <a:buFont typeface="Monotype Sorts" pitchFamily="-84" charset="2"/>
              <a:buNone/>
            </a:pPr>
            <a:r>
              <a:rPr lang="en-US" altLang="en-US" sz="1500" b="1" dirty="0">
                <a:latin typeface="黑体" panose="02010609060101010101" pitchFamily="49" charset="-122"/>
                <a:ea typeface="黑体" panose="02010609060101010101" pitchFamily="49" charset="-122"/>
              </a:rPr>
              <a:t>   else { </a:t>
            </a:r>
          </a:p>
          <a:p>
            <a:pPr marL="0" indent="0">
              <a:buFont typeface="Monotype Sorts" pitchFamily="-84" charset="2"/>
              <a:buNone/>
            </a:pPr>
            <a:r>
              <a:rPr lang="en-US" altLang="en-US" sz="1500" b="1" dirty="0">
                <a:latin typeface="黑体" panose="02010609060101010101" pitchFamily="49" charset="-122"/>
                <a:ea typeface="黑体" panose="02010609060101010101" pitchFamily="49" charset="-122"/>
              </a:rPr>
              <a:t>      if (policy == SCHED_OTHER) </a:t>
            </a:r>
            <a:r>
              <a:rPr lang="en-US" altLang="en-US" sz="1500" b="1" dirty="0" err="1">
                <a:latin typeface="黑体" panose="02010609060101010101" pitchFamily="49" charset="-122"/>
                <a:ea typeface="黑体" panose="02010609060101010101" pitchFamily="49" charset="-122"/>
              </a:rPr>
              <a:t>printf</a:t>
            </a:r>
            <a:r>
              <a:rPr lang="en-US" altLang="en-US" sz="1500" b="1" dirty="0">
                <a:latin typeface="黑体" panose="02010609060101010101" pitchFamily="49" charset="-122"/>
                <a:ea typeface="黑体" panose="02010609060101010101" pitchFamily="49" charset="-122"/>
              </a:rPr>
              <a:t>("SCHED_OTHER\n"); </a:t>
            </a:r>
          </a:p>
          <a:p>
            <a:pPr marL="0" indent="0">
              <a:buFont typeface="Monotype Sorts" pitchFamily="-84" charset="2"/>
              <a:buNone/>
            </a:pPr>
            <a:r>
              <a:rPr lang="en-US" altLang="en-US" sz="1500" b="1" dirty="0">
                <a:latin typeface="黑体" panose="02010609060101010101" pitchFamily="49" charset="-122"/>
                <a:ea typeface="黑体" panose="02010609060101010101" pitchFamily="49" charset="-122"/>
              </a:rPr>
              <a:t>      else if (policy == SCHED_RR) </a:t>
            </a:r>
            <a:r>
              <a:rPr lang="en-US" altLang="en-US" sz="1500" b="1" dirty="0" err="1">
                <a:latin typeface="黑体" panose="02010609060101010101" pitchFamily="49" charset="-122"/>
                <a:ea typeface="黑体" panose="02010609060101010101" pitchFamily="49" charset="-122"/>
              </a:rPr>
              <a:t>printf</a:t>
            </a:r>
            <a:r>
              <a:rPr lang="en-US" altLang="en-US" sz="1500" b="1" dirty="0">
                <a:latin typeface="黑体" panose="02010609060101010101" pitchFamily="49" charset="-122"/>
                <a:ea typeface="黑体" panose="02010609060101010101" pitchFamily="49" charset="-122"/>
              </a:rPr>
              <a:t>("SCHED_RR\n"); </a:t>
            </a:r>
          </a:p>
          <a:p>
            <a:pPr marL="0" indent="0">
              <a:buFont typeface="Monotype Sorts" pitchFamily="-84" charset="2"/>
              <a:buNone/>
            </a:pPr>
            <a:r>
              <a:rPr lang="en-US" altLang="en-US" sz="1500" b="1" dirty="0">
                <a:latin typeface="黑体" panose="02010609060101010101" pitchFamily="49" charset="-122"/>
                <a:ea typeface="黑体" panose="02010609060101010101" pitchFamily="49" charset="-122"/>
              </a:rPr>
              <a:t>      else if (policy == SCHED_FIFO) </a:t>
            </a:r>
            <a:r>
              <a:rPr lang="en-US" altLang="en-US" sz="1500" b="1" dirty="0" err="1">
                <a:latin typeface="黑体" panose="02010609060101010101" pitchFamily="49" charset="-122"/>
                <a:ea typeface="黑体" panose="02010609060101010101" pitchFamily="49" charset="-122"/>
              </a:rPr>
              <a:t>printf</a:t>
            </a:r>
            <a:r>
              <a:rPr lang="en-US" altLang="en-US" sz="1500" b="1" dirty="0">
                <a:latin typeface="黑体" panose="02010609060101010101" pitchFamily="49" charset="-122"/>
                <a:ea typeface="黑体" panose="02010609060101010101" pitchFamily="49" charset="-122"/>
              </a:rPr>
              <a:t>("SCHED_FIFO\n"); </a:t>
            </a:r>
          </a:p>
          <a:p>
            <a:pPr marL="0" indent="0">
              <a:buFont typeface="Monotype Sorts" pitchFamily="-84" charset="2"/>
              <a:buNone/>
            </a:pPr>
            <a:r>
              <a:rPr lang="en-US" altLang="en-US" sz="1500" b="1" dirty="0">
                <a:latin typeface="黑体" panose="02010609060101010101" pitchFamily="49" charset="-122"/>
                <a:ea typeface="黑体" panose="02010609060101010101" pitchFamily="49" charset="-122"/>
              </a:rPr>
              <a:t>   }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Rectangle 3">
            <a:extLst>
              <a:ext uri="{FF2B5EF4-FFF2-40B4-BE49-F238E27FC236}">
                <a16:creationId xmlns:a16="http://schemas.microsoft.com/office/drawing/2014/main" id="{2E06EF5B-FE80-44B3-BB02-57C4BE650B7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048968" y="1298574"/>
            <a:ext cx="7460031" cy="5153025"/>
          </a:xfrm>
        </p:spPr>
        <p:txBody>
          <a:bodyPr/>
          <a:lstStyle/>
          <a:p>
            <a:pPr marL="0" indent="0">
              <a:buFont typeface="Monotype Sorts" pitchFamily="-84" charset="2"/>
              <a:buNone/>
            </a:pPr>
            <a:r>
              <a:rPr lang="en-US" altLang="en-US" sz="1500" b="1" dirty="0">
                <a:latin typeface="黑体" panose="02010609060101010101" pitchFamily="49" charset="-122"/>
                <a:ea typeface="黑体" panose="02010609060101010101" pitchFamily="49" charset="-122"/>
              </a:rPr>
              <a:t>   /* set the scheduling policy - FIFO, RR, or OTHER */ </a:t>
            </a:r>
            <a:br>
              <a:rPr lang="en-US" altLang="en-US" sz="1500" b="1" dirty="0">
                <a:latin typeface="黑体" panose="02010609060101010101" pitchFamily="49" charset="-122"/>
                <a:ea typeface="黑体" panose="02010609060101010101" pitchFamily="49" charset="-122"/>
              </a:rPr>
            </a:br>
            <a:r>
              <a:rPr lang="en-US" altLang="en-US" sz="1500" b="1" dirty="0">
                <a:latin typeface="黑体" panose="02010609060101010101" pitchFamily="49" charset="-122"/>
                <a:ea typeface="黑体" panose="02010609060101010101" pitchFamily="49" charset="-122"/>
              </a:rPr>
              <a:t>   if (</a:t>
            </a:r>
            <a:r>
              <a:rPr lang="en-US" altLang="en-US" sz="1500" b="1" dirty="0" err="1">
                <a:latin typeface="黑体" panose="02010609060101010101" pitchFamily="49" charset="-122"/>
                <a:ea typeface="黑体" panose="02010609060101010101" pitchFamily="49" charset="-122"/>
              </a:rPr>
              <a:t>pthread_attr_setschedpolicy</a:t>
            </a:r>
            <a:r>
              <a:rPr lang="en-US" altLang="en-US" sz="1500" b="1" dirty="0">
                <a:latin typeface="黑体" panose="02010609060101010101" pitchFamily="49" charset="-122"/>
                <a:ea typeface="黑体" panose="02010609060101010101" pitchFamily="49" charset="-122"/>
              </a:rPr>
              <a:t>(&amp;</a:t>
            </a:r>
            <a:r>
              <a:rPr lang="en-US" altLang="en-US" sz="1500" b="1" dirty="0" err="1">
                <a:latin typeface="黑体" panose="02010609060101010101" pitchFamily="49" charset="-122"/>
                <a:ea typeface="黑体" panose="02010609060101010101" pitchFamily="49" charset="-122"/>
              </a:rPr>
              <a:t>attr</a:t>
            </a:r>
            <a:r>
              <a:rPr lang="en-US" altLang="en-US" sz="1500" b="1" dirty="0">
                <a:latin typeface="黑体" panose="02010609060101010101" pitchFamily="49" charset="-122"/>
                <a:ea typeface="黑体" panose="02010609060101010101" pitchFamily="49" charset="-122"/>
              </a:rPr>
              <a:t>, SCHED_FIFO) != 0) </a:t>
            </a:r>
          </a:p>
          <a:p>
            <a:pPr marL="0" indent="0">
              <a:buFont typeface="Monotype Sorts" pitchFamily="-84" charset="2"/>
              <a:buNone/>
            </a:pPr>
            <a:r>
              <a:rPr lang="en-US" altLang="en-US" sz="1500" b="1" dirty="0">
                <a:latin typeface="黑体" panose="02010609060101010101" pitchFamily="49" charset="-122"/>
                <a:ea typeface="黑体" panose="02010609060101010101" pitchFamily="49" charset="-122"/>
              </a:rPr>
              <a:t>      </a:t>
            </a:r>
            <a:r>
              <a:rPr lang="en-US" altLang="en-US" sz="1500" b="1" dirty="0" err="1">
                <a:latin typeface="黑体" panose="02010609060101010101" pitchFamily="49" charset="-122"/>
                <a:ea typeface="黑体" panose="02010609060101010101" pitchFamily="49" charset="-122"/>
              </a:rPr>
              <a:t>fprintf</a:t>
            </a:r>
            <a:r>
              <a:rPr lang="en-US" altLang="en-US" sz="1500" b="1" dirty="0">
                <a:latin typeface="黑体" panose="02010609060101010101" pitchFamily="49" charset="-122"/>
                <a:ea typeface="黑体" panose="02010609060101010101" pitchFamily="49" charset="-122"/>
              </a:rPr>
              <a:t>(stderr, "Unable to set policy.\n"); </a:t>
            </a:r>
          </a:p>
          <a:p>
            <a:pPr marL="0" indent="0">
              <a:buFont typeface="Monotype Sorts" pitchFamily="-84" charset="2"/>
              <a:buNone/>
            </a:pPr>
            <a:r>
              <a:rPr lang="en-US" altLang="en-US" sz="1500" b="1" dirty="0">
                <a:latin typeface="黑体" panose="02010609060101010101" pitchFamily="49" charset="-122"/>
                <a:ea typeface="黑体" panose="02010609060101010101" pitchFamily="49" charset="-122"/>
              </a:rPr>
              <a:t>   /* create the threads */</a:t>
            </a:r>
            <a:br>
              <a:rPr lang="en-US" altLang="en-US" sz="1500" b="1" dirty="0">
                <a:latin typeface="黑体" panose="02010609060101010101" pitchFamily="49" charset="-122"/>
                <a:ea typeface="黑体" panose="02010609060101010101" pitchFamily="49" charset="-122"/>
              </a:rPr>
            </a:br>
            <a:r>
              <a:rPr lang="en-US" altLang="en-US" sz="1500" b="1" dirty="0">
                <a:latin typeface="黑体" panose="02010609060101010101" pitchFamily="49" charset="-122"/>
                <a:ea typeface="黑体" panose="02010609060101010101" pitchFamily="49" charset="-122"/>
              </a:rPr>
              <a:t>   for (</a:t>
            </a:r>
            <a:r>
              <a:rPr lang="en-US" altLang="en-US" sz="1500" b="1" dirty="0" err="1">
                <a:latin typeface="黑体" panose="02010609060101010101" pitchFamily="49" charset="-122"/>
                <a:ea typeface="黑体" panose="02010609060101010101" pitchFamily="49" charset="-122"/>
              </a:rPr>
              <a:t>i</a:t>
            </a:r>
            <a:r>
              <a:rPr lang="en-US" altLang="en-US" sz="1500" b="1" dirty="0">
                <a:latin typeface="黑体" panose="02010609060101010101" pitchFamily="49" charset="-122"/>
                <a:ea typeface="黑体" panose="02010609060101010101" pitchFamily="49" charset="-122"/>
              </a:rPr>
              <a:t> = 0; </a:t>
            </a:r>
            <a:r>
              <a:rPr lang="en-US" altLang="en-US" sz="1500" b="1" dirty="0" err="1">
                <a:latin typeface="黑体" panose="02010609060101010101" pitchFamily="49" charset="-122"/>
                <a:ea typeface="黑体" panose="02010609060101010101" pitchFamily="49" charset="-122"/>
              </a:rPr>
              <a:t>i</a:t>
            </a:r>
            <a:r>
              <a:rPr lang="en-US" altLang="en-US" sz="1500" b="1" dirty="0">
                <a:latin typeface="黑体" panose="02010609060101010101" pitchFamily="49" charset="-122"/>
                <a:ea typeface="黑体" panose="02010609060101010101" pitchFamily="49" charset="-122"/>
              </a:rPr>
              <a:t> &lt; NUM_THREADS; </a:t>
            </a:r>
            <a:r>
              <a:rPr lang="en-US" altLang="en-US" sz="1500" b="1" dirty="0" err="1">
                <a:latin typeface="黑体" panose="02010609060101010101" pitchFamily="49" charset="-122"/>
                <a:ea typeface="黑体" panose="02010609060101010101" pitchFamily="49" charset="-122"/>
              </a:rPr>
              <a:t>i</a:t>
            </a:r>
            <a:r>
              <a:rPr lang="en-US" altLang="en-US" sz="1500" b="1" dirty="0">
                <a:latin typeface="黑体" panose="02010609060101010101" pitchFamily="49" charset="-122"/>
                <a:ea typeface="黑体" panose="02010609060101010101" pitchFamily="49" charset="-122"/>
              </a:rPr>
              <a:t>++) </a:t>
            </a:r>
          </a:p>
          <a:p>
            <a:pPr marL="0" indent="0">
              <a:buFont typeface="Monotype Sorts" pitchFamily="-84" charset="2"/>
              <a:buNone/>
            </a:pPr>
            <a:r>
              <a:rPr lang="en-US" altLang="en-US" sz="1500" b="1" dirty="0">
                <a:latin typeface="黑体" panose="02010609060101010101" pitchFamily="49" charset="-122"/>
                <a:ea typeface="黑体" panose="02010609060101010101" pitchFamily="49" charset="-122"/>
              </a:rPr>
              <a:t>      </a:t>
            </a:r>
            <a:r>
              <a:rPr lang="en-US" altLang="en-US" sz="1500" b="1" dirty="0" err="1">
                <a:latin typeface="黑体" panose="02010609060101010101" pitchFamily="49" charset="-122"/>
                <a:ea typeface="黑体" panose="02010609060101010101" pitchFamily="49" charset="-122"/>
              </a:rPr>
              <a:t>pthread_create</a:t>
            </a:r>
            <a:r>
              <a:rPr lang="en-US" altLang="en-US" sz="1500" b="1" dirty="0">
                <a:latin typeface="黑体" panose="02010609060101010101" pitchFamily="49" charset="-122"/>
                <a:ea typeface="黑体" panose="02010609060101010101" pitchFamily="49" charset="-122"/>
              </a:rPr>
              <a:t>(&amp;</a:t>
            </a:r>
            <a:r>
              <a:rPr lang="en-US" altLang="en-US" sz="1500" b="1" dirty="0" err="1">
                <a:latin typeface="黑体" panose="02010609060101010101" pitchFamily="49" charset="-122"/>
                <a:ea typeface="黑体" panose="02010609060101010101" pitchFamily="49" charset="-122"/>
              </a:rPr>
              <a:t>tid</a:t>
            </a:r>
            <a:r>
              <a:rPr lang="en-US" altLang="en-US" sz="1500" b="1" dirty="0">
                <a:latin typeface="黑体" panose="02010609060101010101" pitchFamily="49" charset="-122"/>
                <a:ea typeface="黑体" panose="02010609060101010101" pitchFamily="49" charset="-122"/>
              </a:rPr>
              <a:t>[</a:t>
            </a:r>
            <a:r>
              <a:rPr lang="en-US" altLang="en-US" sz="1500" b="1" dirty="0" err="1">
                <a:latin typeface="黑体" panose="02010609060101010101" pitchFamily="49" charset="-122"/>
                <a:ea typeface="黑体" panose="02010609060101010101" pitchFamily="49" charset="-122"/>
              </a:rPr>
              <a:t>i</a:t>
            </a:r>
            <a:r>
              <a:rPr lang="en-US" altLang="en-US" sz="1500" b="1" dirty="0">
                <a:latin typeface="黑体" panose="02010609060101010101" pitchFamily="49" charset="-122"/>
                <a:ea typeface="黑体" panose="02010609060101010101" pitchFamily="49" charset="-122"/>
              </a:rPr>
              <a:t>],&amp;</a:t>
            </a:r>
            <a:r>
              <a:rPr lang="en-US" altLang="en-US" sz="1500" b="1" dirty="0" err="1">
                <a:latin typeface="黑体" panose="02010609060101010101" pitchFamily="49" charset="-122"/>
                <a:ea typeface="黑体" panose="02010609060101010101" pitchFamily="49" charset="-122"/>
              </a:rPr>
              <a:t>attr,runner,NULL</a:t>
            </a:r>
            <a:r>
              <a:rPr lang="en-US" altLang="en-US" sz="1500" b="1" dirty="0">
                <a:latin typeface="黑体" panose="02010609060101010101" pitchFamily="49" charset="-122"/>
                <a:ea typeface="黑体" panose="02010609060101010101" pitchFamily="49" charset="-122"/>
              </a:rPr>
              <a:t>); </a:t>
            </a:r>
          </a:p>
          <a:p>
            <a:pPr marL="0" indent="0">
              <a:buFont typeface="Monotype Sorts" pitchFamily="-84" charset="2"/>
              <a:buNone/>
            </a:pPr>
            <a:r>
              <a:rPr lang="en-US" altLang="en-US" sz="1500" b="1" dirty="0">
                <a:latin typeface="黑体" panose="02010609060101010101" pitchFamily="49" charset="-122"/>
                <a:ea typeface="黑体" panose="02010609060101010101" pitchFamily="49" charset="-122"/>
              </a:rPr>
              <a:t>   /* now join on each thread */</a:t>
            </a:r>
            <a:br>
              <a:rPr lang="en-US" altLang="en-US" sz="1500" b="1" dirty="0">
                <a:latin typeface="黑体" panose="02010609060101010101" pitchFamily="49" charset="-122"/>
                <a:ea typeface="黑体" panose="02010609060101010101" pitchFamily="49" charset="-122"/>
              </a:rPr>
            </a:br>
            <a:r>
              <a:rPr lang="en-US" altLang="en-US" sz="1500" b="1" dirty="0">
                <a:latin typeface="黑体" panose="02010609060101010101" pitchFamily="49" charset="-122"/>
                <a:ea typeface="黑体" panose="02010609060101010101" pitchFamily="49" charset="-122"/>
              </a:rPr>
              <a:t>   for (</a:t>
            </a:r>
            <a:r>
              <a:rPr lang="en-US" altLang="en-US" sz="1500" b="1" dirty="0" err="1">
                <a:latin typeface="黑体" panose="02010609060101010101" pitchFamily="49" charset="-122"/>
                <a:ea typeface="黑体" panose="02010609060101010101" pitchFamily="49" charset="-122"/>
              </a:rPr>
              <a:t>i</a:t>
            </a:r>
            <a:r>
              <a:rPr lang="en-US" altLang="en-US" sz="1500" b="1" dirty="0">
                <a:latin typeface="黑体" panose="02010609060101010101" pitchFamily="49" charset="-122"/>
                <a:ea typeface="黑体" panose="02010609060101010101" pitchFamily="49" charset="-122"/>
              </a:rPr>
              <a:t> = 0; </a:t>
            </a:r>
            <a:r>
              <a:rPr lang="en-US" altLang="en-US" sz="1500" b="1" dirty="0" err="1">
                <a:latin typeface="黑体" panose="02010609060101010101" pitchFamily="49" charset="-122"/>
                <a:ea typeface="黑体" panose="02010609060101010101" pitchFamily="49" charset="-122"/>
              </a:rPr>
              <a:t>i</a:t>
            </a:r>
            <a:r>
              <a:rPr lang="en-US" altLang="en-US" sz="1500" b="1" dirty="0">
                <a:latin typeface="黑体" panose="02010609060101010101" pitchFamily="49" charset="-122"/>
                <a:ea typeface="黑体" panose="02010609060101010101" pitchFamily="49" charset="-122"/>
              </a:rPr>
              <a:t> &lt; NUM_THREADS; </a:t>
            </a:r>
            <a:r>
              <a:rPr lang="en-US" altLang="en-US" sz="1500" b="1" dirty="0" err="1">
                <a:latin typeface="黑体" panose="02010609060101010101" pitchFamily="49" charset="-122"/>
                <a:ea typeface="黑体" panose="02010609060101010101" pitchFamily="49" charset="-122"/>
              </a:rPr>
              <a:t>i</a:t>
            </a:r>
            <a:r>
              <a:rPr lang="en-US" altLang="en-US" sz="1500" b="1" dirty="0">
                <a:latin typeface="黑体" panose="02010609060101010101" pitchFamily="49" charset="-122"/>
                <a:ea typeface="黑体" panose="02010609060101010101" pitchFamily="49" charset="-122"/>
              </a:rPr>
              <a:t>++) </a:t>
            </a:r>
          </a:p>
          <a:p>
            <a:pPr marL="0" indent="0">
              <a:buFont typeface="Monotype Sorts" pitchFamily="-84" charset="2"/>
              <a:buNone/>
            </a:pPr>
            <a:r>
              <a:rPr lang="en-US" altLang="en-US" sz="1500" b="1" dirty="0">
                <a:latin typeface="黑体" panose="02010609060101010101" pitchFamily="49" charset="-122"/>
                <a:ea typeface="黑体" panose="02010609060101010101" pitchFamily="49" charset="-122"/>
              </a:rPr>
              <a:t>      </a:t>
            </a:r>
            <a:r>
              <a:rPr lang="en-US" altLang="en-US" sz="1500" b="1" dirty="0" err="1">
                <a:latin typeface="黑体" panose="02010609060101010101" pitchFamily="49" charset="-122"/>
                <a:ea typeface="黑体" panose="02010609060101010101" pitchFamily="49" charset="-122"/>
              </a:rPr>
              <a:t>pthread_join</a:t>
            </a:r>
            <a:r>
              <a:rPr lang="en-US" altLang="en-US" sz="1500" b="1" dirty="0">
                <a:latin typeface="黑体" panose="02010609060101010101" pitchFamily="49" charset="-122"/>
                <a:ea typeface="黑体" panose="02010609060101010101" pitchFamily="49" charset="-122"/>
              </a:rPr>
              <a:t>(</a:t>
            </a:r>
            <a:r>
              <a:rPr lang="en-US" altLang="en-US" sz="1500" b="1" dirty="0" err="1">
                <a:latin typeface="黑体" panose="02010609060101010101" pitchFamily="49" charset="-122"/>
                <a:ea typeface="黑体" panose="02010609060101010101" pitchFamily="49" charset="-122"/>
              </a:rPr>
              <a:t>tid</a:t>
            </a:r>
            <a:r>
              <a:rPr lang="en-US" altLang="en-US" sz="1500" b="1" dirty="0">
                <a:latin typeface="黑体" panose="02010609060101010101" pitchFamily="49" charset="-122"/>
                <a:ea typeface="黑体" panose="02010609060101010101" pitchFamily="49" charset="-122"/>
              </a:rPr>
              <a:t>[</a:t>
            </a:r>
            <a:r>
              <a:rPr lang="en-US" altLang="en-US" sz="1500" b="1" dirty="0" err="1">
                <a:latin typeface="黑体" panose="02010609060101010101" pitchFamily="49" charset="-122"/>
                <a:ea typeface="黑体" panose="02010609060101010101" pitchFamily="49" charset="-122"/>
              </a:rPr>
              <a:t>i</a:t>
            </a:r>
            <a:r>
              <a:rPr lang="en-US" altLang="en-US" sz="1500" b="1" dirty="0">
                <a:latin typeface="黑体" panose="02010609060101010101" pitchFamily="49" charset="-122"/>
                <a:ea typeface="黑体" panose="02010609060101010101" pitchFamily="49" charset="-122"/>
              </a:rPr>
              <a:t>], NULL); </a:t>
            </a:r>
          </a:p>
          <a:p>
            <a:pPr marL="0" indent="0">
              <a:buFont typeface="Monotype Sorts" pitchFamily="-84" charset="2"/>
              <a:buNone/>
            </a:pPr>
            <a:r>
              <a:rPr lang="en-US" altLang="en-US" sz="1500" b="1" dirty="0">
                <a:latin typeface="黑体" panose="02010609060101010101" pitchFamily="49" charset="-122"/>
                <a:ea typeface="黑体" panose="02010609060101010101" pitchFamily="49" charset="-122"/>
              </a:rPr>
              <a:t>}</a:t>
            </a:r>
          </a:p>
          <a:p>
            <a:pPr marL="0" indent="0">
              <a:buFont typeface="Monotype Sorts" pitchFamily="-84" charset="2"/>
              <a:buNone/>
            </a:pPr>
            <a:r>
              <a:rPr lang="en-US" altLang="en-US" sz="1500" b="1" dirty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</a:p>
          <a:p>
            <a:pPr marL="0" indent="0">
              <a:buFont typeface="Monotype Sorts" pitchFamily="-84" charset="2"/>
              <a:buNone/>
            </a:pPr>
            <a:r>
              <a:rPr lang="en-US" altLang="en-US" sz="1500" b="1" dirty="0">
                <a:latin typeface="黑体" panose="02010609060101010101" pitchFamily="49" charset="-122"/>
                <a:ea typeface="黑体" panose="02010609060101010101" pitchFamily="49" charset="-122"/>
              </a:rPr>
              <a:t>/* Each thread will begin control in this function */ </a:t>
            </a:r>
          </a:p>
          <a:p>
            <a:pPr marL="0" indent="0">
              <a:buFont typeface="Monotype Sorts" pitchFamily="-84" charset="2"/>
              <a:buNone/>
            </a:pPr>
            <a:r>
              <a:rPr lang="en-US" altLang="en-US" sz="1500" b="1" dirty="0">
                <a:latin typeface="黑体" panose="02010609060101010101" pitchFamily="49" charset="-122"/>
                <a:ea typeface="黑体" panose="02010609060101010101" pitchFamily="49" charset="-122"/>
              </a:rPr>
              <a:t>void *runner(void *param)</a:t>
            </a:r>
            <a:br>
              <a:rPr lang="en-US" altLang="en-US" sz="1500" b="1" dirty="0">
                <a:latin typeface="黑体" panose="02010609060101010101" pitchFamily="49" charset="-122"/>
                <a:ea typeface="黑体" panose="02010609060101010101" pitchFamily="49" charset="-122"/>
              </a:rPr>
            </a:br>
            <a:r>
              <a:rPr lang="en-US" altLang="en-US" sz="1500" b="1" dirty="0">
                <a:latin typeface="黑体" panose="02010609060101010101" pitchFamily="49" charset="-122"/>
                <a:ea typeface="黑体" panose="02010609060101010101" pitchFamily="49" charset="-122"/>
              </a:rPr>
              <a:t>{ </a:t>
            </a:r>
          </a:p>
          <a:p>
            <a:pPr marL="0" indent="0">
              <a:buFont typeface="Monotype Sorts" pitchFamily="-84" charset="2"/>
              <a:buNone/>
            </a:pPr>
            <a:r>
              <a:rPr lang="en-US" altLang="en-US" sz="1500" b="1" dirty="0">
                <a:latin typeface="黑体" panose="02010609060101010101" pitchFamily="49" charset="-122"/>
                <a:ea typeface="黑体" panose="02010609060101010101" pitchFamily="49" charset="-122"/>
              </a:rPr>
              <a:t>   /* do some work ... */ </a:t>
            </a:r>
          </a:p>
          <a:p>
            <a:pPr marL="0" indent="0">
              <a:buFont typeface="Monotype Sorts" pitchFamily="-84" charset="2"/>
              <a:buNone/>
            </a:pPr>
            <a:r>
              <a:rPr lang="en-US" altLang="en-US" sz="1500" b="1" dirty="0">
                <a:latin typeface="黑体" panose="02010609060101010101" pitchFamily="49" charset="-122"/>
                <a:ea typeface="黑体" panose="02010609060101010101" pitchFamily="49" charset="-122"/>
              </a:rPr>
              <a:t>   </a:t>
            </a:r>
            <a:r>
              <a:rPr lang="en-US" altLang="en-US" sz="1500" b="1" dirty="0" err="1">
                <a:latin typeface="黑体" panose="02010609060101010101" pitchFamily="49" charset="-122"/>
                <a:ea typeface="黑体" panose="02010609060101010101" pitchFamily="49" charset="-122"/>
              </a:rPr>
              <a:t>pthread_exit</a:t>
            </a:r>
            <a:r>
              <a:rPr lang="en-US" altLang="en-US" sz="1500" b="1" dirty="0">
                <a:latin typeface="黑体" panose="02010609060101010101" pitchFamily="49" charset="-122"/>
                <a:ea typeface="黑体" panose="02010609060101010101" pitchFamily="49" charset="-122"/>
              </a:rPr>
              <a:t>(0); </a:t>
            </a:r>
          </a:p>
          <a:p>
            <a:pPr marL="0" indent="0">
              <a:buFont typeface="Monotype Sorts" pitchFamily="-84" charset="2"/>
              <a:buNone/>
            </a:pPr>
            <a:r>
              <a:rPr lang="en-US" altLang="en-US" sz="1500" b="1" dirty="0">
                <a:latin typeface="黑体" panose="02010609060101010101" pitchFamily="49" charset="-122"/>
                <a:ea typeface="黑体" panose="02010609060101010101" pitchFamily="49" charset="-122"/>
              </a:rPr>
              <a:t>} </a:t>
            </a: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29CFE5C5-C5D0-4CA7-B035-CEFFD0E53F4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79778" y="202103"/>
            <a:ext cx="7329221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POSIX Real-Time Scheduling API (2)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5" name="Rectangle 2">
            <a:extLst>
              <a:ext uri="{FF2B5EF4-FFF2-40B4-BE49-F238E27FC236}">
                <a16:creationId xmlns:a16="http://schemas.microsoft.com/office/drawing/2014/main" id="{E181A9CF-D82A-47BC-AB9C-DC9AFB414DC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38238" y="233857"/>
            <a:ext cx="7548562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Operating System Examples</a:t>
            </a:r>
          </a:p>
        </p:txBody>
      </p:sp>
      <p:sp>
        <p:nvSpPr>
          <p:cNvPr id="108546" name="Rectangle 3">
            <a:extLst>
              <a:ext uri="{FF2B5EF4-FFF2-40B4-BE49-F238E27FC236}">
                <a16:creationId xmlns:a16="http://schemas.microsoft.com/office/drawing/2014/main" id="{70A19F9C-142A-4E79-B8AA-6FCF25AA622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38238" y="1109663"/>
            <a:ext cx="6461125" cy="3508375"/>
          </a:xfrm>
        </p:spPr>
        <p:txBody>
          <a:bodyPr/>
          <a:lstStyle/>
          <a:p>
            <a:r>
              <a:rPr lang="en-US" altLang="en-US" sz="2000" dirty="0"/>
              <a:t>Linux scheduling</a:t>
            </a:r>
          </a:p>
          <a:p>
            <a:r>
              <a:rPr lang="en-US" altLang="en-US" sz="2000" dirty="0"/>
              <a:t>Windows scheduling</a:t>
            </a:r>
          </a:p>
          <a:p>
            <a:r>
              <a:rPr lang="en-US" altLang="en-US" sz="2000" dirty="0"/>
              <a:t>Solaris scheduling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3" name="Rectangle 2">
            <a:extLst>
              <a:ext uri="{FF2B5EF4-FFF2-40B4-BE49-F238E27FC236}">
                <a16:creationId xmlns:a16="http://schemas.microsoft.com/office/drawing/2014/main" id="{8169387F-9479-4DF2-BB9E-7943E278796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200150" y="244123"/>
            <a:ext cx="7252970" cy="576262"/>
          </a:xfrm>
        </p:spPr>
        <p:txBody>
          <a:bodyPr/>
          <a:lstStyle/>
          <a:p>
            <a:pPr eaLnBrk="1" hangingPunct="1"/>
            <a:r>
              <a:rPr lang="en-US" altLang="en-US" sz="3000" dirty="0"/>
              <a:t>Linux Scheduling Through Version 2.5</a:t>
            </a:r>
          </a:p>
        </p:txBody>
      </p:sp>
      <p:sp>
        <p:nvSpPr>
          <p:cNvPr id="110594" name="Rectangle 3">
            <a:extLst>
              <a:ext uri="{FF2B5EF4-FFF2-40B4-BE49-F238E27FC236}">
                <a16:creationId xmlns:a16="http://schemas.microsoft.com/office/drawing/2014/main" id="{1C80CB74-75D9-44E9-B5BE-5FA82CDE499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02433" y="1057262"/>
            <a:ext cx="7650687" cy="5064138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sz="2000" dirty="0"/>
              <a:t>Prior to kernel version 2.5, ran variation of standard UNIX scheduling algorithm</a:t>
            </a:r>
          </a:p>
          <a:p>
            <a:pPr>
              <a:lnSpc>
                <a:spcPct val="90000"/>
              </a:lnSpc>
            </a:pPr>
            <a:r>
              <a:rPr lang="en-US" altLang="en-US" sz="2000" dirty="0"/>
              <a:t>Version 2.5 moved to constant order </a:t>
            </a:r>
            <a:r>
              <a:rPr lang="en-US" altLang="en-US" sz="2000" i="1" dirty="0"/>
              <a:t>O</a:t>
            </a:r>
            <a:r>
              <a:rPr lang="en-US" altLang="en-US" sz="2000" dirty="0"/>
              <a:t>(1) scheduling time</a:t>
            </a:r>
          </a:p>
          <a:p>
            <a:pPr lvl="1">
              <a:lnSpc>
                <a:spcPct val="90000"/>
              </a:lnSpc>
            </a:pPr>
            <a:r>
              <a:rPr lang="en-US" altLang="en-US" sz="1600" dirty="0"/>
              <a:t>Preemptive, priority based</a:t>
            </a:r>
          </a:p>
          <a:p>
            <a:pPr lvl="1">
              <a:lnSpc>
                <a:spcPct val="90000"/>
              </a:lnSpc>
            </a:pPr>
            <a:r>
              <a:rPr lang="en-US" altLang="en-US" sz="1600" dirty="0"/>
              <a:t>Two priority ranges: time-sharing and real-time</a:t>
            </a:r>
          </a:p>
          <a:p>
            <a:pPr lvl="1">
              <a:lnSpc>
                <a:spcPct val="90000"/>
              </a:lnSpc>
            </a:pPr>
            <a:r>
              <a:rPr lang="en-US" altLang="en-US" sz="1600" b="1" dirty="0"/>
              <a:t>Real-time </a:t>
            </a:r>
            <a:r>
              <a:rPr lang="en-US" altLang="en-US" sz="1600" dirty="0"/>
              <a:t>range from 0 to 99 and </a:t>
            </a:r>
            <a:r>
              <a:rPr lang="en-US" altLang="en-US" sz="1600" b="1" dirty="0"/>
              <a:t>nice </a:t>
            </a:r>
            <a:r>
              <a:rPr lang="en-US" altLang="en-US" sz="1600" dirty="0"/>
              <a:t>value from 100 to 140</a:t>
            </a:r>
          </a:p>
          <a:p>
            <a:pPr lvl="1">
              <a:lnSpc>
                <a:spcPct val="90000"/>
              </a:lnSpc>
            </a:pPr>
            <a:r>
              <a:rPr lang="en-US" altLang="en-US" sz="1600" dirty="0"/>
              <a:t>Map into  global priority with numerically lower values indicating higher priority</a:t>
            </a:r>
          </a:p>
          <a:p>
            <a:pPr lvl="1">
              <a:lnSpc>
                <a:spcPct val="90000"/>
              </a:lnSpc>
            </a:pPr>
            <a:r>
              <a:rPr lang="en-US" altLang="en-US" sz="1600" dirty="0"/>
              <a:t>Higher priority gets larger q</a:t>
            </a:r>
          </a:p>
          <a:p>
            <a:pPr lvl="1">
              <a:lnSpc>
                <a:spcPct val="90000"/>
              </a:lnSpc>
            </a:pPr>
            <a:r>
              <a:rPr lang="en-US" altLang="en-US" sz="1600" dirty="0"/>
              <a:t>Task run-able as long as time left in time slice (</a:t>
            </a:r>
            <a:r>
              <a:rPr lang="en-US" altLang="en-US" sz="1600" b="1" dirty="0">
                <a:solidFill>
                  <a:srgbClr val="006699"/>
                </a:solidFill>
                <a:latin typeface="+mj-lt"/>
              </a:rPr>
              <a:t>active</a:t>
            </a:r>
            <a:r>
              <a:rPr lang="en-US" altLang="en-US" sz="1600" dirty="0"/>
              <a:t>)</a:t>
            </a:r>
          </a:p>
          <a:p>
            <a:pPr lvl="1">
              <a:lnSpc>
                <a:spcPct val="90000"/>
              </a:lnSpc>
            </a:pPr>
            <a:r>
              <a:rPr lang="en-US" altLang="en-US" sz="1600" dirty="0"/>
              <a:t>If no time left (</a:t>
            </a:r>
            <a:r>
              <a:rPr lang="en-US" altLang="en-US" sz="1600" b="1" dirty="0">
                <a:solidFill>
                  <a:srgbClr val="006699"/>
                </a:solidFill>
                <a:latin typeface="+mj-lt"/>
              </a:rPr>
              <a:t>expired</a:t>
            </a:r>
            <a:r>
              <a:rPr lang="en-US" altLang="en-US" sz="1600" dirty="0"/>
              <a:t>), not run-able until all other tasks use their slices</a:t>
            </a:r>
          </a:p>
          <a:p>
            <a:pPr lvl="1">
              <a:lnSpc>
                <a:spcPct val="90000"/>
              </a:lnSpc>
            </a:pPr>
            <a:r>
              <a:rPr lang="en-US" altLang="en-US" sz="1600" dirty="0"/>
              <a:t>All run-able tasks tracked in per-CPU </a:t>
            </a:r>
            <a:r>
              <a:rPr lang="en-US" altLang="en-US" sz="1600" b="1" dirty="0" err="1">
                <a:solidFill>
                  <a:srgbClr val="006699"/>
                </a:solidFill>
                <a:latin typeface="+mj-lt"/>
              </a:rPr>
              <a:t>runqueue</a:t>
            </a:r>
            <a:r>
              <a:rPr lang="en-US" altLang="en-US" sz="1600" b="1" dirty="0">
                <a:solidFill>
                  <a:srgbClr val="3366FF"/>
                </a:solidFill>
              </a:rPr>
              <a:t> </a:t>
            </a:r>
            <a:r>
              <a:rPr lang="en-US" altLang="en-US" sz="1600" dirty="0"/>
              <a:t>data structure</a:t>
            </a:r>
          </a:p>
          <a:p>
            <a:pPr lvl="2">
              <a:lnSpc>
                <a:spcPct val="90000"/>
              </a:lnSpc>
            </a:pPr>
            <a:r>
              <a:rPr lang="en-US" altLang="en-US" sz="1600" dirty="0"/>
              <a:t>Two priority arrays (active, expired)</a:t>
            </a:r>
          </a:p>
          <a:p>
            <a:pPr lvl="2">
              <a:lnSpc>
                <a:spcPct val="90000"/>
              </a:lnSpc>
            </a:pPr>
            <a:r>
              <a:rPr lang="en-US" altLang="en-US" sz="1600" dirty="0"/>
              <a:t>Tasks indexed by priority</a:t>
            </a:r>
          </a:p>
          <a:p>
            <a:pPr lvl="2">
              <a:lnSpc>
                <a:spcPct val="90000"/>
              </a:lnSpc>
            </a:pPr>
            <a:r>
              <a:rPr lang="en-US" altLang="en-US" sz="1600" dirty="0"/>
              <a:t>When no more active, arrays are exchanged</a:t>
            </a:r>
          </a:p>
          <a:p>
            <a:pPr lvl="1">
              <a:lnSpc>
                <a:spcPct val="90000"/>
              </a:lnSpc>
            </a:pPr>
            <a:r>
              <a:rPr lang="en-US" altLang="en-US" sz="1600" dirty="0"/>
              <a:t>Worked well, but poor response times for interactive processes</a:t>
            </a:r>
          </a:p>
          <a:p>
            <a:pPr>
              <a:lnSpc>
                <a:spcPct val="90000"/>
              </a:lnSpc>
              <a:buFont typeface="Monotype Sorts" pitchFamily="-84" charset="2"/>
              <a:buNone/>
            </a:pPr>
            <a:endParaRPr lang="en-US" altLang="en-US" sz="2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1" name="Rectangle 2">
            <a:extLst>
              <a:ext uri="{FF2B5EF4-FFF2-40B4-BE49-F238E27FC236}">
                <a16:creationId xmlns:a16="http://schemas.microsoft.com/office/drawing/2014/main" id="{72308EB8-7072-4BEA-AF27-9B27AEE14DE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66802" y="230488"/>
            <a:ext cx="7056019" cy="576262"/>
          </a:xfrm>
        </p:spPr>
        <p:txBody>
          <a:bodyPr/>
          <a:lstStyle/>
          <a:p>
            <a:pPr eaLnBrk="1" hangingPunct="1"/>
            <a:r>
              <a:rPr lang="en-US" altLang="en-US" sz="3000" dirty="0"/>
              <a:t>Linux Scheduling in Version 2.6.23 (1)</a:t>
            </a:r>
          </a:p>
        </p:txBody>
      </p:sp>
      <p:sp>
        <p:nvSpPr>
          <p:cNvPr id="112642" name="Rectangle 3">
            <a:extLst>
              <a:ext uri="{FF2B5EF4-FFF2-40B4-BE49-F238E27FC236}">
                <a16:creationId xmlns:a16="http://schemas.microsoft.com/office/drawing/2014/main" id="{2B145118-E234-40BA-B90B-2874CDDAE19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83773" y="1063481"/>
            <a:ext cx="7865703" cy="5071253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Completely Fair Scheduler (CFS)</a:t>
            </a:r>
          </a:p>
          <a:p>
            <a:pPr>
              <a:lnSpc>
                <a:spcPct val="90000"/>
              </a:lnSpc>
            </a:pPr>
            <a:r>
              <a:rPr lang="en-US" altLang="en-US" sz="2000" b="1" dirty="0">
                <a:latin typeface="+mj-lt"/>
              </a:rPr>
              <a:t>Scheduling classes</a:t>
            </a:r>
          </a:p>
          <a:p>
            <a:pPr lvl="1">
              <a:lnSpc>
                <a:spcPct val="90000"/>
              </a:lnSpc>
            </a:pPr>
            <a:r>
              <a:rPr lang="en-US" altLang="en-US" sz="2000" dirty="0"/>
              <a:t>Each has specific priority</a:t>
            </a:r>
          </a:p>
          <a:p>
            <a:pPr lvl="1">
              <a:lnSpc>
                <a:spcPct val="90000"/>
              </a:lnSpc>
            </a:pPr>
            <a:r>
              <a:rPr lang="en-US" altLang="en-US" sz="2000" dirty="0"/>
              <a:t>Scheduler picks highest priority task in highest scheduling class</a:t>
            </a:r>
          </a:p>
          <a:p>
            <a:pPr lvl="1">
              <a:lnSpc>
                <a:spcPct val="90000"/>
              </a:lnSpc>
            </a:pPr>
            <a:r>
              <a:rPr lang="en-US" altLang="en-US" sz="2000" dirty="0"/>
              <a:t>Rather than quantum based on fixed time allotments, based on proportion of CPU time</a:t>
            </a:r>
          </a:p>
          <a:p>
            <a:pPr lvl="1">
              <a:lnSpc>
                <a:spcPct val="90000"/>
              </a:lnSpc>
            </a:pPr>
            <a:r>
              <a:rPr lang="en-US" altLang="en-US" sz="2000" dirty="0"/>
              <a:t>Two scheduling classes included, others can be added</a:t>
            </a:r>
          </a:p>
          <a:p>
            <a:pPr marL="1095375" lvl="2" indent="-239713">
              <a:lnSpc>
                <a:spcPct val="90000"/>
              </a:lnSpc>
              <a:buFont typeface="Arial" panose="020B0604020202020204" pitchFamily="34" charset="0"/>
              <a:buAutoNum type="arabicPeriod"/>
            </a:pPr>
            <a:r>
              <a:rPr lang="en-US" altLang="en-US" sz="2000" dirty="0"/>
              <a:t>default</a:t>
            </a:r>
          </a:p>
          <a:p>
            <a:pPr marL="1095375" lvl="2" indent="-239713">
              <a:lnSpc>
                <a:spcPct val="90000"/>
              </a:lnSpc>
              <a:buFont typeface="Arial" panose="020B0604020202020204" pitchFamily="34" charset="0"/>
              <a:buAutoNum type="arabicPeriod"/>
            </a:pPr>
            <a:r>
              <a:rPr lang="en-US" altLang="en-US" sz="2000" dirty="0"/>
              <a:t>real-time</a:t>
            </a:r>
          </a:p>
          <a:p>
            <a:pPr marL="457200" lvl="1" indent="0">
              <a:lnSpc>
                <a:spcPct val="90000"/>
              </a:lnSpc>
              <a:buNone/>
            </a:pPr>
            <a:endParaRPr lang="en-US" altLang="en-US" sz="2000" dirty="0"/>
          </a:p>
        </p:txBody>
      </p:sp>
    </p:spTree>
    <p:extLst>
      <p:ext uri="{BB962C8B-B14F-4D97-AF65-F5344CB8AC3E}">
        <p14:creationId xmlns:p14="http://schemas.microsoft.com/office/powerpoint/2010/main" val="12408946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1" name="Rectangle 2">
            <a:extLst>
              <a:ext uri="{FF2B5EF4-FFF2-40B4-BE49-F238E27FC236}">
                <a16:creationId xmlns:a16="http://schemas.microsoft.com/office/drawing/2014/main" id="{72308EB8-7072-4BEA-AF27-9B27AEE14DE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284514" y="200025"/>
            <a:ext cx="7199086" cy="576262"/>
          </a:xfrm>
        </p:spPr>
        <p:txBody>
          <a:bodyPr/>
          <a:lstStyle/>
          <a:p>
            <a:pPr eaLnBrk="1" hangingPunct="1"/>
            <a:r>
              <a:rPr lang="en-US" altLang="en-US" sz="3000" dirty="0"/>
              <a:t>Linux Scheduling in Version 2.6.23 (2)</a:t>
            </a:r>
          </a:p>
        </p:txBody>
      </p:sp>
      <p:sp>
        <p:nvSpPr>
          <p:cNvPr id="112642" name="Rectangle 3">
            <a:extLst>
              <a:ext uri="{FF2B5EF4-FFF2-40B4-BE49-F238E27FC236}">
                <a16:creationId xmlns:a16="http://schemas.microsoft.com/office/drawing/2014/main" id="{2B145118-E234-40BA-B90B-2874CDDAE19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83773" y="951721"/>
            <a:ext cx="7699827" cy="4943753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sz="2000" dirty="0"/>
              <a:t>Quantum calculated based on </a:t>
            </a:r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nice value </a:t>
            </a:r>
            <a:r>
              <a:rPr lang="en-US" altLang="en-US" sz="2000" dirty="0"/>
              <a:t>from -20 to +19</a:t>
            </a:r>
          </a:p>
          <a:p>
            <a:pPr lvl="1">
              <a:lnSpc>
                <a:spcPct val="90000"/>
              </a:lnSpc>
            </a:pPr>
            <a:r>
              <a:rPr lang="en-US" altLang="en-US" sz="2000" dirty="0"/>
              <a:t>Lower value is higher priority</a:t>
            </a:r>
          </a:p>
          <a:p>
            <a:pPr lvl="1">
              <a:lnSpc>
                <a:spcPct val="90000"/>
              </a:lnSpc>
            </a:pPr>
            <a:r>
              <a:rPr lang="en-US" altLang="en-US" sz="2000" dirty="0"/>
              <a:t>Calculates </a:t>
            </a:r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target latency </a:t>
            </a:r>
            <a:r>
              <a:rPr lang="en-US" altLang="en-US" sz="2000" dirty="0"/>
              <a:t>– interval of time during which task should run at least once</a:t>
            </a:r>
          </a:p>
          <a:p>
            <a:pPr lvl="1">
              <a:lnSpc>
                <a:spcPct val="90000"/>
              </a:lnSpc>
            </a:pPr>
            <a:r>
              <a:rPr lang="en-US" altLang="en-US" sz="2000" dirty="0"/>
              <a:t>Target latency can increase if say number of active tasks increases</a:t>
            </a:r>
          </a:p>
          <a:p>
            <a:pPr>
              <a:lnSpc>
                <a:spcPct val="90000"/>
              </a:lnSpc>
            </a:pPr>
            <a:r>
              <a:rPr lang="en-US" altLang="en-US" sz="2000" dirty="0"/>
              <a:t>CFS scheduler maintains per task </a:t>
            </a:r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virtual run time </a:t>
            </a:r>
            <a:r>
              <a:rPr lang="en-US" altLang="en-US" sz="2000" dirty="0"/>
              <a:t>in variable </a:t>
            </a:r>
            <a:r>
              <a:rPr lang="en-US" altLang="en-US" sz="2000" b="1" dirty="0" err="1">
                <a:latin typeface="Courier New" panose="02070309020205020404" pitchFamily="49" charset="0"/>
              </a:rPr>
              <a:t>vruntime</a:t>
            </a:r>
            <a:endParaRPr lang="en-US" altLang="en-US" sz="2000" b="1" dirty="0">
              <a:latin typeface="Courier New" panose="02070309020205020404" pitchFamily="49" charset="0"/>
            </a:endParaRPr>
          </a:p>
          <a:p>
            <a:pPr lvl="1">
              <a:lnSpc>
                <a:spcPct val="90000"/>
              </a:lnSpc>
            </a:pPr>
            <a:r>
              <a:rPr lang="en-US" altLang="en-US" sz="2000" dirty="0"/>
              <a:t>Associated with decay factor based on priority of task – lower priority is higher decay rate</a:t>
            </a:r>
          </a:p>
          <a:p>
            <a:pPr lvl="1">
              <a:lnSpc>
                <a:spcPct val="90000"/>
              </a:lnSpc>
            </a:pPr>
            <a:r>
              <a:rPr lang="en-US" altLang="en-US" sz="2000" dirty="0"/>
              <a:t>Normal default priority yields virtual run time = actual run time</a:t>
            </a:r>
          </a:p>
          <a:p>
            <a:pPr>
              <a:lnSpc>
                <a:spcPct val="90000"/>
              </a:lnSpc>
            </a:pPr>
            <a:r>
              <a:rPr lang="en-US" altLang="en-US" sz="2000" dirty="0"/>
              <a:t>To decide next task to run, scheduler picks task with lowest virtual run time</a:t>
            </a:r>
          </a:p>
          <a:p>
            <a:pPr lvl="1">
              <a:lnSpc>
                <a:spcPct val="90000"/>
              </a:lnSpc>
            </a:pPr>
            <a:endParaRPr lang="en-US" altLang="en-US" sz="2000" dirty="0"/>
          </a:p>
          <a:p>
            <a:pPr marL="1095375" lvl="2" indent="-239713">
              <a:lnSpc>
                <a:spcPct val="90000"/>
              </a:lnSpc>
            </a:pPr>
            <a:endParaRPr lang="en-US" altLang="en-US" sz="2000" dirty="0"/>
          </a:p>
          <a:p>
            <a:pPr lvl="1">
              <a:lnSpc>
                <a:spcPct val="90000"/>
              </a:lnSpc>
            </a:pPr>
            <a:endParaRPr lang="en-US" altLang="en-US" sz="2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89" name="Rectangle 2">
            <a:extLst>
              <a:ext uri="{FF2B5EF4-FFF2-40B4-BE49-F238E27FC236}">
                <a16:creationId xmlns:a16="http://schemas.microsoft.com/office/drawing/2014/main" id="{0051E590-6092-4C16-A466-20459637CDD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27088" y="130652"/>
            <a:ext cx="7859712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CFS Performance</a:t>
            </a:r>
          </a:p>
        </p:txBody>
      </p:sp>
      <p:pic>
        <p:nvPicPr>
          <p:cNvPr id="114690" name="Picture 4" descr="Screen Shot 2012-12-17 at 9.25.06 PM.png">
            <a:extLst>
              <a:ext uri="{FF2B5EF4-FFF2-40B4-BE49-F238E27FC236}">
                <a16:creationId xmlns:a16="http://schemas.microsoft.com/office/drawing/2014/main" id="{E26FC3A4-5035-4C42-831C-EFBC4362953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76513" y="1077913"/>
            <a:ext cx="4389437" cy="537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7" name="Title 1">
            <a:extLst>
              <a:ext uri="{FF2B5EF4-FFF2-40B4-BE49-F238E27FC236}">
                <a16:creationId xmlns:a16="http://schemas.microsoft.com/office/drawing/2014/main" id="{77CC9487-DADE-43D0-8ECA-52F4E44EB9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263120"/>
            <a:ext cx="6858000" cy="576262"/>
          </a:xfrm>
        </p:spPr>
        <p:txBody>
          <a:bodyPr/>
          <a:lstStyle/>
          <a:p>
            <a:r>
              <a:rPr lang="en-US" altLang="en-US" dirty="0"/>
              <a:t>Linux Scheduling (1)</a:t>
            </a:r>
          </a:p>
        </p:txBody>
      </p:sp>
      <p:sp>
        <p:nvSpPr>
          <p:cNvPr id="116738" name="Content Placeholder 2">
            <a:extLst>
              <a:ext uri="{FF2B5EF4-FFF2-40B4-BE49-F238E27FC236}">
                <a16:creationId xmlns:a16="http://schemas.microsoft.com/office/drawing/2014/main" id="{E02DB423-4929-4748-A706-EFB4B1D0D8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2650" y="1022668"/>
            <a:ext cx="7791450" cy="4530725"/>
          </a:xfrm>
        </p:spPr>
        <p:txBody>
          <a:bodyPr/>
          <a:lstStyle/>
          <a:p>
            <a:r>
              <a:rPr lang="en-US" altLang="en-US" sz="2000" dirty="0"/>
              <a:t>Real-time scheduling according to POSIX.1b</a:t>
            </a:r>
          </a:p>
          <a:p>
            <a:pPr lvl="1"/>
            <a:r>
              <a:rPr lang="en-US" altLang="en-US" sz="2000" dirty="0"/>
              <a:t>Real-time tasks have static priorities</a:t>
            </a:r>
          </a:p>
          <a:p>
            <a:r>
              <a:rPr lang="en-US" altLang="en-US" sz="2000" dirty="0"/>
              <a:t>Real-time plus normal map into global priority scheme</a:t>
            </a:r>
          </a:p>
          <a:p>
            <a:r>
              <a:rPr lang="en-US" altLang="en-US" sz="2000" dirty="0"/>
              <a:t>Nice value of -20 maps to global priority 100</a:t>
            </a:r>
          </a:p>
          <a:p>
            <a:r>
              <a:rPr lang="en-US" altLang="en-US" sz="2000" dirty="0"/>
              <a:t>Nice value of +19 maps to priority 139</a:t>
            </a:r>
          </a:p>
          <a:p>
            <a:endParaRPr lang="en-US" altLang="en-US" sz="2000" dirty="0"/>
          </a:p>
        </p:txBody>
      </p:sp>
      <p:pic>
        <p:nvPicPr>
          <p:cNvPr id="116739" name="Picture 1" descr="Screen Shot 2012-12-17 at 9.28.34 PM.png">
            <a:extLst>
              <a:ext uri="{FF2B5EF4-FFF2-40B4-BE49-F238E27FC236}">
                <a16:creationId xmlns:a16="http://schemas.microsoft.com/office/drawing/2014/main" id="{962147AC-858B-4382-8168-1FA988CFB0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66240" y="3229594"/>
            <a:ext cx="5522913" cy="15468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1" name="Title 1">
            <a:extLst>
              <a:ext uri="{FF2B5EF4-FFF2-40B4-BE49-F238E27FC236}">
                <a16:creationId xmlns:a16="http://schemas.microsoft.com/office/drawing/2014/main" id="{15E5355E-AE48-4BA0-9903-BD07675EB4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37080" y="282576"/>
            <a:ext cx="5746750" cy="576262"/>
          </a:xfrm>
        </p:spPr>
        <p:txBody>
          <a:bodyPr/>
          <a:lstStyle/>
          <a:p>
            <a:r>
              <a:rPr lang="en-US" altLang="en-US" dirty="0"/>
              <a:t>Linux Scheduling (2)</a:t>
            </a:r>
          </a:p>
        </p:txBody>
      </p:sp>
      <p:sp>
        <p:nvSpPr>
          <p:cNvPr id="117762" name="Content Placeholder 2">
            <a:extLst>
              <a:ext uri="{FF2B5EF4-FFF2-40B4-BE49-F238E27FC236}">
                <a16:creationId xmlns:a16="http://schemas.microsoft.com/office/drawing/2014/main" id="{A42B57D8-264F-4D4F-9A5A-A9E3DC09C5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2650" y="987109"/>
            <a:ext cx="7791450" cy="2133282"/>
          </a:xfrm>
        </p:spPr>
        <p:txBody>
          <a:bodyPr/>
          <a:lstStyle/>
          <a:p>
            <a:r>
              <a:rPr lang="en-US" altLang="en-US" sz="2000" dirty="0"/>
              <a:t>Linux supports load balancing, but is also NUMA-aware.</a:t>
            </a:r>
          </a:p>
          <a:p>
            <a:r>
              <a:rPr lang="en-US" altLang="en-US" sz="2000" b="1" dirty="0"/>
              <a:t>Scheduling domain </a:t>
            </a:r>
            <a:r>
              <a:rPr lang="en-US" altLang="en-US" sz="2000" dirty="0"/>
              <a:t>is a set of CPU cores that can be balanced against one another. </a:t>
            </a:r>
          </a:p>
          <a:p>
            <a:r>
              <a:rPr lang="en-US" altLang="en-US" sz="2000" dirty="0"/>
              <a:t>Domains are organized by what they share (i.e., cache memory.) Goal is to keep threads from migrating between domains.</a:t>
            </a:r>
          </a:p>
        </p:txBody>
      </p:sp>
      <p:pic>
        <p:nvPicPr>
          <p:cNvPr id="117763" name="Picture 1">
            <a:extLst>
              <a:ext uri="{FF2B5EF4-FFF2-40B4-BE49-F238E27FC236}">
                <a16:creationId xmlns:a16="http://schemas.microsoft.com/office/drawing/2014/main" id="{419DDE73-3A6B-402B-AD36-41FFBDF50E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11450" y="3271838"/>
            <a:ext cx="3981450" cy="2625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5" name="Title 1">
            <a:extLst>
              <a:ext uri="{FF2B5EF4-FFF2-40B4-BE49-F238E27FC236}">
                <a16:creationId xmlns:a16="http://schemas.microsoft.com/office/drawing/2014/main" id="{57846D64-B929-4C0F-B0F2-2317AECF50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85927"/>
            <a:ext cx="8229600" cy="576262"/>
          </a:xfrm>
        </p:spPr>
        <p:txBody>
          <a:bodyPr/>
          <a:lstStyle/>
          <a:p>
            <a:r>
              <a:rPr lang="en-US" altLang="en-US" dirty="0"/>
              <a:t>Windows Scheduling</a:t>
            </a:r>
          </a:p>
        </p:txBody>
      </p:sp>
      <p:sp>
        <p:nvSpPr>
          <p:cNvPr id="118786" name="Content Placeholder 2">
            <a:extLst>
              <a:ext uri="{FF2B5EF4-FFF2-40B4-BE49-F238E27FC236}">
                <a16:creationId xmlns:a16="http://schemas.microsoft.com/office/drawing/2014/main" id="{0F277E99-A9C4-42A6-8C98-C4958ADB54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905" y="1024414"/>
            <a:ext cx="7607795" cy="4341812"/>
          </a:xfrm>
        </p:spPr>
        <p:txBody>
          <a:bodyPr/>
          <a:lstStyle/>
          <a:p>
            <a:r>
              <a:rPr lang="en-US" altLang="en-US" sz="2000" dirty="0"/>
              <a:t>Windows uses priority-based preemptive scheduling</a:t>
            </a:r>
          </a:p>
          <a:p>
            <a:r>
              <a:rPr lang="en-US" altLang="en-US" sz="2000" dirty="0"/>
              <a:t>Highest-priority thread runs next</a:t>
            </a:r>
          </a:p>
          <a:p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Dispatcher</a:t>
            </a:r>
            <a:r>
              <a:rPr lang="en-US" altLang="en-US" sz="2000" i="1" dirty="0"/>
              <a:t> </a:t>
            </a:r>
            <a:r>
              <a:rPr lang="en-US" altLang="en-US" sz="2000" dirty="0"/>
              <a:t>is scheduler</a:t>
            </a:r>
          </a:p>
          <a:p>
            <a:r>
              <a:rPr lang="en-US" altLang="en-US" sz="2000" dirty="0"/>
              <a:t>Thread runs until (1) blocks, (2) uses time slice, (3) preempted by higher-priority thread</a:t>
            </a:r>
          </a:p>
          <a:p>
            <a:r>
              <a:rPr lang="en-US" altLang="en-US" sz="2000" dirty="0"/>
              <a:t>Real-time threads can preempt non-real-time</a:t>
            </a:r>
          </a:p>
          <a:p>
            <a:r>
              <a:rPr lang="en-US" altLang="en-US" sz="2000" dirty="0"/>
              <a:t>32-level priority scheme</a:t>
            </a:r>
          </a:p>
          <a:p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Variable</a:t>
            </a:r>
            <a:r>
              <a:rPr lang="en-US" altLang="en-US" sz="2000" b="1" dirty="0">
                <a:solidFill>
                  <a:srgbClr val="3366FF"/>
                </a:solidFill>
              </a:rPr>
              <a:t> </a:t>
            </a:r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class</a:t>
            </a:r>
            <a:r>
              <a:rPr lang="en-US" altLang="en-US" sz="2000" b="1" dirty="0">
                <a:solidFill>
                  <a:srgbClr val="3366FF"/>
                </a:solidFill>
              </a:rPr>
              <a:t> </a:t>
            </a:r>
            <a:r>
              <a:rPr lang="en-US" altLang="en-US" sz="2000" dirty="0"/>
              <a:t>is 1-15, </a:t>
            </a:r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real-time</a:t>
            </a:r>
            <a:r>
              <a:rPr lang="en-US" altLang="en-US" sz="2000" b="1" dirty="0">
                <a:solidFill>
                  <a:srgbClr val="3366FF"/>
                </a:solidFill>
              </a:rPr>
              <a:t> </a:t>
            </a:r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class</a:t>
            </a:r>
            <a:r>
              <a:rPr lang="en-US" altLang="en-US" sz="2000" b="1" dirty="0">
                <a:solidFill>
                  <a:srgbClr val="3366FF"/>
                </a:solidFill>
              </a:rPr>
              <a:t> </a:t>
            </a:r>
            <a:r>
              <a:rPr lang="en-US" altLang="en-US" sz="2000" dirty="0"/>
              <a:t>is</a:t>
            </a:r>
            <a:r>
              <a:rPr lang="en-US" altLang="en-US" sz="2000" b="1" dirty="0">
                <a:solidFill>
                  <a:srgbClr val="3366FF"/>
                </a:solidFill>
              </a:rPr>
              <a:t> </a:t>
            </a:r>
            <a:r>
              <a:rPr lang="en-US" altLang="en-US" sz="2000" dirty="0"/>
              <a:t>16-31</a:t>
            </a:r>
          </a:p>
          <a:p>
            <a:r>
              <a:rPr lang="en-US" altLang="en-US" sz="2000" dirty="0"/>
              <a:t>Priority 0 is memory-management thread</a:t>
            </a:r>
          </a:p>
          <a:p>
            <a:r>
              <a:rPr lang="en-US" altLang="en-US" sz="2000" dirty="0"/>
              <a:t>Queue for each priority</a:t>
            </a:r>
          </a:p>
          <a:p>
            <a:r>
              <a:rPr lang="en-US" altLang="en-US" sz="2000" dirty="0"/>
              <a:t>If no run-able thread, runs </a:t>
            </a:r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idle</a:t>
            </a:r>
            <a:r>
              <a:rPr lang="en-US" altLang="en-US" sz="2000" b="1" dirty="0">
                <a:solidFill>
                  <a:srgbClr val="3366FF"/>
                </a:solidFill>
              </a:rPr>
              <a:t> </a:t>
            </a:r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thread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09" name="Title 1">
            <a:extLst>
              <a:ext uri="{FF2B5EF4-FFF2-40B4-BE49-F238E27FC236}">
                <a16:creationId xmlns:a16="http://schemas.microsoft.com/office/drawing/2014/main" id="{214258E6-EE47-481F-8719-5DE0EA27B5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6428" y="253683"/>
            <a:ext cx="8229600" cy="576262"/>
          </a:xfrm>
        </p:spPr>
        <p:txBody>
          <a:bodyPr/>
          <a:lstStyle/>
          <a:p>
            <a:r>
              <a:rPr lang="en-US" altLang="en-US" dirty="0"/>
              <a:t>Windows Priority Classes (1)</a:t>
            </a:r>
          </a:p>
        </p:txBody>
      </p:sp>
      <p:sp>
        <p:nvSpPr>
          <p:cNvPr id="119810" name="Content Placeholder 2">
            <a:extLst>
              <a:ext uri="{FF2B5EF4-FFF2-40B4-BE49-F238E27FC236}">
                <a16:creationId xmlns:a16="http://schemas.microsoft.com/office/drawing/2014/main" id="{5EE62716-21CA-4281-A3FF-131F55341F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6428" y="887095"/>
            <a:ext cx="7897971" cy="5513705"/>
          </a:xfrm>
        </p:spPr>
        <p:txBody>
          <a:bodyPr/>
          <a:lstStyle/>
          <a:p>
            <a:pPr>
              <a:spcBef>
                <a:spcPts val="0"/>
              </a:spcBef>
            </a:pPr>
            <a:r>
              <a:rPr lang="en-US" altLang="en-US" sz="2000" dirty="0"/>
              <a:t>Win32 API identifies several priority classes to which a process can belong</a:t>
            </a:r>
          </a:p>
          <a:p>
            <a:pPr lvl="1">
              <a:spcBef>
                <a:spcPts val="0"/>
              </a:spcBef>
            </a:pPr>
            <a:r>
              <a:rPr lang="en-US" altLang="en-US" sz="1600" dirty="0"/>
              <a:t>REALTIME_PRIORITY_CLASS, </a:t>
            </a:r>
          </a:p>
          <a:p>
            <a:pPr lvl="1">
              <a:spcBef>
                <a:spcPts val="0"/>
              </a:spcBef>
            </a:pPr>
            <a:r>
              <a:rPr lang="en-US" altLang="en-US" sz="1600" dirty="0"/>
              <a:t>HIGH_PRIORITY_CLASS, ABOVE_NORMAL_PRIORITY_CLASS,</a:t>
            </a:r>
          </a:p>
          <a:p>
            <a:pPr lvl="1">
              <a:spcBef>
                <a:spcPts val="0"/>
              </a:spcBef>
            </a:pPr>
            <a:r>
              <a:rPr lang="en-US" altLang="en-US" sz="1600" dirty="0"/>
              <a:t>NORMAL_PRIORITY_CLASS,</a:t>
            </a:r>
          </a:p>
          <a:p>
            <a:pPr lvl="1">
              <a:spcBef>
                <a:spcPts val="0"/>
              </a:spcBef>
            </a:pPr>
            <a:r>
              <a:rPr lang="en-US" altLang="en-US" sz="1600" dirty="0"/>
              <a:t>BELOW_NORMAL_PRIORITY_CLASS, </a:t>
            </a:r>
          </a:p>
          <a:p>
            <a:pPr lvl="1">
              <a:spcBef>
                <a:spcPts val="0"/>
              </a:spcBef>
            </a:pPr>
            <a:r>
              <a:rPr lang="en-US" altLang="en-US" sz="1600" dirty="0"/>
              <a:t>IDLE_PRIORITY_CLASS</a:t>
            </a:r>
            <a:endParaRPr lang="en-US" altLang="en-US" sz="1600" b="1" dirty="0">
              <a:solidFill>
                <a:srgbClr val="3366FF"/>
              </a:solidFill>
            </a:endParaRPr>
          </a:p>
          <a:p>
            <a:pPr marL="457200" lvl="1" indent="0">
              <a:spcBef>
                <a:spcPts val="0"/>
              </a:spcBef>
              <a:buNone/>
            </a:pPr>
            <a:r>
              <a:rPr lang="en-US" altLang="en-US" sz="2000" dirty="0"/>
              <a:t>All are variable except REALTIME</a:t>
            </a:r>
          </a:p>
          <a:p>
            <a:pPr>
              <a:spcBef>
                <a:spcPts val="600"/>
              </a:spcBef>
            </a:pPr>
            <a:r>
              <a:rPr lang="en-US" altLang="en-US" sz="2000" dirty="0"/>
              <a:t>A thread within a given priority class has a relative priority</a:t>
            </a:r>
          </a:p>
          <a:p>
            <a:pPr lvl="1">
              <a:spcBef>
                <a:spcPts val="0"/>
              </a:spcBef>
            </a:pPr>
            <a:r>
              <a:rPr lang="en-US" altLang="en-US" sz="1600" dirty="0"/>
              <a:t>TIME_CRITICAL </a:t>
            </a:r>
          </a:p>
          <a:p>
            <a:pPr lvl="1">
              <a:spcBef>
                <a:spcPts val="0"/>
              </a:spcBef>
            </a:pPr>
            <a:r>
              <a:rPr lang="en-US" altLang="en-US" sz="1600" dirty="0"/>
              <a:t>HIGHEST</a:t>
            </a:r>
          </a:p>
          <a:p>
            <a:pPr lvl="1">
              <a:spcBef>
                <a:spcPts val="0"/>
              </a:spcBef>
            </a:pPr>
            <a:r>
              <a:rPr lang="en-US" altLang="en-US" sz="1600" dirty="0"/>
              <a:t>ABOVE_NORMAL</a:t>
            </a:r>
          </a:p>
          <a:p>
            <a:pPr lvl="1">
              <a:spcBef>
                <a:spcPts val="0"/>
              </a:spcBef>
            </a:pPr>
            <a:r>
              <a:rPr lang="en-US" altLang="en-US" sz="1600" dirty="0"/>
              <a:t>NORMAL</a:t>
            </a:r>
          </a:p>
          <a:p>
            <a:pPr lvl="1">
              <a:spcBef>
                <a:spcPts val="0"/>
              </a:spcBef>
            </a:pPr>
            <a:r>
              <a:rPr lang="en-US" altLang="en-US" sz="1600" dirty="0"/>
              <a:t>BELOW_NORMAL</a:t>
            </a:r>
          </a:p>
          <a:p>
            <a:pPr lvl="1">
              <a:spcBef>
                <a:spcPts val="0"/>
              </a:spcBef>
            </a:pPr>
            <a:r>
              <a:rPr lang="en-US" altLang="en-US" sz="1600" dirty="0"/>
              <a:t>LOWEST</a:t>
            </a:r>
          </a:p>
          <a:p>
            <a:pPr lvl="1">
              <a:spcBef>
                <a:spcPts val="0"/>
              </a:spcBef>
            </a:pPr>
            <a:r>
              <a:rPr lang="en-US" altLang="en-US" sz="1600" dirty="0"/>
              <a:t>IDLE</a:t>
            </a:r>
          </a:p>
          <a:p>
            <a:pPr>
              <a:spcBef>
                <a:spcPts val="600"/>
              </a:spcBef>
            </a:pPr>
            <a:r>
              <a:rPr lang="en-US" altLang="en-US" sz="2000" dirty="0"/>
              <a:t>Priority class and relative priority combine to give numeric priority</a:t>
            </a:r>
          </a:p>
          <a:p>
            <a:pPr>
              <a:spcBef>
                <a:spcPts val="0"/>
              </a:spcBef>
            </a:pPr>
            <a:r>
              <a:rPr lang="en-US" altLang="en-US" sz="2000" dirty="0"/>
              <a:t>Base priority is NORMAL within the class</a:t>
            </a:r>
          </a:p>
          <a:p>
            <a:pPr>
              <a:spcBef>
                <a:spcPts val="0"/>
              </a:spcBef>
            </a:pPr>
            <a:r>
              <a:rPr lang="en-US" altLang="en-US" sz="2000" dirty="0"/>
              <a:t>If quantum expires, priority lowered, but never below base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3" name="Title 1">
            <a:extLst>
              <a:ext uri="{FF2B5EF4-FFF2-40B4-BE49-F238E27FC236}">
                <a16:creationId xmlns:a16="http://schemas.microsoft.com/office/drawing/2014/main" id="{48F43CB8-283D-472C-AF85-1D6014DBBF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0429" y="181610"/>
            <a:ext cx="8229600" cy="618842"/>
          </a:xfrm>
        </p:spPr>
        <p:txBody>
          <a:bodyPr/>
          <a:lstStyle/>
          <a:p>
            <a:r>
              <a:rPr lang="en-US" altLang="en-US" dirty="0"/>
              <a:t>Windows Priority Classes (2)</a:t>
            </a:r>
          </a:p>
        </p:txBody>
      </p:sp>
      <p:sp>
        <p:nvSpPr>
          <p:cNvPr id="120834" name="Content Placeholder 2">
            <a:extLst>
              <a:ext uri="{FF2B5EF4-FFF2-40B4-BE49-F238E27FC236}">
                <a16:creationId xmlns:a16="http://schemas.microsoft.com/office/drawing/2014/main" id="{257CB95D-3C4B-410B-A126-05623DC45C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90429" y="1114109"/>
            <a:ext cx="7818438" cy="3191192"/>
          </a:xfrm>
        </p:spPr>
        <p:txBody>
          <a:bodyPr/>
          <a:lstStyle/>
          <a:p>
            <a:r>
              <a:rPr lang="en-US" altLang="en-US" sz="2000" dirty="0"/>
              <a:t>If wait occurs, priority boosted depending on what was waited for</a:t>
            </a:r>
          </a:p>
          <a:p>
            <a:r>
              <a:rPr lang="en-US" altLang="en-US" sz="2000" dirty="0"/>
              <a:t>Foreground window given 3x priority boost</a:t>
            </a:r>
          </a:p>
          <a:p>
            <a:r>
              <a:rPr lang="en-US" altLang="en-US" sz="2000" dirty="0"/>
              <a:t>Windows 7 added </a:t>
            </a:r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user-mode</a:t>
            </a:r>
            <a:r>
              <a:rPr lang="en-US" altLang="en-US" sz="2000" b="1" dirty="0">
                <a:solidFill>
                  <a:srgbClr val="3366FF"/>
                </a:solidFill>
              </a:rPr>
              <a:t> </a:t>
            </a:r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scheduling</a:t>
            </a:r>
            <a:r>
              <a:rPr lang="en-US" altLang="en-US" sz="2000" b="1" dirty="0">
                <a:solidFill>
                  <a:srgbClr val="3366FF"/>
                </a:solidFill>
              </a:rPr>
              <a:t> </a:t>
            </a:r>
            <a:r>
              <a:rPr lang="en-US" altLang="en-US" sz="2000" dirty="0"/>
              <a:t>(</a:t>
            </a:r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UMS</a:t>
            </a:r>
            <a:r>
              <a:rPr lang="en-US" altLang="en-US" sz="2000" dirty="0"/>
              <a:t>) </a:t>
            </a:r>
          </a:p>
          <a:p>
            <a:pPr lvl="1"/>
            <a:r>
              <a:rPr lang="en-US" altLang="en-US" sz="2000" dirty="0"/>
              <a:t>Applications create and manage threads independent of kernel</a:t>
            </a:r>
          </a:p>
          <a:p>
            <a:pPr lvl="1"/>
            <a:r>
              <a:rPr lang="en-US" altLang="en-US" sz="2000" dirty="0"/>
              <a:t>For large number of threads, much more efficient</a:t>
            </a:r>
          </a:p>
          <a:p>
            <a:pPr lvl="1"/>
            <a:r>
              <a:rPr lang="en-US" altLang="en-US" sz="2000" dirty="0"/>
              <a:t>UMS schedulers come from programming language libraries like C++ </a:t>
            </a:r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Concurrent Runtime </a:t>
            </a:r>
            <a:r>
              <a:rPr lang="en-US" altLang="en-US" sz="2000" dirty="0"/>
              <a:t>(</a:t>
            </a:r>
            <a:r>
              <a:rPr lang="en-US" altLang="en-US" sz="2000" dirty="0" err="1"/>
              <a:t>ConcRT</a:t>
            </a:r>
            <a:r>
              <a:rPr lang="en-US" altLang="en-US" sz="2000" dirty="0"/>
              <a:t>) framework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7" name="Rectangle 2">
            <a:extLst>
              <a:ext uri="{FF2B5EF4-FFF2-40B4-BE49-F238E27FC236}">
                <a16:creationId xmlns:a16="http://schemas.microsoft.com/office/drawing/2014/main" id="{F3C715D7-99EA-40E4-A265-7365C35A3E1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85825" y="111108"/>
            <a:ext cx="7800975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Windows Priorities</a:t>
            </a:r>
          </a:p>
        </p:txBody>
      </p:sp>
      <p:pic>
        <p:nvPicPr>
          <p:cNvPr id="121858" name="Picture 1">
            <a:extLst>
              <a:ext uri="{FF2B5EF4-FFF2-40B4-BE49-F238E27FC236}">
                <a16:creationId xmlns:a16="http://schemas.microsoft.com/office/drawing/2014/main" id="{13B7C937-29C4-4257-9403-EC1858659CB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615" y="1618078"/>
            <a:ext cx="7860769" cy="31825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5" name="Title 1">
            <a:extLst>
              <a:ext uri="{FF2B5EF4-FFF2-40B4-BE49-F238E27FC236}">
                <a16:creationId xmlns:a16="http://schemas.microsoft.com/office/drawing/2014/main" id="{8AB69425-24AD-45D8-8836-826ED249B4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30652"/>
            <a:ext cx="8229600" cy="576262"/>
          </a:xfrm>
        </p:spPr>
        <p:txBody>
          <a:bodyPr/>
          <a:lstStyle/>
          <a:p>
            <a:r>
              <a:rPr lang="en-US" altLang="en-US" dirty="0"/>
              <a:t>Solaris</a:t>
            </a:r>
          </a:p>
        </p:txBody>
      </p:sp>
      <p:sp>
        <p:nvSpPr>
          <p:cNvPr id="123906" name="Content Placeholder 2">
            <a:extLst>
              <a:ext uri="{FF2B5EF4-FFF2-40B4-BE49-F238E27FC236}">
                <a16:creationId xmlns:a16="http://schemas.microsoft.com/office/drawing/2014/main" id="{9E96F03D-671D-4EDD-9F10-F7195DEFBC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3450" y="1081088"/>
            <a:ext cx="7181850" cy="5027612"/>
          </a:xfrm>
        </p:spPr>
        <p:txBody>
          <a:bodyPr/>
          <a:lstStyle/>
          <a:p>
            <a:r>
              <a:rPr lang="en-US" altLang="en-US" sz="2000" dirty="0"/>
              <a:t>Priority-based scheduling</a:t>
            </a:r>
          </a:p>
          <a:p>
            <a:r>
              <a:rPr lang="en-US" altLang="en-US" sz="2000" dirty="0"/>
              <a:t>Six classes available</a:t>
            </a:r>
          </a:p>
          <a:p>
            <a:pPr lvl="1"/>
            <a:r>
              <a:rPr lang="en-US" altLang="en-US" sz="2000" dirty="0"/>
              <a:t>Time sharing (default) (TS)</a:t>
            </a:r>
          </a:p>
          <a:p>
            <a:pPr lvl="1"/>
            <a:r>
              <a:rPr lang="en-US" altLang="en-US" sz="2000" dirty="0"/>
              <a:t>Interactive (IA)</a:t>
            </a:r>
          </a:p>
          <a:p>
            <a:pPr lvl="1"/>
            <a:r>
              <a:rPr lang="en-US" altLang="en-US" sz="2000" dirty="0"/>
              <a:t>Real time (RT)</a:t>
            </a:r>
          </a:p>
          <a:p>
            <a:pPr lvl="1"/>
            <a:r>
              <a:rPr lang="en-US" altLang="en-US" sz="2000" dirty="0"/>
              <a:t>System (SYS)</a:t>
            </a:r>
          </a:p>
          <a:p>
            <a:pPr lvl="1"/>
            <a:r>
              <a:rPr lang="en-US" altLang="en-US" sz="2000" dirty="0"/>
              <a:t>Fair Share (FSS)</a:t>
            </a:r>
          </a:p>
          <a:p>
            <a:pPr lvl="1"/>
            <a:r>
              <a:rPr lang="en-US" altLang="en-US" sz="2000" dirty="0"/>
              <a:t>Fixed priority (FP)</a:t>
            </a:r>
          </a:p>
          <a:p>
            <a:r>
              <a:rPr lang="en-US" altLang="en-US" sz="2000" dirty="0"/>
              <a:t>Given thread can be in one class at a time</a:t>
            </a:r>
          </a:p>
          <a:p>
            <a:r>
              <a:rPr lang="en-US" altLang="en-US" sz="2000" dirty="0"/>
              <a:t>Each class has its own scheduling algorithm</a:t>
            </a:r>
          </a:p>
          <a:p>
            <a:r>
              <a:rPr lang="en-US" altLang="en-US" sz="2000" dirty="0"/>
              <a:t>Time sharing is multi-level feedback queue</a:t>
            </a:r>
          </a:p>
          <a:p>
            <a:pPr lvl="1"/>
            <a:r>
              <a:rPr lang="en-US" altLang="en-US" sz="2000" dirty="0"/>
              <a:t>Loadable table configurable by sysadmin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29" name="Rectangle 2">
            <a:extLst>
              <a:ext uri="{FF2B5EF4-FFF2-40B4-BE49-F238E27FC236}">
                <a16:creationId xmlns:a16="http://schemas.microsoft.com/office/drawing/2014/main" id="{0D62A802-7E18-499C-A146-A07CCE8557A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27088" y="111760"/>
            <a:ext cx="7859712" cy="632372"/>
          </a:xfrm>
        </p:spPr>
        <p:txBody>
          <a:bodyPr/>
          <a:lstStyle/>
          <a:p>
            <a:pPr eaLnBrk="1" hangingPunct="1"/>
            <a:r>
              <a:rPr lang="en-US" altLang="en-US" dirty="0"/>
              <a:t>Solaris Dispatch Table </a:t>
            </a:r>
          </a:p>
        </p:txBody>
      </p:sp>
      <p:pic>
        <p:nvPicPr>
          <p:cNvPr id="124930" name="Picture 1">
            <a:extLst>
              <a:ext uri="{FF2B5EF4-FFF2-40B4-BE49-F238E27FC236}">
                <a16:creationId xmlns:a16="http://schemas.microsoft.com/office/drawing/2014/main" id="{7160601A-B1BF-48C6-9397-33A5E4EDAFA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63700" y="957025"/>
            <a:ext cx="5994400" cy="54271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7" name="Title 1">
            <a:extLst>
              <a:ext uri="{FF2B5EF4-FFF2-40B4-BE49-F238E27FC236}">
                <a16:creationId xmlns:a16="http://schemas.microsoft.com/office/drawing/2014/main" id="{276C3EB7-7E70-4D36-896B-C046F89421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68646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Solaris Scheduling (1)</a:t>
            </a:r>
          </a:p>
        </p:txBody>
      </p:sp>
      <p:pic>
        <p:nvPicPr>
          <p:cNvPr id="126978" name="Picture 1">
            <a:extLst>
              <a:ext uri="{FF2B5EF4-FFF2-40B4-BE49-F238E27FC236}">
                <a16:creationId xmlns:a16="http://schemas.microsoft.com/office/drawing/2014/main" id="{54EE688C-E0C5-4D9D-8FA8-535F608F7A2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98799" y="1053463"/>
            <a:ext cx="3267075" cy="50673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5" name="Title 1">
            <a:extLst>
              <a:ext uri="{FF2B5EF4-FFF2-40B4-BE49-F238E27FC236}">
                <a16:creationId xmlns:a16="http://schemas.microsoft.com/office/drawing/2014/main" id="{413EBEC1-908A-4F6D-8816-4377406CA1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143193"/>
            <a:ext cx="8229600" cy="576262"/>
          </a:xfrm>
        </p:spPr>
        <p:txBody>
          <a:bodyPr/>
          <a:lstStyle/>
          <a:p>
            <a:r>
              <a:rPr lang="en-US" altLang="en-US" dirty="0"/>
              <a:t>Solaris Scheduling (2)</a:t>
            </a:r>
          </a:p>
        </p:txBody>
      </p:sp>
      <p:sp>
        <p:nvSpPr>
          <p:cNvPr id="129026" name="Content Placeholder 2">
            <a:extLst>
              <a:ext uri="{FF2B5EF4-FFF2-40B4-BE49-F238E27FC236}">
                <a16:creationId xmlns:a16="http://schemas.microsoft.com/office/drawing/2014/main" id="{A4FDB664-01BF-4BD6-9938-4E94F386DB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7400" y="1103949"/>
            <a:ext cx="7015480" cy="4484052"/>
          </a:xfrm>
        </p:spPr>
        <p:txBody>
          <a:bodyPr/>
          <a:lstStyle/>
          <a:p>
            <a:r>
              <a:rPr lang="en-US" altLang="en-US" sz="2000" dirty="0"/>
              <a:t>Scheduler converts class-specific priorities into a per-thread global priority</a:t>
            </a:r>
          </a:p>
          <a:p>
            <a:pPr lvl="1"/>
            <a:r>
              <a:rPr lang="en-US" altLang="en-US" sz="2000" dirty="0"/>
              <a:t>Thread with highest priority runs next</a:t>
            </a:r>
          </a:p>
          <a:p>
            <a:pPr lvl="1"/>
            <a:r>
              <a:rPr lang="en-US" altLang="en-US" sz="2000" dirty="0"/>
              <a:t>Runs until (1) blocks, (2) uses time slice, (3) preempted by higher-priority thread</a:t>
            </a:r>
          </a:p>
          <a:p>
            <a:pPr lvl="1"/>
            <a:r>
              <a:rPr lang="en-US" altLang="en-US" sz="2000" dirty="0"/>
              <a:t>Multiple threads at same priority selected via RR</a:t>
            </a:r>
          </a:p>
          <a:p>
            <a:pPr lvl="1">
              <a:buFont typeface="Monotype Sorts" pitchFamily="-84" charset="2"/>
              <a:buNone/>
            </a:pPr>
            <a:endParaRPr lang="en-US" altLang="en-US" sz="2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49" name="Rectangle 2">
            <a:extLst>
              <a:ext uri="{FF2B5EF4-FFF2-40B4-BE49-F238E27FC236}">
                <a16:creationId xmlns:a16="http://schemas.microsoft.com/office/drawing/2014/main" id="{E3E49DFF-D595-4F44-93F4-CD017991939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69974" y="234686"/>
            <a:ext cx="7616825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Algorithm Evaluation</a:t>
            </a:r>
          </a:p>
        </p:txBody>
      </p:sp>
      <p:sp>
        <p:nvSpPr>
          <p:cNvPr id="130050" name="Rectangle 3">
            <a:extLst>
              <a:ext uri="{FF2B5EF4-FFF2-40B4-BE49-F238E27FC236}">
                <a16:creationId xmlns:a16="http://schemas.microsoft.com/office/drawing/2014/main" id="{91026CB7-CF57-408F-913C-6C7B82EF621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25271" y="965201"/>
            <a:ext cx="6774409" cy="3139387"/>
          </a:xfrm>
        </p:spPr>
        <p:txBody>
          <a:bodyPr/>
          <a:lstStyle/>
          <a:p>
            <a:r>
              <a:rPr lang="en-US" altLang="en-US" sz="2000" dirty="0"/>
              <a:t>How to select CPU-scheduling algorithm for an OS?</a:t>
            </a:r>
          </a:p>
          <a:p>
            <a:r>
              <a:rPr lang="en-US" altLang="en-US" sz="2000" dirty="0"/>
              <a:t>Determine criteria, then evaluate algorithms</a:t>
            </a:r>
          </a:p>
          <a:p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Deterministic modeling</a:t>
            </a:r>
          </a:p>
          <a:p>
            <a:pPr lvl="1"/>
            <a:r>
              <a:rPr lang="en-US" altLang="en-US" sz="2000" dirty="0"/>
              <a:t>Type of </a:t>
            </a:r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analytic evaluation</a:t>
            </a:r>
          </a:p>
          <a:p>
            <a:pPr lvl="1"/>
            <a:r>
              <a:rPr lang="en-US" altLang="en-US" sz="2000" dirty="0"/>
              <a:t>Takes a particular predetermined workload and defines the performance of each algorithm  for that workload</a:t>
            </a:r>
          </a:p>
          <a:p>
            <a:r>
              <a:rPr lang="en-US" altLang="en-US" sz="2000" dirty="0"/>
              <a:t>Consider 5 processes arriving at time 0:</a:t>
            </a:r>
          </a:p>
        </p:txBody>
      </p:sp>
      <p:pic>
        <p:nvPicPr>
          <p:cNvPr id="130051" name="Picture 1" descr="Screen Shot 2012-12-17 at 9.44.14 PM.png">
            <a:extLst>
              <a:ext uri="{FF2B5EF4-FFF2-40B4-BE49-F238E27FC236}">
                <a16:creationId xmlns:a16="http://schemas.microsoft.com/office/drawing/2014/main" id="{1186B308-DDF2-452D-A47E-6EF7019C0B3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81325" y="4104588"/>
            <a:ext cx="1897062" cy="1774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97" name="Rectangle 2">
            <a:extLst>
              <a:ext uri="{FF2B5EF4-FFF2-40B4-BE49-F238E27FC236}">
                <a16:creationId xmlns:a16="http://schemas.microsoft.com/office/drawing/2014/main" id="{0C6E6845-850D-4810-9EA5-1EB2B384301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69975" y="204047"/>
            <a:ext cx="7616825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Deterministic Evaluation</a:t>
            </a:r>
          </a:p>
        </p:txBody>
      </p:sp>
      <p:sp>
        <p:nvSpPr>
          <p:cNvPr id="101378" name="Rectangle 3">
            <a:extLst>
              <a:ext uri="{FF2B5EF4-FFF2-40B4-BE49-F238E27FC236}">
                <a16:creationId xmlns:a16="http://schemas.microsoft.com/office/drawing/2014/main" id="{42D64333-B7E5-4612-A296-895B3529B10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27088" y="1097280"/>
            <a:ext cx="7478711" cy="4249420"/>
          </a:xfrm>
        </p:spPr>
        <p:txBody>
          <a:bodyPr/>
          <a:lstStyle/>
          <a:p>
            <a:pPr marL="341313" indent="-341313"/>
            <a:r>
              <a:rPr lang="en-US" altLang="en-US" sz="2000" dirty="0"/>
              <a:t>For each algorithm, calculate minimum average waiting time</a:t>
            </a:r>
          </a:p>
          <a:p>
            <a:pPr marL="341313" indent="-341313"/>
            <a:r>
              <a:rPr lang="en-US" altLang="en-US" sz="2000" dirty="0"/>
              <a:t>Simple and fast, but requires exact numbers for input, applies only to those inputs</a:t>
            </a:r>
          </a:p>
          <a:p>
            <a:pPr marL="741363" lvl="1" indent="-284163"/>
            <a:r>
              <a:rPr lang="en-US" altLang="en-US" sz="2000" dirty="0"/>
              <a:t>FCS is 28ms:</a:t>
            </a:r>
          </a:p>
          <a:p>
            <a:pPr marL="341313" indent="-341313"/>
            <a:endParaRPr lang="en-US" altLang="en-US" sz="2000" dirty="0"/>
          </a:p>
          <a:p>
            <a:pPr marL="341313" indent="-341313">
              <a:buFont typeface="Monotype Sorts" pitchFamily="-84" charset="2"/>
              <a:buNone/>
            </a:pPr>
            <a:endParaRPr lang="en-US" altLang="en-US" sz="2000" dirty="0"/>
          </a:p>
          <a:p>
            <a:pPr marL="741363" lvl="1" indent="-284163">
              <a:spcBef>
                <a:spcPts val="1800"/>
              </a:spcBef>
            </a:pPr>
            <a:r>
              <a:rPr lang="en-US" altLang="en-US" sz="2000" dirty="0"/>
              <a:t>Non-preemptive SFJ is 13ms:</a:t>
            </a:r>
          </a:p>
          <a:p>
            <a:pPr marL="341313" indent="-341313"/>
            <a:endParaRPr lang="en-US" altLang="en-US" sz="2000" dirty="0"/>
          </a:p>
          <a:p>
            <a:pPr marL="341313" indent="-341313">
              <a:buFont typeface="Monotype Sorts" pitchFamily="-84" charset="2"/>
              <a:buNone/>
            </a:pPr>
            <a:endParaRPr lang="en-US" altLang="en-US" sz="2000" dirty="0"/>
          </a:p>
          <a:p>
            <a:pPr marL="741363" lvl="1" indent="-284163">
              <a:spcBef>
                <a:spcPts val="1200"/>
              </a:spcBef>
            </a:pPr>
            <a:r>
              <a:rPr lang="en-US" altLang="en-US" sz="2000" dirty="0"/>
              <a:t>RR is 23ms:</a:t>
            </a:r>
          </a:p>
          <a:p>
            <a:pPr marL="341313" indent="-341313">
              <a:buFont typeface="Monotype Sorts" pitchFamily="-84" charset="2"/>
              <a:buNone/>
            </a:pPr>
            <a:endParaRPr lang="en-US" altLang="en-US" sz="2000" dirty="0"/>
          </a:p>
        </p:txBody>
      </p:sp>
      <p:pic>
        <p:nvPicPr>
          <p:cNvPr id="132099" name="Picture 2" descr="Screen Shot 2012-12-17 at 9.47.12 PM.png">
            <a:extLst>
              <a:ext uri="{FF2B5EF4-FFF2-40B4-BE49-F238E27FC236}">
                <a16:creationId xmlns:a16="http://schemas.microsoft.com/office/drawing/2014/main" id="{72B613C9-9DEE-4CD7-ABD1-8B5F8F52BBA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35163" y="2606675"/>
            <a:ext cx="4445000" cy="828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2100" name="Picture 3" descr="Screen Shot 2012-12-17 at 9.47.18 PM.png">
            <a:extLst>
              <a:ext uri="{FF2B5EF4-FFF2-40B4-BE49-F238E27FC236}">
                <a16:creationId xmlns:a16="http://schemas.microsoft.com/office/drawing/2014/main" id="{F75A4BF0-7381-4B89-90CE-E8DC92F8F29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93888" y="3966759"/>
            <a:ext cx="4529137" cy="7737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2101" name="Picture 4" descr="Screen Shot 2012-12-17 at 9.47.24 PM.png">
            <a:extLst>
              <a:ext uri="{FF2B5EF4-FFF2-40B4-BE49-F238E27FC236}">
                <a16:creationId xmlns:a16="http://schemas.microsoft.com/office/drawing/2014/main" id="{00B7072B-4655-4652-80B5-B7ADAFC32C8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98650" y="5240021"/>
            <a:ext cx="4445000" cy="752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45" name="Title 1">
            <a:extLst>
              <a:ext uri="{FF2B5EF4-FFF2-40B4-BE49-F238E27FC236}">
                <a16:creationId xmlns:a16="http://schemas.microsoft.com/office/drawing/2014/main" id="{4D59D635-40DB-4181-BA9E-36E3809C0F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5451" y="258371"/>
            <a:ext cx="8229600" cy="576262"/>
          </a:xfrm>
        </p:spPr>
        <p:txBody>
          <a:bodyPr/>
          <a:lstStyle/>
          <a:p>
            <a:r>
              <a:rPr lang="en-US" altLang="en-US" dirty="0"/>
              <a:t>Queueing Models</a:t>
            </a:r>
          </a:p>
        </p:txBody>
      </p:sp>
      <p:sp>
        <p:nvSpPr>
          <p:cNvPr id="134146" name="Content Placeholder 2">
            <a:extLst>
              <a:ext uri="{FF2B5EF4-FFF2-40B4-BE49-F238E27FC236}">
                <a16:creationId xmlns:a16="http://schemas.microsoft.com/office/drawing/2014/main" id="{51085166-B3B1-42A3-B00E-DD980BA90B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3402" y="1050609"/>
            <a:ext cx="7713698" cy="4517072"/>
          </a:xfrm>
        </p:spPr>
        <p:txBody>
          <a:bodyPr/>
          <a:lstStyle/>
          <a:p>
            <a:r>
              <a:rPr lang="en-US" altLang="en-US" sz="2000" dirty="0"/>
              <a:t>Describes the arrival of processes, and CPU and I/O bursts probabilistically</a:t>
            </a:r>
          </a:p>
          <a:p>
            <a:pPr lvl="1"/>
            <a:r>
              <a:rPr lang="en-US" altLang="en-US" sz="2000" dirty="0"/>
              <a:t>Commonly exponential, and described by mean</a:t>
            </a:r>
          </a:p>
          <a:p>
            <a:pPr lvl="1"/>
            <a:r>
              <a:rPr lang="en-US" altLang="en-US" sz="2000" dirty="0"/>
              <a:t>Computes average throughput, utilization, waiting time, etc.</a:t>
            </a:r>
          </a:p>
          <a:p>
            <a:r>
              <a:rPr lang="en-US" altLang="en-US" sz="2000" dirty="0"/>
              <a:t>Computer system described as network of servers, each with queue of waiting processes</a:t>
            </a:r>
          </a:p>
          <a:p>
            <a:pPr lvl="1"/>
            <a:r>
              <a:rPr lang="en-US" altLang="en-US" sz="2000" dirty="0"/>
              <a:t>Knowing arrival rates and service rates</a:t>
            </a:r>
          </a:p>
          <a:p>
            <a:pPr lvl="1"/>
            <a:r>
              <a:rPr lang="en-US" altLang="en-US" sz="2000" dirty="0"/>
              <a:t>Computes utilization, average queue length, average wait time, etc.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69" name="Title 1">
            <a:extLst>
              <a:ext uri="{FF2B5EF4-FFF2-40B4-BE49-F238E27FC236}">
                <a16:creationId xmlns:a16="http://schemas.microsoft.com/office/drawing/2014/main" id="{88836614-251E-456A-8F63-CF63948BE8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39321"/>
            <a:ext cx="8229600" cy="576262"/>
          </a:xfrm>
        </p:spPr>
        <p:txBody>
          <a:bodyPr/>
          <a:lstStyle/>
          <a:p>
            <a:r>
              <a:rPr lang="en-US" altLang="en-US" dirty="0"/>
              <a:t>Little</a:t>
            </a:r>
            <a:r>
              <a:rPr lang="ja-JP" altLang="en-US" dirty="0"/>
              <a:t>’</a:t>
            </a:r>
            <a:r>
              <a:rPr lang="en-US" altLang="ja-JP" dirty="0"/>
              <a:t>s Formula</a:t>
            </a:r>
            <a:endParaRPr lang="en-US" altLang="en-US" dirty="0"/>
          </a:p>
        </p:txBody>
      </p:sp>
      <p:sp>
        <p:nvSpPr>
          <p:cNvPr id="135170" name="Content Placeholder 2">
            <a:extLst>
              <a:ext uri="{FF2B5EF4-FFF2-40B4-BE49-F238E27FC236}">
                <a16:creationId xmlns:a16="http://schemas.microsoft.com/office/drawing/2014/main" id="{0FB86F5A-AC04-4507-85EB-409F60BB96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8026" y="1016001"/>
            <a:ext cx="7625574" cy="4551680"/>
          </a:xfrm>
        </p:spPr>
        <p:txBody>
          <a:bodyPr/>
          <a:lstStyle/>
          <a:p>
            <a:r>
              <a:rPr lang="en-US" altLang="en-US" sz="2000" i="1" dirty="0"/>
              <a:t>n</a:t>
            </a:r>
            <a:r>
              <a:rPr lang="en-US" altLang="en-US" sz="2000" dirty="0"/>
              <a:t> = average queue length</a:t>
            </a:r>
          </a:p>
          <a:p>
            <a:r>
              <a:rPr lang="en-US" altLang="en-US" sz="2000" i="1" dirty="0"/>
              <a:t>W</a:t>
            </a:r>
            <a:r>
              <a:rPr lang="en-US" altLang="en-US" sz="2000" dirty="0"/>
              <a:t> = average waiting time in queue</a:t>
            </a:r>
          </a:p>
          <a:p>
            <a:r>
              <a:rPr lang="en-US" altLang="en-US" sz="2000" i="1" dirty="0"/>
              <a:t>λ</a:t>
            </a:r>
            <a:r>
              <a:rPr lang="en-US" altLang="en-US" sz="2000" dirty="0"/>
              <a:t> = average arrival rate into queue</a:t>
            </a:r>
          </a:p>
          <a:p>
            <a:r>
              <a:rPr lang="en-US" altLang="en-US" sz="2000" dirty="0"/>
              <a:t>Little</a:t>
            </a:r>
            <a:r>
              <a:rPr lang="ja-JP" altLang="en-US" sz="2000" dirty="0"/>
              <a:t>’</a:t>
            </a:r>
            <a:r>
              <a:rPr lang="en-US" altLang="ja-JP" sz="2000" dirty="0"/>
              <a:t>s law – in steady state, processes leaving queue must equal processes arriving, thus:</a:t>
            </a:r>
            <a:br>
              <a:rPr lang="en-US" altLang="ja-JP" sz="2000" dirty="0"/>
            </a:br>
            <a:r>
              <a:rPr lang="en-US" altLang="ja-JP" sz="2000" dirty="0"/>
              <a:t>      </a:t>
            </a:r>
            <a:r>
              <a:rPr lang="en-US" altLang="ja-JP" sz="2000" i="1" dirty="0"/>
              <a:t>n </a:t>
            </a:r>
            <a:r>
              <a:rPr lang="en-US" altLang="ja-JP" sz="2000" dirty="0"/>
              <a:t>= </a:t>
            </a:r>
            <a:r>
              <a:rPr lang="en-US" altLang="ja-JP" sz="2000" i="1" dirty="0"/>
              <a:t>λ </a:t>
            </a:r>
            <a:r>
              <a:rPr lang="en-US" altLang="ja-JP" sz="2000" dirty="0"/>
              <a:t>x</a:t>
            </a:r>
            <a:r>
              <a:rPr lang="en-US" altLang="ja-JP" sz="2000" i="1" dirty="0"/>
              <a:t> W</a:t>
            </a:r>
          </a:p>
          <a:p>
            <a:pPr lvl="1"/>
            <a:r>
              <a:rPr lang="en-US" altLang="en-US" sz="2000" dirty="0"/>
              <a:t>Valid for any scheduling algorithm and arrival distribution</a:t>
            </a:r>
          </a:p>
          <a:p>
            <a:r>
              <a:rPr lang="en-US" altLang="en-US" sz="2000" dirty="0"/>
              <a:t>For example, if on average 7 processes arrive per second, and normally 14 processes in queue, then average wait time per process = 2 seconds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93" name="Title 1">
            <a:extLst>
              <a:ext uri="{FF2B5EF4-FFF2-40B4-BE49-F238E27FC236}">
                <a16:creationId xmlns:a16="http://schemas.microsoft.com/office/drawing/2014/main" id="{3F4B6F1F-014D-4B12-B2C5-CED652555A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1512"/>
            <a:ext cx="8229600" cy="576262"/>
          </a:xfrm>
        </p:spPr>
        <p:txBody>
          <a:bodyPr/>
          <a:lstStyle/>
          <a:p>
            <a:r>
              <a:rPr lang="en-US" altLang="en-US" dirty="0"/>
              <a:t>Simulations</a:t>
            </a:r>
          </a:p>
        </p:txBody>
      </p:sp>
      <p:sp>
        <p:nvSpPr>
          <p:cNvPr id="136194" name="Content Placeholder 2">
            <a:extLst>
              <a:ext uri="{FF2B5EF4-FFF2-40B4-BE49-F238E27FC236}">
                <a16:creationId xmlns:a16="http://schemas.microsoft.com/office/drawing/2014/main" id="{31DCE5BD-01E8-435B-870B-5EBAC0600C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4443" y="1060768"/>
            <a:ext cx="7727950" cy="4530725"/>
          </a:xfrm>
        </p:spPr>
        <p:txBody>
          <a:bodyPr/>
          <a:lstStyle/>
          <a:p>
            <a:r>
              <a:rPr lang="en-US" altLang="en-US" sz="2000" dirty="0"/>
              <a:t>Queueing models limited</a:t>
            </a:r>
          </a:p>
          <a:p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Simulations</a:t>
            </a:r>
            <a:r>
              <a:rPr lang="en-US" altLang="en-US" sz="2000" b="1" dirty="0"/>
              <a:t> </a:t>
            </a:r>
            <a:r>
              <a:rPr lang="en-US" altLang="en-US" sz="2000" dirty="0"/>
              <a:t>more accurate</a:t>
            </a:r>
          </a:p>
          <a:p>
            <a:pPr lvl="1"/>
            <a:r>
              <a:rPr lang="en-US" altLang="en-US" sz="2000" dirty="0"/>
              <a:t>Programmed model of computer system</a:t>
            </a:r>
          </a:p>
          <a:p>
            <a:pPr lvl="1"/>
            <a:r>
              <a:rPr lang="en-US" altLang="en-US" sz="2000" dirty="0"/>
              <a:t>Clock is a variable</a:t>
            </a:r>
          </a:p>
          <a:p>
            <a:pPr lvl="1"/>
            <a:r>
              <a:rPr lang="en-US" altLang="en-US" sz="2000" dirty="0"/>
              <a:t>Gather statistics  indicating algorithm performance</a:t>
            </a:r>
          </a:p>
          <a:p>
            <a:pPr lvl="1"/>
            <a:r>
              <a:rPr lang="en-US" altLang="en-US" sz="2000" dirty="0"/>
              <a:t>Data to drive simulation gathered via</a:t>
            </a:r>
          </a:p>
          <a:p>
            <a:pPr lvl="2"/>
            <a:r>
              <a:rPr lang="en-US" altLang="en-US" sz="2000" dirty="0"/>
              <a:t>Random number generator according to probabilities</a:t>
            </a:r>
          </a:p>
          <a:p>
            <a:pPr lvl="2"/>
            <a:r>
              <a:rPr lang="en-US" altLang="en-US" sz="2000" dirty="0"/>
              <a:t>Distributions defined mathematically or empirically</a:t>
            </a:r>
          </a:p>
          <a:p>
            <a:pPr lvl="2"/>
            <a:r>
              <a:rPr lang="en-US" altLang="en-US" sz="2000" dirty="0"/>
              <a:t>Trace tapes record sequences of real events in real systems</a:t>
            </a:r>
          </a:p>
          <a:p>
            <a:pPr lvl="2"/>
            <a:endParaRPr lang="en-US" altLang="en-US" sz="2000" dirty="0"/>
          </a:p>
          <a:p>
            <a:pPr lvl="1"/>
            <a:endParaRPr lang="en-US" altLang="en-US" sz="2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17" name="Rectangle 2">
            <a:extLst>
              <a:ext uri="{FF2B5EF4-FFF2-40B4-BE49-F238E27FC236}">
                <a16:creationId xmlns:a16="http://schemas.microsoft.com/office/drawing/2014/main" id="{E376DC34-4892-46A6-9D5E-C8B743E88B4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84489" y="249344"/>
            <a:ext cx="7182093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Evaluation of CPU Schedulers</a:t>
            </a:r>
          </a:p>
        </p:txBody>
      </p:sp>
      <p:pic>
        <p:nvPicPr>
          <p:cNvPr id="137218" name="Picture 1">
            <a:extLst>
              <a:ext uri="{FF2B5EF4-FFF2-40B4-BE49-F238E27FC236}">
                <a16:creationId xmlns:a16="http://schemas.microsoft.com/office/drawing/2014/main" id="{AD0A361C-0911-4B85-9766-5E4140F2E09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7689" y="1150938"/>
            <a:ext cx="7608893" cy="4741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265" name="Title 1">
            <a:extLst>
              <a:ext uri="{FF2B5EF4-FFF2-40B4-BE49-F238E27FC236}">
                <a16:creationId xmlns:a16="http://schemas.microsoft.com/office/drawing/2014/main" id="{2B258A3D-0DCD-4490-A722-4FB661159D96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375569" y="261797"/>
            <a:ext cx="6824662" cy="576262"/>
          </a:xfrm>
        </p:spPr>
        <p:txBody>
          <a:bodyPr/>
          <a:lstStyle/>
          <a:p>
            <a:r>
              <a:rPr lang="en-US" altLang="en-US" dirty="0"/>
              <a:t>Implementation</a:t>
            </a:r>
          </a:p>
        </p:txBody>
      </p:sp>
      <p:sp>
        <p:nvSpPr>
          <p:cNvPr id="139266" name="Content Placeholder 2">
            <a:extLst>
              <a:ext uri="{FF2B5EF4-FFF2-40B4-BE49-F238E27FC236}">
                <a16:creationId xmlns:a16="http://schemas.microsoft.com/office/drawing/2014/main" id="{3D12B624-FA4C-4339-BD1B-8776B542F48E}"/>
              </a:ext>
            </a:extLst>
          </p:cNvPr>
          <p:cNvSpPr txBox="1">
            <a:spLocks/>
          </p:cNvSpPr>
          <p:nvPr/>
        </p:nvSpPr>
        <p:spPr bwMode="auto">
          <a:xfrm>
            <a:off x="850900" y="1055688"/>
            <a:ext cx="7874000" cy="453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17" tIns="45709" rIns="91417" bIns="45709"/>
          <a:lstStyle>
            <a:lvl1pPr marL="488950" indent="-488950" defTabSz="1304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1141413" indent="-488950" defTabSz="1304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550988" indent="-325438" defTabSz="1304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1304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1304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1304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1304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1304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1304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35000"/>
              </a:spcBef>
              <a:buClr>
                <a:srgbClr val="993300"/>
              </a:buClr>
              <a:buSzPct val="110000"/>
              <a:buFont typeface="Wingdings" panose="05000000000000000000" pitchFamily="2" charset="2"/>
              <a:buChar char="§"/>
            </a:pPr>
            <a:r>
              <a:rPr kumimoji="1" lang="en-US" altLang="en-US" sz="2000" dirty="0">
                <a:latin typeface="Helvetica" panose="020B0604020202020204" pitchFamily="34" charset="0"/>
              </a:rPr>
              <a:t>Even simulations have limited accuracy</a:t>
            </a:r>
          </a:p>
          <a:p>
            <a:pPr>
              <a:spcBef>
                <a:spcPct val="35000"/>
              </a:spcBef>
              <a:buClr>
                <a:srgbClr val="993300"/>
              </a:buClr>
              <a:buSzPct val="110000"/>
              <a:buFont typeface="Wingdings" panose="05000000000000000000" pitchFamily="2" charset="2"/>
              <a:buChar char="§"/>
            </a:pPr>
            <a:r>
              <a:rPr kumimoji="1" lang="en-US" altLang="en-US" sz="2000" dirty="0">
                <a:latin typeface="Helvetica" panose="020B0604020202020204" pitchFamily="34" charset="0"/>
              </a:rPr>
              <a:t>Just implement new scheduler and test in real systems</a:t>
            </a:r>
          </a:p>
          <a:p>
            <a:pPr lvl="1">
              <a:spcBef>
                <a:spcPct val="35000"/>
              </a:spcBef>
              <a:buClr>
                <a:srgbClr val="993300"/>
              </a:buClr>
              <a:buSzPct val="110000"/>
              <a:buFont typeface="Arial" panose="020B0604020202020204" pitchFamily="34" charset="0"/>
              <a:buChar char="•"/>
            </a:pPr>
            <a:r>
              <a:rPr kumimoji="1" lang="en-US" altLang="en-US" sz="2000" dirty="0">
                <a:latin typeface="Helvetica" panose="020B0604020202020204" pitchFamily="34" charset="0"/>
              </a:rPr>
              <a:t>High cost, high risk</a:t>
            </a:r>
          </a:p>
          <a:p>
            <a:pPr lvl="1">
              <a:spcBef>
                <a:spcPct val="35000"/>
              </a:spcBef>
              <a:buClr>
                <a:srgbClr val="993300"/>
              </a:buClr>
              <a:buSzPct val="110000"/>
              <a:buFont typeface="Arial" panose="020B0604020202020204" pitchFamily="34" charset="0"/>
              <a:buChar char="•"/>
            </a:pPr>
            <a:r>
              <a:rPr kumimoji="1" lang="en-US" altLang="en-US" sz="2000" dirty="0">
                <a:latin typeface="Helvetica" panose="020B0604020202020204" pitchFamily="34" charset="0"/>
              </a:rPr>
              <a:t>Environments vary</a:t>
            </a:r>
          </a:p>
          <a:p>
            <a:pPr>
              <a:spcBef>
                <a:spcPct val="35000"/>
              </a:spcBef>
              <a:buClr>
                <a:srgbClr val="993300"/>
              </a:buClr>
              <a:buSzPct val="110000"/>
              <a:buFont typeface="Wingdings" panose="05000000000000000000" pitchFamily="2" charset="2"/>
              <a:buChar char="§"/>
            </a:pPr>
            <a:r>
              <a:rPr kumimoji="1" lang="en-US" altLang="en-US" sz="2000" dirty="0">
                <a:latin typeface="Helvetica" panose="020B0604020202020204" pitchFamily="34" charset="0"/>
              </a:rPr>
              <a:t>Most flexible schedulers can be modified per-site or per-system</a:t>
            </a:r>
          </a:p>
          <a:p>
            <a:pPr>
              <a:spcBef>
                <a:spcPct val="35000"/>
              </a:spcBef>
              <a:buClr>
                <a:srgbClr val="993300"/>
              </a:buClr>
              <a:buSzPct val="110000"/>
              <a:buFont typeface="Wingdings" panose="05000000000000000000" pitchFamily="2" charset="2"/>
              <a:buChar char="§"/>
            </a:pPr>
            <a:r>
              <a:rPr kumimoji="1" lang="en-US" altLang="en-US" sz="2000" dirty="0">
                <a:latin typeface="Helvetica" panose="020B0604020202020204" pitchFamily="34" charset="0"/>
              </a:rPr>
              <a:t>Or APIs to modify priorities</a:t>
            </a:r>
          </a:p>
          <a:p>
            <a:pPr>
              <a:spcBef>
                <a:spcPct val="35000"/>
              </a:spcBef>
              <a:buClr>
                <a:srgbClr val="993300"/>
              </a:buClr>
              <a:buSzPct val="110000"/>
              <a:buFont typeface="Wingdings" panose="05000000000000000000" pitchFamily="2" charset="2"/>
              <a:buChar char="§"/>
            </a:pPr>
            <a:r>
              <a:rPr kumimoji="1" lang="en-US" altLang="en-US" sz="2000" dirty="0">
                <a:latin typeface="Helvetica" panose="020B0604020202020204" pitchFamily="34" charset="0"/>
              </a:rPr>
              <a:t>But again environments vary</a:t>
            </a:r>
          </a:p>
          <a:p>
            <a:pPr>
              <a:spcBef>
                <a:spcPct val="35000"/>
              </a:spcBef>
              <a:buClr>
                <a:srgbClr val="993300"/>
              </a:buClr>
              <a:buSzPct val="90000"/>
              <a:buFont typeface="Monotype Sorts" pitchFamily="-84" charset="2"/>
              <a:buChar char="n"/>
            </a:pPr>
            <a:endParaRPr kumimoji="1" lang="en-US" altLang="en-US" sz="2000" dirty="0">
              <a:latin typeface="Helvetica" panose="020B0604020202020204" pitchFamily="34" charset="0"/>
            </a:endParaRPr>
          </a:p>
          <a:p>
            <a:pPr lvl="2">
              <a:spcBef>
                <a:spcPct val="35000"/>
              </a:spcBef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</a:pPr>
            <a:endParaRPr kumimoji="1" lang="en-US" altLang="en-US" sz="2000" dirty="0">
              <a:latin typeface="Helvetica" panose="020B0604020202020204" pitchFamily="34" charset="0"/>
            </a:endParaRPr>
          </a:p>
          <a:p>
            <a:pPr lvl="1">
              <a:spcBef>
                <a:spcPct val="35000"/>
              </a:spcBef>
              <a:buClr>
                <a:srgbClr val="CC6600"/>
              </a:buClr>
              <a:buSzPct val="80000"/>
              <a:buFont typeface="Monotype Sorts" pitchFamily="-84" charset="2"/>
              <a:buChar char="l"/>
            </a:pPr>
            <a:endParaRPr kumimoji="1" lang="en-US" altLang="en-US" sz="2000" dirty="0">
              <a:latin typeface="Helvetica" panose="020B0604020202020204" pitchFamily="34" charset="0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289" name="Rectangle 2">
            <a:extLst>
              <a:ext uri="{FF2B5EF4-FFF2-40B4-BE49-F238E27FC236}">
                <a16:creationId xmlns:a16="http://schemas.microsoft.com/office/drawing/2014/main" id="{F2E0C1D0-A1A4-4022-95CF-B15DED9ADA75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End of Chapter 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s-8">
  <a:themeElements>
    <a:clrScheme name="os-8 8">
      <a:dk1>
        <a:srgbClr val="000000"/>
      </a:dk1>
      <a:lt1>
        <a:srgbClr val="FFFFFF"/>
      </a:lt1>
      <a:dk2>
        <a:srgbClr val="999900"/>
      </a:dk2>
      <a:lt2>
        <a:srgbClr val="666600"/>
      </a:lt2>
      <a:accent1>
        <a:srgbClr val="99CC00"/>
      </a:accent1>
      <a:accent2>
        <a:srgbClr val="CCCC66"/>
      </a:accent2>
      <a:accent3>
        <a:srgbClr val="FFFFFF"/>
      </a:accent3>
      <a:accent4>
        <a:srgbClr val="000000"/>
      </a:accent4>
      <a:accent5>
        <a:srgbClr val="CAE2AA"/>
      </a:accent5>
      <a:accent6>
        <a:srgbClr val="B9B95C"/>
      </a:accent6>
      <a:hlink>
        <a:srgbClr val="FFCC00"/>
      </a:hlink>
      <a:folHlink>
        <a:srgbClr val="CC9900"/>
      </a:folHlink>
    </a:clrScheme>
    <a:fontScheme name="os-8">
      <a:majorFont>
        <a:latin typeface="Arial"/>
        <a:ea typeface=""/>
        <a:cs typeface=""/>
      </a:majorFont>
      <a:minorFont>
        <a:latin typeface="Helvetic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Verdana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Verdana" charset="0"/>
          </a:defRPr>
        </a:defPPr>
      </a:lstStyle>
    </a:lnDef>
  </a:objectDefaults>
  <a:extraClrSchemeLst>
    <a:extraClrScheme>
      <a:clrScheme name="os-8 1">
        <a:dk1>
          <a:srgbClr val="006699"/>
        </a:dk1>
        <a:lt1>
          <a:srgbClr val="FFFFFF"/>
        </a:lt1>
        <a:dk2>
          <a:srgbClr val="000000"/>
        </a:dk2>
        <a:lt2>
          <a:srgbClr val="99FF99"/>
        </a:lt2>
        <a:accent1>
          <a:srgbClr val="00CC99"/>
        </a:accent1>
        <a:accent2>
          <a:srgbClr val="009999"/>
        </a:accent2>
        <a:accent3>
          <a:srgbClr val="AAAAAA"/>
        </a:accent3>
        <a:accent4>
          <a:srgbClr val="DADADA"/>
        </a:accent4>
        <a:accent5>
          <a:srgbClr val="AAE2CA"/>
        </a:accent5>
        <a:accent6>
          <a:srgbClr val="008A8A"/>
        </a:accent6>
        <a:hlink>
          <a:srgbClr val="0066FF"/>
        </a:hlink>
        <a:folHlink>
          <a:srgbClr val="989CB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2">
        <a:dk1>
          <a:srgbClr val="808000"/>
        </a:dk1>
        <a:lt1>
          <a:srgbClr val="FFFFFF"/>
        </a:lt1>
        <a:dk2>
          <a:srgbClr val="5C271E"/>
        </a:dk2>
        <a:lt2>
          <a:srgbClr val="FFDD89"/>
        </a:lt2>
        <a:accent1>
          <a:srgbClr val="CC6600"/>
        </a:accent1>
        <a:accent2>
          <a:srgbClr val="CC9900"/>
        </a:accent2>
        <a:accent3>
          <a:srgbClr val="B5ACAB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3">
        <a:dk1>
          <a:srgbClr val="763B00"/>
        </a:dk1>
        <a:lt1>
          <a:srgbClr val="FFFFFF"/>
        </a:lt1>
        <a:dk2>
          <a:srgbClr val="330000"/>
        </a:dk2>
        <a:lt2>
          <a:srgbClr val="CC9900"/>
        </a:lt2>
        <a:accent1>
          <a:srgbClr val="FFCC00"/>
        </a:accent1>
        <a:accent2>
          <a:srgbClr val="CC3300"/>
        </a:accent2>
        <a:accent3>
          <a:srgbClr val="ADAAAA"/>
        </a:accent3>
        <a:accent4>
          <a:srgbClr val="DADADA"/>
        </a:accent4>
        <a:accent5>
          <a:srgbClr val="FFE2AA"/>
        </a:accent5>
        <a:accent6>
          <a:srgbClr val="B92D00"/>
        </a:accent6>
        <a:hlink>
          <a:srgbClr val="666699"/>
        </a:hlink>
        <a:folHlink>
          <a:srgbClr val="9999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4">
        <a:dk1>
          <a:srgbClr val="6D3696"/>
        </a:dk1>
        <a:lt1>
          <a:srgbClr val="FFFFFF"/>
        </a:lt1>
        <a:dk2>
          <a:srgbClr val="51255D"/>
        </a:dk2>
        <a:lt2>
          <a:srgbClr val="FFFFCC"/>
        </a:lt2>
        <a:accent1>
          <a:srgbClr val="666699"/>
        </a:accent1>
        <a:accent2>
          <a:srgbClr val="800080"/>
        </a:accent2>
        <a:accent3>
          <a:srgbClr val="B3ACB6"/>
        </a:accent3>
        <a:accent4>
          <a:srgbClr val="DADADA"/>
        </a:accent4>
        <a:accent5>
          <a:srgbClr val="B8B8CA"/>
        </a:accent5>
        <a:accent6>
          <a:srgbClr val="730073"/>
        </a:accent6>
        <a:hlink>
          <a:srgbClr val="CCCC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5">
        <a:dk1>
          <a:srgbClr val="CC6600"/>
        </a:dk1>
        <a:lt1>
          <a:srgbClr val="FFFFFF"/>
        </a:lt1>
        <a:dk2>
          <a:srgbClr val="4A553B"/>
        </a:dk2>
        <a:lt2>
          <a:srgbClr val="FFBF1F"/>
        </a:lt2>
        <a:accent1>
          <a:srgbClr val="FFCC00"/>
        </a:accent1>
        <a:accent2>
          <a:srgbClr val="CC9900"/>
        </a:accent2>
        <a:accent3>
          <a:srgbClr val="B1B4AF"/>
        </a:accent3>
        <a:accent4>
          <a:srgbClr val="DADADA"/>
        </a:accent4>
        <a:accent5>
          <a:srgbClr val="FFE2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6">
        <a:dk1>
          <a:srgbClr val="000000"/>
        </a:dk1>
        <a:lt1>
          <a:srgbClr val="FFFFFF"/>
        </a:lt1>
        <a:dk2>
          <a:srgbClr val="666699"/>
        </a:dk2>
        <a:lt2>
          <a:srgbClr val="FFCC00"/>
        </a:lt2>
        <a:accent1>
          <a:srgbClr val="FF9900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FFCAAA"/>
        </a:accent5>
        <a:accent6>
          <a:srgbClr val="E70000"/>
        </a:accent6>
        <a:hlink>
          <a:srgbClr val="666699"/>
        </a:hlink>
        <a:folHlink>
          <a:srgbClr val="9999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s-8 7">
        <a:dk1>
          <a:srgbClr val="000000"/>
        </a:dk1>
        <a:lt1>
          <a:srgbClr val="FFFFFF"/>
        </a:lt1>
        <a:dk2>
          <a:srgbClr val="CC3300"/>
        </a:dk2>
        <a:lt2>
          <a:srgbClr val="66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CC9900"/>
        </a:hlink>
        <a:folHlink>
          <a:srgbClr val="99663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s-8 8">
        <a:dk1>
          <a:srgbClr val="000000"/>
        </a:dk1>
        <a:lt1>
          <a:srgbClr val="FFFFFF"/>
        </a:lt1>
        <a:dk2>
          <a:srgbClr val="999900"/>
        </a:dk2>
        <a:lt2>
          <a:srgbClr val="666600"/>
        </a:lt2>
        <a:accent1>
          <a:srgbClr val="99CC00"/>
        </a:accent1>
        <a:accent2>
          <a:srgbClr val="CCCC66"/>
        </a:accent2>
        <a:accent3>
          <a:srgbClr val="FFFFFF"/>
        </a:accent3>
        <a:accent4>
          <a:srgbClr val="000000"/>
        </a:accent4>
        <a:accent5>
          <a:srgbClr val="CAE2AA"/>
        </a:accent5>
        <a:accent6>
          <a:srgbClr val="B9B95C"/>
        </a:accent6>
        <a:hlink>
          <a:srgbClr val="FFCC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OS8</Template>
  <TotalTime>13435</TotalTime>
  <Words>1630</Words>
  <Application>Microsoft Office PowerPoint</Application>
  <PresentationFormat>全屏显示(4:3)</PresentationFormat>
  <Paragraphs>220</Paragraphs>
  <Slides>28</Slides>
  <Notes>17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28</vt:i4>
      </vt:variant>
    </vt:vector>
  </HeadingPairs>
  <TitlesOfParts>
    <vt:vector size="38" baseType="lpstr">
      <vt:lpstr>Monotype Sorts</vt:lpstr>
      <vt:lpstr>黑体</vt:lpstr>
      <vt:lpstr>Arial</vt:lpstr>
      <vt:lpstr>Courier New</vt:lpstr>
      <vt:lpstr>Helvetica</vt:lpstr>
      <vt:lpstr>Times New Roman</vt:lpstr>
      <vt:lpstr>Verdana</vt:lpstr>
      <vt:lpstr>Webdings</vt:lpstr>
      <vt:lpstr>Wingdings</vt:lpstr>
      <vt:lpstr>os-8</vt:lpstr>
      <vt:lpstr>Chapter 5 CPU Scheduling (3)</vt:lpstr>
      <vt:lpstr>Proportional Share Scheduling</vt:lpstr>
      <vt:lpstr>POSIX Real-Time Scheduling</vt:lpstr>
      <vt:lpstr>POSIX Real-Time Scheduling API (1)</vt:lpstr>
      <vt:lpstr>POSIX Real-Time Scheduling API (2)</vt:lpstr>
      <vt:lpstr>Operating System Examples</vt:lpstr>
      <vt:lpstr>Linux Scheduling Through Version 2.5</vt:lpstr>
      <vt:lpstr>Linux Scheduling in Version 2.6.23 (1)</vt:lpstr>
      <vt:lpstr>Linux Scheduling in Version 2.6.23 (2)</vt:lpstr>
      <vt:lpstr>CFS Performance</vt:lpstr>
      <vt:lpstr>Linux Scheduling (1)</vt:lpstr>
      <vt:lpstr>Linux Scheduling (2)</vt:lpstr>
      <vt:lpstr>Windows Scheduling</vt:lpstr>
      <vt:lpstr>Windows Priority Classes (1)</vt:lpstr>
      <vt:lpstr>Windows Priority Classes (2)</vt:lpstr>
      <vt:lpstr>Windows Priorities</vt:lpstr>
      <vt:lpstr>Solaris</vt:lpstr>
      <vt:lpstr>Solaris Dispatch Table </vt:lpstr>
      <vt:lpstr>Solaris Scheduling (1)</vt:lpstr>
      <vt:lpstr>Solaris Scheduling (2)</vt:lpstr>
      <vt:lpstr>Algorithm Evaluation</vt:lpstr>
      <vt:lpstr>Deterministic Evaluation</vt:lpstr>
      <vt:lpstr>Queueing Models</vt:lpstr>
      <vt:lpstr>Little’s Formula</vt:lpstr>
      <vt:lpstr>Simulations</vt:lpstr>
      <vt:lpstr>Evaluation of CPU Schedulers</vt:lpstr>
      <vt:lpstr>Implementation</vt:lpstr>
      <vt:lpstr>End of Chapter 5</vt:lpstr>
    </vt:vector>
  </TitlesOfParts>
  <Company>Lucent Technologies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2.01</dc:title>
  <dc:creator>Lucent End User</dc:creator>
  <cp:lastModifiedBy>Yeh-Ching Chung</cp:lastModifiedBy>
  <cp:revision>284</cp:revision>
  <cp:lastPrinted>2013-09-10T17:57:57Z</cp:lastPrinted>
  <dcterms:created xsi:type="dcterms:W3CDTF">2011-01-13T23:43:38Z</dcterms:created>
  <dcterms:modified xsi:type="dcterms:W3CDTF">2025-10-24T00:59:28Z</dcterms:modified>
</cp:coreProperties>
</file>