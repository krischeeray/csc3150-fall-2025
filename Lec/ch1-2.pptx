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39"/>
  </p:notesMasterIdLst>
  <p:handoutMasterIdLst>
    <p:handoutMasterId r:id="rId40"/>
  </p:handoutMasterIdLst>
  <p:sldIdLst>
    <p:sldId id="330" r:id="rId2"/>
    <p:sldId id="377" r:id="rId3"/>
    <p:sldId id="378" r:id="rId4"/>
    <p:sldId id="379" r:id="rId5"/>
    <p:sldId id="366" r:id="rId6"/>
    <p:sldId id="407" r:id="rId7"/>
    <p:sldId id="380" r:id="rId8"/>
    <p:sldId id="381" r:id="rId9"/>
    <p:sldId id="435" r:id="rId10"/>
    <p:sldId id="384" r:id="rId11"/>
    <p:sldId id="385" r:id="rId12"/>
    <p:sldId id="391" r:id="rId13"/>
    <p:sldId id="409" r:id="rId14"/>
    <p:sldId id="400" r:id="rId15"/>
    <p:sldId id="434" r:id="rId16"/>
    <p:sldId id="367" r:id="rId17"/>
    <p:sldId id="369" r:id="rId18"/>
    <p:sldId id="370" r:id="rId19"/>
    <p:sldId id="414" r:id="rId20"/>
    <p:sldId id="371" r:id="rId21"/>
    <p:sldId id="372" r:id="rId22"/>
    <p:sldId id="416" r:id="rId23"/>
    <p:sldId id="386" r:id="rId24"/>
    <p:sldId id="432" r:id="rId25"/>
    <p:sldId id="398" r:id="rId26"/>
    <p:sldId id="389" r:id="rId27"/>
    <p:sldId id="390" r:id="rId28"/>
    <p:sldId id="401" r:id="rId29"/>
    <p:sldId id="431" r:id="rId30"/>
    <p:sldId id="402" r:id="rId31"/>
    <p:sldId id="387" r:id="rId32"/>
    <p:sldId id="392" r:id="rId33"/>
    <p:sldId id="412" r:id="rId34"/>
    <p:sldId id="394" r:id="rId35"/>
    <p:sldId id="395" r:id="rId36"/>
    <p:sldId id="396" r:id="rId37"/>
    <p:sldId id="331" r:id="rId38"/>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FFFFF"/>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33" autoAdjust="0"/>
    <p:restoredTop sz="94667"/>
  </p:normalViewPr>
  <p:slideViewPr>
    <p:cSldViewPr snapToGrid="0">
      <p:cViewPr varScale="1">
        <p:scale>
          <a:sx n="74" d="100"/>
          <a:sy n="74" d="100"/>
        </p:scale>
        <p:origin x="1369" y="69"/>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3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595120"/>
            <a:ext cx="8458200" cy="1356678"/>
          </a:xfrm>
          <a:noFill/>
        </p:spPr>
        <p:txBody>
          <a:bodyPr/>
          <a:lstStyle/>
          <a:p>
            <a:pPr eaLnBrk="1" hangingPunct="1"/>
            <a:r>
              <a:rPr lang="en-US" altLang="en-US" dirty="0"/>
              <a:t>Chapter 1 </a:t>
            </a:r>
            <a:r>
              <a:rPr lang="zh-CN" altLang="en-US"/>
              <a:t>： </a:t>
            </a:r>
            <a:r>
              <a:rPr lang="en-US" altLang="en-US"/>
              <a:t>Introduction </a:t>
            </a:r>
            <a:r>
              <a:rPr lang="en-US" altLang="en-US" dirty="0"/>
              <a:t>(2)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691117" y="887357"/>
            <a:ext cx="8165804" cy="5314660"/>
          </a:xfrm>
        </p:spPr>
        <p:txBody>
          <a:bodyPr/>
          <a:lstStyle/>
          <a:p>
            <a:pPr>
              <a:lnSpc>
                <a:spcPct val="90000"/>
              </a:lnSpc>
            </a:pPr>
            <a:r>
              <a:rPr lang="en-US" altLang="en-US" sz="2000" dirty="0">
                <a:latin typeface="+mn-ea"/>
                <a:ea typeface="+mn-ea"/>
              </a:rPr>
              <a:t>A process is a program in execution</a:t>
            </a:r>
          </a:p>
          <a:p>
            <a:pPr lvl="1">
              <a:lnSpc>
                <a:spcPct val="90000"/>
              </a:lnSpc>
            </a:pPr>
            <a:r>
              <a:rPr lang="en-US" altLang="en-US" sz="2000" dirty="0">
                <a:latin typeface="+mn-ea"/>
                <a:ea typeface="+mn-ea"/>
              </a:rPr>
              <a:t>Program is a </a:t>
            </a:r>
            <a:r>
              <a:rPr lang="en-US" altLang="en-US" sz="2000" b="1" i="1" dirty="0">
                <a:latin typeface="+mn-ea"/>
                <a:ea typeface="+mn-ea"/>
              </a:rPr>
              <a:t>passive entity</a:t>
            </a:r>
            <a:endParaRPr lang="en-US" altLang="en-US" sz="2000" dirty="0">
              <a:latin typeface="+mn-ea"/>
              <a:ea typeface="+mn-ea"/>
            </a:endParaRPr>
          </a:p>
          <a:p>
            <a:pPr lvl="1">
              <a:lnSpc>
                <a:spcPct val="90000"/>
              </a:lnSpc>
            </a:pPr>
            <a:r>
              <a:rPr lang="en-US" altLang="en-US" sz="2000" dirty="0">
                <a:latin typeface="+mn-ea"/>
                <a:ea typeface="+mn-ea"/>
              </a:rPr>
              <a:t>process is </a:t>
            </a:r>
            <a:r>
              <a:rPr lang="en-US" altLang="en-US" sz="2000" dirty="0">
                <a:solidFill>
                  <a:srgbClr val="000000"/>
                </a:solidFill>
                <a:latin typeface="+mn-ea"/>
                <a:ea typeface="+mn-ea"/>
              </a:rPr>
              <a:t>an </a:t>
            </a:r>
            <a:r>
              <a:rPr lang="en-US" altLang="en-US" sz="2000" b="1" i="1" dirty="0">
                <a:solidFill>
                  <a:srgbClr val="000000"/>
                </a:solidFill>
                <a:latin typeface="+mn-ea"/>
                <a:ea typeface="+mn-ea"/>
              </a:rPr>
              <a:t>active entity</a:t>
            </a:r>
            <a:endParaRPr lang="en-US" altLang="en-US" sz="2000" dirty="0">
              <a:latin typeface="+mn-ea"/>
              <a:ea typeface="+mn-ea"/>
            </a:endParaRPr>
          </a:p>
          <a:p>
            <a:pPr>
              <a:lnSpc>
                <a:spcPct val="90000"/>
              </a:lnSpc>
            </a:pPr>
            <a:r>
              <a:rPr lang="en-US" altLang="en-US" sz="2000" dirty="0">
                <a:latin typeface="+mn-ea"/>
                <a:ea typeface="+mn-ea"/>
              </a:rPr>
              <a:t>Process needs resources to accomplish its task</a:t>
            </a:r>
          </a:p>
          <a:p>
            <a:pPr lvl="1">
              <a:lnSpc>
                <a:spcPct val="90000"/>
              </a:lnSpc>
            </a:pPr>
            <a:r>
              <a:rPr lang="en-US" altLang="en-US" dirty="0">
                <a:latin typeface="+mn-ea"/>
                <a:ea typeface="+mn-ea"/>
              </a:rPr>
              <a:t>CPU, memory, I/O, files, etc.</a:t>
            </a:r>
          </a:p>
          <a:p>
            <a:pPr lvl="1">
              <a:lnSpc>
                <a:spcPct val="90000"/>
              </a:lnSpc>
            </a:pPr>
            <a:r>
              <a:rPr lang="en-US" altLang="en-US" dirty="0">
                <a:latin typeface="+mn-ea"/>
                <a:ea typeface="+mn-ea"/>
              </a:rPr>
              <a:t>Initialization data</a:t>
            </a:r>
          </a:p>
          <a:p>
            <a:pPr>
              <a:lnSpc>
                <a:spcPct val="90000"/>
              </a:lnSpc>
            </a:pPr>
            <a:r>
              <a:rPr lang="en-US" altLang="en-US" sz="2000" dirty="0">
                <a:latin typeface="+mn-ea"/>
                <a:ea typeface="+mn-ea"/>
              </a:rPr>
              <a:t>Process termination requires reclaim of any reusable resources</a:t>
            </a:r>
          </a:p>
          <a:p>
            <a:pPr>
              <a:lnSpc>
                <a:spcPct val="90000"/>
              </a:lnSpc>
            </a:pPr>
            <a:r>
              <a:rPr lang="en-US" altLang="en-US" sz="2000" dirty="0">
                <a:latin typeface="+mn-ea"/>
                <a:ea typeface="+mn-ea"/>
              </a:rPr>
              <a:t>Single-threaded process has one </a:t>
            </a:r>
            <a:r>
              <a:rPr lang="en-US" altLang="en-US" sz="2000" b="1" dirty="0">
                <a:solidFill>
                  <a:srgbClr val="006699"/>
                </a:solidFill>
                <a:latin typeface="+mn-ea"/>
                <a:ea typeface="+mn-ea"/>
              </a:rPr>
              <a:t>program counter </a:t>
            </a:r>
            <a:r>
              <a:rPr lang="en-US" altLang="en-US" sz="2000" dirty="0">
                <a:latin typeface="+mn-ea"/>
                <a:ea typeface="+mn-ea"/>
              </a:rPr>
              <a:t>specifying location of next instruction to execute</a:t>
            </a:r>
          </a:p>
          <a:p>
            <a:pPr lvl="1">
              <a:lnSpc>
                <a:spcPct val="90000"/>
              </a:lnSpc>
            </a:pPr>
            <a:r>
              <a:rPr lang="en-US" altLang="en-US" dirty="0">
                <a:latin typeface="+mn-ea"/>
                <a:ea typeface="+mn-ea"/>
              </a:rPr>
              <a:t>Process executes instructions sequentially, one at a time, until completion</a:t>
            </a:r>
          </a:p>
          <a:p>
            <a:pPr>
              <a:lnSpc>
                <a:spcPct val="90000"/>
              </a:lnSpc>
            </a:pPr>
            <a:r>
              <a:rPr lang="en-US" altLang="en-US" sz="2000" dirty="0">
                <a:latin typeface="+mn-ea"/>
                <a:ea typeface="+mn-ea"/>
              </a:rPr>
              <a:t>Multi-threaded process has one program counter per thread</a:t>
            </a:r>
          </a:p>
          <a:p>
            <a:pPr>
              <a:lnSpc>
                <a:spcPct val="90000"/>
              </a:lnSpc>
            </a:pPr>
            <a:r>
              <a:rPr lang="en-US" altLang="en-US" sz="2000" dirty="0">
                <a:latin typeface="+mn-ea"/>
                <a:ea typeface="+mn-ea"/>
              </a:rPr>
              <a:t>Typically system has many processes, some users, some operating systems running concurrently on one or more CPUs</a:t>
            </a:r>
          </a:p>
          <a:p>
            <a:pPr lvl="1">
              <a:lnSpc>
                <a:spcPct val="90000"/>
              </a:lnSpc>
            </a:pPr>
            <a:r>
              <a:rPr lang="en-US" altLang="en-US" dirty="0">
                <a:latin typeface="+mn-ea"/>
                <a:ea typeface="+mn-ea"/>
              </a:rPr>
              <a:t>Concurrency by multiplexing the CPUs among the processes/threads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010093"/>
            <a:ext cx="7670800" cy="3072810"/>
          </a:xfrm>
        </p:spPr>
        <p:txBody>
          <a:bodyPr/>
          <a:lstStyle/>
          <a:p>
            <a:r>
              <a:rPr kumimoji="0" lang="en-US" altLang="en-US" sz="2000" dirty="0"/>
              <a:t>The operating system is responsible for the following activities in connection with process management</a:t>
            </a:r>
          </a:p>
          <a:p>
            <a:pPr lvl="1"/>
            <a:r>
              <a:rPr lang="en-US" altLang="en-US" dirty="0"/>
              <a:t>Creating and deleting both user and system processes</a:t>
            </a:r>
          </a:p>
          <a:p>
            <a:pPr lvl="1"/>
            <a:r>
              <a:rPr lang="en-US" altLang="en-US" dirty="0"/>
              <a:t>Suspending and resuming processes</a:t>
            </a:r>
          </a:p>
          <a:p>
            <a:pPr lvl="1"/>
            <a:r>
              <a:rPr lang="en-US" altLang="en-US" dirty="0"/>
              <a:t>Providing mechanisms for process synchronization</a:t>
            </a:r>
          </a:p>
          <a:p>
            <a:pPr lvl="1"/>
            <a:r>
              <a:rPr lang="en-US" altLang="en-US" dirty="0"/>
              <a:t>Providing mechanisms for process communication</a:t>
            </a:r>
          </a:p>
          <a:p>
            <a:pPr lvl="1"/>
            <a:r>
              <a:rPr lang="en-US" altLang="en-US" dirty="0"/>
              <a:t>Providing mechanisms for deadlock handling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700124" y="1163637"/>
            <a:ext cx="8018574" cy="4650754"/>
          </a:xfrm>
        </p:spPr>
        <p:txBody>
          <a:bodyPr/>
          <a:lstStyle/>
          <a:p>
            <a:r>
              <a:rPr lang="en-US" altLang="en-US" sz="2000" dirty="0"/>
              <a:t>To execute a program all (or part) of the instructions must be in memory</a:t>
            </a:r>
          </a:p>
          <a:p>
            <a:r>
              <a:rPr lang="en-US" altLang="en-US" sz="2000" dirty="0"/>
              <a:t>All  (or part) of the data that is needed by the program must be in memory</a:t>
            </a:r>
          </a:p>
          <a:p>
            <a:r>
              <a:rPr lang="en-US" altLang="en-US" sz="2000" dirty="0"/>
              <a:t>Memory management determines what is in memory and when</a:t>
            </a:r>
          </a:p>
          <a:p>
            <a:pPr lvl="1"/>
            <a:r>
              <a:rPr lang="en-US" altLang="en-US" dirty="0"/>
              <a:t>Optimizing CPU utilization and computer response to users</a:t>
            </a:r>
          </a:p>
          <a:p>
            <a:r>
              <a:rPr lang="en-US" altLang="en-US" sz="2000" dirty="0"/>
              <a:t>Memory management activities</a:t>
            </a:r>
          </a:p>
          <a:p>
            <a:pPr lvl="1"/>
            <a:r>
              <a:rPr lang="en-US" altLang="en-US" dirty="0"/>
              <a:t>Keeping track of which parts of memory are currently being used and by whom</a:t>
            </a:r>
          </a:p>
          <a:p>
            <a:pPr lvl="1"/>
            <a:r>
              <a:rPr lang="en-US" altLang="en-US" dirty="0"/>
              <a:t>Deciding which processes (or parts thereof) and data to move into and out of memory</a:t>
            </a:r>
          </a:p>
          <a:p>
            <a:pPr lvl="1"/>
            <a:r>
              <a:rPr lang="en-US" altLang="en-US" dirty="0"/>
              <a:t>Allocating and deallocating memory space as needed</a:t>
            </a:r>
          </a:p>
          <a:p>
            <a:pPr lvl="1">
              <a:buFont typeface="Monotype Sorts" pitchFamily="-84" charset="2"/>
              <a:buNone/>
            </a:pPr>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8" y="1052623"/>
            <a:ext cx="7651749" cy="4115725"/>
          </a:xfrm>
        </p:spPr>
        <p:txBody>
          <a:bodyPr/>
          <a:lstStyle/>
          <a:p>
            <a:r>
              <a:rPr lang="en-US" altLang="en-US" sz="2000" dirty="0"/>
              <a:t>Important principle, performed at many levels in a computer (in hardware, operating system, software)</a:t>
            </a:r>
          </a:p>
          <a:p>
            <a:r>
              <a:rPr lang="en-US" altLang="en-US" sz="2000" dirty="0"/>
              <a:t>Information in use copied from slower to faster storage temporarily</a:t>
            </a:r>
          </a:p>
          <a:p>
            <a:r>
              <a:rPr lang="en-US" altLang="en-US" sz="2000"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p>
          <a:p>
            <a:r>
              <a:rPr lang="en-US" altLang="en-US" sz="2000" dirty="0"/>
              <a:t>Cache smaller than storage being cached</a:t>
            </a:r>
          </a:p>
          <a:p>
            <a:pPr lvl="1"/>
            <a:r>
              <a:rPr lang="en-US" altLang="en-US" dirty="0"/>
              <a:t>Cache management important design problem</a:t>
            </a:r>
          </a:p>
          <a:p>
            <a:pPr lvl="1"/>
            <a:r>
              <a:rPr lang="en-US" altLang="en-US" dirty="0"/>
              <a:t>Cache size and replacement policy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137690"/>
            <a:ext cx="7597321" cy="4316818"/>
          </a:xfrm>
        </p:spPr>
        <p:txBody>
          <a:bodyPr/>
          <a:lstStyle/>
          <a:p>
            <a:r>
              <a:rPr lang="en-US" altLang="en-US" sz="2000" dirty="0">
                <a:latin typeface="+mn-ea"/>
                <a:ea typeface="+mn-ea"/>
              </a:rPr>
              <a:t>Multitasking environments must be careful to use most recent value, no matter where it is stored in the storage hierarchy</a:t>
            </a:r>
            <a:br>
              <a:rPr lang="en-US" altLang="en-US" sz="2000" dirty="0">
                <a:latin typeface="+mn-ea"/>
                <a:ea typeface="+mn-ea"/>
              </a:rPr>
            </a:br>
            <a:br>
              <a:rPr lang="en-US" altLang="en-US" sz="2000" dirty="0">
                <a:latin typeface="+mn-ea"/>
                <a:ea typeface="+mn-ea"/>
              </a:rPr>
            </a:br>
            <a:br>
              <a:rPr lang="en-US" altLang="en-US" sz="2000" dirty="0">
                <a:latin typeface="+mn-ea"/>
                <a:ea typeface="+mn-ea"/>
              </a:rPr>
            </a:br>
            <a:br>
              <a:rPr lang="en-US" altLang="en-US" sz="2000" dirty="0">
                <a:latin typeface="+mn-ea"/>
                <a:ea typeface="+mn-ea"/>
              </a:rPr>
            </a:br>
            <a:endParaRPr lang="en-US" altLang="en-US" sz="2000" dirty="0">
              <a:latin typeface="+mn-ea"/>
              <a:ea typeface="+mn-ea"/>
            </a:endParaRPr>
          </a:p>
          <a:p>
            <a:r>
              <a:rPr lang="en-US" altLang="en-US" sz="2000" dirty="0">
                <a:latin typeface="+mn-ea"/>
                <a:ea typeface="+mn-ea"/>
              </a:rPr>
              <a:t>Multiprocessor environment must provide </a:t>
            </a:r>
            <a:r>
              <a:rPr lang="en-US" altLang="en-US" sz="2000" b="1" dirty="0">
                <a:solidFill>
                  <a:srgbClr val="006699"/>
                </a:solidFill>
                <a:latin typeface="+mn-ea"/>
                <a:ea typeface="+mn-ea"/>
              </a:rPr>
              <a:t>cache coherency </a:t>
            </a:r>
            <a:r>
              <a:rPr lang="en-US" altLang="en-US" sz="2000" dirty="0">
                <a:latin typeface="+mn-ea"/>
                <a:ea typeface="+mn-ea"/>
              </a:rPr>
              <a:t>in hardware such that all CPUs have the most recent value in their cache</a:t>
            </a:r>
          </a:p>
          <a:p>
            <a:r>
              <a:rPr lang="en-US" altLang="en-US" sz="2000" dirty="0">
                <a:latin typeface="+mn-ea"/>
                <a:ea typeface="+mn-ea"/>
              </a:rPr>
              <a:t>Distributed environment situation even more complex</a:t>
            </a:r>
          </a:p>
          <a:p>
            <a:pPr lvl="1"/>
            <a:r>
              <a:rPr lang="en-US" altLang="en-US" dirty="0">
                <a:latin typeface="+mn-ea"/>
                <a:ea typeface="+mn-ea"/>
              </a:rPr>
              <a:t>Several copies of a datum can exist</a:t>
            </a:r>
          </a:p>
          <a:p>
            <a:pPr lvl="1"/>
            <a:r>
              <a:rPr lang="en-US" altLang="en-US" dirty="0">
                <a:latin typeface="+mn-ea"/>
                <a:ea typeface="+mn-ea"/>
              </a:rPr>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dirty="0"/>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sz="2000" dirty="0">
                <a:latin typeface="+mn-ea"/>
                <a:ea typeface="+mn-ea"/>
              </a:rPr>
              <a:t>OS provides uniform, logical view of information storage</a:t>
            </a:r>
          </a:p>
          <a:p>
            <a:pPr lvl="1">
              <a:lnSpc>
                <a:spcPct val="90000"/>
              </a:lnSpc>
            </a:pPr>
            <a:r>
              <a:rPr lang="en-US" altLang="en-US" dirty="0">
                <a:latin typeface="+mn-ea"/>
                <a:ea typeface="+mn-ea"/>
              </a:rPr>
              <a:t>Abstracts physical properties to logical storage unit  - </a:t>
            </a:r>
            <a:r>
              <a:rPr lang="en-US" altLang="en-US" b="1" dirty="0">
                <a:solidFill>
                  <a:srgbClr val="006699"/>
                </a:solidFill>
                <a:latin typeface="+mn-ea"/>
                <a:ea typeface="+mn-ea"/>
              </a:rPr>
              <a:t>file</a:t>
            </a:r>
          </a:p>
          <a:p>
            <a:pPr lvl="1">
              <a:lnSpc>
                <a:spcPct val="90000"/>
              </a:lnSpc>
            </a:pPr>
            <a:r>
              <a:rPr lang="en-US" altLang="en-US" dirty="0">
                <a:latin typeface="+mn-ea"/>
                <a:ea typeface="+mn-ea"/>
              </a:rPr>
              <a:t>Each medium is controlled by device (i.e., disk drive, tape drive)</a:t>
            </a:r>
          </a:p>
          <a:p>
            <a:pPr lvl="2">
              <a:lnSpc>
                <a:spcPct val="90000"/>
              </a:lnSpc>
            </a:pPr>
            <a:r>
              <a:rPr lang="en-US" altLang="en-US" dirty="0">
                <a:latin typeface="+mn-ea"/>
                <a:ea typeface="+mn-ea"/>
              </a:rPr>
              <a:t>Varying properties include access speed, capacity, data-transfer rate, access method (sequential or random)</a:t>
            </a:r>
          </a:p>
          <a:p>
            <a:pPr lvl="2">
              <a:lnSpc>
                <a:spcPct val="90000"/>
              </a:lnSpc>
            </a:pPr>
            <a:endParaRPr lang="en-US" altLang="en-US" sz="800" dirty="0">
              <a:latin typeface="+mn-ea"/>
              <a:ea typeface="+mn-ea"/>
            </a:endParaRPr>
          </a:p>
          <a:p>
            <a:pPr>
              <a:lnSpc>
                <a:spcPct val="90000"/>
              </a:lnSpc>
            </a:pPr>
            <a:r>
              <a:rPr lang="en-US" altLang="en-US" sz="2000" dirty="0">
                <a:latin typeface="+mn-ea"/>
                <a:ea typeface="+mn-ea"/>
              </a:rPr>
              <a:t>File-System management</a:t>
            </a:r>
          </a:p>
          <a:p>
            <a:pPr lvl="1">
              <a:lnSpc>
                <a:spcPct val="90000"/>
              </a:lnSpc>
            </a:pPr>
            <a:r>
              <a:rPr lang="en-US" altLang="en-US" dirty="0">
                <a:latin typeface="+mn-ea"/>
                <a:ea typeface="+mn-ea"/>
              </a:rPr>
              <a:t>Files usually organized into directories</a:t>
            </a:r>
          </a:p>
          <a:p>
            <a:pPr lvl="1">
              <a:lnSpc>
                <a:spcPct val="90000"/>
              </a:lnSpc>
            </a:pPr>
            <a:r>
              <a:rPr lang="en-US" altLang="en-US" dirty="0">
                <a:latin typeface="+mn-ea"/>
                <a:ea typeface="+mn-ea"/>
              </a:rPr>
              <a:t>Access control on most systems to determine who can access what</a:t>
            </a:r>
          </a:p>
          <a:p>
            <a:pPr lvl="1">
              <a:lnSpc>
                <a:spcPct val="90000"/>
              </a:lnSpc>
            </a:pPr>
            <a:r>
              <a:rPr lang="en-US" altLang="en-US" dirty="0">
                <a:latin typeface="+mn-ea"/>
                <a:ea typeface="+mn-ea"/>
              </a:rPr>
              <a:t>OS activities include</a:t>
            </a:r>
          </a:p>
          <a:p>
            <a:pPr lvl="2">
              <a:lnSpc>
                <a:spcPct val="90000"/>
              </a:lnSpc>
            </a:pPr>
            <a:r>
              <a:rPr lang="en-US" altLang="en-US" dirty="0">
                <a:latin typeface="+mn-ea"/>
                <a:ea typeface="+mn-ea"/>
              </a:rPr>
              <a:t>Creating and deleting files and directories</a:t>
            </a:r>
          </a:p>
          <a:p>
            <a:pPr lvl="2">
              <a:lnSpc>
                <a:spcPct val="90000"/>
              </a:lnSpc>
            </a:pPr>
            <a:r>
              <a:rPr lang="en-US" altLang="en-US" dirty="0">
                <a:latin typeface="+mn-ea"/>
                <a:ea typeface="+mn-ea"/>
              </a:rPr>
              <a:t>Primitives to manipulate files and directories</a:t>
            </a:r>
          </a:p>
          <a:p>
            <a:pPr lvl="2">
              <a:lnSpc>
                <a:spcPct val="90000"/>
              </a:lnSpc>
            </a:pPr>
            <a:r>
              <a:rPr lang="en-US" altLang="en-US" dirty="0">
                <a:latin typeface="+mn-ea"/>
                <a:ea typeface="+mn-ea"/>
              </a:rPr>
              <a:t>Mapping files onto secondary storage</a:t>
            </a:r>
          </a:p>
          <a:p>
            <a:pPr lvl="2">
              <a:lnSpc>
                <a:spcPct val="90000"/>
              </a:lnSpc>
            </a:pPr>
            <a:r>
              <a:rPr lang="en-US" altLang="en-US" dirty="0">
                <a:latin typeface="+mn-ea"/>
                <a:ea typeface="+mn-ea"/>
              </a:rPr>
              <a:t>Backup files onto stable (non-volatile) storage media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707312" cy="4658091"/>
          </a:xfrm>
        </p:spPr>
        <p:txBody>
          <a:bodyPr/>
          <a:lstStyle/>
          <a:p>
            <a:r>
              <a:rPr lang="en-US" altLang="en-US" sz="2000" dirty="0">
                <a:latin typeface="+mn-ea"/>
                <a:ea typeface="+mn-ea"/>
              </a:rPr>
              <a:t>In general, disks used to store data that does not fit in main memory or data that must be kept for a </a:t>
            </a:r>
            <a:r>
              <a:rPr lang="ja-JP" altLang="en-US" sz="2000" dirty="0">
                <a:latin typeface="+mn-ea"/>
                <a:ea typeface="+mn-ea"/>
              </a:rPr>
              <a:t>“</a:t>
            </a:r>
            <a:r>
              <a:rPr lang="en-US" altLang="ja-JP" sz="2000" dirty="0">
                <a:latin typeface="+mn-ea"/>
                <a:ea typeface="+mn-ea"/>
              </a:rPr>
              <a:t>long</a:t>
            </a:r>
            <a:r>
              <a:rPr lang="ja-JP" altLang="en-US" sz="2000" dirty="0">
                <a:latin typeface="+mn-ea"/>
                <a:ea typeface="+mn-ea"/>
              </a:rPr>
              <a:t>”</a:t>
            </a:r>
            <a:r>
              <a:rPr lang="en-US" altLang="ja-JP" sz="2000" dirty="0">
                <a:latin typeface="+mn-ea"/>
                <a:ea typeface="+mn-ea"/>
              </a:rPr>
              <a:t> period of time</a:t>
            </a:r>
          </a:p>
          <a:p>
            <a:r>
              <a:rPr lang="en-US" altLang="en-US" sz="2000" dirty="0">
                <a:latin typeface="+mn-ea"/>
                <a:ea typeface="+mn-ea"/>
              </a:rPr>
              <a:t>Proper management is of central importance</a:t>
            </a:r>
          </a:p>
          <a:p>
            <a:r>
              <a:rPr lang="en-US" altLang="en-US" sz="2000" dirty="0">
                <a:latin typeface="+mn-ea"/>
                <a:ea typeface="+mn-ea"/>
              </a:rPr>
              <a:t>Entire speed of computer operation hinges on disk subsystem and its algorithms</a:t>
            </a:r>
          </a:p>
          <a:p>
            <a:r>
              <a:rPr lang="en-US" altLang="en-US" sz="2000" dirty="0">
                <a:latin typeface="+mn-ea"/>
                <a:ea typeface="+mn-ea"/>
              </a:rPr>
              <a:t>OS activities</a:t>
            </a:r>
          </a:p>
          <a:p>
            <a:pPr lvl="1"/>
            <a:r>
              <a:rPr lang="en-US" altLang="en-US" dirty="0">
                <a:latin typeface="+mn-ea"/>
                <a:ea typeface="+mn-ea"/>
              </a:rPr>
              <a:t>Mounting and unmounting</a:t>
            </a:r>
          </a:p>
          <a:p>
            <a:pPr lvl="1"/>
            <a:r>
              <a:rPr lang="en-US" altLang="en-US" dirty="0">
                <a:latin typeface="+mn-ea"/>
                <a:ea typeface="+mn-ea"/>
              </a:rPr>
              <a:t>Free-space management</a:t>
            </a:r>
          </a:p>
          <a:p>
            <a:pPr lvl="1"/>
            <a:r>
              <a:rPr lang="en-US" altLang="en-US" dirty="0">
                <a:latin typeface="+mn-ea"/>
                <a:ea typeface="+mn-ea"/>
              </a:rPr>
              <a:t>Storage allocation</a:t>
            </a:r>
          </a:p>
          <a:p>
            <a:pPr lvl="1"/>
            <a:r>
              <a:rPr lang="en-US" altLang="en-US" dirty="0">
                <a:latin typeface="+mn-ea"/>
                <a:ea typeface="+mn-ea"/>
              </a:rPr>
              <a:t>Disk scheduling</a:t>
            </a:r>
          </a:p>
          <a:p>
            <a:pPr lvl="1"/>
            <a:r>
              <a:rPr lang="en-US" altLang="en-US" dirty="0">
                <a:latin typeface="+mn-ea"/>
                <a:ea typeface="+mn-ea"/>
              </a:rPr>
              <a:t>Partitioning</a:t>
            </a:r>
          </a:p>
          <a:p>
            <a:pPr lvl="1"/>
            <a:r>
              <a:rPr lang="en-US" altLang="en-US" dirty="0">
                <a:latin typeface="+mn-ea"/>
                <a:ea typeface="+mn-ea"/>
              </a:rPr>
              <a:t>Protection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687"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931452"/>
            <a:ext cx="7686675" cy="4530725"/>
          </a:xfrm>
        </p:spPr>
        <p:txBody>
          <a:bodyPr/>
          <a:lstStyle/>
          <a:p>
            <a:r>
              <a:rPr lang="en-US" altLang="en-US" sz="2000" dirty="0"/>
              <a:t>One purpose of OS is to hide peculiarities of hardware devices from the user</a:t>
            </a:r>
          </a:p>
          <a:p>
            <a:r>
              <a:rPr lang="en-US" altLang="en-US" sz="2000" dirty="0"/>
              <a:t>I/O subsystem responsible for</a:t>
            </a:r>
          </a:p>
          <a:p>
            <a:pPr lvl="1"/>
            <a:r>
              <a:rPr lang="en-US" altLang="en-US"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dirty="0"/>
              <a:t>General device-driver interface</a:t>
            </a:r>
          </a:p>
          <a:p>
            <a:pPr lvl="1"/>
            <a:r>
              <a:rPr lang="en-US" altLang="en-US" dirty="0"/>
              <a:t>Drivers for specific hardware devices</a:t>
            </a:r>
          </a:p>
        </p:txBody>
      </p:sp>
      <p:pic>
        <p:nvPicPr>
          <p:cNvPr id="2" name="Picture 2">
            <a:extLst>
              <a:ext uri="{FF2B5EF4-FFF2-40B4-BE49-F238E27FC236}">
                <a16:creationId xmlns:a16="http://schemas.microsoft.com/office/drawing/2014/main" id="{C2F20550-0F2B-E968-5D61-3EDC7BF173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8118" y="4091875"/>
            <a:ext cx="4567763" cy="2227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776178" y="1064525"/>
            <a:ext cx="7889358" cy="4912131"/>
          </a:xfrm>
        </p:spPr>
        <p:txBody>
          <a:bodyPr/>
          <a:lstStyle/>
          <a:p>
            <a:pPr>
              <a:lnSpc>
                <a:spcPct val="90000"/>
              </a:lnSpc>
            </a:pPr>
            <a:r>
              <a:rPr lang="en-US" altLang="en-US" sz="2000" b="1" dirty="0">
                <a:solidFill>
                  <a:srgbClr val="006699"/>
                </a:solidFill>
                <a:latin typeface="+mj-lt"/>
              </a:rPr>
              <a:t>Protection</a:t>
            </a:r>
            <a:r>
              <a:rPr lang="en-US" altLang="en-US" sz="2000" b="1" dirty="0">
                <a:solidFill>
                  <a:srgbClr val="3366FF"/>
                </a:solidFill>
              </a:rPr>
              <a:t> </a:t>
            </a:r>
            <a:r>
              <a:rPr lang="en-US" altLang="en-US" sz="2000" dirty="0"/>
              <a:t>– any mechanism for controlling access of processes or users to resources defined by the OS</a:t>
            </a:r>
          </a:p>
          <a:p>
            <a:pPr>
              <a:lnSpc>
                <a:spcPct val="90000"/>
              </a:lnSpc>
            </a:pPr>
            <a:r>
              <a:rPr lang="en-US" altLang="en-US" sz="2000" b="1" dirty="0">
                <a:solidFill>
                  <a:srgbClr val="006699"/>
                </a:solidFill>
                <a:latin typeface="+mj-lt"/>
              </a:rPr>
              <a:t>Security</a:t>
            </a:r>
            <a:r>
              <a:rPr lang="en-US" altLang="en-US" sz="2000" b="1" dirty="0">
                <a:solidFill>
                  <a:srgbClr val="3366FF"/>
                </a:solidFill>
              </a:rPr>
              <a:t> </a:t>
            </a:r>
            <a:r>
              <a:rPr lang="en-US" altLang="en-US" sz="2000"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sz="2000"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dirty="0"/>
              <a:t>Virtualization (1)</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063256"/>
            <a:ext cx="7740650" cy="4348716"/>
          </a:xfrm>
        </p:spPr>
        <p:txBody>
          <a:bodyPr/>
          <a:lstStyle/>
          <a:p>
            <a:r>
              <a:rPr lang="en-US" altLang="en-US" sz="2000" dirty="0">
                <a:latin typeface="+mn-ea"/>
                <a:ea typeface="+mn-ea"/>
              </a:rPr>
              <a:t>Allows operating systems to run applications within other OSes</a:t>
            </a:r>
          </a:p>
          <a:p>
            <a:pPr lvl="1"/>
            <a:r>
              <a:rPr lang="en-US" altLang="en-US" dirty="0">
                <a:latin typeface="+mn-ea"/>
                <a:ea typeface="+mn-ea"/>
              </a:rPr>
              <a:t>Vast and growing industry</a:t>
            </a:r>
            <a:endParaRPr lang="en-US" altLang="en-US" sz="800" dirty="0">
              <a:latin typeface="+mn-ea"/>
              <a:ea typeface="+mn-ea"/>
            </a:endParaRPr>
          </a:p>
          <a:p>
            <a:r>
              <a:rPr lang="en-US" altLang="en-US" sz="2000" b="1" dirty="0">
                <a:solidFill>
                  <a:srgbClr val="006699"/>
                </a:solidFill>
                <a:latin typeface="+mn-ea"/>
                <a:ea typeface="+mn-ea"/>
              </a:rPr>
              <a:t>Emulation</a:t>
            </a:r>
            <a:r>
              <a:rPr lang="en-US" altLang="en-US" sz="2000" dirty="0">
                <a:latin typeface="+mn-ea"/>
                <a:ea typeface="+mn-ea"/>
              </a:rPr>
              <a:t> used when source CPU type different from target type (i.e. PowerPC to Intel x86)</a:t>
            </a:r>
          </a:p>
          <a:p>
            <a:pPr lvl="1"/>
            <a:r>
              <a:rPr lang="en-US" altLang="en-US" dirty="0">
                <a:latin typeface="+mn-ea"/>
                <a:ea typeface="+mn-ea"/>
              </a:rPr>
              <a:t>Generally slowest method</a:t>
            </a:r>
          </a:p>
          <a:p>
            <a:pPr lvl="1"/>
            <a:r>
              <a:rPr lang="en-US" altLang="en-US" dirty="0">
                <a:latin typeface="+mn-ea"/>
                <a:ea typeface="+mn-ea"/>
              </a:rPr>
              <a:t>When computer language not compiled to native code – </a:t>
            </a:r>
            <a:r>
              <a:rPr lang="en-US" altLang="en-US" b="1" dirty="0">
                <a:solidFill>
                  <a:srgbClr val="006699"/>
                </a:solidFill>
                <a:latin typeface="+mn-ea"/>
                <a:ea typeface="+mn-ea"/>
              </a:rPr>
              <a:t>Interpretation</a:t>
            </a:r>
          </a:p>
          <a:p>
            <a:r>
              <a:rPr lang="en-US" altLang="en-US" sz="2000" b="1" dirty="0">
                <a:solidFill>
                  <a:srgbClr val="006699"/>
                </a:solidFill>
                <a:latin typeface="+mn-ea"/>
                <a:ea typeface="+mn-ea"/>
              </a:rPr>
              <a:t>Virtualization</a:t>
            </a:r>
            <a:r>
              <a:rPr lang="en-US" altLang="en-US" sz="2000" dirty="0">
                <a:latin typeface="+mn-ea"/>
                <a:ea typeface="+mn-ea"/>
              </a:rPr>
              <a:t> – OS natively compiled for CPU, running </a:t>
            </a:r>
            <a:r>
              <a:rPr lang="en-US" altLang="en-US" sz="2000" b="1" dirty="0">
                <a:solidFill>
                  <a:srgbClr val="006699"/>
                </a:solidFill>
                <a:latin typeface="+mn-ea"/>
                <a:ea typeface="+mn-ea"/>
              </a:rPr>
              <a:t>guest</a:t>
            </a:r>
            <a:r>
              <a:rPr lang="en-US" altLang="en-US" sz="2000" dirty="0">
                <a:latin typeface="+mn-ea"/>
                <a:ea typeface="+mn-ea"/>
              </a:rPr>
              <a:t> OSes  also natively compiled </a:t>
            </a:r>
          </a:p>
          <a:p>
            <a:pPr lvl="1"/>
            <a:r>
              <a:rPr lang="en-US" altLang="en-US" dirty="0">
                <a:latin typeface="+mn-ea"/>
                <a:ea typeface="+mn-ea"/>
              </a:rPr>
              <a:t>Consider VMware running WinXP guests, each running applications, all on native WinXP </a:t>
            </a:r>
            <a:r>
              <a:rPr lang="en-US" altLang="en-US" b="1" dirty="0">
                <a:solidFill>
                  <a:srgbClr val="006699"/>
                </a:solidFill>
                <a:latin typeface="+mn-ea"/>
                <a:ea typeface="+mn-ea"/>
              </a:rPr>
              <a:t>host </a:t>
            </a:r>
            <a:r>
              <a:rPr lang="en-US" altLang="en-US" dirty="0">
                <a:latin typeface="+mn-ea"/>
                <a:ea typeface="+mn-ea"/>
              </a:rPr>
              <a:t>OS</a:t>
            </a:r>
          </a:p>
          <a:p>
            <a:pPr lvl="1"/>
            <a:r>
              <a:rPr lang="en-US" altLang="en-US" b="1" dirty="0">
                <a:solidFill>
                  <a:srgbClr val="006699"/>
                </a:solidFill>
                <a:latin typeface="+mn-ea"/>
                <a:ea typeface="+mn-ea"/>
              </a:rPr>
              <a:t>VMM</a:t>
            </a:r>
            <a:r>
              <a:rPr lang="en-US" altLang="en-US" dirty="0">
                <a:latin typeface="+mn-ea"/>
                <a:ea typeface="+mn-ea"/>
              </a:rPr>
              <a:t> (virtual machine Manager) provides virtualization services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dirty="0"/>
              <a:t>Virtualization (2)</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393402" y="1148316"/>
            <a:ext cx="8601741" cy="3221665"/>
          </a:xfrm>
        </p:spPr>
        <p:txBody>
          <a:bodyPr/>
          <a:lstStyle/>
          <a:p>
            <a:r>
              <a:rPr lang="en-US" altLang="en-US" sz="2000"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sz="2000"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727950" cy="4255977"/>
          </a:xfrm>
        </p:spPr>
        <p:txBody>
          <a:bodyPr/>
          <a:lstStyle/>
          <a:p>
            <a:r>
              <a:rPr lang="en-US" altLang="en-US" sz="2000" dirty="0">
                <a:latin typeface="+mn-ea"/>
                <a:ea typeface="+mn-ea"/>
              </a:rPr>
              <a:t>Collection of separate, possibly heterogeneous, systems networked together</a:t>
            </a:r>
          </a:p>
          <a:p>
            <a:pPr lvl="1"/>
            <a:r>
              <a:rPr lang="en-US" altLang="en-US" b="1" dirty="0">
                <a:solidFill>
                  <a:srgbClr val="006699"/>
                </a:solidFill>
                <a:latin typeface="+mn-ea"/>
                <a:ea typeface="+mn-ea"/>
              </a:rPr>
              <a:t>Network</a:t>
            </a:r>
            <a:r>
              <a:rPr lang="en-US" altLang="en-US" dirty="0">
                <a:latin typeface="+mn-ea"/>
                <a:ea typeface="+mn-ea"/>
              </a:rPr>
              <a:t> is a communications path, </a:t>
            </a:r>
            <a:r>
              <a:rPr lang="en-US" altLang="en-US" b="1" dirty="0">
                <a:solidFill>
                  <a:srgbClr val="006699"/>
                </a:solidFill>
                <a:latin typeface="+mn-ea"/>
                <a:ea typeface="+mn-ea"/>
              </a:rPr>
              <a:t>TCP/IP </a:t>
            </a:r>
            <a:r>
              <a:rPr lang="en-US" altLang="en-US" dirty="0">
                <a:latin typeface="+mn-ea"/>
                <a:ea typeface="+mn-ea"/>
              </a:rPr>
              <a:t>most common</a:t>
            </a:r>
          </a:p>
          <a:p>
            <a:pPr lvl="2"/>
            <a:r>
              <a:rPr lang="en-US" altLang="en-US" b="1" dirty="0">
                <a:solidFill>
                  <a:srgbClr val="006699"/>
                </a:solidFill>
                <a:latin typeface="+mn-ea"/>
                <a:ea typeface="+mn-ea"/>
              </a:rPr>
              <a:t>Local Area Network </a:t>
            </a:r>
            <a:r>
              <a:rPr lang="en-US" altLang="en-US" dirty="0">
                <a:latin typeface="+mn-ea"/>
                <a:ea typeface="+mn-ea"/>
              </a:rPr>
              <a:t>(</a:t>
            </a:r>
            <a:r>
              <a:rPr lang="en-US" altLang="en-US" b="1" dirty="0">
                <a:solidFill>
                  <a:srgbClr val="006699"/>
                </a:solidFill>
                <a:latin typeface="+mn-ea"/>
                <a:ea typeface="+mn-ea"/>
              </a:rPr>
              <a:t>LAN</a:t>
            </a:r>
            <a:r>
              <a:rPr lang="en-US" altLang="en-US" dirty="0">
                <a:latin typeface="+mn-ea"/>
                <a:ea typeface="+mn-ea"/>
              </a:rPr>
              <a:t>)</a:t>
            </a:r>
          </a:p>
          <a:p>
            <a:pPr lvl="2"/>
            <a:r>
              <a:rPr lang="en-US" altLang="en-US" b="1" dirty="0">
                <a:solidFill>
                  <a:srgbClr val="006699"/>
                </a:solidFill>
                <a:latin typeface="+mn-ea"/>
                <a:ea typeface="+mn-ea"/>
              </a:rPr>
              <a:t>Wide Area Network </a:t>
            </a:r>
            <a:r>
              <a:rPr lang="en-US" altLang="en-US" dirty="0">
                <a:latin typeface="+mn-ea"/>
                <a:ea typeface="+mn-ea"/>
              </a:rPr>
              <a:t>(</a:t>
            </a:r>
            <a:r>
              <a:rPr lang="en-US" altLang="en-US" b="1" dirty="0">
                <a:solidFill>
                  <a:srgbClr val="006699"/>
                </a:solidFill>
                <a:latin typeface="+mn-ea"/>
                <a:ea typeface="+mn-ea"/>
              </a:rPr>
              <a:t>WAN</a:t>
            </a:r>
            <a:r>
              <a:rPr lang="en-US" altLang="en-US" dirty="0">
                <a:latin typeface="+mn-ea"/>
                <a:ea typeface="+mn-ea"/>
              </a:rPr>
              <a:t>)</a:t>
            </a:r>
          </a:p>
          <a:p>
            <a:pPr lvl="2"/>
            <a:r>
              <a:rPr lang="en-US" altLang="en-US" b="1" dirty="0">
                <a:solidFill>
                  <a:srgbClr val="006699"/>
                </a:solidFill>
                <a:latin typeface="+mn-ea"/>
                <a:ea typeface="+mn-ea"/>
              </a:rPr>
              <a:t>Metropolitan Area Network </a:t>
            </a:r>
            <a:r>
              <a:rPr lang="en-US" altLang="en-US" dirty="0">
                <a:latin typeface="+mn-ea"/>
                <a:ea typeface="+mn-ea"/>
              </a:rPr>
              <a:t>(</a:t>
            </a:r>
            <a:r>
              <a:rPr lang="en-US" altLang="en-US" b="1" dirty="0">
                <a:solidFill>
                  <a:srgbClr val="006699"/>
                </a:solidFill>
                <a:latin typeface="+mn-ea"/>
                <a:ea typeface="+mn-ea"/>
              </a:rPr>
              <a:t>MAN</a:t>
            </a:r>
            <a:r>
              <a:rPr lang="en-US" altLang="en-US" dirty="0">
                <a:latin typeface="+mn-ea"/>
                <a:ea typeface="+mn-ea"/>
              </a:rPr>
              <a:t>)</a:t>
            </a:r>
          </a:p>
          <a:p>
            <a:pPr lvl="2"/>
            <a:r>
              <a:rPr lang="en-US" altLang="en-US" b="1" dirty="0">
                <a:solidFill>
                  <a:srgbClr val="006699"/>
                </a:solidFill>
                <a:latin typeface="+mn-ea"/>
                <a:ea typeface="+mn-ea"/>
              </a:rPr>
              <a:t>Personal Area Network </a:t>
            </a:r>
            <a:r>
              <a:rPr lang="en-US" altLang="en-US" dirty="0">
                <a:latin typeface="+mn-ea"/>
                <a:ea typeface="+mn-ea"/>
              </a:rPr>
              <a:t>(</a:t>
            </a:r>
            <a:r>
              <a:rPr lang="en-US" altLang="en-US" b="1" dirty="0">
                <a:solidFill>
                  <a:srgbClr val="006699"/>
                </a:solidFill>
                <a:latin typeface="+mn-ea"/>
                <a:ea typeface="+mn-ea"/>
              </a:rPr>
              <a:t>PAN</a:t>
            </a:r>
            <a:r>
              <a:rPr lang="en-US" altLang="en-US" dirty="0">
                <a:latin typeface="+mn-ea"/>
                <a:ea typeface="+mn-ea"/>
              </a:rPr>
              <a:t>)</a:t>
            </a:r>
          </a:p>
          <a:p>
            <a:r>
              <a:rPr lang="en-US" altLang="en-US" sz="2000" b="1" dirty="0">
                <a:solidFill>
                  <a:srgbClr val="006699"/>
                </a:solidFill>
                <a:latin typeface="+mn-ea"/>
                <a:ea typeface="+mn-ea"/>
              </a:rPr>
              <a:t>Network Operating System </a:t>
            </a:r>
            <a:r>
              <a:rPr lang="en-US" altLang="en-US" sz="2000" dirty="0">
                <a:latin typeface="+mn-ea"/>
                <a:ea typeface="+mn-ea"/>
              </a:rPr>
              <a:t>provides features between systems across network</a:t>
            </a:r>
          </a:p>
          <a:p>
            <a:pPr lvl="1"/>
            <a:r>
              <a:rPr lang="en-US" altLang="en-US" dirty="0">
                <a:latin typeface="+mn-ea"/>
                <a:ea typeface="+mn-ea"/>
              </a:rPr>
              <a:t>Communication scheme allows systems to exchange messages</a:t>
            </a:r>
          </a:p>
          <a:p>
            <a:pPr lvl="1"/>
            <a:r>
              <a:rPr lang="en-US" altLang="en-US" dirty="0">
                <a:latin typeface="+mn-ea"/>
                <a:ea typeface="+mn-ea"/>
              </a:rPr>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116420"/>
            <a:ext cx="7693025" cy="4635794"/>
          </a:xfrm>
        </p:spPr>
        <p:txBody>
          <a:bodyPr/>
          <a:lstStyle/>
          <a:p>
            <a:r>
              <a:rPr lang="en-US" altLang="en-US" sz="2000" dirty="0">
                <a:latin typeface="+mn-ea"/>
                <a:ea typeface="+mn-ea"/>
              </a:rPr>
              <a:t>Most systems use a single general-purpose processor</a:t>
            </a:r>
          </a:p>
          <a:p>
            <a:pPr lvl="1"/>
            <a:r>
              <a:rPr lang="en-US" altLang="en-US" dirty="0">
                <a:latin typeface="+mn-ea"/>
                <a:ea typeface="+mn-ea"/>
              </a:rPr>
              <a:t>Most systems have special-purpose processors as well</a:t>
            </a:r>
            <a:endParaRPr lang="en-US" altLang="en-US" sz="800" dirty="0">
              <a:latin typeface="+mn-ea"/>
              <a:ea typeface="+mn-ea"/>
            </a:endParaRPr>
          </a:p>
          <a:p>
            <a:r>
              <a:rPr lang="en-US" altLang="en-US" sz="2000" b="1" dirty="0">
                <a:solidFill>
                  <a:srgbClr val="006699"/>
                </a:solidFill>
                <a:latin typeface="+mn-ea"/>
                <a:ea typeface="+mn-ea"/>
              </a:rPr>
              <a:t>Multiprocessors</a:t>
            </a:r>
            <a:r>
              <a:rPr lang="en-US" altLang="en-US" sz="2000" dirty="0">
                <a:solidFill>
                  <a:srgbClr val="3366FF"/>
                </a:solidFill>
                <a:latin typeface="+mn-ea"/>
                <a:ea typeface="+mn-ea"/>
              </a:rPr>
              <a:t> </a:t>
            </a:r>
            <a:r>
              <a:rPr lang="en-US" altLang="en-US" sz="2000" dirty="0">
                <a:latin typeface="+mn-ea"/>
                <a:ea typeface="+mn-ea"/>
              </a:rPr>
              <a:t>systems growing in use and importance</a:t>
            </a:r>
          </a:p>
          <a:p>
            <a:pPr lvl="1"/>
            <a:r>
              <a:rPr lang="en-US" altLang="en-US" dirty="0">
                <a:latin typeface="+mn-ea"/>
                <a:ea typeface="+mn-ea"/>
              </a:rPr>
              <a:t>Also known as </a:t>
            </a:r>
            <a:r>
              <a:rPr lang="en-US" altLang="en-US" b="1" dirty="0">
                <a:solidFill>
                  <a:srgbClr val="006699"/>
                </a:solidFill>
                <a:latin typeface="+mn-ea"/>
                <a:ea typeface="+mn-ea"/>
              </a:rPr>
              <a:t>parallel systems</a:t>
            </a:r>
            <a:r>
              <a:rPr lang="en-US" altLang="en-US" dirty="0">
                <a:latin typeface="+mn-ea"/>
                <a:ea typeface="+mn-ea"/>
              </a:rPr>
              <a:t>, </a:t>
            </a:r>
            <a:r>
              <a:rPr lang="en-US" altLang="en-US" b="1" dirty="0">
                <a:solidFill>
                  <a:srgbClr val="006699"/>
                </a:solidFill>
                <a:latin typeface="+mn-ea"/>
                <a:ea typeface="+mn-ea"/>
              </a:rPr>
              <a:t>tightly-coupled systems</a:t>
            </a:r>
          </a:p>
          <a:p>
            <a:pPr lvl="1"/>
            <a:r>
              <a:rPr lang="en-US" altLang="en-US" dirty="0">
                <a:latin typeface="+mn-ea"/>
                <a:ea typeface="+mn-ea"/>
              </a:rPr>
              <a:t>Advantages include:</a:t>
            </a:r>
          </a:p>
          <a:p>
            <a:pPr marL="1200150" lvl="2" indent="-342900">
              <a:buFont typeface="Arial" panose="020B0604020202020204" pitchFamily="34" charset="0"/>
              <a:buAutoNum type="arabicPeriod"/>
            </a:pPr>
            <a:r>
              <a:rPr lang="en-US" altLang="en-US" b="1" dirty="0">
                <a:solidFill>
                  <a:srgbClr val="006699"/>
                </a:solidFill>
                <a:latin typeface="+mn-ea"/>
                <a:ea typeface="+mn-ea"/>
              </a:rPr>
              <a:t>Increased throughput</a:t>
            </a:r>
          </a:p>
          <a:p>
            <a:pPr marL="1200150" lvl="2" indent="-342900">
              <a:buFont typeface="Arial" panose="020B0604020202020204" pitchFamily="34" charset="0"/>
              <a:buAutoNum type="arabicPeriod"/>
            </a:pPr>
            <a:r>
              <a:rPr lang="en-US" altLang="en-US" b="1" dirty="0">
                <a:solidFill>
                  <a:srgbClr val="006699"/>
                </a:solidFill>
                <a:latin typeface="+mn-ea"/>
                <a:ea typeface="+mn-ea"/>
              </a:rPr>
              <a:t>Economy of scale</a:t>
            </a:r>
          </a:p>
          <a:p>
            <a:pPr marL="1200150" lvl="2" indent="-342900">
              <a:buFont typeface="Arial" panose="020B0604020202020204" pitchFamily="34" charset="0"/>
              <a:buAutoNum type="arabicPeriod"/>
            </a:pPr>
            <a:r>
              <a:rPr lang="en-US" altLang="en-US" b="1" dirty="0">
                <a:solidFill>
                  <a:srgbClr val="006699"/>
                </a:solidFill>
                <a:latin typeface="+mn-ea"/>
                <a:ea typeface="+mn-ea"/>
              </a:rPr>
              <a:t>Increased reliability </a:t>
            </a:r>
            <a:r>
              <a:rPr lang="en-US" altLang="en-US" dirty="0">
                <a:latin typeface="+mn-ea"/>
                <a:ea typeface="+mn-ea"/>
              </a:rPr>
              <a:t>– graceful degradation or fault tolerance</a:t>
            </a:r>
          </a:p>
          <a:p>
            <a:pPr lvl="1"/>
            <a:r>
              <a:rPr lang="en-US" altLang="en-US" dirty="0">
                <a:latin typeface="+mn-ea"/>
                <a:ea typeface="+mn-ea"/>
              </a:rPr>
              <a:t>Two types:</a:t>
            </a:r>
          </a:p>
          <a:p>
            <a:pPr marL="1200150" lvl="2" indent="-342900">
              <a:buFont typeface="Arial" panose="020B0604020202020204" pitchFamily="34" charset="0"/>
              <a:buAutoNum type="arabicPeriod"/>
            </a:pPr>
            <a:r>
              <a:rPr lang="en-US" altLang="en-US" b="1" dirty="0">
                <a:solidFill>
                  <a:srgbClr val="006699"/>
                </a:solidFill>
                <a:latin typeface="+mn-ea"/>
                <a:ea typeface="+mn-ea"/>
              </a:rPr>
              <a:t>Asymmetric Multiprocessing</a:t>
            </a:r>
            <a:r>
              <a:rPr lang="en-US" altLang="en-US" b="1" dirty="0">
                <a:solidFill>
                  <a:srgbClr val="3366FF"/>
                </a:solidFill>
                <a:latin typeface="+mn-ea"/>
                <a:ea typeface="+mn-ea"/>
              </a:rPr>
              <a:t> </a:t>
            </a:r>
            <a:r>
              <a:rPr lang="en-US" altLang="en-US" dirty="0">
                <a:latin typeface="+mn-ea"/>
                <a:ea typeface="+mn-ea"/>
              </a:rPr>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n-ea"/>
                <a:ea typeface="+mn-ea"/>
              </a:rPr>
              <a:t>Symmetric Multiprocessing </a:t>
            </a:r>
            <a:r>
              <a:rPr lang="en-US" altLang="en-US" dirty="0">
                <a:latin typeface="+mn-ea"/>
                <a:ea typeface="+mn-ea"/>
              </a:rPr>
              <a:t>– each processor performs all tasks</a:t>
            </a:r>
          </a:p>
        </p:txBody>
      </p:sp>
    </p:spTree>
    <p:extLst>
      <p:ext uri="{BB962C8B-B14F-4D97-AF65-F5344CB8AC3E}">
        <p14:creationId xmlns:p14="http://schemas.microsoft.com/office/powerpoint/2010/main" val="4234517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7328" y="1315238"/>
            <a:ext cx="5988234" cy="453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29515" y="976268"/>
            <a:ext cx="7322362" cy="1216772"/>
          </a:xfrm>
        </p:spPr>
        <p:txBody>
          <a:bodyPr/>
          <a:lstStyle/>
          <a:p>
            <a:r>
              <a:rPr lang="en-US" altLang="en-US" sz="2000" dirty="0">
                <a:latin typeface="+mn-ea"/>
                <a:ea typeface="+mn-ea"/>
              </a:rPr>
              <a:t>Multi-chip and </a:t>
            </a:r>
            <a:r>
              <a:rPr lang="en-US" altLang="en-US" sz="2000" b="1" dirty="0">
                <a:solidFill>
                  <a:srgbClr val="006699"/>
                </a:solidFill>
                <a:latin typeface="+mn-ea"/>
                <a:ea typeface="+mn-ea"/>
              </a:rPr>
              <a:t>multicore</a:t>
            </a:r>
          </a:p>
          <a:p>
            <a:r>
              <a:rPr lang="en-US" altLang="en-US" sz="2000" dirty="0">
                <a:latin typeface="+mn-ea"/>
                <a:ea typeface="+mn-ea"/>
              </a:rPr>
              <a:t>Systems containing all  chips</a:t>
            </a:r>
            <a:endParaRPr lang="en-US" altLang="en-US" sz="2000" b="1" dirty="0">
              <a:solidFill>
                <a:srgbClr val="3366FF"/>
              </a:solidFill>
              <a:latin typeface="+mn-ea"/>
              <a:ea typeface="+mn-ea"/>
            </a:endParaRPr>
          </a:p>
          <a:p>
            <a:pPr lvl="1"/>
            <a:r>
              <a:rPr lang="en-US" altLang="en-US" sz="1800" dirty="0">
                <a:latin typeface="+mn-ea"/>
                <a:ea typeface="+mn-ea"/>
              </a:rPr>
              <a:t>Chassis containing multiple separate systems</a:t>
            </a:r>
          </a:p>
          <a:p>
            <a:pPr lvl="1"/>
            <a:endParaRPr lang="en-US" altLang="en-US" dirty="0">
              <a:latin typeface="+mn-ea"/>
              <a:ea typeface="+mn-ea"/>
            </a:endParaRPr>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8"/>
            <a:ext cx="4464950" cy="3980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a:xfrm>
            <a:off x="700124" y="1041992"/>
            <a:ext cx="7890984" cy="3774558"/>
          </a:xfrm>
        </p:spPr>
        <p:txBody>
          <a:bodyPr/>
          <a:lstStyle/>
          <a:p>
            <a:r>
              <a:rPr lang="en-US" altLang="en-US" sz="2000" dirty="0">
                <a:latin typeface="+mn-ea"/>
                <a:ea typeface="+mn-ea"/>
              </a:rPr>
              <a:t>Like multiprocessor systems, but multiple systems work together</a:t>
            </a:r>
          </a:p>
          <a:p>
            <a:pPr lvl="1"/>
            <a:r>
              <a:rPr lang="en-US" altLang="en-US" dirty="0">
                <a:latin typeface="+mn-ea"/>
                <a:ea typeface="+mn-ea"/>
              </a:rPr>
              <a:t>Usually sharing storage via a </a:t>
            </a:r>
            <a:r>
              <a:rPr lang="en-US" altLang="en-US" b="1" dirty="0">
                <a:solidFill>
                  <a:srgbClr val="006699"/>
                </a:solidFill>
                <a:latin typeface="+mn-ea"/>
                <a:ea typeface="+mn-ea"/>
              </a:rPr>
              <a:t>storage-area network </a:t>
            </a:r>
            <a:r>
              <a:rPr lang="en-US" altLang="en-US" dirty="0">
                <a:latin typeface="+mn-ea"/>
                <a:ea typeface="+mn-ea"/>
              </a:rPr>
              <a:t>(</a:t>
            </a:r>
            <a:r>
              <a:rPr lang="en-US" altLang="en-US" b="1" dirty="0">
                <a:solidFill>
                  <a:srgbClr val="006699"/>
                </a:solidFill>
                <a:latin typeface="+mn-ea"/>
                <a:ea typeface="+mn-ea"/>
              </a:rPr>
              <a:t>SAN</a:t>
            </a:r>
            <a:r>
              <a:rPr lang="en-US" altLang="en-US" dirty="0">
                <a:latin typeface="+mn-ea"/>
                <a:ea typeface="+mn-ea"/>
              </a:rPr>
              <a:t>)</a:t>
            </a:r>
          </a:p>
          <a:p>
            <a:pPr lvl="1"/>
            <a:r>
              <a:rPr lang="en-US" altLang="en-US" dirty="0">
                <a:latin typeface="+mn-ea"/>
                <a:ea typeface="+mn-ea"/>
              </a:rPr>
              <a:t>Provides a </a:t>
            </a:r>
            <a:r>
              <a:rPr lang="en-US" altLang="en-US" b="1" dirty="0">
                <a:solidFill>
                  <a:srgbClr val="006699"/>
                </a:solidFill>
                <a:latin typeface="+mn-ea"/>
                <a:ea typeface="+mn-ea"/>
              </a:rPr>
              <a:t>high-availability</a:t>
            </a:r>
            <a:r>
              <a:rPr lang="en-US" altLang="en-US" b="1" dirty="0">
                <a:latin typeface="+mn-ea"/>
                <a:ea typeface="+mn-ea"/>
              </a:rPr>
              <a:t> </a:t>
            </a:r>
            <a:r>
              <a:rPr lang="en-US" altLang="en-US" dirty="0">
                <a:latin typeface="+mn-ea"/>
                <a:ea typeface="+mn-ea"/>
              </a:rPr>
              <a:t>service which survives failures</a:t>
            </a:r>
          </a:p>
          <a:p>
            <a:pPr lvl="2"/>
            <a:r>
              <a:rPr lang="en-US" altLang="en-US" sz="1600" b="1" dirty="0">
                <a:solidFill>
                  <a:srgbClr val="006699"/>
                </a:solidFill>
                <a:latin typeface="+mn-ea"/>
                <a:ea typeface="+mn-ea"/>
              </a:rPr>
              <a:t>Asymmetric clustering </a:t>
            </a:r>
            <a:r>
              <a:rPr lang="en-US" altLang="en-US" sz="1600" dirty="0">
                <a:latin typeface="+mn-ea"/>
                <a:ea typeface="+mn-ea"/>
              </a:rPr>
              <a:t>has one machine in hot-standby mode</a:t>
            </a:r>
          </a:p>
          <a:p>
            <a:pPr lvl="2"/>
            <a:r>
              <a:rPr lang="en-US" altLang="en-US" sz="1600" b="1" dirty="0">
                <a:solidFill>
                  <a:srgbClr val="006699"/>
                </a:solidFill>
                <a:latin typeface="+mn-ea"/>
                <a:ea typeface="+mn-ea"/>
              </a:rPr>
              <a:t>Symmetric clustering </a:t>
            </a:r>
            <a:r>
              <a:rPr lang="en-US" altLang="en-US" sz="1600" dirty="0">
                <a:latin typeface="+mn-ea"/>
                <a:ea typeface="+mn-ea"/>
              </a:rPr>
              <a:t>has multiple nodes running applications, monitoring each other</a:t>
            </a:r>
          </a:p>
          <a:p>
            <a:pPr lvl="1"/>
            <a:r>
              <a:rPr lang="en-US" altLang="en-US" dirty="0">
                <a:latin typeface="+mn-ea"/>
                <a:ea typeface="+mn-ea"/>
              </a:rPr>
              <a:t>Some clusters are for </a:t>
            </a:r>
            <a:r>
              <a:rPr lang="en-US" altLang="en-US" b="1" dirty="0">
                <a:solidFill>
                  <a:srgbClr val="006699"/>
                </a:solidFill>
                <a:latin typeface="+mn-ea"/>
                <a:ea typeface="+mn-ea"/>
              </a:rPr>
              <a:t>high-performance computing </a:t>
            </a:r>
            <a:r>
              <a:rPr lang="en-US" altLang="en-US" dirty="0">
                <a:latin typeface="+mn-ea"/>
                <a:ea typeface="+mn-ea"/>
              </a:rPr>
              <a:t>(</a:t>
            </a:r>
            <a:r>
              <a:rPr lang="en-US" altLang="en-US" b="1" dirty="0">
                <a:solidFill>
                  <a:srgbClr val="006699"/>
                </a:solidFill>
                <a:latin typeface="+mn-ea"/>
                <a:ea typeface="+mn-ea"/>
              </a:rPr>
              <a:t>HPC</a:t>
            </a:r>
            <a:r>
              <a:rPr lang="en-US" altLang="en-US" dirty="0">
                <a:latin typeface="+mn-ea"/>
                <a:ea typeface="+mn-ea"/>
              </a:rPr>
              <a:t>)</a:t>
            </a:r>
          </a:p>
          <a:p>
            <a:pPr lvl="2"/>
            <a:r>
              <a:rPr lang="en-US" altLang="en-US" sz="1600" dirty="0">
                <a:latin typeface="+mn-ea"/>
                <a:ea typeface="+mn-ea"/>
              </a:rPr>
              <a:t>Applications must be written to use </a:t>
            </a:r>
            <a:r>
              <a:rPr lang="en-US" altLang="en-US" sz="1600" b="1" dirty="0">
                <a:solidFill>
                  <a:srgbClr val="006699"/>
                </a:solidFill>
                <a:latin typeface="+mn-ea"/>
                <a:ea typeface="+mn-ea"/>
              </a:rPr>
              <a:t>parallelization</a:t>
            </a:r>
          </a:p>
          <a:p>
            <a:pPr lvl="1"/>
            <a:r>
              <a:rPr lang="en-US" altLang="en-US" dirty="0">
                <a:latin typeface="+mn-ea"/>
                <a:ea typeface="+mn-ea"/>
              </a:rPr>
              <a:t>Some have</a:t>
            </a:r>
            <a:r>
              <a:rPr lang="en-US" altLang="en-US" b="1" dirty="0">
                <a:solidFill>
                  <a:srgbClr val="3366FF"/>
                </a:solidFill>
                <a:latin typeface="+mn-ea"/>
                <a:ea typeface="+mn-ea"/>
              </a:rPr>
              <a:t> </a:t>
            </a:r>
            <a:r>
              <a:rPr lang="en-US" altLang="en-US" b="1" dirty="0">
                <a:solidFill>
                  <a:srgbClr val="006699"/>
                </a:solidFill>
                <a:latin typeface="+mn-ea"/>
                <a:ea typeface="+mn-ea"/>
              </a:rPr>
              <a:t>distributed lock manager </a:t>
            </a:r>
            <a:r>
              <a:rPr lang="en-US" altLang="en-US" dirty="0">
                <a:latin typeface="+mn-ea"/>
                <a:ea typeface="+mn-ea"/>
              </a:rPr>
              <a:t>(</a:t>
            </a:r>
            <a:r>
              <a:rPr lang="en-US" altLang="en-US" b="1" dirty="0">
                <a:solidFill>
                  <a:srgbClr val="006699"/>
                </a:solidFill>
                <a:latin typeface="+mn-ea"/>
                <a:ea typeface="+mn-ea"/>
              </a:rPr>
              <a:t>DLM</a:t>
            </a:r>
            <a:r>
              <a:rPr lang="en-US" altLang="en-US" dirty="0">
                <a:latin typeface="+mn-ea"/>
                <a:ea typeface="+mn-ea"/>
              </a:rPr>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436" y="1729378"/>
            <a:ext cx="6928411" cy="355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dirty="0"/>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3631" y="929205"/>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1258378" y="1041808"/>
            <a:ext cx="6365419" cy="2594528"/>
          </a:xfrm>
        </p:spPr>
        <p:txBody>
          <a:bodyPr/>
          <a:lstStyle/>
          <a:p>
            <a:r>
              <a:rPr lang="en-US" altLang="en-US" sz="2000" dirty="0"/>
              <a:t>Traditional</a:t>
            </a:r>
          </a:p>
          <a:p>
            <a:r>
              <a:rPr lang="en-US" altLang="en-US" sz="2000" dirty="0"/>
              <a:t>Mobile</a:t>
            </a:r>
          </a:p>
          <a:p>
            <a:r>
              <a:rPr lang="en-US" altLang="en-US" sz="2000" dirty="0"/>
              <a:t>Client Server</a:t>
            </a:r>
          </a:p>
          <a:p>
            <a:r>
              <a:rPr lang="en-US" altLang="en-US" sz="2000" dirty="0"/>
              <a:t>Peer-to-Peer</a:t>
            </a:r>
          </a:p>
          <a:p>
            <a:r>
              <a:rPr lang="en-US" altLang="en-US" sz="2000" dirty="0"/>
              <a:t>Cloud computing</a:t>
            </a:r>
          </a:p>
          <a:p>
            <a:r>
              <a:rPr lang="en-US" altLang="en-US" sz="2000" dirty="0"/>
              <a:t>Real-time Embedded</a:t>
            </a:r>
          </a:p>
        </p:txBody>
      </p:sp>
    </p:spTree>
    <p:extLst>
      <p:ext uri="{BB962C8B-B14F-4D97-AF65-F5344CB8AC3E}">
        <p14:creationId xmlns:p14="http://schemas.microsoft.com/office/powerpoint/2010/main" val="424880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960668" y="1084522"/>
            <a:ext cx="7566643" cy="3179134"/>
          </a:xfrm>
        </p:spPr>
        <p:txBody>
          <a:bodyPr/>
          <a:lstStyle/>
          <a:p>
            <a:r>
              <a:rPr lang="en-US" altLang="en-US" sz="2000" dirty="0">
                <a:latin typeface="+mn-ea"/>
                <a:ea typeface="+mn-ea"/>
              </a:rPr>
              <a:t>Stand-alone general-purpose machines</a:t>
            </a:r>
          </a:p>
          <a:p>
            <a:r>
              <a:rPr lang="en-US" altLang="en-US" sz="2000" dirty="0">
                <a:latin typeface="+mn-ea"/>
                <a:ea typeface="+mn-ea"/>
              </a:rPr>
              <a:t>But blurred as most systems interconnect with others (i.e., the Internet)</a:t>
            </a:r>
          </a:p>
          <a:p>
            <a:r>
              <a:rPr lang="en-US" altLang="en-US" sz="2000" b="1" dirty="0">
                <a:solidFill>
                  <a:srgbClr val="006699"/>
                </a:solidFill>
                <a:latin typeface="+mn-ea"/>
                <a:ea typeface="+mn-ea"/>
              </a:rPr>
              <a:t>Portals</a:t>
            </a:r>
            <a:r>
              <a:rPr lang="en-US" altLang="en-US" sz="2000" dirty="0">
                <a:latin typeface="+mn-ea"/>
                <a:ea typeface="+mn-ea"/>
              </a:rPr>
              <a:t> provide web access to internal systems</a:t>
            </a:r>
          </a:p>
          <a:p>
            <a:r>
              <a:rPr lang="en-US" altLang="en-US" sz="2000" b="1" dirty="0">
                <a:solidFill>
                  <a:srgbClr val="006699"/>
                </a:solidFill>
                <a:latin typeface="+mn-ea"/>
                <a:ea typeface="+mn-ea"/>
              </a:rPr>
              <a:t>Network computers </a:t>
            </a:r>
            <a:r>
              <a:rPr lang="en-US" altLang="en-US" sz="2000" dirty="0">
                <a:latin typeface="+mn-ea"/>
                <a:ea typeface="+mn-ea"/>
              </a:rPr>
              <a:t>(</a:t>
            </a:r>
            <a:r>
              <a:rPr lang="en-US" altLang="en-US" sz="2000" b="1" dirty="0">
                <a:solidFill>
                  <a:srgbClr val="006699"/>
                </a:solidFill>
                <a:latin typeface="+mn-ea"/>
                <a:ea typeface="+mn-ea"/>
              </a:rPr>
              <a:t>thin clients</a:t>
            </a:r>
            <a:r>
              <a:rPr lang="en-US" altLang="en-US" sz="2000" dirty="0">
                <a:latin typeface="+mn-ea"/>
                <a:ea typeface="+mn-ea"/>
              </a:rPr>
              <a:t>) are like Web terminals</a:t>
            </a:r>
          </a:p>
          <a:p>
            <a:r>
              <a:rPr lang="en-US" altLang="en-US" sz="2000" dirty="0">
                <a:latin typeface="+mn-ea"/>
                <a:ea typeface="+mn-ea"/>
              </a:rPr>
              <a:t>Mobile computers interconnect via </a:t>
            </a:r>
            <a:r>
              <a:rPr lang="en-US" altLang="en-US" sz="2000" b="1" dirty="0">
                <a:solidFill>
                  <a:srgbClr val="006699"/>
                </a:solidFill>
                <a:latin typeface="+mn-ea"/>
                <a:ea typeface="+mn-ea"/>
              </a:rPr>
              <a:t>wireless networks</a:t>
            </a:r>
          </a:p>
          <a:p>
            <a:r>
              <a:rPr lang="en-US" altLang="en-US" sz="2000" dirty="0">
                <a:latin typeface="+mn-ea"/>
                <a:ea typeface="+mn-ea"/>
              </a:rPr>
              <a:t>Networking becoming ubiquitous – even home systems use </a:t>
            </a:r>
            <a:r>
              <a:rPr lang="en-US" altLang="en-US" sz="2000" b="1" dirty="0">
                <a:solidFill>
                  <a:srgbClr val="006699"/>
                </a:solidFill>
                <a:latin typeface="+mn-ea"/>
                <a:ea typeface="+mn-ea"/>
              </a:rPr>
              <a:t>firewalls</a:t>
            </a:r>
            <a:r>
              <a:rPr lang="en-US" altLang="en-US" sz="2000" dirty="0">
                <a:latin typeface="+mn-ea"/>
                <a:ea typeface="+mn-ea"/>
              </a:rPr>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908253" y="1039553"/>
            <a:ext cx="7673568" cy="3128410"/>
          </a:xfrm>
        </p:spPr>
        <p:txBody>
          <a:bodyPr/>
          <a:lstStyle/>
          <a:p>
            <a:r>
              <a:rPr lang="en-US" altLang="en-US" sz="2000" dirty="0">
                <a:latin typeface="+mn-ea"/>
                <a:ea typeface="+mn-ea"/>
              </a:rPr>
              <a:t>Handheld smartphones, tablets, etc.</a:t>
            </a:r>
          </a:p>
          <a:p>
            <a:r>
              <a:rPr lang="en-US" altLang="en-US" sz="2000" dirty="0">
                <a:latin typeface="+mn-ea"/>
                <a:ea typeface="+mn-ea"/>
              </a:rPr>
              <a:t>What is the functional difference between them and a “traditional” laptop?</a:t>
            </a:r>
          </a:p>
          <a:p>
            <a:r>
              <a:rPr lang="en-US" altLang="en-US" sz="2000" dirty="0">
                <a:latin typeface="+mn-ea"/>
                <a:ea typeface="+mn-ea"/>
              </a:rPr>
              <a:t>Extra feature – more OS features (GPS, gyroscope)</a:t>
            </a:r>
          </a:p>
          <a:p>
            <a:r>
              <a:rPr lang="en-US" altLang="en-US" sz="2000" dirty="0">
                <a:latin typeface="+mn-ea"/>
                <a:ea typeface="+mn-ea"/>
              </a:rPr>
              <a:t>Allows new types of apps like </a:t>
            </a:r>
            <a:r>
              <a:rPr lang="en-US" altLang="en-US" sz="2000" b="1" i="1" dirty="0">
                <a:latin typeface="+mn-ea"/>
                <a:ea typeface="+mn-ea"/>
              </a:rPr>
              <a:t>augmented reality</a:t>
            </a:r>
          </a:p>
          <a:p>
            <a:r>
              <a:rPr lang="en-US" altLang="en-US" sz="2000" dirty="0">
                <a:latin typeface="+mn-ea"/>
                <a:ea typeface="+mn-ea"/>
              </a:rPr>
              <a:t>Use IEEE 802.11 wireless, or cellular data networks for connectivity</a:t>
            </a:r>
          </a:p>
          <a:p>
            <a:r>
              <a:rPr lang="en-US" altLang="en-US" sz="2000" dirty="0">
                <a:latin typeface="+mn-ea"/>
                <a:ea typeface="+mn-ea"/>
              </a:rPr>
              <a:t>Leaders are </a:t>
            </a:r>
            <a:r>
              <a:rPr lang="en-US" altLang="en-US" sz="2000" b="1" dirty="0">
                <a:solidFill>
                  <a:srgbClr val="006699"/>
                </a:solidFill>
                <a:latin typeface="+mn-ea"/>
                <a:ea typeface="+mn-ea"/>
              </a:rPr>
              <a:t>Apple iOS </a:t>
            </a:r>
            <a:r>
              <a:rPr lang="en-US" altLang="en-US" sz="2000" dirty="0">
                <a:latin typeface="+mn-ea"/>
                <a:ea typeface="+mn-ea"/>
              </a:rPr>
              <a:t>and </a:t>
            </a:r>
            <a:r>
              <a:rPr lang="en-US" altLang="en-US" sz="2000" b="1" dirty="0">
                <a:solidFill>
                  <a:srgbClr val="006699"/>
                </a:solidFill>
                <a:latin typeface="+mn-ea"/>
                <a:ea typeface="+mn-ea"/>
              </a:rPr>
              <a:t>Google Android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243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sz="2000" dirty="0">
                <a:latin typeface="+mn-ea"/>
                <a:ea typeface="+mn-ea"/>
              </a:rPr>
              <a:t>Client-Server Computing</a:t>
            </a:r>
          </a:p>
          <a:p>
            <a:pPr lvl="1">
              <a:lnSpc>
                <a:spcPct val="90000"/>
              </a:lnSpc>
              <a:buSzPct val="80000"/>
            </a:pPr>
            <a:r>
              <a:rPr lang="en-US" altLang="en-US" dirty="0">
                <a:latin typeface="+mn-ea"/>
                <a:ea typeface="+mn-ea"/>
              </a:rPr>
              <a:t>Dumb terminals supplanted by smart PCs</a:t>
            </a:r>
          </a:p>
          <a:p>
            <a:pPr lvl="1">
              <a:lnSpc>
                <a:spcPct val="90000"/>
              </a:lnSpc>
              <a:buSzPct val="80000"/>
            </a:pPr>
            <a:r>
              <a:rPr lang="en-US" altLang="en-US" dirty="0">
                <a:latin typeface="+mn-ea"/>
                <a:ea typeface="+mn-ea"/>
              </a:rPr>
              <a:t>Many systems now </a:t>
            </a:r>
            <a:r>
              <a:rPr lang="en-US" altLang="en-US" b="1" dirty="0">
                <a:solidFill>
                  <a:srgbClr val="006699"/>
                </a:solidFill>
                <a:latin typeface="+mn-ea"/>
                <a:ea typeface="+mn-ea"/>
              </a:rPr>
              <a:t>servers</a:t>
            </a:r>
            <a:r>
              <a:rPr lang="en-US" altLang="en-US" dirty="0">
                <a:latin typeface="+mn-ea"/>
                <a:ea typeface="+mn-ea"/>
              </a:rPr>
              <a:t>, responding to requests generated by </a:t>
            </a:r>
            <a:r>
              <a:rPr lang="en-US" altLang="en-US" b="1" dirty="0">
                <a:solidFill>
                  <a:srgbClr val="006699"/>
                </a:solidFill>
                <a:latin typeface="+mn-ea"/>
                <a:ea typeface="+mn-ea"/>
              </a:rPr>
              <a:t>clients</a:t>
            </a:r>
          </a:p>
          <a:p>
            <a:pPr lvl="2">
              <a:lnSpc>
                <a:spcPct val="90000"/>
              </a:lnSpc>
            </a:pPr>
            <a:r>
              <a:rPr lang="en-US" altLang="en-US" b="1" dirty="0">
                <a:solidFill>
                  <a:srgbClr val="006699"/>
                </a:solidFill>
                <a:latin typeface="+mn-ea"/>
                <a:ea typeface="+mn-ea"/>
              </a:rPr>
              <a:t>Compute-server system </a:t>
            </a:r>
            <a:r>
              <a:rPr lang="en-US" altLang="en-US" dirty="0">
                <a:latin typeface="+mn-ea"/>
                <a:ea typeface="+mn-ea"/>
              </a:rPr>
              <a:t>provides an interface to client to request services (i.e., database)</a:t>
            </a:r>
          </a:p>
          <a:p>
            <a:pPr lvl="2">
              <a:lnSpc>
                <a:spcPct val="90000"/>
              </a:lnSpc>
            </a:pPr>
            <a:r>
              <a:rPr lang="en-US" altLang="en-US" b="1" dirty="0">
                <a:solidFill>
                  <a:srgbClr val="006699"/>
                </a:solidFill>
                <a:latin typeface="+mn-ea"/>
                <a:ea typeface="+mn-ea"/>
              </a:rPr>
              <a:t>File-server system </a:t>
            </a:r>
            <a:r>
              <a:rPr lang="en-US" altLang="en-US" dirty="0">
                <a:latin typeface="+mn-ea"/>
                <a:ea typeface="+mn-ea"/>
              </a:rPr>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66950" y="3987025"/>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9"/>
            <a:ext cx="5253038" cy="4178484"/>
          </a:xfrm>
        </p:spPr>
        <p:txBody>
          <a:bodyPr/>
          <a:lstStyle/>
          <a:p>
            <a:r>
              <a:rPr lang="en-US" altLang="en-US" dirty="0">
                <a:latin typeface="+mn-ea"/>
                <a:ea typeface="+mn-ea"/>
              </a:rPr>
              <a:t>Another model of distributed system</a:t>
            </a:r>
          </a:p>
          <a:p>
            <a:r>
              <a:rPr lang="en-US" altLang="en-US" dirty="0">
                <a:latin typeface="+mn-ea"/>
                <a:ea typeface="+mn-ea"/>
              </a:rPr>
              <a:t>P2P does not distinguish clients and servers</a:t>
            </a:r>
          </a:p>
          <a:p>
            <a:pPr lvl="1"/>
            <a:r>
              <a:rPr lang="en-US" altLang="en-US" dirty="0">
                <a:latin typeface="+mn-ea"/>
                <a:ea typeface="+mn-ea"/>
              </a:rPr>
              <a:t>Instead all nodes are considered peers</a:t>
            </a:r>
          </a:p>
          <a:p>
            <a:pPr lvl="1"/>
            <a:r>
              <a:rPr lang="en-US" altLang="en-US" dirty="0">
                <a:latin typeface="+mn-ea"/>
                <a:ea typeface="+mn-ea"/>
              </a:rPr>
              <a:t>May each act as client, server or both</a:t>
            </a:r>
          </a:p>
          <a:p>
            <a:pPr lvl="1"/>
            <a:r>
              <a:rPr lang="en-US" altLang="en-US" dirty="0">
                <a:latin typeface="+mn-ea"/>
                <a:ea typeface="+mn-ea"/>
              </a:rPr>
              <a:t>Node must join P2P network</a:t>
            </a:r>
          </a:p>
          <a:p>
            <a:pPr lvl="2"/>
            <a:r>
              <a:rPr lang="en-US" altLang="en-US" dirty="0">
                <a:latin typeface="+mn-ea"/>
                <a:ea typeface="+mn-ea"/>
              </a:rPr>
              <a:t>Registers its service with central lookup service on network, or</a:t>
            </a:r>
          </a:p>
          <a:p>
            <a:pPr lvl="2"/>
            <a:r>
              <a:rPr lang="en-US" altLang="en-US" dirty="0">
                <a:latin typeface="+mn-ea"/>
                <a:ea typeface="+mn-ea"/>
              </a:rPr>
              <a:t>Broadcast request for service and respond to requests for service via </a:t>
            </a:r>
            <a:r>
              <a:rPr lang="en-US" altLang="en-US" b="1" i="1" dirty="0">
                <a:latin typeface="+mn-ea"/>
                <a:ea typeface="+mn-ea"/>
              </a:rPr>
              <a:t>discovery protocol</a:t>
            </a:r>
          </a:p>
          <a:p>
            <a:pPr lvl="1"/>
            <a:r>
              <a:rPr lang="en-US" altLang="en-US" dirty="0">
                <a:latin typeface="+mn-ea"/>
                <a:ea typeface="+mn-ea"/>
              </a:rPr>
              <a:t>Examples include</a:t>
            </a:r>
            <a:r>
              <a:rPr lang="en-US" altLang="en-US" i="1" dirty="0">
                <a:latin typeface="+mn-ea"/>
                <a:ea typeface="+mn-ea"/>
              </a:rPr>
              <a:t> </a:t>
            </a:r>
            <a:r>
              <a:rPr lang="en-US" altLang="en-US" dirty="0">
                <a:latin typeface="+mn-ea"/>
                <a:ea typeface="+mn-ea"/>
              </a:rPr>
              <a:t>Napster</a:t>
            </a:r>
            <a:r>
              <a:rPr lang="en-US" altLang="en-US" i="1" dirty="0">
                <a:latin typeface="+mn-ea"/>
                <a:ea typeface="+mn-ea"/>
              </a:rPr>
              <a:t> </a:t>
            </a:r>
            <a:r>
              <a:rPr lang="en-US" altLang="en-US" dirty="0">
                <a:latin typeface="+mn-ea"/>
                <a:ea typeface="+mn-ea"/>
              </a:rPr>
              <a:t>and</a:t>
            </a:r>
            <a:r>
              <a:rPr lang="en-US" altLang="en-US" i="1" dirty="0">
                <a:latin typeface="+mn-ea"/>
                <a:ea typeface="+mn-ea"/>
              </a:rPr>
              <a:t> </a:t>
            </a:r>
            <a:r>
              <a:rPr lang="en-US" altLang="en-US" dirty="0">
                <a:latin typeface="+mn-ea"/>
                <a:ea typeface="+mn-ea"/>
              </a:rPr>
              <a:t>Gnutella</a:t>
            </a:r>
            <a:r>
              <a:rPr lang="en-US" altLang="en-US" i="1" dirty="0">
                <a:latin typeface="+mn-ea"/>
                <a:ea typeface="+mn-ea"/>
              </a:rPr>
              <a:t>, </a:t>
            </a:r>
            <a:r>
              <a:rPr lang="en-US" altLang="en-US" b="1" kern="1200" dirty="0">
                <a:solidFill>
                  <a:srgbClr val="006699"/>
                </a:solidFill>
                <a:latin typeface="+mn-ea"/>
                <a:ea typeface="+mn-ea"/>
                <a:cs typeface="+mn-cs"/>
              </a:rPr>
              <a:t>Voice over IP </a:t>
            </a:r>
            <a:r>
              <a:rPr lang="en-US" altLang="en-US" dirty="0">
                <a:latin typeface="+mn-ea"/>
                <a:ea typeface="+mn-ea"/>
              </a:rPr>
              <a:t>(</a:t>
            </a:r>
            <a:r>
              <a:rPr lang="en-US" altLang="en-US" b="1" kern="1200" dirty="0">
                <a:solidFill>
                  <a:srgbClr val="006699"/>
                </a:solidFill>
                <a:latin typeface="+mn-ea"/>
                <a:ea typeface="+mn-ea"/>
                <a:cs typeface="+mn-cs"/>
              </a:rPr>
              <a:t>VoIP</a:t>
            </a:r>
            <a:r>
              <a:rPr lang="en-US" altLang="en-US" dirty="0">
                <a:latin typeface="+mn-ea"/>
                <a:ea typeface="+mn-ea"/>
              </a:rPr>
              <a:t>)</a:t>
            </a:r>
            <a:r>
              <a:rPr lang="en-US" altLang="en-US" i="1" dirty="0">
                <a:latin typeface="+mn-ea"/>
                <a:ea typeface="+mn-ea"/>
              </a:rPr>
              <a:t> </a:t>
            </a:r>
            <a:r>
              <a:rPr lang="en-US" altLang="en-US" dirty="0">
                <a:latin typeface="+mn-ea"/>
                <a:ea typeface="+mn-ea"/>
              </a:rPr>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1"/>
            <a:ext cx="7678330" cy="2714108"/>
          </a:xfrm>
        </p:spPr>
        <p:txBody>
          <a:bodyPr/>
          <a:lstStyle/>
          <a:p>
            <a:r>
              <a:rPr lang="en-US" altLang="en-US" sz="2000" dirty="0">
                <a:latin typeface="+mn-ea"/>
                <a:ea typeface="+mn-ea"/>
              </a:rPr>
              <a:t>Delivers computing, storage, even apps as a service across a network</a:t>
            </a:r>
          </a:p>
          <a:p>
            <a:r>
              <a:rPr lang="en-US" altLang="en-US" sz="2000" dirty="0">
                <a:latin typeface="+mn-ea"/>
                <a:ea typeface="+mn-ea"/>
              </a:rPr>
              <a:t>Logical extension of virtualization because it uses virtualization as the base for it functionality.</a:t>
            </a:r>
          </a:p>
          <a:p>
            <a:pPr lvl="1"/>
            <a:r>
              <a:rPr lang="en-US" altLang="en-US" dirty="0">
                <a:latin typeface="+mn-ea"/>
                <a:ea typeface="+mn-ea"/>
              </a:rPr>
              <a:t>Amazon </a:t>
            </a:r>
            <a:r>
              <a:rPr lang="en-US" altLang="en-US" b="1" kern="1200" dirty="0">
                <a:solidFill>
                  <a:srgbClr val="006699"/>
                </a:solidFill>
                <a:latin typeface="+mn-ea"/>
                <a:ea typeface="+mn-ea"/>
                <a:cs typeface="+mn-cs"/>
              </a:rPr>
              <a:t>EC2</a:t>
            </a:r>
            <a:r>
              <a:rPr lang="en-US" altLang="en-US" dirty="0">
                <a:latin typeface="+mn-ea"/>
                <a:ea typeface="+mn-ea"/>
              </a:rPr>
              <a:t>  has thousands of servers, millions of virtual machines, petabytes of storage available across the Internet, pay based on usage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1"/>
            <a:ext cx="7712075" cy="3734834"/>
          </a:xfrm>
        </p:spPr>
        <p:txBody>
          <a:bodyPr/>
          <a:lstStyle/>
          <a:p>
            <a:r>
              <a:rPr lang="en-US" altLang="en-US" sz="2000"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07138"/>
            <a:ext cx="7645400" cy="1571625"/>
          </a:xfrm>
        </p:spPr>
        <p:txBody>
          <a:bodyPr/>
          <a:lstStyle/>
          <a:p>
            <a:r>
              <a:rPr lang="en-US" altLang="en-US" sz="2000"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kern="0" dirty="0"/>
              <a:t>Cloud Computing (cont.)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485583" y="103505"/>
            <a:ext cx="6581457" cy="711200"/>
          </a:xfrm>
        </p:spPr>
        <p:txBody>
          <a:bodyPr/>
          <a:lstStyle/>
          <a:p>
            <a:r>
              <a:rPr lang="en-US" altLang="en-US"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499731" y="1154113"/>
            <a:ext cx="8197702" cy="3258399"/>
          </a:xfrm>
        </p:spPr>
        <p:txBody>
          <a:bodyPr/>
          <a:lstStyle/>
          <a:p>
            <a:r>
              <a:rPr lang="en-US" altLang="en-US" sz="2000" dirty="0">
                <a:latin typeface="+mn-ea"/>
                <a:ea typeface="+mn-ea"/>
              </a:rPr>
              <a:t>Real-time embedded systems most prevalent form of computers</a:t>
            </a:r>
          </a:p>
          <a:p>
            <a:pPr lvl="1"/>
            <a:r>
              <a:rPr lang="en-US" altLang="en-US" dirty="0">
                <a:latin typeface="+mn-ea"/>
                <a:ea typeface="+mn-ea"/>
              </a:rPr>
              <a:t>Vary considerable, special purpose, limited purpose OS,  </a:t>
            </a:r>
            <a:r>
              <a:rPr lang="en-US" altLang="en-US" b="1" kern="1200" dirty="0">
                <a:solidFill>
                  <a:srgbClr val="006699"/>
                </a:solidFill>
                <a:latin typeface="+mn-ea"/>
                <a:ea typeface="+mn-ea"/>
                <a:cs typeface="+mn-cs"/>
              </a:rPr>
              <a:t>real-time OS</a:t>
            </a:r>
          </a:p>
          <a:p>
            <a:pPr lvl="1"/>
            <a:r>
              <a:rPr lang="en-US" altLang="en-US" dirty="0">
                <a:latin typeface="+mn-ea"/>
                <a:ea typeface="+mn-ea"/>
              </a:rPr>
              <a:t>Use expanding</a:t>
            </a:r>
          </a:p>
          <a:p>
            <a:r>
              <a:rPr lang="en-US" altLang="en-US" sz="2000" dirty="0">
                <a:latin typeface="+mn-ea"/>
                <a:ea typeface="+mn-ea"/>
              </a:rPr>
              <a:t>Many other special computing environments as well</a:t>
            </a:r>
          </a:p>
          <a:p>
            <a:pPr lvl="1"/>
            <a:r>
              <a:rPr lang="en-US" altLang="en-US" dirty="0">
                <a:latin typeface="+mn-ea"/>
                <a:ea typeface="+mn-ea"/>
              </a:rPr>
              <a:t>Some have OSes, some perform tasks without an OS</a:t>
            </a:r>
          </a:p>
          <a:p>
            <a:r>
              <a:rPr lang="en-US" altLang="en-US" sz="2000" dirty="0">
                <a:latin typeface="+mn-ea"/>
                <a:ea typeface="+mn-ea"/>
              </a:rPr>
              <a:t>Real-time OS has well-defined fixed time constraints</a:t>
            </a:r>
          </a:p>
          <a:p>
            <a:pPr lvl="1"/>
            <a:r>
              <a:rPr lang="en-US" altLang="en-US" dirty="0">
                <a:latin typeface="+mn-ea"/>
                <a:ea typeface="+mn-ea"/>
              </a:rPr>
              <a:t>Processing </a:t>
            </a:r>
            <a:r>
              <a:rPr lang="en-US" altLang="en-US" b="1" i="1" dirty="0">
                <a:latin typeface="+mn-ea"/>
                <a:ea typeface="+mn-ea"/>
              </a:rPr>
              <a:t>must</a:t>
            </a:r>
            <a:r>
              <a:rPr lang="en-US" altLang="en-US" dirty="0">
                <a:latin typeface="+mn-ea"/>
                <a:ea typeface="+mn-ea"/>
              </a:rPr>
              <a:t> be done within constraint</a:t>
            </a:r>
          </a:p>
          <a:p>
            <a:pPr lvl="1"/>
            <a:r>
              <a:rPr lang="en-US" altLang="en-US" dirty="0">
                <a:latin typeface="+mn-ea"/>
                <a:ea typeface="+mn-ea"/>
              </a:rPr>
              <a:t>Correct operation only if constraints met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dirty="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982487"/>
          </a:xfrm>
        </p:spPr>
        <p:txBody>
          <a:bodyPr/>
          <a:lstStyle/>
          <a:p>
            <a:r>
              <a:rPr lang="en-US" altLang="en-US" dirty="0">
                <a:latin typeface="+mn-ea"/>
                <a:ea typeface="+mn-ea"/>
              </a:rPr>
              <a:t>Operating systems made available in source-code format rather than just binary </a:t>
            </a:r>
            <a:r>
              <a:rPr lang="en-US" altLang="en-US" b="1" kern="1200" dirty="0">
                <a:solidFill>
                  <a:srgbClr val="006699"/>
                </a:solidFill>
                <a:latin typeface="+mn-ea"/>
                <a:ea typeface="+mn-ea"/>
                <a:cs typeface="+mn-cs"/>
              </a:rPr>
              <a:t>closed-source</a:t>
            </a:r>
            <a:r>
              <a:rPr lang="en-US" altLang="en-US" b="1" dirty="0">
                <a:solidFill>
                  <a:srgbClr val="3366FF"/>
                </a:solidFill>
                <a:latin typeface="+mn-ea"/>
                <a:ea typeface="+mn-ea"/>
              </a:rPr>
              <a:t> </a:t>
            </a:r>
            <a:r>
              <a:rPr lang="en-US" altLang="en-US" dirty="0">
                <a:latin typeface="+mn-ea"/>
                <a:ea typeface="+mn-ea"/>
              </a:rPr>
              <a:t>and</a:t>
            </a:r>
            <a:r>
              <a:rPr lang="en-US" altLang="en-US" b="1" dirty="0">
                <a:solidFill>
                  <a:srgbClr val="3366FF"/>
                </a:solidFill>
                <a:latin typeface="+mn-ea"/>
                <a:ea typeface="+mn-ea"/>
              </a:rPr>
              <a:t> </a:t>
            </a:r>
            <a:r>
              <a:rPr lang="en-US" altLang="en-US" b="1" kern="1200" dirty="0">
                <a:solidFill>
                  <a:srgbClr val="006699"/>
                </a:solidFill>
                <a:latin typeface="+mn-ea"/>
                <a:ea typeface="+mn-ea"/>
                <a:cs typeface="+mn-cs"/>
              </a:rPr>
              <a:t>proprietary</a:t>
            </a:r>
          </a:p>
          <a:p>
            <a:r>
              <a:rPr lang="en-US" altLang="en-US" dirty="0">
                <a:latin typeface="+mn-ea"/>
                <a:ea typeface="+mn-ea"/>
              </a:rPr>
              <a:t>Counter to the </a:t>
            </a:r>
            <a:r>
              <a:rPr lang="en-US" altLang="en-US" b="1" kern="1200" dirty="0">
                <a:solidFill>
                  <a:srgbClr val="006699"/>
                </a:solidFill>
                <a:latin typeface="+mn-ea"/>
                <a:ea typeface="+mn-ea"/>
                <a:cs typeface="+mn-cs"/>
              </a:rPr>
              <a:t>copy protection </a:t>
            </a:r>
            <a:r>
              <a:rPr lang="en-US" altLang="en-US" dirty="0">
                <a:solidFill>
                  <a:srgbClr val="000000"/>
                </a:solidFill>
                <a:latin typeface="+mn-ea"/>
                <a:ea typeface="+mn-ea"/>
              </a:rPr>
              <a:t>and </a:t>
            </a:r>
            <a:r>
              <a:rPr lang="en-US" altLang="en-US" b="1" kern="1200" dirty="0">
                <a:solidFill>
                  <a:srgbClr val="006699"/>
                </a:solidFill>
                <a:latin typeface="+mn-ea"/>
                <a:ea typeface="+mn-ea"/>
                <a:cs typeface="+mn-cs"/>
              </a:rPr>
              <a:t>Digital Rights Management </a:t>
            </a:r>
            <a:r>
              <a:rPr lang="en-US" altLang="en-US" dirty="0">
                <a:latin typeface="+mn-ea"/>
                <a:ea typeface="+mn-ea"/>
              </a:rPr>
              <a:t>(</a:t>
            </a:r>
            <a:r>
              <a:rPr lang="en-US" altLang="en-US" b="1" kern="1200" dirty="0">
                <a:solidFill>
                  <a:srgbClr val="006699"/>
                </a:solidFill>
                <a:latin typeface="+mn-ea"/>
                <a:ea typeface="+mn-ea"/>
                <a:cs typeface="+mn-cs"/>
              </a:rPr>
              <a:t>DRM</a:t>
            </a:r>
            <a:r>
              <a:rPr lang="en-US" altLang="en-US" dirty="0">
                <a:latin typeface="+mn-ea"/>
                <a:ea typeface="+mn-ea"/>
              </a:rPr>
              <a:t>) </a:t>
            </a:r>
            <a:r>
              <a:rPr lang="en-US" altLang="en-US" dirty="0">
                <a:solidFill>
                  <a:srgbClr val="000000"/>
                </a:solidFill>
                <a:latin typeface="+mn-ea"/>
                <a:ea typeface="+mn-ea"/>
              </a:rPr>
              <a:t>movement</a:t>
            </a:r>
          </a:p>
          <a:p>
            <a:r>
              <a:rPr lang="en-US" altLang="en-US" dirty="0">
                <a:solidFill>
                  <a:srgbClr val="000000"/>
                </a:solidFill>
                <a:latin typeface="+mn-ea"/>
                <a:ea typeface="+mn-ea"/>
              </a:rPr>
              <a:t>Started by </a:t>
            </a:r>
            <a:r>
              <a:rPr lang="en-US" altLang="en-US" b="1" kern="1200" dirty="0">
                <a:solidFill>
                  <a:srgbClr val="006699"/>
                </a:solidFill>
                <a:latin typeface="+mn-ea"/>
                <a:ea typeface="+mn-ea"/>
                <a:cs typeface="+mn-cs"/>
              </a:rPr>
              <a:t>Free Software Foundation </a:t>
            </a:r>
            <a:r>
              <a:rPr lang="en-US" altLang="en-US" dirty="0">
                <a:solidFill>
                  <a:srgbClr val="000000"/>
                </a:solidFill>
                <a:latin typeface="+mn-ea"/>
                <a:ea typeface="+mn-ea"/>
              </a:rPr>
              <a:t>(</a:t>
            </a:r>
            <a:r>
              <a:rPr lang="en-US" altLang="en-US" b="1" kern="1200" dirty="0">
                <a:solidFill>
                  <a:srgbClr val="006699"/>
                </a:solidFill>
                <a:latin typeface="+mn-ea"/>
                <a:ea typeface="+mn-ea"/>
                <a:cs typeface="+mn-cs"/>
              </a:rPr>
              <a:t>FSF</a:t>
            </a:r>
            <a:r>
              <a:rPr lang="en-US" altLang="en-US" dirty="0">
                <a:latin typeface="+mn-ea"/>
                <a:ea typeface="+mn-ea"/>
              </a:rPr>
              <a:t>)</a:t>
            </a:r>
            <a:r>
              <a:rPr lang="en-US" altLang="en-US" dirty="0">
                <a:solidFill>
                  <a:srgbClr val="000000"/>
                </a:solidFill>
                <a:latin typeface="+mn-ea"/>
                <a:ea typeface="+mn-ea"/>
              </a:rPr>
              <a:t>, which has </a:t>
            </a:r>
            <a:r>
              <a:rPr lang="ja-JP" altLang="en-US" dirty="0">
                <a:solidFill>
                  <a:srgbClr val="000000"/>
                </a:solidFill>
                <a:latin typeface="+mn-ea"/>
                <a:ea typeface="+mn-ea"/>
              </a:rPr>
              <a:t>“</a:t>
            </a:r>
            <a:r>
              <a:rPr lang="en-US" altLang="ja-JP" dirty="0">
                <a:solidFill>
                  <a:srgbClr val="000000"/>
                </a:solidFill>
                <a:latin typeface="+mn-ea"/>
                <a:ea typeface="+mn-ea"/>
              </a:rPr>
              <a:t>copyleft</a:t>
            </a:r>
            <a:r>
              <a:rPr lang="ja-JP" altLang="en-US" dirty="0">
                <a:solidFill>
                  <a:srgbClr val="000000"/>
                </a:solidFill>
                <a:latin typeface="+mn-ea"/>
                <a:ea typeface="+mn-ea"/>
              </a:rPr>
              <a:t>”</a:t>
            </a:r>
            <a:r>
              <a:rPr lang="en-US" altLang="ja-JP" dirty="0">
                <a:solidFill>
                  <a:srgbClr val="000000"/>
                </a:solidFill>
                <a:latin typeface="+mn-ea"/>
                <a:ea typeface="+mn-ea"/>
              </a:rPr>
              <a:t> </a:t>
            </a:r>
            <a:r>
              <a:rPr lang="en-US" altLang="ja-JP" b="1" kern="1200" dirty="0">
                <a:solidFill>
                  <a:srgbClr val="006699"/>
                </a:solidFill>
                <a:latin typeface="+mn-ea"/>
                <a:ea typeface="+mn-ea"/>
                <a:cs typeface="+mn-cs"/>
              </a:rPr>
              <a:t>GNU Public License </a:t>
            </a:r>
            <a:r>
              <a:rPr lang="en-US" altLang="ja-JP" dirty="0">
                <a:latin typeface="+mn-ea"/>
                <a:ea typeface="+mn-ea"/>
              </a:rPr>
              <a:t>(</a:t>
            </a:r>
            <a:r>
              <a:rPr lang="en-US" altLang="ja-JP" b="1" kern="1200" dirty="0">
                <a:solidFill>
                  <a:srgbClr val="006699"/>
                </a:solidFill>
                <a:latin typeface="+mn-ea"/>
                <a:ea typeface="+mn-ea"/>
                <a:cs typeface="+mn-cs"/>
              </a:rPr>
              <a:t>GPL</a:t>
            </a:r>
            <a:r>
              <a:rPr lang="en-US" altLang="ja-JP" dirty="0">
                <a:latin typeface="+mn-ea"/>
                <a:ea typeface="+mn-ea"/>
              </a:rPr>
              <a:t>)</a:t>
            </a:r>
          </a:p>
          <a:p>
            <a:pPr lvl="1"/>
            <a:r>
              <a:rPr lang="en-US" altLang="en-US" dirty="0">
                <a:latin typeface="+mn-ea"/>
                <a:ea typeface="+mn-ea"/>
              </a:rPr>
              <a:t>Free software and open-source software are two different ideas championed by different groups of people</a:t>
            </a:r>
          </a:p>
          <a:p>
            <a:pPr lvl="2"/>
            <a:r>
              <a:rPr lang="en-US" altLang="en-US" b="1" dirty="0">
                <a:solidFill>
                  <a:srgbClr val="663300"/>
                </a:solidFill>
                <a:latin typeface="+mn-ea"/>
                <a:ea typeface="+mn-ea"/>
              </a:rPr>
              <a:t>https://www.gnu.org/philosophy/open-source-misses-the-point.en.html</a:t>
            </a:r>
          </a:p>
          <a:p>
            <a:r>
              <a:rPr lang="en-US" altLang="en-US" dirty="0">
                <a:solidFill>
                  <a:srgbClr val="000000"/>
                </a:solidFill>
                <a:latin typeface="+mn-ea"/>
                <a:ea typeface="+mn-ea"/>
              </a:rPr>
              <a:t>Examples include </a:t>
            </a:r>
            <a:r>
              <a:rPr lang="en-US" altLang="en-US" b="1" kern="1200" dirty="0">
                <a:solidFill>
                  <a:srgbClr val="006699"/>
                </a:solidFill>
                <a:latin typeface="+mn-ea"/>
                <a:ea typeface="+mn-ea"/>
                <a:cs typeface="+mn-cs"/>
              </a:rPr>
              <a:t>GNU/Linux </a:t>
            </a:r>
            <a:r>
              <a:rPr lang="en-US" altLang="en-US" dirty="0">
                <a:latin typeface="+mn-ea"/>
                <a:ea typeface="+mn-ea"/>
              </a:rPr>
              <a:t>and </a:t>
            </a:r>
            <a:r>
              <a:rPr lang="en-US" altLang="en-US" b="1" kern="1200" dirty="0">
                <a:solidFill>
                  <a:srgbClr val="006699"/>
                </a:solidFill>
                <a:latin typeface="+mn-ea"/>
                <a:ea typeface="+mn-ea"/>
                <a:cs typeface="+mn-cs"/>
              </a:rPr>
              <a:t>BSD UNIX </a:t>
            </a:r>
            <a:r>
              <a:rPr lang="en-US" altLang="en-US" dirty="0">
                <a:solidFill>
                  <a:srgbClr val="000000"/>
                </a:solidFill>
                <a:latin typeface="+mn-ea"/>
                <a:ea typeface="+mn-ea"/>
              </a:rPr>
              <a:t>(including core of </a:t>
            </a:r>
            <a:r>
              <a:rPr lang="en-US" altLang="en-US" b="1" kern="1200" dirty="0">
                <a:solidFill>
                  <a:srgbClr val="006699"/>
                </a:solidFill>
                <a:latin typeface="+mn-ea"/>
                <a:ea typeface="+mn-ea"/>
                <a:cs typeface="+mn-cs"/>
              </a:rPr>
              <a:t>Mac</a:t>
            </a:r>
            <a:r>
              <a:rPr lang="en-US" altLang="en-US" b="1" dirty="0">
                <a:solidFill>
                  <a:srgbClr val="3366FF"/>
                </a:solidFill>
                <a:latin typeface="+mn-ea"/>
                <a:ea typeface="+mn-ea"/>
              </a:rPr>
              <a:t> </a:t>
            </a:r>
            <a:r>
              <a:rPr lang="en-US" altLang="en-US" b="1" kern="1200" dirty="0">
                <a:solidFill>
                  <a:srgbClr val="006699"/>
                </a:solidFill>
                <a:latin typeface="+mn-ea"/>
                <a:ea typeface="+mn-ea"/>
                <a:cs typeface="+mn-cs"/>
              </a:rPr>
              <a:t>OS X</a:t>
            </a:r>
            <a:r>
              <a:rPr lang="en-US" altLang="en-US" dirty="0">
                <a:solidFill>
                  <a:srgbClr val="000000"/>
                </a:solidFill>
                <a:latin typeface="+mn-ea"/>
                <a:ea typeface="+mn-ea"/>
              </a:rPr>
              <a:t>), and many more</a:t>
            </a:r>
          </a:p>
          <a:p>
            <a:r>
              <a:rPr lang="en-US" altLang="en-US" dirty="0">
                <a:solidFill>
                  <a:srgbClr val="000000"/>
                </a:solidFill>
                <a:latin typeface="+mn-ea"/>
                <a:ea typeface="+mn-ea"/>
              </a:rPr>
              <a:t>Can use VMM like VMware Player (Free on Windows), </a:t>
            </a:r>
            <a:r>
              <a:rPr lang="en-US" altLang="en-US" dirty="0" err="1">
                <a:solidFill>
                  <a:srgbClr val="000000"/>
                </a:solidFill>
                <a:latin typeface="+mn-ea"/>
                <a:ea typeface="+mn-ea"/>
              </a:rPr>
              <a:t>Virtualbox</a:t>
            </a:r>
            <a:r>
              <a:rPr lang="en-US" altLang="en-US" dirty="0">
                <a:solidFill>
                  <a:srgbClr val="000000"/>
                </a:solidFill>
                <a:latin typeface="+mn-ea"/>
                <a:ea typeface="+mn-ea"/>
              </a:rPr>
              <a:t> (open source and free on many platforms - </a:t>
            </a:r>
            <a:r>
              <a:rPr lang="en-US" altLang="en-US" dirty="0">
                <a:latin typeface="+mn-ea"/>
                <a:ea typeface="+mn-ea"/>
              </a:rPr>
              <a:t>http://www.virtualbox.com) </a:t>
            </a:r>
          </a:p>
          <a:p>
            <a:pPr lvl="1"/>
            <a:r>
              <a:rPr lang="en-US" altLang="en-US" dirty="0">
                <a:solidFill>
                  <a:srgbClr val="000000"/>
                </a:solidFill>
                <a:latin typeface="+mn-ea"/>
                <a:ea typeface="+mn-ea"/>
              </a:rPr>
              <a:t>Use to run guest operating systems for exploration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dirty="0"/>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dirty="0"/>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dirty="0"/>
              <a:t>Kernel Data Structures </a:t>
            </a:r>
            <a:r>
              <a:rPr lang="zh-CN" altLang="en-US" dirty="0"/>
              <a:t>（</a:t>
            </a:r>
            <a:r>
              <a:rPr lang="en-US" altLang="zh-CN" dirty="0" err="1"/>
              <a:t>Con’d</a:t>
            </a:r>
            <a:r>
              <a:rPr lang="en-US" altLang="zh-CN" dirty="0"/>
              <a:t>)</a:t>
            </a:r>
            <a:r>
              <a:rPr lang="en-US" altLang="en-US" dirty="0"/>
              <a:t> </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967562" y="1052624"/>
            <a:ext cx="7304567" cy="1371599"/>
          </a:xfrm>
        </p:spPr>
        <p:txBody>
          <a:bodyPr/>
          <a:lstStyle/>
          <a:p>
            <a:r>
              <a:rPr lang="en-US" altLang="en-US" sz="2000" b="1" dirty="0">
                <a:solidFill>
                  <a:srgbClr val="3366FF"/>
                </a:solidFill>
              </a:rPr>
              <a:t>Binary search tree </a:t>
            </a:r>
            <a:r>
              <a:rPr lang="en-US" altLang="en-US" sz="2000" dirty="0"/>
              <a:t>left &lt;= right</a:t>
            </a:r>
          </a:p>
          <a:p>
            <a:pPr lvl="1"/>
            <a:r>
              <a:rPr lang="en-US" altLang="en-US" sz="1800" dirty="0"/>
              <a:t>Search performance is </a:t>
            </a:r>
            <a:r>
              <a:rPr lang="en-US" altLang="en-US" sz="1800" i="1" dirty="0"/>
              <a:t>O</a:t>
            </a:r>
            <a:r>
              <a:rPr lang="en-US" altLang="en-US" sz="1800" dirty="0"/>
              <a:t>(</a:t>
            </a:r>
            <a:r>
              <a:rPr lang="en-US" altLang="en-US" sz="1800" i="1" dirty="0"/>
              <a:t>n</a:t>
            </a:r>
            <a:r>
              <a:rPr lang="en-US" altLang="en-US" sz="1800" dirty="0"/>
              <a:t>)</a:t>
            </a:r>
          </a:p>
          <a:p>
            <a:pPr lvl="1"/>
            <a:r>
              <a:rPr lang="en-US" altLang="en-US" sz="1800" b="1" dirty="0">
                <a:solidFill>
                  <a:srgbClr val="3366FF"/>
                </a:solidFill>
              </a:rPr>
              <a:t>Balanced binary search tree </a:t>
            </a:r>
            <a:r>
              <a:rPr lang="en-US" altLang="en-US" sz="1800" dirty="0"/>
              <a:t>is </a:t>
            </a:r>
            <a:r>
              <a:rPr lang="en-US" altLang="en-US" sz="1800" i="1" dirty="0"/>
              <a:t>O</a:t>
            </a:r>
            <a:r>
              <a:rPr lang="en-US" altLang="en-US" sz="1800" dirty="0"/>
              <a:t>(</a:t>
            </a:r>
            <a:r>
              <a:rPr lang="en-US" altLang="en-US" sz="1800" i="1" dirty="0"/>
              <a:t>log n</a:t>
            </a:r>
            <a:r>
              <a:rPr lang="en-US" altLang="en-US" sz="1800" dirty="0"/>
              <a:t>)</a:t>
            </a:r>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0657" y="2788437"/>
            <a:ext cx="3642685" cy="284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dirty="0"/>
              <a:t>Kernel Data Structures </a:t>
            </a:r>
            <a:r>
              <a:rPr lang="zh-CN" altLang="en-US" dirty="0"/>
              <a:t>（</a:t>
            </a:r>
            <a:r>
              <a:rPr lang="en-US" altLang="zh-CN" dirty="0" err="1"/>
              <a:t>Con’d</a:t>
            </a:r>
            <a:r>
              <a:rPr lang="en-US" altLang="zh-CN" dirty="0"/>
              <a:t>)</a:t>
            </a:r>
            <a:endParaRPr lang="en-US" altLang="en-US" dirty="0"/>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8018573" cy="4593154"/>
          </a:xfrm>
        </p:spPr>
        <p:txBody>
          <a:bodyPr/>
          <a:lstStyle/>
          <a:p>
            <a:r>
              <a:rPr lang="en-US" altLang="en-US" sz="2000" b="1" dirty="0">
                <a:solidFill>
                  <a:srgbClr val="3366FF"/>
                </a:solidFill>
              </a:rPr>
              <a:t>Hash function </a:t>
            </a:r>
            <a:r>
              <a:rPr lang="en-US" altLang="en-US" sz="2000" dirty="0"/>
              <a:t>can create a</a:t>
            </a:r>
            <a:r>
              <a:rPr lang="en-US" altLang="en-US" sz="2000" b="1" dirty="0">
                <a:solidFill>
                  <a:srgbClr val="3366FF"/>
                </a:solidFill>
              </a:rPr>
              <a:t> hash map</a:t>
            </a: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pPr>
              <a:buFont typeface="Monotype Sorts" pitchFamily="-84" charset="2"/>
              <a:buNone/>
            </a:pPr>
            <a:endParaRPr lang="en-US" altLang="en-US" sz="2000" b="1" i="1" dirty="0">
              <a:solidFill>
                <a:srgbClr val="3366FF"/>
              </a:solidFill>
            </a:endParaRPr>
          </a:p>
          <a:p>
            <a:r>
              <a:rPr lang="en-US" altLang="en-US" sz="2000" b="1" dirty="0">
                <a:solidFill>
                  <a:srgbClr val="3366FF"/>
                </a:solidFill>
              </a:rPr>
              <a:t>Bitmap</a:t>
            </a:r>
            <a:r>
              <a:rPr lang="en-US" altLang="en-US" sz="2000" dirty="0"/>
              <a:t> – string of </a:t>
            </a:r>
            <a:r>
              <a:rPr lang="en-US" altLang="en-US" sz="2000" i="1" dirty="0"/>
              <a:t>n</a:t>
            </a:r>
            <a:r>
              <a:rPr lang="en-US" altLang="en-US" sz="2000" dirty="0"/>
              <a:t> binary digits representing the status of </a:t>
            </a:r>
            <a:r>
              <a:rPr lang="en-US" altLang="en-US" sz="2000" i="1" dirty="0"/>
              <a:t>n</a:t>
            </a:r>
            <a:r>
              <a:rPr lang="en-US" altLang="en-US" sz="2000" dirty="0"/>
              <a:t> items</a:t>
            </a:r>
          </a:p>
          <a:p>
            <a:r>
              <a:rPr lang="en-US" altLang="en-US" sz="2000" dirty="0"/>
              <a:t>Linux data structures defined in </a:t>
            </a:r>
            <a:r>
              <a:rPr lang="en-US" altLang="en-US" sz="2000" b="1" i="1" dirty="0"/>
              <a:t>include</a:t>
            </a:r>
            <a:r>
              <a:rPr lang="en-US" altLang="en-US" sz="2000" dirty="0"/>
              <a:t> files </a:t>
            </a:r>
            <a:r>
              <a:rPr lang="en-US" altLang="en-US" sz="2000" dirty="0">
                <a:latin typeface="Courier New" panose="02070309020205020404" pitchFamily="49" charset="0"/>
                <a:cs typeface="Courier New" panose="02070309020205020404" pitchFamily="49" charset="0"/>
              </a:rPr>
              <a:t>&lt;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list.h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kfifo.h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rbtree.h</a:t>
            </a:r>
            <a:r>
              <a:rPr lang="en-US" altLang="en-US" sz="2000" dirty="0">
                <a:latin typeface="Courier New" panose="02070309020205020404" pitchFamily="49" charset="0"/>
                <a:cs typeface="Courier New" panose="02070309020205020404" pitchFamily="49" charset="0"/>
              </a:rPr>
              <a:t>&gt;</a:t>
            </a:r>
            <a:endParaRPr lang="en-US" altLang="en-US" sz="2000" dirty="0"/>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11901</TotalTime>
  <Words>2332</Words>
  <Application>Microsoft Office PowerPoint</Application>
  <PresentationFormat>全屏显示(4:3)</PresentationFormat>
  <Paragraphs>281</Paragraphs>
  <Slides>37</Slides>
  <Notes>26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37</vt:i4>
      </vt:variant>
    </vt:vector>
  </HeadingPairs>
  <TitlesOfParts>
    <vt:vector size="47" baseType="lpstr">
      <vt:lpstr>Helvetica</vt:lpstr>
      <vt:lpstr>Monotype Sorts</vt:lpstr>
      <vt:lpstr>ＭＳ Ｐゴシック</vt:lpstr>
      <vt:lpstr>Arial</vt:lpstr>
      <vt:lpstr>Courier New</vt:lpstr>
      <vt:lpstr>Times New Roman</vt:lpstr>
      <vt:lpstr>Verdana</vt:lpstr>
      <vt:lpstr>Webdings</vt:lpstr>
      <vt:lpstr>Wingdings</vt:lpstr>
      <vt:lpstr>os-8</vt:lpstr>
      <vt:lpstr>Chapter 1 ： Introduction (2)</vt:lpstr>
      <vt:lpstr>Process Management</vt:lpstr>
      <vt:lpstr>Process Management Activities</vt:lpstr>
      <vt:lpstr>Memory Management</vt:lpstr>
      <vt:lpstr>Caching</vt:lpstr>
      <vt:lpstr>Migration of Data “A” from Disk to Register</vt:lpstr>
      <vt:lpstr>File-System Management</vt:lpstr>
      <vt:lpstr>Mass-Storage Management</vt:lpstr>
      <vt:lpstr>Characteristics of Various Types of Storage</vt:lpstr>
      <vt:lpstr>I/O Subsystem</vt:lpstr>
      <vt:lpstr>Protection and Security</vt:lpstr>
      <vt:lpstr>Virtualization (1)</vt:lpstr>
      <vt:lpstr>Virtualization (2)</vt:lpstr>
      <vt:lpstr>Computing Environments - Virtualization</vt:lpstr>
      <vt:lpstr>Distributed Systems</vt:lpstr>
      <vt:lpstr>Computer-System Architecture</vt:lpstr>
      <vt:lpstr>Symmetric Multiprocessing Architecture</vt:lpstr>
      <vt:lpstr>Dual-Core Design</vt:lpstr>
      <vt:lpstr>Non-Uniform Memory Access System</vt:lpstr>
      <vt:lpstr>Clustered Systems</vt:lpstr>
      <vt:lpstr>Clustered Systems</vt:lpstr>
      <vt:lpstr>PC Motherboard</vt:lpstr>
      <vt:lpstr>Computing Environments</vt:lpstr>
      <vt:lpstr>Traditional</vt:lpstr>
      <vt:lpstr>Mobile</vt:lpstr>
      <vt:lpstr>Client Server</vt:lpstr>
      <vt:lpstr>Peer-to-Peer</vt:lpstr>
      <vt:lpstr>Cloud Computing</vt:lpstr>
      <vt:lpstr>Cloud Computing (Cont.)</vt:lpstr>
      <vt:lpstr>PowerPoint 演示文稿</vt:lpstr>
      <vt:lpstr>Real-Time Embedded Systems</vt:lpstr>
      <vt:lpstr>Free and Open-Source Operating Systems</vt:lpstr>
      <vt:lpstr>The Study of Operating Systems</vt:lpstr>
      <vt:lpstr>Kernel Data Structures</vt:lpstr>
      <vt:lpstr>Kernel Data Structures （Con’d) </vt:lpstr>
      <vt:lpstr>Kernel Data Structures （Con’d)</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YCHUNG</cp:lastModifiedBy>
  <cp:revision>302</cp:revision>
  <cp:lastPrinted>2001-06-14T13:58:17Z</cp:lastPrinted>
  <dcterms:created xsi:type="dcterms:W3CDTF">2011-01-13T23:43:38Z</dcterms:created>
  <dcterms:modified xsi:type="dcterms:W3CDTF">2025-09-10T23:31:54Z</dcterms:modified>
</cp:coreProperties>
</file>