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29"/>
  </p:notesMasterIdLst>
  <p:handoutMasterIdLst>
    <p:handoutMasterId r:id="rId30"/>
  </p:handoutMasterIdLst>
  <p:sldIdLst>
    <p:sldId id="331" r:id="rId2"/>
    <p:sldId id="332" r:id="rId3"/>
    <p:sldId id="333" r:id="rId4"/>
    <p:sldId id="334" r:id="rId5"/>
    <p:sldId id="335" r:id="rId6"/>
    <p:sldId id="336" r:id="rId7"/>
    <p:sldId id="401" r:id="rId8"/>
    <p:sldId id="402" r:id="rId9"/>
    <p:sldId id="337" r:id="rId10"/>
    <p:sldId id="338" r:id="rId11"/>
    <p:sldId id="340" r:id="rId12"/>
    <p:sldId id="341" r:id="rId13"/>
    <p:sldId id="403" r:id="rId14"/>
    <p:sldId id="419" r:id="rId15"/>
    <p:sldId id="421" r:id="rId16"/>
    <p:sldId id="345" r:id="rId17"/>
    <p:sldId id="422" r:id="rId18"/>
    <p:sldId id="424" r:id="rId19"/>
    <p:sldId id="423" r:id="rId20"/>
    <p:sldId id="350" r:id="rId21"/>
    <p:sldId id="351" r:id="rId22"/>
    <p:sldId id="352" r:id="rId23"/>
    <p:sldId id="353" r:id="rId24"/>
    <p:sldId id="348" r:id="rId25"/>
    <p:sldId id="425" r:id="rId26"/>
    <p:sldId id="427" r:id="rId27"/>
    <p:sldId id="417" r:id="rId28"/>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p:scale>
          <a:sx n="50" d="100"/>
          <a:sy n="50" d="100"/>
        </p:scale>
        <p:origin x="1668" y="23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0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239485" y="782638"/>
            <a:ext cx="8545285" cy="2127250"/>
          </a:xfrm>
        </p:spPr>
        <p:txBody>
          <a:bodyPr/>
          <a:lstStyle/>
          <a:p>
            <a:pPr eaLnBrk="1" hangingPunct="1"/>
            <a:r>
              <a:rPr lang="en-US" altLang="en-US" dirty="0"/>
              <a:t>Chapter 5</a:t>
            </a:r>
            <a:br>
              <a:rPr lang="en-US" altLang="en-US" dirty="0"/>
            </a:br>
            <a:r>
              <a:rPr lang="en-US" altLang="en-US" dirty="0"/>
              <a:t>CPU Scheduling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sz="2000" dirty="0"/>
              <a:t>Basic Concepts</a:t>
            </a:r>
          </a:p>
          <a:p>
            <a:r>
              <a:rPr lang="en-US" altLang="en-US" sz="2000" dirty="0"/>
              <a:t>Scheduling Criteria </a:t>
            </a:r>
          </a:p>
          <a:p>
            <a:r>
              <a:rPr lang="en-US" altLang="en-US" sz="2000" dirty="0"/>
              <a:t>Scheduling Algorithms</a:t>
            </a:r>
          </a:p>
          <a:p>
            <a:r>
              <a:rPr lang="en-US" altLang="en-US" sz="2000" dirty="0"/>
              <a:t>Thread Scheduling</a:t>
            </a:r>
          </a:p>
          <a:p>
            <a:r>
              <a:rPr lang="en-US" altLang="en-US" sz="2000" dirty="0"/>
              <a:t>Multi-Processor Scheduling</a:t>
            </a:r>
          </a:p>
          <a:p>
            <a:r>
              <a:rPr lang="en-US" altLang="en-US" sz="2000" dirty="0"/>
              <a:t>Real-Time CPU Scheduling</a:t>
            </a:r>
          </a:p>
          <a:p>
            <a:r>
              <a:rPr lang="en-US" altLang="en-US" sz="2000" dirty="0"/>
              <a:t>Operating Systems Examples</a:t>
            </a:r>
          </a:p>
          <a:p>
            <a:r>
              <a:rPr lang="en-US" altLang="en-US" sz="2000"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833960" cy="4400395"/>
          </a:xfrm>
        </p:spPr>
        <p:txBody>
          <a:bodyPr/>
          <a:lstStyle/>
          <a:p>
            <a:r>
              <a:rPr lang="en-US" altLang="en-US" sz="2000" dirty="0"/>
              <a:t>Describe various CPU scheduling algorithms</a:t>
            </a:r>
          </a:p>
          <a:p>
            <a:r>
              <a:rPr lang="en-US" altLang="en-US" sz="2000" dirty="0"/>
              <a:t>Assess CPU scheduling algorithms based on scheduling criteria</a:t>
            </a:r>
          </a:p>
          <a:p>
            <a:r>
              <a:rPr lang="en-US" altLang="en-US" sz="2000" dirty="0"/>
              <a:t>Explain the issues related to multiprocessor and multicore scheduling</a:t>
            </a:r>
          </a:p>
          <a:p>
            <a:r>
              <a:rPr lang="en-US" altLang="en-US" sz="2000" dirty="0"/>
              <a:t>Describe various real-time scheduling algorithms</a:t>
            </a:r>
          </a:p>
          <a:p>
            <a:r>
              <a:rPr lang="en-US" altLang="en-US" sz="2000" dirty="0"/>
              <a:t>Describe the scheduling algorithms used in the Windows, Linux, and Solaris operating systems</a:t>
            </a:r>
          </a:p>
          <a:p>
            <a:r>
              <a:rPr lang="en-US" altLang="en-US" sz="2000"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457200" y="1579563"/>
            <a:ext cx="5308599" cy="2827337"/>
          </a:xfrm>
        </p:spPr>
        <p:txBody>
          <a:bodyPr/>
          <a:lstStyle/>
          <a:p>
            <a:r>
              <a:rPr lang="en-US" altLang="en-US" sz="2000" dirty="0"/>
              <a:t>Maximum CPU utilization obtained with multiprogramming</a:t>
            </a:r>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r>
              <a:rPr lang="en-US" altLang="en-US" sz="2000" b="1" dirty="0">
                <a:solidFill>
                  <a:srgbClr val="006699"/>
                </a:solidFill>
                <a:latin typeface="+mj-lt"/>
              </a:rPr>
              <a:t>CPU</a:t>
            </a:r>
            <a:r>
              <a:rPr lang="en-US" altLang="en-US" sz="2000" b="1" dirty="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r>
              <a:rPr lang="en-US" altLang="en-US" sz="2000" dirty="0"/>
              <a:t>CPU burst distribution is of main concern</a:t>
            </a:r>
          </a:p>
          <a:p>
            <a:pPr>
              <a:buFont typeface="Monotype Sorts" pitchFamily="-84" charset="2"/>
              <a:buNone/>
            </a:pPr>
            <a:endParaRPr lang="en-US" altLang="en-US" sz="2000"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070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411202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Large number of short bursts</a:t>
            </a:r>
          </a:p>
          <a:p>
            <a:pPr>
              <a:spcBef>
                <a:spcPct val="0"/>
              </a:spcBef>
              <a:buClrTx/>
              <a:buSzTx/>
              <a:buFontTx/>
              <a:buNone/>
            </a:pPr>
            <a:endParaRPr kumimoji="0" lang="en-US" altLang="en-US" sz="2000" dirty="0">
              <a:latin typeface="Verdana" panose="020B0604030504040204" pitchFamily="34" charset="0"/>
            </a:endParaRPr>
          </a:p>
          <a:p>
            <a:pPr>
              <a:spcBef>
                <a:spcPct val="0"/>
              </a:spcBef>
              <a:buClrTx/>
              <a:buSzTx/>
              <a:buFontTx/>
              <a:buNone/>
            </a:pPr>
            <a:r>
              <a:rPr kumimoji="0" lang="en-US" altLang="en-US" sz="2000" dirty="0">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507999" y="941389"/>
            <a:ext cx="8015515" cy="5590040"/>
          </a:xfrm>
        </p:spPr>
        <p:txBody>
          <a:bodyPr/>
          <a:lstStyle/>
          <a:p>
            <a:pPr>
              <a:defRPr/>
            </a:pPr>
            <a:r>
              <a:rPr lang="en-US" sz="2000" dirty="0">
                <a:ea typeface="ＭＳ Ｐゴシック" charset="0"/>
                <a:cs typeface="ＭＳ Ｐゴシック" charset="0"/>
              </a:rPr>
              <a:t>The</a:t>
            </a:r>
            <a:r>
              <a:rPr lang="en-US" sz="2000" b="1" dirty="0">
                <a:solidFill>
                  <a:srgbClr val="3366FF"/>
                </a:solidFill>
                <a:ea typeface="ＭＳ Ｐゴシック" charset="0"/>
                <a:cs typeface="ＭＳ Ｐゴシック" charset="0"/>
              </a:rPr>
              <a:t> </a:t>
            </a:r>
            <a:r>
              <a:rPr lang="en-US" sz="2000" b="1" dirty="0">
                <a:solidFill>
                  <a:srgbClr val="006699"/>
                </a:solidFill>
                <a:latin typeface="+mj-lt"/>
              </a:rPr>
              <a:t>CPU scheduler </a:t>
            </a:r>
            <a:r>
              <a:rPr lang="en-US" sz="2000" dirty="0">
                <a:ea typeface="ＭＳ Ｐゴシック" charset="-128"/>
                <a:cs typeface="ＭＳ Ｐゴシック" charset="-128"/>
              </a:rPr>
              <a:t>selects from among the processes in ready queue, and allocates a CPU core to one of them</a:t>
            </a:r>
          </a:p>
          <a:p>
            <a:pPr marL="742835" lvl="1">
              <a:defRPr/>
            </a:pPr>
            <a:r>
              <a:rPr lang="en-US" sz="2000" dirty="0">
                <a:ea typeface="ＭＳ Ｐゴシック" charset="-128"/>
              </a:rPr>
              <a:t>Queue may be ordered in various ways</a:t>
            </a:r>
          </a:p>
          <a:p>
            <a:pPr>
              <a:defRPr/>
            </a:pPr>
            <a:r>
              <a:rPr lang="en-US" sz="2000"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buFont typeface="Monotype Sorts" pitchFamily="-84" charset="2"/>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buFont typeface="Monotype Sorts" pitchFamily="-84" charset="2"/>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buFont typeface="Monotype Sorts" charset="2"/>
              <a:buAutoNum type="arabicPeriod" startAt="4"/>
              <a:defRPr/>
            </a:pPr>
            <a:r>
              <a:rPr lang="en-US" sz="2000" dirty="0">
                <a:ea typeface="ＭＳ Ｐゴシック" charset="-128"/>
              </a:rPr>
              <a:t>Terminates</a:t>
            </a:r>
          </a:p>
          <a:p>
            <a:pPr>
              <a:defRPr/>
            </a:pPr>
            <a:endParaRPr lang="en-US" sz="2000" dirty="0">
              <a:ea typeface="ＭＳ Ｐゴシック" charset="-128"/>
              <a:cs typeface="ＭＳ Ｐゴシック" charset="-128"/>
            </a:endParaRPr>
          </a:p>
          <a:p>
            <a:pPr>
              <a:defRPr/>
            </a:pPr>
            <a:endParaRPr lang="en-US" sz="2000" dirty="0">
              <a:ea typeface="ＭＳ Ｐゴシック" charset="-128"/>
              <a:cs typeface="ＭＳ Ｐゴシック" charset="-128"/>
            </a:endParaRPr>
          </a:p>
          <a:p>
            <a:pPr>
              <a:defRPr/>
            </a:pPr>
            <a:r>
              <a:rPr lang="en-US" sz="2000" dirty="0">
                <a:ea typeface="ＭＳ Ｐゴシック" charset="-128"/>
                <a:cs typeface="ＭＳ Ｐゴシック" charset="-128"/>
              </a:rPr>
              <a:t>For situations 1 and 4, there is no choice in terms of scheduling</a:t>
            </a:r>
          </a:p>
          <a:p>
            <a:pPr lvl="1">
              <a:defRPr/>
            </a:pPr>
            <a:r>
              <a:rPr lang="en-US" sz="2000" dirty="0">
                <a:ea typeface="ＭＳ Ｐゴシック" charset="-128"/>
                <a:cs typeface="ＭＳ Ｐゴシック" charset="-128"/>
              </a:rPr>
              <a:t>A new process (if one exists in the ready queue) must be selected for execution. </a:t>
            </a:r>
          </a:p>
          <a:p>
            <a:pPr>
              <a:defRPr/>
            </a:pPr>
            <a:r>
              <a:rPr lang="en-US" sz="2000" dirty="0">
                <a:ea typeface="ＭＳ Ｐゴシック" charset="-128"/>
                <a:cs typeface="ＭＳ Ｐゴシック" charset="-128"/>
              </a:rPr>
              <a:t>For situations 2 and 3, however, there is  a choice.</a:t>
            </a:r>
            <a:endParaRPr lang="en-US" sz="2000" b="1" dirty="0">
              <a:solidFill>
                <a:srgbClr val="3366FF"/>
              </a:solidFill>
              <a:ea typeface="ＭＳ Ｐゴシック" charset="0"/>
              <a:cs typeface="ＭＳ Ｐゴシック" charset="0"/>
            </a:endParaRPr>
          </a:p>
        </p:txBody>
      </p:sp>
      <p:pic>
        <p:nvPicPr>
          <p:cNvPr id="2" name="Picture 1">
            <a:extLst>
              <a:ext uri="{FF2B5EF4-FFF2-40B4-BE49-F238E27FC236}">
                <a16:creationId xmlns:a16="http://schemas.microsoft.com/office/drawing/2014/main" id="{36AFA4A8-E13C-A58A-B876-9EB5AD004C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02944" y="3385457"/>
            <a:ext cx="3701144" cy="144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4"/>
            <a:ext cx="7538915" cy="4707181"/>
          </a:xfrm>
        </p:spPr>
        <p:txBody>
          <a:bodyPr/>
          <a:lstStyle/>
          <a:p>
            <a:pPr>
              <a:defRPr/>
            </a:pPr>
            <a:r>
              <a:rPr lang="en-US" sz="2000" dirty="0">
                <a:ea typeface="ＭＳ Ｐゴシック" charset="0"/>
              </a:rPr>
              <a:t>When scheduling takes place only under circumstances 1 and 4, the scheduling scheme is </a:t>
            </a:r>
            <a:r>
              <a:rPr lang="en-US" sz="2000" b="1" dirty="0">
                <a:solidFill>
                  <a:srgbClr val="006699"/>
                </a:solidFill>
                <a:latin typeface="+mj-lt"/>
              </a:rPr>
              <a:t>nonpreemptive</a:t>
            </a:r>
            <a:r>
              <a:rPr lang="en-US" sz="2000" dirty="0">
                <a:ea typeface="ＭＳ Ｐゴシック" charset="0"/>
              </a:rPr>
              <a:t>.</a:t>
            </a:r>
          </a:p>
          <a:p>
            <a:pPr>
              <a:defRPr/>
            </a:pPr>
            <a:r>
              <a:rPr lang="en-US" sz="2000" dirty="0">
                <a:ea typeface="ＭＳ Ｐゴシック" charset="0"/>
              </a:rPr>
              <a:t>Otherwise, it is </a:t>
            </a:r>
            <a:r>
              <a:rPr lang="en-US" sz="2000" b="1" dirty="0">
                <a:solidFill>
                  <a:srgbClr val="006699"/>
                </a:solidFill>
                <a:latin typeface="+mj-lt"/>
              </a:rPr>
              <a:t>preemptive</a:t>
            </a:r>
            <a:r>
              <a:rPr lang="en-US" sz="2000" dirty="0">
                <a:ea typeface="ＭＳ Ｐゴシック" charset="0"/>
              </a:rPr>
              <a:t>. </a:t>
            </a:r>
          </a:p>
          <a:p>
            <a:pPr>
              <a:defRPr/>
            </a:pPr>
            <a:r>
              <a:rPr lang="en-US" sz="20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000" dirty="0">
                <a:ea typeface="ＭＳ Ｐゴシック" charset="0"/>
              </a:rPr>
              <a:t>Virtually all modern operating systems including Windows, MacOS, Linux, and UNIX use preemptive scheduling algorithms.</a:t>
            </a:r>
            <a:endParaRPr lang="en-US" sz="20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5"/>
            <a:ext cx="7526215" cy="4621212"/>
          </a:xfrm>
        </p:spPr>
        <p:txBody>
          <a:bodyPr/>
          <a:lstStyle/>
          <a:p>
            <a:pPr>
              <a:defRPr/>
            </a:pPr>
            <a:r>
              <a:rPr lang="en-US" sz="2000" dirty="0">
                <a:ea typeface="ＭＳ Ｐゴシック" charset="0"/>
              </a:rPr>
              <a:t>Preemptive scheduling can result in race conditions when data are shared among several processes.</a:t>
            </a:r>
          </a:p>
          <a:p>
            <a:pPr>
              <a:defRPr/>
            </a:pPr>
            <a:r>
              <a:rPr lang="en-US" sz="20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sz="2000" dirty="0">
                <a:ea typeface="ＭＳ Ｐゴシック" charset="0"/>
              </a:rPr>
              <a:t>This issue will be explored in detail in Chapter 6.</a:t>
            </a:r>
            <a:endParaRPr lang="en-US" sz="2000"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2" y="1119235"/>
            <a:ext cx="4980217" cy="4515661"/>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r>
              <a:rPr lang="en-US" altLang="en-US" sz="2000" b="1" dirty="0">
                <a:solidFill>
                  <a:srgbClr val="006699"/>
                </a:solidFill>
                <a:latin typeface="+mj-lt"/>
              </a:rPr>
              <a:t>Dispatch 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38893"/>
          <a:stretch/>
        </p:blipFill>
        <p:spPr bwMode="auto">
          <a:xfrm>
            <a:off x="5556824" y="1109784"/>
            <a:ext cx="3315033"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Process Scheduling</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927100"/>
            <a:ext cx="7696200" cy="5386614"/>
          </a:xfrm>
        </p:spPr>
        <p:txBody>
          <a:bodyPr/>
          <a:lstStyle/>
          <a:p>
            <a:pPr>
              <a:spcBef>
                <a:spcPts val="600"/>
              </a:spcBef>
            </a:pPr>
            <a:r>
              <a:rPr lang="en-US" altLang="en-US" sz="2000" dirty="0"/>
              <a:t>Scheduling Criteria</a:t>
            </a:r>
          </a:p>
          <a:p>
            <a:pPr lvl="1">
              <a:spcBef>
                <a:spcPts val="600"/>
              </a:spcBef>
            </a:pPr>
            <a:r>
              <a:rPr lang="en-US" altLang="en-US" dirty="0"/>
              <a:t>CPU utilization – keep the CPU as busy as possible</a:t>
            </a:r>
          </a:p>
          <a:p>
            <a:pPr lvl="1">
              <a:spcBef>
                <a:spcPts val="600"/>
              </a:spcBef>
            </a:pPr>
            <a:r>
              <a:rPr lang="en-US" altLang="en-US" dirty="0"/>
              <a:t>Throughput – # of processes that complete their execution per time unit</a:t>
            </a:r>
          </a:p>
          <a:p>
            <a:pPr lvl="1">
              <a:spcBef>
                <a:spcPts val="600"/>
              </a:spcBef>
            </a:pPr>
            <a:r>
              <a:rPr lang="en-US" altLang="en-US" dirty="0"/>
              <a:t>Turnaround time – amount of time to execute a particular process</a:t>
            </a:r>
          </a:p>
          <a:p>
            <a:pPr lvl="1">
              <a:spcBef>
                <a:spcPts val="600"/>
              </a:spcBef>
            </a:pPr>
            <a:r>
              <a:rPr lang="en-US" altLang="en-US" dirty="0"/>
              <a:t>Waiting time – amount of time a process has been waiting in the ready queue</a:t>
            </a:r>
          </a:p>
          <a:p>
            <a:pPr lvl="1">
              <a:spcBef>
                <a:spcPts val="600"/>
              </a:spcBef>
            </a:pPr>
            <a:r>
              <a:rPr lang="en-US" altLang="en-US" dirty="0"/>
              <a:t>Response time – amount of time it takes from when a request was submitted until the first response is produced. </a:t>
            </a:r>
          </a:p>
          <a:p>
            <a:pPr>
              <a:spcBef>
                <a:spcPts val="600"/>
              </a:spcBef>
            </a:pPr>
            <a:r>
              <a:rPr lang="en-US" altLang="en-US" sz="2000" dirty="0"/>
              <a:t>Scheduling Algorithm Optimization Criteria</a:t>
            </a:r>
          </a:p>
          <a:p>
            <a:pPr lvl="1">
              <a:spcBef>
                <a:spcPts val="600"/>
              </a:spcBef>
            </a:pPr>
            <a:r>
              <a:rPr lang="en-US" altLang="en-US" dirty="0"/>
              <a:t>Max CPU utilization</a:t>
            </a:r>
          </a:p>
          <a:p>
            <a:pPr lvl="1">
              <a:spcBef>
                <a:spcPts val="600"/>
              </a:spcBef>
            </a:pPr>
            <a:r>
              <a:rPr lang="en-US" altLang="en-US" dirty="0"/>
              <a:t>Max throughput</a:t>
            </a:r>
          </a:p>
          <a:p>
            <a:pPr lvl="1">
              <a:spcBef>
                <a:spcPts val="600"/>
              </a:spcBef>
            </a:pPr>
            <a:r>
              <a:rPr lang="en-US" altLang="en-US" dirty="0"/>
              <a:t>Min turnaround time </a:t>
            </a:r>
          </a:p>
          <a:p>
            <a:pPr lvl="1">
              <a:spcBef>
                <a:spcPts val="600"/>
              </a:spcBef>
            </a:pPr>
            <a:r>
              <a:rPr lang="en-US" altLang="en-US" dirty="0"/>
              <a:t>Min waiting time </a:t>
            </a:r>
          </a:p>
          <a:p>
            <a:pPr lvl="1">
              <a:spcBef>
                <a:spcPts val="600"/>
              </a:spcBef>
            </a:pPr>
            <a:r>
              <a:rPr lang="en-US" altLang="en-US" dirty="0"/>
              <a:t>Min response time</a:t>
            </a:r>
          </a:p>
          <a:p>
            <a:pPr>
              <a:spcBef>
                <a:spcPts val="600"/>
              </a:spcBef>
            </a:pPr>
            <a:endParaRPr lang="en-US"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094581" y="177800"/>
            <a:ext cx="7566025" cy="643115"/>
          </a:xfrm>
        </p:spPr>
        <p:txBody>
          <a:bodyPr/>
          <a:lstStyle/>
          <a:p>
            <a:pPr eaLnBrk="1" hangingPunct="1"/>
            <a:r>
              <a:rPr lang="en-US" altLang="en-US" dirty="0"/>
              <a:t>FCFS Scheduling (1)</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65981" y="989693"/>
            <a:ext cx="7566025" cy="4496708"/>
          </a:xfrm>
        </p:spPr>
        <p:txBody>
          <a:bodyPr/>
          <a:lstStyle/>
          <a:p>
            <a:pPr>
              <a:lnSpc>
                <a:spcPct val="90000"/>
              </a:lnSpc>
              <a:buFont typeface="Monotype Sorts" pitchFamily="-84" charset="2"/>
              <a:buNone/>
              <a:tabLst>
                <a:tab pos="3028950" algn="ctr"/>
                <a:tab pos="4633913" algn="ctr"/>
              </a:tabLst>
            </a:pPr>
            <a:r>
              <a:rPr lang="en-US" altLang="en-US" sz="2000" dirty="0"/>
              <a:t>		</a:t>
            </a:r>
            <a:r>
              <a:rPr lang="en-US" altLang="en-US" sz="2000" u="sng" dirty="0"/>
              <a:t>Process</a:t>
            </a:r>
            <a:r>
              <a:rPr lang="en-US" altLang="en-US" sz="2000" dirty="0"/>
              <a:t>	</a:t>
            </a:r>
            <a:r>
              <a:rPr lang="en-US" altLang="en-US" sz="2000" u="sng" dirty="0"/>
              <a:t>Burst Time	</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1</a:t>
            </a:r>
            <a:r>
              <a:rPr lang="en-US" altLang="en-US" sz="2000" dirty="0"/>
              <a:t>	24</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2</a:t>
            </a:r>
            <a:r>
              <a:rPr lang="en-US" altLang="en-US" sz="2000" dirty="0"/>
              <a:t> 	3</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3	 </a:t>
            </a:r>
            <a:r>
              <a:rPr lang="en-US" altLang="en-US" sz="2000" dirty="0"/>
              <a:t>3</a:t>
            </a:r>
            <a:r>
              <a:rPr lang="en-US" altLang="en-US" sz="2000" i="1" baseline="-25000" dirty="0"/>
              <a:t> </a:t>
            </a:r>
          </a:p>
          <a:p>
            <a:pPr>
              <a:lnSpc>
                <a:spcPct val="90000"/>
              </a:lnSpc>
              <a:tabLst>
                <a:tab pos="3028950" algn="ctr"/>
                <a:tab pos="4633913" algn="ctr"/>
              </a:tabLst>
            </a:pPr>
            <a:r>
              <a:rPr lang="en-US" altLang="en-US" sz="2000" dirty="0"/>
              <a:t>Suppose that the processes arrive in the order: </a:t>
            </a:r>
            <a:r>
              <a:rPr lang="en-US" altLang="en-US" sz="2000" i="1" dirty="0"/>
              <a:t>P</a:t>
            </a:r>
            <a:r>
              <a:rPr lang="en-US" altLang="en-US" sz="2000" i="1" baseline="-25000" dirty="0"/>
              <a:t>1</a:t>
            </a:r>
            <a:r>
              <a:rPr lang="en-US" altLang="en-US" sz="2000" dirty="0"/>
              <a:t> , </a:t>
            </a:r>
            <a:r>
              <a:rPr lang="en-US" altLang="en-US" sz="2000" i="1" dirty="0"/>
              <a:t>P</a:t>
            </a:r>
            <a:r>
              <a:rPr lang="en-US" altLang="en-US" sz="2000" i="1" baseline="-25000" dirty="0"/>
              <a:t>2</a:t>
            </a:r>
            <a:r>
              <a:rPr lang="en-US" altLang="en-US" sz="2000" dirty="0"/>
              <a:t> , </a:t>
            </a:r>
            <a:r>
              <a:rPr lang="en-US" altLang="en-US" sz="2000" i="1" dirty="0"/>
              <a:t>P</a:t>
            </a:r>
            <a:r>
              <a:rPr lang="en-US" altLang="en-US" sz="2000" i="1" baseline="-25000" dirty="0"/>
              <a:t>3  </a:t>
            </a:r>
            <a:br>
              <a:rPr lang="en-US" altLang="en-US" sz="2000" i="1" baseline="-25000" dirty="0"/>
            </a:br>
            <a:r>
              <a:rPr lang="en-US" altLang="en-US" sz="2000" dirty="0"/>
              <a:t>The Gantt Chart for the schedule is:</a:t>
            </a: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a:lnSpc>
                <a:spcPct val="90000"/>
              </a:lnSpc>
              <a:tabLst>
                <a:tab pos="3028950" algn="ctr"/>
                <a:tab pos="4633913" algn="ctr"/>
              </a:tabLst>
            </a:pPr>
            <a:r>
              <a:rPr lang="en-US" altLang="en-US" sz="2000" dirty="0"/>
              <a:t>Waiting time for </a:t>
            </a:r>
            <a:r>
              <a:rPr lang="en-US" altLang="en-US" sz="2000" i="1" dirty="0"/>
              <a:t>P</a:t>
            </a:r>
            <a:r>
              <a:rPr lang="en-US" altLang="en-US" sz="2000" i="1" baseline="-25000" dirty="0"/>
              <a:t>1</a:t>
            </a:r>
            <a:r>
              <a:rPr lang="en-US" altLang="en-US" sz="2000" dirty="0"/>
              <a:t>  = 0; </a:t>
            </a:r>
            <a:r>
              <a:rPr lang="en-US" altLang="en-US" sz="2000" i="1" dirty="0"/>
              <a:t>P</a:t>
            </a:r>
            <a:r>
              <a:rPr lang="en-US" altLang="en-US" sz="2000" i="1" baseline="-25000" dirty="0"/>
              <a:t>2</a:t>
            </a:r>
            <a:r>
              <a:rPr lang="en-US" altLang="en-US" sz="2000" dirty="0"/>
              <a:t>  = 24; </a:t>
            </a:r>
            <a:r>
              <a:rPr lang="en-US" altLang="en-US" sz="2000" i="1" dirty="0"/>
              <a:t>P</a:t>
            </a:r>
            <a:r>
              <a:rPr lang="en-US" altLang="en-US" sz="2000" i="1" baseline="-25000" dirty="0"/>
              <a:t>3 </a:t>
            </a:r>
            <a:r>
              <a:rPr lang="en-US" altLang="en-US" sz="2000" dirty="0"/>
              <a:t>= 27</a:t>
            </a:r>
          </a:p>
          <a:p>
            <a:pPr>
              <a:lnSpc>
                <a:spcPct val="90000"/>
              </a:lnSpc>
              <a:tabLst>
                <a:tab pos="3028950" algn="ctr"/>
                <a:tab pos="4633913" algn="ctr"/>
              </a:tabLst>
            </a:pPr>
            <a:r>
              <a:rPr lang="en-US" altLang="en-US" sz="2000"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4" y="34290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(2)</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055688"/>
            <a:ext cx="7704137" cy="4900612"/>
          </a:xfrm>
        </p:spPr>
        <p:txBody>
          <a:bodyPr/>
          <a:lstStyle/>
          <a:p>
            <a:pPr>
              <a:buFont typeface="Monotype Sorts" pitchFamily="-84" charset="2"/>
              <a:buNone/>
              <a:tabLst>
                <a:tab pos="3649345" algn="ctr"/>
              </a:tabLst>
              <a:defRPr/>
            </a:pPr>
            <a:r>
              <a:rPr lang="en-US" altLang="en-US" sz="2000" dirty="0">
                <a:cs typeface="ＭＳ Ｐゴシック" charset="-128"/>
              </a:rPr>
              <a:t>Suppose that the processes arrive in the order:</a:t>
            </a:r>
          </a:p>
          <a:p>
            <a:pPr>
              <a:buFont typeface="Monotype Sorts" pitchFamily="-84" charset="2"/>
              <a:buNone/>
              <a:tabLst>
                <a:tab pos="3649345"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p>
          <a:p>
            <a:pPr>
              <a:tabLst>
                <a:tab pos="3649345" algn="ctr"/>
              </a:tabLst>
              <a:defRPr/>
            </a:pPr>
            <a:r>
              <a:rPr lang="en-US" altLang="en-US" sz="2000" dirty="0">
                <a:cs typeface="ＭＳ Ｐゴシック" charset="-128"/>
              </a:rPr>
              <a:t>The Gantt chart for the schedule is:</a:t>
            </a:r>
            <a:br>
              <a:rPr lang="en-US" altLang="en-US" sz="2000" dirty="0">
                <a:cs typeface="ＭＳ Ｐゴシック" charset="-128"/>
              </a:rPr>
            </a:br>
            <a:endParaRPr lang="en-US" altLang="en-US" sz="2000" dirty="0">
              <a:cs typeface="ＭＳ Ｐゴシック" charset="-128"/>
            </a:endParaRPr>
          </a:p>
          <a:p>
            <a:pPr>
              <a:tabLst>
                <a:tab pos="3649345" algn="ctr"/>
              </a:tabLst>
              <a:defRPr/>
            </a:pPr>
            <a:endParaRPr lang="en-US" altLang="en-US" sz="2000" dirty="0">
              <a:cs typeface="ＭＳ Ｐゴシック" charset="-128"/>
            </a:endParaRPr>
          </a:p>
          <a:p>
            <a:pPr marL="0" indent="0">
              <a:buFont typeface="Monotype Sorts" pitchFamily="-84" charset="2"/>
              <a:buNone/>
              <a:tabLst>
                <a:tab pos="3649345" algn="ctr"/>
              </a:tabLst>
              <a:defRPr/>
            </a:pPr>
            <a:endParaRPr lang="en-US" altLang="en-US" sz="2000" dirty="0">
              <a:cs typeface="ＭＳ Ｐゴシック" charset="-128"/>
            </a:endParaRPr>
          </a:p>
          <a:p>
            <a:pPr>
              <a:tabLst>
                <a:tab pos="3649345" algn="ctr"/>
              </a:tabLst>
              <a:defRPr/>
            </a:pPr>
            <a:r>
              <a:rPr lang="en-US" altLang="en-US" sz="2000" dirty="0">
                <a:cs typeface="ＭＳ Ｐゴシック" charset="-128"/>
              </a:rPr>
              <a:t>Waiting time for </a:t>
            </a:r>
            <a:r>
              <a:rPr lang="en-US" altLang="en-US" sz="2000" i="1" dirty="0">
                <a:cs typeface="ＭＳ Ｐゴシック" charset="-128"/>
              </a:rPr>
              <a:t>P</a:t>
            </a:r>
            <a:r>
              <a:rPr lang="en-US" altLang="en-US" sz="2000" i="1" baseline="-25000" dirty="0">
                <a:cs typeface="ＭＳ Ｐゴシック" charset="-128"/>
              </a:rPr>
              <a:t>1 </a:t>
            </a:r>
            <a:r>
              <a:rPr lang="en-US" altLang="en-US" sz="2000" i="1" dirty="0">
                <a:cs typeface="ＭＳ Ｐゴシック" charset="-128"/>
              </a:rPr>
              <a:t>=</a:t>
            </a:r>
            <a:r>
              <a:rPr lang="en-US" altLang="en-US" sz="2000" dirty="0">
                <a:cs typeface="ＭＳ Ｐゴシック" charset="-128"/>
              </a:rPr>
              <a:t> 6</a:t>
            </a:r>
            <a:r>
              <a:rPr lang="en-US" altLang="en-US" sz="2000" i="1" dirty="0">
                <a:cs typeface="ＭＳ Ｐゴシック" charset="-128"/>
              </a:rPr>
              <a:t>;</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0</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 </a:t>
            </a:r>
            <a:r>
              <a:rPr lang="en-US" altLang="en-US" sz="2000" i="1" dirty="0">
                <a:cs typeface="ＭＳ Ｐゴシック" charset="-128"/>
              </a:rPr>
              <a:t>= </a:t>
            </a:r>
            <a:r>
              <a:rPr lang="en-US" altLang="en-US" sz="2000" dirty="0">
                <a:cs typeface="ＭＳ Ｐゴシック" charset="-128"/>
              </a:rPr>
              <a:t>3</a:t>
            </a:r>
            <a:endParaRPr lang="en-US" altLang="en-US" sz="2000" i="1" dirty="0">
              <a:cs typeface="ＭＳ Ｐゴシック" charset="-128"/>
            </a:endParaRPr>
          </a:p>
          <a:p>
            <a:pPr>
              <a:tabLst>
                <a:tab pos="3649345" algn="ctr"/>
              </a:tabLst>
              <a:defRPr/>
            </a:pPr>
            <a:r>
              <a:rPr lang="en-US" altLang="en-US" sz="2000" dirty="0">
                <a:cs typeface="ＭＳ Ｐゴシック" charset="-128"/>
              </a:rPr>
              <a:t>Average waiting time:   (6 + 0 + 3)/3 = 3</a:t>
            </a:r>
          </a:p>
          <a:p>
            <a:pPr>
              <a:tabLst>
                <a:tab pos="3649345" algn="ctr"/>
              </a:tabLst>
              <a:defRPr/>
            </a:pPr>
            <a:r>
              <a:rPr lang="en-US" altLang="en-US" sz="2000" dirty="0">
                <a:cs typeface="ＭＳ Ｐゴシック" charset="-128"/>
              </a:rPr>
              <a:t>Much better than previous case</a:t>
            </a:r>
          </a:p>
          <a:p>
            <a:pPr>
              <a:tabLst>
                <a:tab pos="3649345" algn="ctr"/>
              </a:tabLst>
              <a:defRPr/>
            </a:pPr>
            <a:r>
              <a:rPr lang="en-US" altLang="en-US" sz="2000" b="1" dirty="0">
                <a:solidFill>
                  <a:srgbClr val="006699"/>
                </a:solidFill>
                <a:latin typeface="+mj-lt"/>
              </a:rPr>
              <a:t>Convoy</a:t>
            </a:r>
            <a:r>
              <a:rPr lang="en-US" altLang="en-US" sz="2000" b="1" dirty="0">
                <a:solidFill>
                  <a:srgbClr val="3366FF"/>
                </a:solidFill>
                <a:cs typeface="ＭＳ Ｐゴシック" charset="-128"/>
              </a:rPr>
              <a:t> </a:t>
            </a:r>
            <a:r>
              <a:rPr lang="en-US" altLang="en-US" sz="2000" b="1" dirty="0">
                <a:solidFill>
                  <a:srgbClr val="006699"/>
                </a:solidFill>
                <a:latin typeface="+mj-lt"/>
              </a:rPr>
              <a:t>effect</a:t>
            </a:r>
            <a:r>
              <a:rPr lang="en-US" altLang="en-US" sz="2000" b="1" dirty="0">
                <a:solidFill>
                  <a:srgbClr val="3366FF"/>
                </a:solidFill>
                <a:cs typeface="ＭＳ Ｐゴシック" charset="-128"/>
              </a:rPr>
              <a:t> </a:t>
            </a:r>
            <a:r>
              <a:rPr lang="en-US" altLang="en-US" sz="2000" dirty="0">
                <a:cs typeface="ＭＳ Ｐゴシック" charset="-128"/>
              </a:rPr>
              <a:t>- short process behind long process</a:t>
            </a:r>
          </a:p>
          <a:p>
            <a:pPr lvl="1">
              <a:tabLst>
                <a:tab pos="3649345" algn="ctr"/>
              </a:tabLst>
              <a:defRPr/>
            </a:pPr>
            <a:r>
              <a:rPr lang="en-US" altLang="en-US" sz="2000"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4542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508000" y="1233489"/>
            <a:ext cx="8305045" cy="3363912"/>
          </a:xfrm>
        </p:spPr>
        <p:txBody>
          <a:bodyPr/>
          <a:lstStyle/>
          <a:p>
            <a:r>
              <a:rPr lang="en-US" altLang="en-US" sz="2000" dirty="0"/>
              <a:t>Associate with each process the length of its next CPU burst</a:t>
            </a:r>
          </a:p>
          <a:p>
            <a:pPr lvl="1"/>
            <a:r>
              <a:rPr lang="en-US" altLang="en-US" sz="2000" dirty="0"/>
              <a:t>Use these lengths to schedule the process with the shortest time</a:t>
            </a:r>
          </a:p>
          <a:p>
            <a:r>
              <a:rPr lang="en-US" altLang="en-US" sz="2000" dirty="0"/>
              <a:t>SJF is optimal – gives minimum average waiting time for a given set of processes</a:t>
            </a:r>
          </a:p>
          <a:p>
            <a:r>
              <a:rPr lang="en-US" altLang="en-US" sz="2000" dirty="0">
                <a:cs typeface="ＭＳ Ｐゴシック" charset="-128"/>
              </a:rPr>
              <a:t>Preemptive version called </a:t>
            </a:r>
            <a:r>
              <a:rPr lang="en-US" altLang="en-US" sz="2000" b="1" dirty="0">
                <a:solidFill>
                  <a:srgbClr val="006699"/>
                </a:solidFill>
                <a:latin typeface="+mj-lt"/>
              </a:rPr>
              <a:t>shortest-remaining-time-first</a:t>
            </a:r>
          </a:p>
          <a:p>
            <a:r>
              <a:rPr lang="en-US" altLang="en-US" sz="2000" dirty="0"/>
              <a:t>How do we determine the length of the next CPU burst?</a:t>
            </a:r>
          </a:p>
          <a:p>
            <a:pPr lvl="1"/>
            <a:r>
              <a:rPr lang="en-US" altLang="en-US" sz="2000" dirty="0"/>
              <a:t>Could ask the user</a:t>
            </a:r>
          </a:p>
          <a:p>
            <a:pPr lvl="1"/>
            <a:r>
              <a:rPr lang="en-US" altLang="en-US" sz="2000" dirty="0"/>
              <a:t>Estimate</a:t>
            </a:r>
          </a:p>
          <a:p>
            <a:pPr lvl="1"/>
            <a:endParaRPr lang="en-US" altLang="en-US" sz="2000" dirty="0"/>
          </a:p>
        </p:txBody>
      </p:sp>
    </p:spTree>
    <p:extLst>
      <p:ext uri="{BB962C8B-B14F-4D97-AF65-F5344CB8AC3E}">
        <p14:creationId xmlns:p14="http://schemas.microsoft.com/office/powerpoint/2010/main" val="413677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085849"/>
            <a:ext cx="7788048" cy="4594679"/>
          </a:xfrm>
        </p:spPr>
        <p:txBody>
          <a:bodyPr/>
          <a:lstStyle/>
          <a:p>
            <a:pPr>
              <a:lnSpc>
                <a:spcPct val="90000"/>
              </a:lnSpc>
              <a:buFont typeface="Monotype Sorts" pitchFamily="-84" charset="2"/>
              <a:buNone/>
              <a:tabLst>
                <a:tab pos="3028950" algn="ctr"/>
                <a:tab pos="4633913" algn="ctr"/>
              </a:tabLst>
            </a:pPr>
            <a:r>
              <a:rPr lang="en-US" altLang="en-US" sz="2000" dirty="0"/>
              <a:t>		</a:t>
            </a:r>
            <a:r>
              <a:rPr lang="en-US" altLang="en-US" sz="2000" u="sng" dirty="0"/>
              <a:t>Process</a:t>
            </a:r>
            <a:r>
              <a:rPr lang="en-US" altLang="en-US" sz="2000" dirty="0"/>
              <a:t>	</a:t>
            </a:r>
            <a:r>
              <a:rPr lang="en-US" altLang="en-US" sz="2000" u="sng" dirty="0"/>
              <a:t>Burst Time	</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1</a:t>
            </a:r>
            <a:r>
              <a:rPr lang="en-US" altLang="en-US" sz="2000" dirty="0"/>
              <a:t>	6</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2</a:t>
            </a:r>
            <a:r>
              <a:rPr lang="en-US" altLang="en-US" sz="2000" dirty="0"/>
              <a:t> 	8</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3	 </a:t>
            </a:r>
            <a:r>
              <a:rPr lang="en-US" altLang="en-US" sz="2000" dirty="0"/>
              <a:t>7</a:t>
            </a:r>
          </a:p>
          <a:p>
            <a:pPr>
              <a:lnSpc>
                <a:spcPct val="90000"/>
              </a:lnSpc>
              <a:buFont typeface="Monotype Sorts" pitchFamily="-84" charset="2"/>
              <a:buNone/>
              <a:tabLst>
                <a:tab pos="3028950" algn="ctr"/>
                <a:tab pos="4633913" algn="ctr"/>
              </a:tabLst>
            </a:pPr>
            <a:r>
              <a:rPr lang="en-US" altLang="en-US" sz="2000" i="1" baseline="-25000" dirty="0"/>
              <a:t>                                                             </a:t>
            </a:r>
            <a:r>
              <a:rPr lang="en-US" altLang="en-US" sz="2000" i="1" dirty="0"/>
              <a:t>P</a:t>
            </a:r>
            <a:r>
              <a:rPr lang="en-US" altLang="en-US" sz="2000" i="1" baseline="-25000" dirty="0"/>
              <a:t>4	 </a:t>
            </a:r>
            <a:r>
              <a:rPr lang="en-US" altLang="en-US" sz="2000" dirty="0"/>
              <a:t>3</a:t>
            </a:r>
          </a:p>
          <a:p>
            <a:pPr>
              <a:lnSpc>
                <a:spcPct val="90000"/>
              </a:lnSpc>
              <a:buFont typeface="Monotype Sorts" pitchFamily="-84" charset="2"/>
              <a:buNone/>
              <a:tabLst>
                <a:tab pos="3028950" algn="ctr"/>
                <a:tab pos="4633913" algn="ctr"/>
              </a:tabLst>
            </a:pPr>
            <a:endParaRPr lang="en-US" altLang="en-US" sz="2000" i="1" baseline="-25000" dirty="0"/>
          </a:p>
          <a:p>
            <a:pPr>
              <a:lnSpc>
                <a:spcPct val="90000"/>
              </a:lnSpc>
              <a:tabLst>
                <a:tab pos="3028950" algn="ctr"/>
                <a:tab pos="4633913" algn="ctr"/>
              </a:tabLst>
            </a:pPr>
            <a:r>
              <a:rPr lang="en-US" altLang="en-US" sz="2000" dirty="0"/>
              <a:t>SJF scheduling chart</a:t>
            </a:r>
            <a:br>
              <a:rPr lang="en-US" altLang="en-US" sz="2000" dirty="0"/>
            </a:br>
            <a:br>
              <a:rPr lang="en-US" altLang="en-US" sz="2000" dirty="0"/>
            </a:br>
            <a:br>
              <a:rPr lang="en-US" altLang="en-US" sz="2000" dirty="0"/>
            </a:br>
            <a:br>
              <a:rPr lang="en-US" altLang="en-US" sz="2000" dirty="0"/>
            </a:br>
            <a:endParaRPr lang="en-US" altLang="en-US" sz="2000" dirty="0"/>
          </a:p>
          <a:p>
            <a:pPr marL="0" indent="0">
              <a:lnSpc>
                <a:spcPct val="90000"/>
              </a:lnSpc>
              <a:buNone/>
              <a:tabLst>
                <a:tab pos="3028950" algn="ctr"/>
                <a:tab pos="4633913" algn="ctr"/>
              </a:tabLst>
            </a:pPr>
            <a:endParaRPr lang="en-US" altLang="en-US" sz="2000" dirty="0"/>
          </a:p>
          <a:p>
            <a:pPr>
              <a:lnSpc>
                <a:spcPct val="90000"/>
              </a:lnSpc>
              <a:tabLst>
                <a:tab pos="3028950" algn="ctr"/>
                <a:tab pos="4633913" algn="ctr"/>
              </a:tabLst>
            </a:pPr>
            <a:r>
              <a:rPr lang="en-US" altLang="en-US" sz="2000"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67747" y="964973"/>
            <a:ext cx="7681167" cy="4935537"/>
          </a:xfrm>
        </p:spPr>
        <p:txBody>
          <a:bodyPr/>
          <a:lstStyle/>
          <a:p>
            <a:pPr>
              <a:defRPr/>
            </a:pPr>
            <a:r>
              <a:rPr lang="en-US" altLang="en-US" sz="2000" dirty="0">
                <a:cs typeface="ＭＳ Ｐゴシック" charset="-128"/>
              </a:rPr>
              <a:t>Can only estimate the length – should be similar to the previous one</a:t>
            </a:r>
          </a:p>
          <a:p>
            <a:pPr lvl="1">
              <a:defRPr/>
            </a:pPr>
            <a:r>
              <a:rPr lang="en-US" altLang="en-US" sz="2000" dirty="0"/>
              <a:t>Then pick process with shortest predicted next CPU burst</a:t>
            </a:r>
            <a:endParaRPr lang="en-US" altLang="en-US" sz="2000" dirty="0">
              <a:cs typeface="ＭＳ Ｐゴシック" charset="-128"/>
            </a:endParaRPr>
          </a:p>
          <a:p>
            <a:pPr>
              <a:defRPr/>
            </a:pPr>
            <a:r>
              <a:rPr lang="en-US" altLang="en-US" sz="2000" dirty="0">
                <a:cs typeface="ＭＳ Ｐゴシック" charset="-128"/>
              </a:rPr>
              <a:t>Can be done by using the length of previous CPU bursts, using exponential averaging</a:t>
            </a:r>
          </a:p>
          <a:p>
            <a:pPr>
              <a:defRPr/>
            </a:pPr>
            <a:endParaRPr lang="en-US" altLang="en-US" sz="2000" dirty="0">
              <a:cs typeface="ＭＳ Ｐゴシック" charset="-128"/>
            </a:endParaRPr>
          </a:p>
          <a:p>
            <a:pPr>
              <a:defRPr/>
            </a:pPr>
            <a:endParaRPr lang="en-US" altLang="en-US" sz="2000" dirty="0">
              <a:cs typeface="ＭＳ Ｐゴシック" charset="-128"/>
            </a:endParaRPr>
          </a:p>
          <a:p>
            <a:pPr>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a:defRPr/>
            </a:pPr>
            <a:r>
              <a:rPr lang="en-US" altLang="en-US" sz="2000" dirty="0">
                <a:cs typeface="ＭＳ Ｐゴシック" charset="-128"/>
              </a:rPr>
              <a:t>Commonly, </a:t>
            </a:r>
            <a:r>
              <a:rPr lang="en-US" altLang="en-US" sz="2000" dirty="0">
                <a:latin typeface="Lucida Grande" pitchFamily="-84" charset="0"/>
                <a:cs typeface="ＭＳ Ｐゴシック" charset="-128"/>
              </a:rPr>
              <a:t>α </a:t>
            </a:r>
            <a:r>
              <a:rPr lang="en-US" altLang="en-US" sz="2000" dirty="0">
                <a:cs typeface="ＭＳ Ｐゴシック" charset="-128"/>
              </a:rPr>
              <a:t>set to ½</a:t>
            </a:r>
          </a:p>
        </p:txBody>
      </p:sp>
      <p:grpSp>
        <p:nvGrpSpPr>
          <p:cNvPr id="2" name="组合 1">
            <a:extLst>
              <a:ext uri="{FF2B5EF4-FFF2-40B4-BE49-F238E27FC236}">
                <a16:creationId xmlns:a16="http://schemas.microsoft.com/office/drawing/2014/main" id="{9A85B88D-80DB-F726-B5EB-A3E5220DCCCA}"/>
              </a:ext>
            </a:extLst>
          </p:cNvPr>
          <p:cNvGrpSpPr/>
          <p:nvPr/>
        </p:nvGrpSpPr>
        <p:grpSpPr>
          <a:xfrm>
            <a:off x="2112797" y="2821679"/>
            <a:ext cx="4918406" cy="1926306"/>
            <a:chOff x="1504165" y="3081122"/>
            <a:chExt cx="4457700" cy="1758425"/>
          </a:xfrm>
        </p:grpSpPr>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65422" y="4266459"/>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1504165" y="3081122"/>
              <a:ext cx="4457700" cy="137160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64897" y="1167566"/>
            <a:ext cx="6768759" cy="490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1177472" y="919729"/>
            <a:ext cx="7242628" cy="5188971"/>
          </a:xfrm>
        </p:spPr>
        <p:txBody>
          <a:bodyPr/>
          <a:lstStyle/>
          <a:p>
            <a:pPr>
              <a:lnSpc>
                <a:spcPct val="90000"/>
              </a:lnSpc>
            </a:pPr>
            <a:r>
              <a:rPr lang="en-US" altLang="en-US" sz="2000" dirty="0">
                <a:sym typeface="Symbol" panose="05050102010706020507" pitchFamily="18" charset="2"/>
              </a:rPr>
              <a:t> =0</a:t>
            </a:r>
          </a:p>
          <a:p>
            <a:pPr lvl="1">
              <a:lnSpc>
                <a:spcPct val="90000"/>
              </a:lnSpc>
            </a:pPr>
            <a:r>
              <a:rPr lang="en-US" altLang="en-US" sz="2000" dirty="0">
                <a:sym typeface="Symbol" panose="05050102010706020507" pitchFamily="18" charset="2"/>
              </a:rPr>
              <a:t></a:t>
            </a:r>
            <a:r>
              <a:rPr lang="en-US" altLang="en-US" sz="2000" baseline="-25000" dirty="0">
                <a:sym typeface="Symbol" panose="05050102010706020507" pitchFamily="18" charset="2"/>
              </a:rPr>
              <a:t>n+1</a:t>
            </a:r>
            <a:r>
              <a:rPr lang="en-US" altLang="en-US" sz="2000" dirty="0">
                <a:sym typeface="Symbol" panose="05050102010706020507" pitchFamily="18" charset="2"/>
              </a:rPr>
              <a:t> = </a:t>
            </a:r>
            <a:r>
              <a:rPr lang="en-US" altLang="en-US" sz="2000" baseline="-25000" dirty="0">
                <a:sym typeface="Symbol" panose="05050102010706020507" pitchFamily="18" charset="2"/>
              </a:rPr>
              <a:t>n</a:t>
            </a:r>
          </a:p>
          <a:p>
            <a:pPr lvl="1">
              <a:lnSpc>
                <a:spcPct val="90000"/>
              </a:lnSpc>
            </a:pPr>
            <a:r>
              <a:rPr lang="en-US" altLang="en-US" sz="2000" dirty="0">
                <a:sym typeface="Symbol" panose="05050102010706020507" pitchFamily="18" charset="2"/>
              </a:rPr>
              <a:t>Recent history does not count</a:t>
            </a:r>
          </a:p>
          <a:p>
            <a:pPr>
              <a:lnSpc>
                <a:spcPct val="90000"/>
              </a:lnSpc>
            </a:pPr>
            <a:r>
              <a:rPr lang="en-US" altLang="en-US" sz="2000" dirty="0">
                <a:sym typeface="Symbol" panose="05050102010706020507" pitchFamily="18" charset="2"/>
              </a:rPr>
              <a:t> =1</a:t>
            </a:r>
          </a:p>
          <a:p>
            <a:pPr lvl="1">
              <a:lnSpc>
                <a:spcPct val="90000"/>
              </a:lnSpc>
            </a:pPr>
            <a:r>
              <a:rPr lang="en-US" altLang="en-US" sz="2000" dirty="0">
                <a:sym typeface="Symbol" panose="05050102010706020507" pitchFamily="18" charset="2"/>
              </a:rPr>
              <a:t> </a:t>
            </a:r>
            <a:r>
              <a:rPr lang="en-US" altLang="en-US" sz="2000" baseline="-25000" dirty="0">
                <a:sym typeface="Symbol" panose="05050102010706020507" pitchFamily="18" charset="2"/>
              </a:rPr>
              <a:t>n+1</a:t>
            </a:r>
            <a:r>
              <a:rPr lang="en-US" altLang="en-US" sz="2000" dirty="0">
                <a:sym typeface="Symbol" panose="05050102010706020507" pitchFamily="18" charset="2"/>
              </a:rPr>
              <a:t> =  </a:t>
            </a:r>
            <a:r>
              <a:rPr lang="en-US" altLang="en-US" sz="2000" i="1" dirty="0" err="1">
                <a:sym typeface="Symbol" panose="05050102010706020507" pitchFamily="18" charset="2"/>
              </a:rPr>
              <a:t>t</a:t>
            </a:r>
            <a:r>
              <a:rPr lang="en-US" altLang="en-US" sz="2000" baseline="-25000" dirty="0" err="1">
                <a:sym typeface="Symbol" panose="05050102010706020507" pitchFamily="18" charset="2"/>
              </a:rPr>
              <a:t>n</a:t>
            </a:r>
            <a:endParaRPr lang="en-US" altLang="en-US" sz="2000" baseline="-25000" dirty="0">
              <a:sym typeface="Symbol" panose="05050102010706020507" pitchFamily="18" charset="2"/>
            </a:endParaRPr>
          </a:p>
          <a:p>
            <a:pPr lvl="1">
              <a:lnSpc>
                <a:spcPct val="90000"/>
              </a:lnSpc>
            </a:pPr>
            <a:r>
              <a:rPr lang="en-US" altLang="en-US" sz="2000" dirty="0">
                <a:sym typeface="Symbol" panose="05050102010706020507" pitchFamily="18" charset="2"/>
              </a:rPr>
              <a:t>Only the actual last CPU burst counts</a:t>
            </a:r>
          </a:p>
          <a:p>
            <a:pPr>
              <a:lnSpc>
                <a:spcPct val="90000"/>
              </a:lnSpc>
            </a:pPr>
            <a:r>
              <a:rPr lang="en-US" altLang="en-US" sz="2000"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sz="2000" dirty="0">
                <a:sym typeface="Symbol" panose="05050102010706020507" pitchFamily="18" charset="2"/>
              </a:rPr>
              <a:t></a:t>
            </a:r>
            <a:r>
              <a:rPr lang="en-US" altLang="en-US" sz="2000" i="1" baseline="-25000" dirty="0">
                <a:sym typeface="Symbol" panose="05050102010706020507" pitchFamily="18" charset="2"/>
              </a:rPr>
              <a:t>n</a:t>
            </a:r>
            <a:r>
              <a:rPr lang="en-US" altLang="en-US" sz="2000" baseline="-25000" dirty="0">
                <a:sym typeface="Symbol" panose="05050102010706020507" pitchFamily="18" charset="2"/>
              </a:rPr>
              <a:t>+1</a:t>
            </a:r>
            <a:r>
              <a:rPr lang="en-US" altLang="en-US" sz="2000" dirty="0">
                <a:sym typeface="Symbol" panose="05050102010706020507" pitchFamily="18" charset="2"/>
              </a:rPr>
              <a:t> =  </a:t>
            </a:r>
            <a:r>
              <a:rPr lang="en-US" altLang="en-US" sz="2000"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+(1</a:t>
            </a:r>
            <a:r>
              <a:rPr lang="en-US" altLang="en-US" sz="2000" i="1" dirty="0">
                <a:sym typeface="Symbol" panose="05050102010706020507" pitchFamily="18" charset="2"/>
              </a:rPr>
              <a:t> - </a:t>
            </a:r>
            <a:r>
              <a:rPr lang="en-US" altLang="en-US" sz="2000" dirty="0">
                <a:sym typeface="Symbol" panose="05050102010706020507" pitchFamily="18" charset="2"/>
              </a:rPr>
              <a:t></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i="1" dirty="0">
                <a:sym typeface="Symbol" panose="05050102010706020507" pitchFamily="18" charset="2"/>
              </a:rPr>
              <a:t> </a:t>
            </a:r>
            <a:r>
              <a:rPr lang="en-US" altLang="en-US" sz="2000" baseline="-25000" dirty="0">
                <a:sym typeface="Symbol" panose="05050102010706020507" pitchFamily="18" charset="2"/>
              </a:rPr>
              <a:t>-1</a:t>
            </a:r>
            <a:r>
              <a:rPr lang="en-US" altLang="en-US" sz="2000" i="1" baseline="-25000"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j</a:t>
            </a:r>
            <a:r>
              <a:rPr lang="en-US" altLang="en-US" sz="2000" baseline="30000" dirty="0">
                <a:sym typeface="Symbol" panose="05050102010706020507" pitchFamily="18" charset="2"/>
              </a:rPr>
              <a:t> </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Symbol" panose="05050102010706020507" pitchFamily="18" charset="2"/>
              </a:rPr>
              <a:t>j</a:t>
            </a:r>
            <a:r>
              <a:rPr lang="en-US" altLang="en-US" sz="2000" i="1"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n</a:t>
            </a:r>
            <a:r>
              <a:rPr lang="en-US" altLang="en-US" sz="2000" baseline="30000" dirty="0">
                <a:sym typeface="Symbol" panose="05050102010706020507" pitchFamily="18" charset="2"/>
              </a:rPr>
              <a:t> +1 </a:t>
            </a:r>
            <a:r>
              <a:rPr lang="en-US" altLang="en-US" sz="2000" dirty="0">
                <a:sym typeface="Symbol" panose="05050102010706020507" pitchFamily="18" charset="2"/>
              </a:rPr>
              <a:t></a:t>
            </a:r>
            <a:r>
              <a:rPr lang="en-US" altLang="en-US" sz="2000" baseline="-25000" dirty="0">
                <a:sym typeface="Symbol" panose="05050102010706020507" pitchFamily="18" charset="2"/>
              </a:rPr>
              <a:t>0</a:t>
            </a:r>
            <a:br>
              <a:rPr lang="en-US" altLang="en-US" sz="2000" baseline="-25000" dirty="0">
                <a:sym typeface="Symbol" panose="05050102010706020507" pitchFamily="18" charset="2"/>
              </a:rPr>
            </a:br>
            <a:endParaRPr lang="en-US" altLang="en-US" sz="2000" baseline="-25000" dirty="0">
              <a:sym typeface="Symbol" panose="05050102010706020507" pitchFamily="18" charset="2"/>
            </a:endParaRPr>
          </a:p>
          <a:p>
            <a:pPr>
              <a:lnSpc>
                <a:spcPct val="90000"/>
              </a:lnSpc>
            </a:pPr>
            <a:r>
              <a:rPr lang="en-US" altLang="en-US" sz="2000"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sz="2000" dirty="0">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70"/>
            <a:ext cx="7709971" cy="3149002"/>
          </a:xfrm>
        </p:spPr>
        <p:txBody>
          <a:bodyPr/>
          <a:lstStyle/>
          <a:p>
            <a:r>
              <a:rPr lang="en-US" altLang="en-US" sz="2000" dirty="0">
                <a:cs typeface="ＭＳ Ｐゴシック" charset="-128"/>
              </a:rPr>
              <a:t>Preemptive version of SJ</a:t>
            </a:r>
            <a:r>
              <a:rPr lang="en-US" altLang="zh-CN" sz="2000" dirty="0">
                <a:cs typeface="ＭＳ Ｐゴシック" charset="-128"/>
              </a:rPr>
              <a:t>F</a:t>
            </a:r>
            <a:endParaRPr lang="en-US" altLang="en-US" sz="2000" b="1" dirty="0">
              <a:solidFill>
                <a:srgbClr val="006699"/>
              </a:solidFill>
              <a:latin typeface="+mj-lt"/>
            </a:endParaRPr>
          </a:p>
          <a:p>
            <a:r>
              <a:rPr lang="en-US" altLang="en-US" sz="2000" dirty="0"/>
              <a:t>Whenever a new process arrives in the ready queue, the decision on which process to schedule next is redone using the SJF algorithm.</a:t>
            </a:r>
          </a:p>
          <a:p>
            <a:r>
              <a:rPr lang="en-US" altLang="en-US" sz="2000" dirty="0"/>
              <a:t>Is SRT more “optimal” than SJN in terms of the minimum average waiting time for a given set of processes?</a:t>
            </a:r>
          </a:p>
        </p:txBody>
      </p:sp>
    </p:spTree>
    <p:extLst>
      <p:ext uri="{BB962C8B-B14F-4D97-AF65-F5344CB8AC3E}">
        <p14:creationId xmlns:p14="http://schemas.microsoft.com/office/powerpoint/2010/main" val="2452641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925286" y="221683"/>
            <a:ext cx="7984191" cy="576262"/>
          </a:xfrm>
        </p:spPr>
        <p:txBody>
          <a:bodyPr/>
          <a:lstStyle/>
          <a:p>
            <a:pPr eaLnBrk="1" hangingPunct="1"/>
            <a:r>
              <a:rPr lang="en-US" altLang="en-US" sz="29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959644"/>
            <a:ext cx="7984191" cy="4938712"/>
          </a:xfrm>
        </p:spPr>
        <p:txBody>
          <a:bodyPr/>
          <a:lstStyle/>
          <a:p>
            <a:pPr>
              <a:tabLst>
                <a:tab pos="1601312" algn="ctr"/>
                <a:tab pos="3252629" algn="ctr"/>
                <a:tab pos="5141754" algn="ctr"/>
              </a:tabLst>
              <a:defRPr/>
            </a:pPr>
            <a:r>
              <a:rPr lang="en-US" altLang="en-US" sz="2000"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u="sng" dirty="0">
                <a:cs typeface="ＭＳ Ｐゴシック" charset="-128"/>
              </a:rPr>
              <a:t>Process</a:t>
            </a:r>
            <a:r>
              <a:rPr lang="en-US" altLang="en-US" sz="2000" u="sng" dirty="0">
                <a:solidFill>
                  <a:schemeClr val="bg1"/>
                </a:solidFill>
                <a:cs typeface="ＭＳ Ｐゴシック" charset="-128"/>
              </a:rPr>
              <a:t>      </a:t>
            </a:r>
            <a:r>
              <a:rPr lang="en-US" altLang="en-US" sz="2000" u="sng" dirty="0" err="1">
                <a:solidFill>
                  <a:schemeClr val="bg1"/>
                </a:solidFill>
                <a:cs typeface="ＭＳ Ｐゴシック" charset="-128"/>
              </a:rPr>
              <a:t>i</a:t>
            </a:r>
            <a:r>
              <a:rPr lang="en-US" altLang="en-US" sz="2000" u="sng" dirty="0">
                <a:solidFill>
                  <a:schemeClr val="bg1"/>
                </a:solidFill>
                <a:cs typeface="ＭＳ Ｐゴシック" charset="-128"/>
              </a:rPr>
              <a:t> </a:t>
            </a:r>
            <a:r>
              <a:rPr lang="en-US" altLang="en-US" sz="2000" i="1" u="sng" dirty="0">
                <a:cs typeface="ＭＳ Ｐゴシック" charset="-128"/>
              </a:rPr>
              <a:t>Arrival </a:t>
            </a:r>
            <a:r>
              <a:rPr lang="en-US" altLang="en-US" sz="2000" u="sng" dirty="0" err="1">
                <a:cs typeface="ＭＳ Ｐゴシック" charset="-128"/>
              </a:rPr>
              <a:t>Time</a:t>
            </a:r>
            <a:r>
              <a:rPr lang="en-US" altLang="en-US" sz="2000" u="sng" dirty="0" err="1">
                <a:solidFill>
                  <a:schemeClr val="bg1"/>
                </a:solidFill>
                <a:cs typeface="ＭＳ Ｐゴシック" charset="-128"/>
              </a:rPr>
              <a:t>T</a:t>
            </a:r>
            <a:r>
              <a:rPr lang="en-US" altLang="en-US" sz="2000" dirty="0">
                <a:cs typeface="ＭＳ Ｐゴシック" charset="-128"/>
              </a:rPr>
              <a:t>	</a:t>
            </a:r>
            <a:r>
              <a:rPr lang="en-US" altLang="en-US" sz="2000" u="sng" dirty="0">
                <a:cs typeface="ＭＳ Ｐゴシック" charset="-128"/>
              </a:rPr>
              <a:t>Burst Time</a:t>
            </a:r>
            <a:endParaRPr lang="en-US" altLang="en-US" sz="2000" dirty="0">
              <a:cs typeface="ＭＳ Ｐゴシック" charset="-128"/>
            </a:endParaRP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r>
              <a:rPr lang="en-US" altLang="en-US" sz="2000" dirty="0">
                <a:solidFill>
                  <a:srgbClr val="000000"/>
                </a:solidFill>
                <a:cs typeface="ＭＳ Ｐゴシック" charset="-128"/>
              </a:rPr>
              <a:t>0</a:t>
            </a:r>
            <a:r>
              <a:rPr lang="en-US" altLang="en-US" sz="2000" dirty="0">
                <a:cs typeface="ＭＳ Ｐゴシック" charset="-128"/>
              </a:rPr>
              <a:t>	8</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 	</a:t>
            </a:r>
            <a:r>
              <a:rPr lang="en-US" altLang="en-US" sz="2000" dirty="0">
                <a:solidFill>
                  <a:srgbClr val="000000"/>
                </a:solidFill>
                <a:cs typeface="ＭＳ Ｐゴシック" charset="-128"/>
              </a:rPr>
              <a:t>1</a:t>
            </a:r>
            <a:r>
              <a:rPr lang="en-US" altLang="en-US" sz="2000" dirty="0">
                <a:cs typeface="ＭＳ Ｐゴシック" charset="-128"/>
              </a:rPr>
              <a:t>	4</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a:t>
            </a:r>
            <a:r>
              <a:rPr lang="en-US" altLang="en-US" sz="2000" dirty="0">
                <a:solidFill>
                  <a:srgbClr val="000000"/>
                </a:solidFill>
                <a:cs typeface="ＭＳ Ｐゴシック" charset="-128"/>
              </a:rPr>
              <a:t>2</a:t>
            </a:r>
            <a:r>
              <a:rPr lang="en-US" altLang="en-US" sz="2000" dirty="0">
                <a:cs typeface="ＭＳ Ｐゴシック" charset="-128"/>
              </a:rPr>
              <a:t>	9</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4</a:t>
            </a:r>
            <a:r>
              <a:rPr lang="en-US" altLang="en-US" sz="2000" dirty="0">
                <a:cs typeface="ＭＳ Ｐゴシック" charset="-128"/>
              </a:rPr>
              <a:t>	</a:t>
            </a:r>
            <a:r>
              <a:rPr lang="en-US" altLang="en-US" sz="2000" dirty="0">
                <a:solidFill>
                  <a:srgbClr val="000000"/>
                </a:solidFill>
                <a:cs typeface="ＭＳ Ｐゴシック" charset="-128"/>
              </a:rPr>
              <a:t>3</a:t>
            </a:r>
            <a:r>
              <a:rPr lang="en-US" altLang="en-US" sz="2000" dirty="0">
                <a:cs typeface="ＭＳ Ｐゴシック" charset="-128"/>
              </a:rPr>
              <a:t>	5</a:t>
            </a:r>
          </a:p>
          <a:p>
            <a:pPr>
              <a:tabLst>
                <a:tab pos="1601312" algn="ctr"/>
                <a:tab pos="3252629" algn="ctr"/>
                <a:tab pos="5141754" algn="ctr"/>
              </a:tabLst>
              <a:defRPr/>
            </a:pPr>
            <a:r>
              <a:rPr lang="en-US" altLang="en-US" sz="2000" i="1" dirty="0">
                <a:cs typeface="ＭＳ Ｐゴシック" charset="-128"/>
              </a:rPr>
              <a:t>Preemptive </a:t>
            </a:r>
            <a:r>
              <a:rPr lang="en-US" altLang="en-US" sz="2000" dirty="0">
                <a:cs typeface="ＭＳ Ｐゴシック" charset="-128"/>
              </a:rPr>
              <a:t>SJF Gantt Chart</a:t>
            </a:r>
          </a:p>
          <a:p>
            <a:pPr>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endParaRPr lang="en-US" altLang="en-US" sz="2000"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r>
              <a:rPr lang="en-US" altLang="en-US" sz="2000" dirty="0">
                <a:cs typeface="ＭＳ Ｐゴシック" charset="-128"/>
              </a:rPr>
              <a:t>Average waiting time = [(10-1)+(1-1)+(17-2)+(5-3)]/4 = 26/4 = 6.5</a:t>
            </a:r>
          </a:p>
          <a:p>
            <a:pPr>
              <a:tabLst>
                <a:tab pos="1601312" algn="ctr"/>
                <a:tab pos="3252629" algn="ctr"/>
                <a:tab pos="5141754" algn="ctr"/>
              </a:tabLst>
              <a:defRPr/>
            </a:pPr>
            <a:endParaRPr lang="en-US" altLang="en-US" sz="2000"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sz="2000"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9512" y="43354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6"/>
            <a:ext cx="7697237" cy="4859923"/>
          </a:xfrm>
        </p:spPr>
        <p:txBody>
          <a:bodyPr/>
          <a:lstStyle/>
          <a:p>
            <a:r>
              <a:rPr lang="en-US" altLang="en-US" sz="2000" dirty="0"/>
              <a:t>Each process gets a small unit of CPU time (</a:t>
            </a:r>
            <a:r>
              <a:rPr lang="en-US" altLang="en-US" sz="2000" b="1" dirty="0">
                <a:solidFill>
                  <a:srgbClr val="006699"/>
                </a:solidFill>
                <a:latin typeface="+mj-lt"/>
              </a:rPr>
              <a:t>time quantum </a:t>
            </a:r>
            <a:r>
              <a:rPr lang="en-US" altLang="en-US" sz="2000" i="1" dirty="0"/>
              <a:t>q</a:t>
            </a:r>
            <a:r>
              <a:rPr lang="en-US" altLang="en-US" sz="2000" dirty="0"/>
              <a:t>), usually 10-100 milliseconds.  After this time has elapsed, the process is preempted and added to the end of the ready queue.</a:t>
            </a:r>
          </a:p>
          <a:p>
            <a:r>
              <a:rPr lang="en-US" altLang="en-US" sz="2000" dirty="0"/>
              <a:t>If there are </a:t>
            </a:r>
            <a:r>
              <a:rPr lang="en-US" altLang="en-US" sz="2000" i="1" dirty="0"/>
              <a:t>n</a:t>
            </a:r>
            <a:r>
              <a:rPr lang="en-US" altLang="en-US" sz="2000" dirty="0"/>
              <a:t> processes in the ready queue and the time quantum is </a:t>
            </a:r>
            <a:r>
              <a:rPr lang="en-US" altLang="en-US" sz="2000" i="1" dirty="0"/>
              <a:t>q</a:t>
            </a:r>
            <a:r>
              <a:rPr lang="en-US" altLang="en-US" sz="2000" dirty="0"/>
              <a:t>, then each process gets 1/</a:t>
            </a:r>
            <a:r>
              <a:rPr lang="en-US" altLang="en-US" sz="2000" i="1" dirty="0"/>
              <a:t>n</a:t>
            </a:r>
            <a:r>
              <a:rPr lang="en-US" altLang="en-US" sz="2000" dirty="0"/>
              <a:t> of the CPU time in chunks of at most </a:t>
            </a:r>
            <a:r>
              <a:rPr lang="en-US" altLang="en-US" sz="2000" i="1" dirty="0"/>
              <a:t>q</a:t>
            </a:r>
            <a:r>
              <a:rPr lang="en-US" altLang="en-US" sz="2000" dirty="0"/>
              <a:t> time units at once.  No process waits more than (</a:t>
            </a:r>
            <a:r>
              <a:rPr lang="en-US" altLang="en-US" sz="2000" i="1" dirty="0"/>
              <a:t>n</a:t>
            </a:r>
            <a:r>
              <a:rPr lang="en-US" altLang="en-US" sz="2000" dirty="0"/>
              <a:t>-1)</a:t>
            </a:r>
            <a:r>
              <a:rPr lang="en-US" altLang="en-US" sz="2000" i="1" dirty="0"/>
              <a:t>q </a:t>
            </a:r>
            <a:r>
              <a:rPr lang="en-US" altLang="en-US" sz="2000" dirty="0"/>
              <a:t>time units.</a:t>
            </a:r>
          </a:p>
          <a:p>
            <a:r>
              <a:rPr lang="en-US" altLang="en-US" sz="2000" dirty="0"/>
              <a:t>Timer interrupts every quantum to schedule next process</a:t>
            </a:r>
          </a:p>
          <a:p>
            <a:r>
              <a:rPr lang="en-US" altLang="en-US" sz="2000" dirty="0"/>
              <a:t>Performance</a:t>
            </a:r>
          </a:p>
          <a:p>
            <a:pPr lvl="1"/>
            <a:r>
              <a:rPr lang="en-US" altLang="en-US" sz="2000" i="1" dirty="0"/>
              <a:t>q</a:t>
            </a:r>
            <a:r>
              <a:rPr lang="en-US" altLang="en-US" sz="2000" dirty="0"/>
              <a:t> large </a:t>
            </a:r>
            <a:r>
              <a:rPr lang="en-US" altLang="en-US" sz="2000" dirty="0">
                <a:sym typeface="Symbol" panose="05050102010706020507" pitchFamily="18" charset="2"/>
              </a:rPr>
              <a:t> FIFO (FCFS)</a:t>
            </a:r>
          </a:p>
          <a:p>
            <a:pPr lvl="1"/>
            <a:r>
              <a:rPr lang="en-US" altLang="en-US" sz="2000" i="1" dirty="0">
                <a:sym typeface="Symbol" panose="05050102010706020507" pitchFamily="18" charset="2"/>
              </a:rPr>
              <a:t>q </a:t>
            </a:r>
            <a:r>
              <a:rPr lang="en-US" altLang="en-US" sz="2000" dirty="0">
                <a:sym typeface="Symbol" panose="05050102010706020507" pitchFamily="18" charset="2"/>
              </a:rPr>
              <a:t>small  RR</a:t>
            </a:r>
          </a:p>
          <a:p>
            <a:r>
              <a:rPr lang="en-US" altLang="en-US" sz="2000"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1132508" y="114300"/>
            <a:ext cx="7302846" cy="647700"/>
          </a:xfrm>
        </p:spPr>
        <p:txBody>
          <a:bodyPr/>
          <a:lstStyle/>
          <a:p>
            <a:pPr eaLnBrk="1" hangingPunct="1"/>
            <a:r>
              <a:rPr lang="en-US" altLang="en-US" sz="3000"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688974" y="1111134"/>
            <a:ext cx="8189913" cy="4625637"/>
          </a:xfrm>
        </p:spPr>
        <p:txBody>
          <a:bodyPr/>
          <a:lstStyle/>
          <a:p>
            <a:pPr>
              <a:lnSpc>
                <a:spcPct val="90000"/>
              </a:lnSpc>
              <a:buFont typeface="Monotype Sorts" pitchFamily="-84" charset="2"/>
              <a:buNone/>
              <a:tabLst>
                <a:tab pos="2219325" algn="ctr"/>
                <a:tab pos="3994150" algn="ctr"/>
              </a:tabLst>
            </a:pPr>
            <a:r>
              <a:rPr lang="en-US" altLang="en-US" sz="2000" dirty="0"/>
              <a:t>		      </a:t>
            </a:r>
            <a:r>
              <a:rPr lang="en-US" altLang="en-US" sz="2000" u="sng" dirty="0"/>
              <a:t>Process</a:t>
            </a:r>
            <a:r>
              <a:rPr lang="en-US" altLang="en-US" sz="2000" dirty="0"/>
              <a:t>	</a:t>
            </a:r>
            <a:r>
              <a:rPr lang="en-US" altLang="en-US" sz="2000" u="sng" dirty="0"/>
              <a:t>Burst Time</a:t>
            </a:r>
          </a:p>
          <a:p>
            <a:pPr>
              <a:lnSpc>
                <a:spcPct val="90000"/>
              </a:lnSpc>
              <a:buFont typeface="Monotype Sorts" pitchFamily="-84" charset="2"/>
              <a:buNone/>
              <a:tabLst>
                <a:tab pos="2219325" algn="ctr"/>
                <a:tab pos="3994150" algn="ctr"/>
              </a:tabLst>
            </a:pPr>
            <a:r>
              <a:rPr lang="en-US" altLang="en-US" sz="2000" i="1" dirty="0"/>
              <a:t>		     P</a:t>
            </a:r>
            <a:r>
              <a:rPr lang="en-US" altLang="en-US" sz="2000" i="1" baseline="-25000" dirty="0"/>
              <a:t>1	</a:t>
            </a:r>
            <a:r>
              <a:rPr lang="en-US" altLang="en-US" sz="2000" dirty="0"/>
              <a:t>24</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2	 </a:t>
            </a:r>
            <a:r>
              <a:rPr lang="en-US" altLang="en-US" sz="2000" dirty="0"/>
              <a:t>3</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3	</a:t>
            </a:r>
            <a:r>
              <a:rPr lang="en-US" altLang="en-US" sz="2000" dirty="0"/>
              <a:t>3	</a:t>
            </a:r>
          </a:p>
          <a:p>
            <a:pPr>
              <a:lnSpc>
                <a:spcPct val="90000"/>
              </a:lnSpc>
              <a:tabLst>
                <a:tab pos="2219325" algn="ctr"/>
                <a:tab pos="3994150" algn="ctr"/>
              </a:tabLst>
            </a:pPr>
            <a:r>
              <a:rPr lang="en-US" altLang="en-US" sz="2000" dirty="0"/>
              <a:t>The Gantt chart is: </a:t>
            </a:r>
            <a:br>
              <a:rPr lang="en-US" altLang="en-US" sz="2000" dirty="0"/>
            </a:br>
            <a:br>
              <a:rPr lang="en-US" altLang="en-US" sz="2000" dirty="0"/>
            </a:br>
            <a:br>
              <a:rPr lang="en-US" altLang="en-US" sz="2000" dirty="0"/>
            </a:br>
            <a:br>
              <a:rPr lang="en-US" altLang="en-US" sz="2000" dirty="0"/>
            </a:br>
            <a:endParaRPr lang="en-US" altLang="en-US" sz="2000" dirty="0"/>
          </a:p>
          <a:p>
            <a:pPr>
              <a:lnSpc>
                <a:spcPct val="90000"/>
              </a:lnSpc>
              <a:tabLst>
                <a:tab pos="2219325" algn="ctr"/>
                <a:tab pos="3994150" algn="ctr"/>
              </a:tabLst>
            </a:pPr>
            <a:r>
              <a:rPr lang="en-US" altLang="en-US" sz="2000" dirty="0"/>
              <a:t>Typically, higher average turnaround than SJF, but better </a:t>
            </a:r>
            <a:r>
              <a:rPr lang="en-US" altLang="en-US" sz="2000" b="1" i="1" dirty="0"/>
              <a:t>response</a:t>
            </a:r>
          </a:p>
          <a:p>
            <a:pPr>
              <a:lnSpc>
                <a:spcPct val="90000"/>
              </a:lnSpc>
              <a:tabLst>
                <a:tab pos="2219325" algn="ctr"/>
                <a:tab pos="3994150" algn="ctr"/>
              </a:tabLst>
            </a:pPr>
            <a:r>
              <a:rPr lang="en-US" altLang="en-US" sz="2000" dirty="0"/>
              <a:t>q should be large compared to context switch time</a:t>
            </a:r>
          </a:p>
          <a:p>
            <a:pPr lvl="1">
              <a:lnSpc>
                <a:spcPct val="90000"/>
              </a:lnSpc>
              <a:tabLst>
                <a:tab pos="2219325" algn="ctr"/>
                <a:tab pos="3994150" algn="ctr"/>
              </a:tabLst>
            </a:pPr>
            <a:r>
              <a:rPr lang="en-US" altLang="en-US" sz="2000" dirty="0"/>
              <a:t>q usually 10 milliseconds  to 100 milliseconds, </a:t>
            </a:r>
          </a:p>
          <a:p>
            <a:pPr lvl="1">
              <a:lnSpc>
                <a:spcPct val="90000"/>
              </a:lnSpc>
              <a:tabLst>
                <a:tab pos="2219325" algn="ctr"/>
                <a:tab pos="3994150" algn="ctr"/>
              </a:tabLst>
            </a:pPr>
            <a:r>
              <a:rPr lang="en-US" altLang="en-US" sz="2000"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31677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095997" y="259473"/>
            <a:ext cx="7575893"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0416" y="1709056"/>
            <a:ext cx="7821474" cy="326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6358" y="1289867"/>
            <a:ext cx="6263142" cy="520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5447067" y="3429000"/>
            <a:ext cx="2858733" cy="584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600" dirty="0">
                <a:latin typeface="Verdana" panose="020B0604030504040204" pitchFamily="34" charset="0"/>
              </a:rPr>
              <a:t>80% of CPU bursts should be shorter than q</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1219200" y="224161"/>
            <a:ext cx="7325080"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sz="2000" dirty="0"/>
              <a:t>A priority number (integer) is associated with each process</a:t>
            </a:r>
          </a:p>
          <a:p>
            <a:r>
              <a:rPr lang="en-US" altLang="en-US" sz="2000" dirty="0"/>
              <a:t>The CPU is allocated to the process with the highest priority (smallest integer </a:t>
            </a:r>
            <a:r>
              <a:rPr lang="en-US" altLang="en-US" sz="2000" dirty="0">
                <a:sym typeface="Symbol" panose="05050102010706020507" pitchFamily="18" charset="2"/>
              </a:rPr>
              <a:t> highest priority)</a:t>
            </a:r>
          </a:p>
          <a:p>
            <a:pPr lvl="1"/>
            <a:r>
              <a:rPr lang="en-US" altLang="en-US" sz="2000" dirty="0"/>
              <a:t>Preemptive</a:t>
            </a:r>
          </a:p>
          <a:p>
            <a:pPr lvl="1"/>
            <a:r>
              <a:rPr lang="en-US" altLang="en-US" sz="2000" dirty="0" err="1"/>
              <a:t>Nonpreemptive</a:t>
            </a:r>
            <a:endParaRPr lang="en-US" altLang="en-US" sz="2000" dirty="0"/>
          </a:p>
          <a:p>
            <a:r>
              <a:rPr lang="en-US" altLang="en-US" sz="2000" dirty="0"/>
              <a:t>SJF is priority scheduling where priority is the inverse of predicted next CPU burst time</a:t>
            </a:r>
          </a:p>
          <a:p>
            <a:r>
              <a:rPr lang="en-US" altLang="en-US" sz="2000" dirty="0"/>
              <a:t>Problem </a:t>
            </a:r>
            <a:r>
              <a:rPr lang="en-US" altLang="en-US" sz="2000" dirty="0">
                <a:sym typeface="Symbol" panose="05050102010706020507" pitchFamily="18" charset="2"/>
              </a:rPr>
              <a:t> </a:t>
            </a:r>
            <a:r>
              <a:rPr lang="en-US" altLang="en-US" sz="2000" b="1" dirty="0">
                <a:solidFill>
                  <a:srgbClr val="006699"/>
                </a:solidFill>
                <a:latin typeface="+mj-lt"/>
                <a:sym typeface="Symbol" panose="05050102010706020507" pitchFamily="18" charset="2"/>
              </a:rPr>
              <a:t>Starvation</a:t>
            </a:r>
            <a:r>
              <a:rPr lang="en-US" altLang="en-US" sz="2000" b="1" dirty="0">
                <a:sym typeface="Symbol" panose="05050102010706020507" pitchFamily="18" charset="2"/>
              </a:rPr>
              <a:t> </a:t>
            </a:r>
            <a:r>
              <a:rPr lang="en-US" altLang="en-US" sz="2000" dirty="0">
                <a:sym typeface="Symbol" panose="05050102010706020507" pitchFamily="18" charset="2"/>
              </a:rPr>
              <a:t>– low priority processes may never execute</a:t>
            </a:r>
          </a:p>
          <a:p>
            <a:r>
              <a:rPr lang="en-US" altLang="en-US" sz="2000" dirty="0">
                <a:sym typeface="Symbol" panose="05050102010706020507" pitchFamily="18" charset="2"/>
              </a:rPr>
              <a:t>Solution  </a:t>
            </a:r>
            <a:r>
              <a:rPr lang="en-US" altLang="en-US" sz="2000" b="1" dirty="0">
                <a:solidFill>
                  <a:srgbClr val="006699"/>
                </a:solidFill>
                <a:latin typeface="+mj-lt"/>
                <a:sym typeface="Symbol" panose="05050102010706020507" pitchFamily="18" charset="2"/>
              </a:rPr>
              <a:t>Aging</a:t>
            </a:r>
            <a:r>
              <a:rPr lang="en-US" altLang="en-US" sz="2000" b="1" dirty="0">
                <a:sym typeface="Symbol" panose="05050102010706020507" pitchFamily="18" charset="2"/>
              </a:rPr>
              <a:t> </a:t>
            </a:r>
            <a:r>
              <a:rPr lang="en-US" altLang="en-US" sz="2000" dirty="0">
                <a:sym typeface="Symbol" panose="05050102010706020507" pitchFamily="18" charset="2"/>
              </a:rPr>
              <a:t>– as time progresses increase the priority of the process</a:t>
            </a:r>
          </a:p>
          <a:p>
            <a:pPr>
              <a:buFont typeface="Monotype Sorts" pitchFamily="-84" charset="2"/>
              <a:buNone/>
            </a:pPr>
            <a:endParaRPr lang="en-US" altLang="en-US" sz="2000" b="1" dirty="0">
              <a:solidFill>
                <a:srgbClr val="3366FF"/>
              </a:solidFill>
              <a:sym typeface="Symbol" panose="05050102010706020507"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15596" y="245486"/>
            <a:ext cx="6858000"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1198334" y="975230"/>
            <a:ext cx="7161893" cy="4907539"/>
          </a:xfrm>
          <a:noFill/>
        </p:spPr>
        <p:txBody>
          <a:bodyPr/>
          <a:lstStyle/>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1</a:t>
            </a:r>
            <a:r>
              <a:rPr lang="en-US" altLang="en-US" sz="2000" dirty="0">
                <a:solidFill>
                  <a:srgbClr val="000000"/>
                </a:solidFill>
              </a:rPr>
              <a:t>0</a:t>
            </a:r>
            <a:r>
              <a:rPr lang="en-US" altLang="en-US" sz="2000" dirty="0"/>
              <a:t>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1</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2</a:t>
            </a:r>
            <a:r>
              <a:rPr lang="en-US" altLang="en-US" sz="2000" dirty="0"/>
              <a:t>	4</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1</a:t>
            </a:r>
            <a:r>
              <a:rPr lang="en-US" altLang="en-US" sz="2000" dirty="0"/>
              <a:t>	5</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5	2</a:t>
            </a:r>
          </a:p>
          <a:p>
            <a:pPr>
              <a:buFont typeface="Monotype Sorts" pitchFamily="-84" charset="2"/>
              <a:buNone/>
              <a:tabLst>
                <a:tab pos="1600200" algn="ctr"/>
                <a:tab pos="3251200" algn="ctr"/>
                <a:tab pos="5140325" algn="ctr"/>
              </a:tabLst>
            </a:pPr>
            <a:endParaRPr lang="en-US" altLang="en-US" sz="2000" baseline="-25000" dirty="0"/>
          </a:p>
          <a:p>
            <a:pPr>
              <a:tabLst>
                <a:tab pos="1600200" algn="ctr"/>
                <a:tab pos="3251200" algn="ctr"/>
                <a:tab pos="5140325" algn="ctr"/>
              </a:tabLst>
            </a:pPr>
            <a:r>
              <a:rPr lang="en-US" altLang="en-US" sz="2000" dirty="0"/>
              <a:t>Priority scheduling Gantt Chart</a:t>
            </a:r>
          </a:p>
          <a:p>
            <a:pPr>
              <a:tabLst>
                <a:tab pos="1600200" algn="ctr"/>
                <a:tab pos="3251200" algn="ctr"/>
                <a:tab pos="5140325" algn="ctr"/>
              </a:tabLst>
            </a:pPr>
            <a:endParaRPr lang="en-US" altLang="en-US" sz="2000" dirty="0"/>
          </a:p>
          <a:p>
            <a:pPr>
              <a:tabLst>
                <a:tab pos="1600200" algn="ctr"/>
                <a:tab pos="3251200" algn="ctr"/>
                <a:tab pos="5140325" algn="ctr"/>
              </a:tabLst>
            </a:pPr>
            <a:endParaRPr lang="en-US" altLang="en-US" sz="2000" dirty="0"/>
          </a:p>
          <a:p>
            <a:pPr>
              <a:buFont typeface="Monotype Sorts" pitchFamily="-84" charset="2"/>
              <a:buNone/>
              <a:tabLst>
                <a:tab pos="1600200" algn="ctr"/>
                <a:tab pos="3251200" algn="ctr"/>
                <a:tab pos="5140325" algn="ctr"/>
              </a:tabLst>
            </a:pPr>
            <a:endParaRPr lang="en-US" altLang="en-US" sz="2000" dirty="0"/>
          </a:p>
          <a:p>
            <a:pPr>
              <a:tabLst>
                <a:tab pos="1600200" algn="ctr"/>
                <a:tab pos="3251200" algn="ctr"/>
                <a:tab pos="5140325" algn="ctr"/>
              </a:tabLst>
            </a:pPr>
            <a:r>
              <a:rPr lang="en-US" altLang="en-US" sz="2000" dirty="0"/>
              <a:t>Average waiting time = 8.2</a:t>
            </a:r>
            <a:endParaRPr lang="en-US" altLang="en-US" sz="2000"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325825" y="23304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938848"/>
            <a:ext cx="7675077" cy="4052252"/>
          </a:xfrm>
          <a:noFill/>
        </p:spPr>
        <p:txBody>
          <a:bodyPr/>
          <a:lstStyle/>
          <a:p>
            <a:pPr>
              <a:tabLst>
                <a:tab pos="1600200" algn="ctr"/>
                <a:tab pos="3251200" algn="ctr"/>
                <a:tab pos="5140325" algn="ctr"/>
              </a:tabLst>
            </a:pPr>
            <a:r>
              <a:rPr lang="en-US" altLang="en-US" sz="2000" dirty="0"/>
              <a:t>Run the process with the highest priority. Processes with the same priority run round-robin</a:t>
            </a:r>
          </a:p>
          <a:p>
            <a:pPr>
              <a:tabLst>
                <a:tab pos="1600200" algn="ctr"/>
                <a:tab pos="3251200" algn="ctr"/>
                <a:tab pos="5140325" algn="ctr"/>
              </a:tabLst>
            </a:pPr>
            <a:r>
              <a:rPr lang="en-US" altLang="en-US" sz="2000" dirty="0"/>
              <a:t>Example:</a:t>
            </a:r>
          </a:p>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4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5</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8</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7</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3	3</a:t>
            </a:r>
            <a:endParaRPr lang="en-US" altLang="en-US" sz="2000" baseline="-25000" dirty="0"/>
          </a:p>
          <a:p>
            <a:pPr>
              <a:tabLst>
                <a:tab pos="1600200" algn="ctr"/>
                <a:tab pos="3251200" algn="ctr"/>
                <a:tab pos="5140325" algn="ctr"/>
              </a:tabLst>
            </a:pPr>
            <a:r>
              <a:rPr lang="en-US" altLang="en-US" sz="2000" dirty="0"/>
              <a:t>Gantt Chart with time quantum = 2</a:t>
            </a:r>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50825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Take a Break</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13439</TotalTime>
  <Words>1621</Words>
  <Application>Microsoft Office PowerPoint</Application>
  <PresentationFormat>全屏显示(4:3)</PresentationFormat>
  <Paragraphs>222</Paragraphs>
  <Slides>27</Slides>
  <Notes>27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Lucida Grande</vt:lpstr>
      <vt:lpstr>Monotype Sorts</vt:lpstr>
      <vt:lpstr>ＭＳ Ｐゴシック</vt:lpstr>
      <vt:lpstr>Arial</vt:lpstr>
      <vt:lpstr>Helvetica</vt:lpstr>
      <vt:lpstr>Symbol</vt:lpstr>
      <vt:lpstr>Times New Roman</vt:lpstr>
      <vt:lpstr>Verdana</vt:lpstr>
      <vt:lpstr>Webdings</vt:lpstr>
      <vt:lpstr>Wingdings</vt:lpstr>
      <vt:lpstr>os-8</vt:lpstr>
      <vt:lpstr>Chapter 5 CPU Scheduling (1)</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Process Scheduling</vt:lpstr>
      <vt:lpstr>FCFS Scheduling (1)</vt:lpstr>
      <vt:lpstr>FCFS Scheduling (2)</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Take a Break</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Prof. Chung Yehching (SDS)</cp:lastModifiedBy>
  <cp:revision>286</cp:revision>
  <cp:lastPrinted>2013-09-10T17:57:57Z</cp:lastPrinted>
  <dcterms:created xsi:type="dcterms:W3CDTF">2011-01-13T23:43:38Z</dcterms:created>
  <dcterms:modified xsi:type="dcterms:W3CDTF">2025-10-18T20:11:50Z</dcterms:modified>
</cp:coreProperties>
</file>