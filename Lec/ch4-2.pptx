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4"/>
  </p:notesMasterIdLst>
  <p:handoutMasterIdLst>
    <p:handoutMasterId r:id="rId35"/>
  </p:handoutMasterIdLst>
  <p:sldIdLst>
    <p:sldId id="331" r:id="rId2"/>
    <p:sldId id="357" r:id="rId3"/>
    <p:sldId id="358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4" r:id="rId12"/>
    <p:sldId id="359" r:id="rId13"/>
    <p:sldId id="395" r:id="rId14"/>
    <p:sldId id="360" r:id="rId15"/>
    <p:sldId id="373" r:id="rId16"/>
    <p:sldId id="396" r:id="rId17"/>
    <p:sldId id="397" r:id="rId18"/>
    <p:sldId id="361" r:id="rId19"/>
    <p:sldId id="362" r:id="rId20"/>
    <p:sldId id="363" r:id="rId21"/>
    <p:sldId id="375" r:id="rId22"/>
    <p:sldId id="364" r:id="rId23"/>
    <p:sldId id="365" r:id="rId24"/>
    <p:sldId id="398" r:id="rId25"/>
    <p:sldId id="366" r:id="rId26"/>
    <p:sldId id="367" r:id="rId27"/>
    <p:sldId id="368" r:id="rId28"/>
    <p:sldId id="376" r:id="rId29"/>
    <p:sldId id="369" r:id="rId30"/>
    <p:sldId id="370" r:id="rId31"/>
    <p:sldId id="371" r:id="rId32"/>
    <p:sldId id="372" r:id="rId3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3" autoAdjust="0"/>
    <p:restoredTop sz="94626"/>
  </p:normalViewPr>
  <p:slideViewPr>
    <p:cSldViewPr snapToGrid="0">
      <p:cViewPr varScale="1">
        <p:scale>
          <a:sx n="56" d="100"/>
          <a:sy n="56" d="100"/>
        </p:scale>
        <p:origin x="1468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50C4562-1819-4A4C-8E84-8762598F0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888F6BF-980E-4154-9582-73071EB466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437443ED-743B-40CA-A0C4-A5094D1EF9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2D72069-5AE5-45CA-B9B5-C7885281CF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FF863A-563B-4650-9916-E2BA748939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A50AAA7-213E-427A-9B08-F380117F32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B45F81B-3B51-469E-8039-6D60906977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5A1AB8E-F82E-43C1-AD5C-E4A371BC27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8055955-90A4-4D08-AB1C-A4B30E64B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DE66CCC-5F13-4776-85DA-D53B16116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9BB91D0-98A2-452A-9686-40FABA68D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4CFF6C-4004-4410-88F0-F4F19A1CCD13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65B70CD-1D40-4FBB-B69E-B0BE8DCDA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2F07CFF-7563-4EE5-812A-6F8C90FD7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712BD98-8FD1-4C5B-ACCD-B506C3F30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DCF3906-A485-420D-A07D-6796D1373A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7B4482B-2E5E-4B60-925B-792A62447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4BB7AAAF-2D0D-444E-9C4A-241B80536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8E20DC-D625-4FC1-80D1-197547D6A0FC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9908802-64CA-49E3-931A-595B2C94C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AC4CBFD-A424-47AF-AE08-5BE9978F6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17EBCBBF-41C5-425A-8C78-5D293D9B85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086FDF-C283-4A26-A609-6B6E5A4F7611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B9B233EF-4231-4BA9-9EEF-1E69C0C6D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24EF9F7-118A-440E-835D-273EF5003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8748FDE-E8BC-4A9C-A7E9-E83C7D708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B4739B-763B-41A7-BF7B-6390169FD7EB}" type="slidenum">
              <a:rPr lang="en-US" altLang="en-US" smtClean="0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2EDC8114-80FF-4527-8452-8939C60B2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3D42AF9C-FB2A-4442-A801-C02307714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2F305424-2E1B-470D-A274-29ABA8FF1D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5790EF-1AC9-4C3D-A973-AAE8B010255A}" type="slidenum">
              <a:rPr lang="en-US" altLang="en-US" smtClean="0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D5C964FA-22D0-4E05-B730-D533B6A444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80E7091-F446-484C-8E4A-417D2AC58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5FF94ED2-DF55-4D1B-8DA2-07A842A2B1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910074-6A37-4496-AE68-529FF68CD695}" type="slidenum">
              <a:rPr lang="en-US" altLang="en-US" smtClean="0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03D7B118-35EC-41E3-912A-ACD9C96F6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96523C0-C350-444A-B4E1-1329DD712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FA5AFAA5-5218-4C59-9B07-DF3DD016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0F8462-1483-480D-9499-599BDADC3331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A72C3A4C-AD16-4898-8CE5-E59313D1A7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024EE35-1071-4350-AC7A-2880808BA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CF84B4F2-9D3B-4B2F-BF96-A59F225777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FC7D05-D70C-4688-A6EC-0CAD37F60868}" type="slidenum">
              <a:rPr lang="en-US" altLang="en-US" smtClean="0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B362FC63-0CF8-4F27-8D50-36C311771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05EA1D9E-4BA7-46A6-8A84-EDB8389F7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3D8E3A22-255B-4013-9FAA-354F22808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384F79-FBB8-4CF0-ACB5-B2C4E81F4BD7}" type="slidenum">
              <a:rPr lang="en-US" altLang="en-US" smtClean="0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3414BE9A-3487-46A0-8D93-908174E2B3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850E0C92-CD42-45A7-9966-C095105AF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5962F69-093A-408F-B384-7C8444BFC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EF35BB1E-D520-47C0-8054-BC16A9F20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BD69566-D1C2-496F-B046-36CA881CC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F2B3D9C8-405E-4869-B7DA-C0EA2952C0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7F09621-5A44-4CBF-82F9-AF59D7D29429}" type="slidenum">
              <a:rPr lang="en-US" altLang="en-US" smtClean="0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7E4665BD-4253-40F1-BC78-DE8BBDAB76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6713D87-7305-49B3-91D0-F30C44637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DAE79D6A-67CB-4C69-BA94-F4EE051A70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124DD7-701B-4C62-BB67-32CAEE595173}" type="slidenum">
              <a:rPr lang="en-US" altLang="en-US" smtClean="0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1B7687CC-A2DC-4DB6-9D2E-F0DF0D822E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8288A69-48FB-4D7D-9160-2B0CCFFD7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825BBC46-A330-4F4A-B305-93B88114E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F1AA22-768A-4441-B4A7-7B9EE0F1CEA2}" type="slidenum">
              <a:rPr lang="en-US" altLang="en-US" smtClean="0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52C4AF6F-3A33-4B3D-A9C5-999D34DE65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03C39424-7CC6-4EAD-B6CC-B6829E4E3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74F122F5-4598-4486-AEE9-A0E29FCC7F2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3513" y="8853488"/>
            <a:ext cx="305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604" tIns="45801" rIns="91604" bIns="45801" anchor="b"/>
          <a:lstStyle>
            <a:lvl1pPr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87849D-3357-408B-BE81-D941B68A9C17}" type="slidenum">
              <a:rPr lang="en-US" altLang="en-US" sz="1200">
                <a:latin typeface="Helvetica" panose="020B0604020202020204" pitchFamily="34" charset="0"/>
              </a:rPr>
              <a:pPr algn="r"/>
              <a:t>27</a:t>
            </a:fld>
            <a:endParaRPr lang="en-US" altLang="en-US" sz="1200">
              <a:latin typeface="Helvetica" panose="020B0604020202020204" pitchFamily="34" charset="0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73C4DCE4-88C5-4C98-9DA5-E017D80E13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9765D6DE-A5FC-47F0-B3FB-BFABDB9A2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>
            <a:extLst>
              <a:ext uri="{FF2B5EF4-FFF2-40B4-BE49-F238E27FC236}">
                <a16:creationId xmlns:a16="http://schemas.microsoft.com/office/drawing/2014/main" id="{D3517A6B-4F86-4BF0-A7FB-1BD5EBE18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116B57-7969-4071-A746-9D77D5F1E3CB}" type="slidenum">
              <a:rPr lang="en-US" altLang="en-US" smtClean="0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7878F00E-B648-4612-B5CB-D00AADE350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1DC6BA39-1EDC-4A74-8794-176CC37BF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A98BD5E9-68DB-44E3-B64A-5E17DF84C5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6A8B9C-1E5D-4E07-B8D8-9FCDFD426338}" type="slidenum">
              <a:rPr lang="en-US" altLang="en-US" smtClean="0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21B327CA-F749-48DD-B520-75AA26D49D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F1ED87E5-76C2-4D48-98D1-5C54D1AA7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C0C37606-01E7-4DBC-B837-C0D0A6173E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97C32648-9B7A-4EFE-847A-739C71023A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0D5813B0-A22D-4F2C-8A3F-0BFE4DE6B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2ED1-C80C-4561-A421-39FDA9B078BC}" type="slidenum">
              <a:rPr lang="en-US" altLang="en-US" smtClean="0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C79D5CE-BCEF-4B0F-9D0F-A5485F9BA0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E6ECB659-BD3A-4C4F-8EF1-B79B7B484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5B7BA288-9799-4FCC-AA27-DAA56CA5F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D05454-0887-49D1-BB79-E16982FE9E04}" type="slidenum">
              <a:rPr lang="en-US" altLang="en-US" smtClean="0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55C74086-1C19-4246-8A2B-B6C7CCC34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E3FD3FF-5B29-43D0-9279-B7FF5B29F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8E92A4A-A65D-4B54-AD1C-C891575A70C7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EA9A240-C64D-4B73-B222-A2240BA27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0CE453-DC15-4BB2-AE60-001C2582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D7109CB-1C1F-43A3-9D41-5E4A55722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06B863-0953-4381-B842-DD977F05F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639C405-F6E2-417F-8A27-5C09EB03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97C76FE8-CB55-4011-A0E6-A17B9BDC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AE8C83-8EB2-41AB-A5F7-FA719861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21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1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923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242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16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957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43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09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703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96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454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E799C5B-1F2C-4727-B04D-3C144142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7CAF9D1-07DE-4C40-A4D8-E9F6D37A6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4D6D3A-1B1C-470E-BC9D-4C5D96909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0568D0-1118-430A-9D7C-4FADA8707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1540BB71-9BEC-4347-834F-C88CB0227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DA1E9C4-BD61-4AC8-9022-3985C6D3F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ECCE598-0798-4A43-9FF2-062E30ADD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67B8A227-8BCF-4192-8DD5-3E05B704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4.</a:t>
            </a:r>
            <a:fld id="{B8C59114-2645-4608-9BE9-5C330A595960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39D70C2C-1A21-48F2-880B-506452A6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8694D3-86E1-44FA-8516-8D3F5E09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91CD56B2-899D-4DC1-BFE5-E29F3D4F4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89BB6AAA-4250-44C0-8BF1-0E2B0D4E2A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4 </a:t>
            </a:r>
            <a:br>
              <a:rPr lang="en-US" altLang="en-US" dirty="0"/>
            </a:br>
            <a:r>
              <a:rPr lang="en-US" altLang="en-US" dirty="0"/>
              <a:t>Threads &amp; Concurrency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/>
              <a:t>）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F9E55120-F5D0-46C2-82BE-CA6606138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Implicit Threading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FC74C183-73E7-433E-B44B-AE297348A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84407" cy="4478337"/>
          </a:xfrm>
        </p:spPr>
        <p:txBody>
          <a:bodyPr/>
          <a:lstStyle/>
          <a:p>
            <a:r>
              <a:rPr lang="en-US" altLang="en-US" sz="2000" dirty="0"/>
              <a:t>Growing in popularity as numbers of threads increase, program correctness more difficult with explicit threads</a:t>
            </a:r>
          </a:p>
          <a:p>
            <a:r>
              <a:rPr lang="en-US" altLang="en-US" sz="2000" dirty="0"/>
              <a:t>Creation and management of threads done by compilers and run-time libraries rather than programmers</a:t>
            </a:r>
          </a:p>
          <a:p>
            <a:r>
              <a:rPr lang="en-US" altLang="en-US" sz="2000" dirty="0"/>
              <a:t>Five methods explored</a:t>
            </a:r>
          </a:p>
          <a:p>
            <a:pPr lvl="1"/>
            <a:r>
              <a:rPr lang="en-US" altLang="en-US" sz="2000" dirty="0"/>
              <a:t>Thread Pools</a:t>
            </a:r>
          </a:p>
          <a:p>
            <a:pPr lvl="1"/>
            <a:r>
              <a:rPr lang="en-US" altLang="en-US" sz="2000" dirty="0"/>
              <a:t>Fork-Join</a:t>
            </a:r>
          </a:p>
          <a:p>
            <a:pPr lvl="1"/>
            <a:r>
              <a:rPr lang="en-US" altLang="en-US" sz="2000" dirty="0"/>
              <a:t>OpenMP</a:t>
            </a:r>
          </a:p>
          <a:p>
            <a:pPr lvl="1"/>
            <a:r>
              <a:rPr lang="en-US" altLang="en-US" sz="2000" dirty="0"/>
              <a:t>Grand Central Dispatch</a:t>
            </a:r>
          </a:p>
          <a:p>
            <a:pPr lvl="1"/>
            <a:r>
              <a:rPr lang="en-US" altLang="en-US" sz="2000" dirty="0"/>
              <a:t>Intel Threading Building Blocks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407548F8-7BBB-488A-9C64-FEFB3E119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Pools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1DAB4466-FF5C-42A6-98D5-F594A5A17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0579" y="977108"/>
            <a:ext cx="7686221" cy="3845434"/>
          </a:xfrm>
        </p:spPr>
        <p:txBody>
          <a:bodyPr/>
          <a:lstStyle/>
          <a:p>
            <a:r>
              <a:rPr lang="en-US" altLang="en-US" sz="2000" dirty="0"/>
              <a:t>Create a number of threads in a pool where they await work</a:t>
            </a:r>
          </a:p>
          <a:p>
            <a:r>
              <a:rPr lang="en-US" altLang="en-US" sz="2000" dirty="0"/>
              <a:t>Advantages:</a:t>
            </a:r>
          </a:p>
          <a:p>
            <a:pPr lvl="1"/>
            <a:r>
              <a:rPr lang="en-US" altLang="en-US" sz="2000" dirty="0"/>
              <a:t>Usually slightly faster to service a request with an existing thread than create a new thread</a:t>
            </a:r>
          </a:p>
          <a:p>
            <a:pPr lvl="1"/>
            <a:r>
              <a:rPr lang="en-US" altLang="en-US" sz="2000" dirty="0"/>
              <a:t>Allows the number of threads in the application(s) to be bound to the size of the pool</a:t>
            </a:r>
          </a:p>
          <a:p>
            <a:pPr lvl="1"/>
            <a:r>
              <a:rPr lang="en-US" altLang="en-US" sz="2000" dirty="0"/>
              <a:t>Separating task to be performed from mechanics of creating task allows different strategies for running task</a:t>
            </a:r>
          </a:p>
          <a:p>
            <a:pPr lvl="2"/>
            <a:r>
              <a:rPr lang="en-US" altLang="en-US" sz="2000" dirty="0" err="1"/>
              <a:t>i.e,Tasks</a:t>
            </a:r>
            <a:r>
              <a:rPr lang="en-US" altLang="en-US" sz="2000" dirty="0"/>
              <a:t> could be scheduled to run periodically</a:t>
            </a:r>
          </a:p>
          <a:p>
            <a:r>
              <a:rPr lang="en-US" altLang="en-US" sz="2000" dirty="0"/>
              <a:t>Windows API supports thread pools:</a:t>
            </a:r>
          </a:p>
        </p:txBody>
      </p:sp>
      <p:pic>
        <p:nvPicPr>
          <p:cNvPr id="59395" name="Picture 1" descr="Screen Shot 2012-12-04 at 9.17.42 PM.png">
            <a:extLst>
              <a:ext uri="{FF2B5EF4-FFF2-40B4-BE49-F238E27FC236}">
                <a16:creationId xmlns:a16="http://schemas.microsoft.com/office/drawing/2014/main" id="{D64E1B78-20BD-4FED-BCFF-952D9F2161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1" r="12807" b="11108"/>
          <a:stretch>
            <a:fillRect/>
          </a:stretch>
        </p:blipFill>
        <p:spPr bwMode="auto">
          <a:xfrm>
            <a:off x="2144486" y="4822541"/>
            <a:ext cx="5072743" cy="1265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A2B30332-8F67-4C2C-9E06-797B76E5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Thread Pools (1)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0F2BF71E-EE06-4CCF-82F8-A416029C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Three factory methods for creating thread pools in Executors class:</a:t>
            </a:r>
          </a:p>
        </p:txBody>
      </p:sp>
      <p:pic>
        <p:nvPicPr>
          <p:cNvPr id="61443" name="Picture 3">
            <a:extLst>
              <a:ext uri="{FF2B5EF4-FFF2-40B4-BE49-F238E27FC236}">
                <a16:creationId xmlns:a16="http://schemas.microsoft.com/office/drawing/2014/main" id="{1E44F790-96C5-4253-A283-43ACB4803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507" y="2120900"/>
            <a:ext cx="7124930" cy="1395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37716076-2C27-44DA-8C53-7D021F9C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Thread Pools (2)</a:t>
            </a:r>
          </a:p>
        </p:txBody>
      </p:sp>
      <p:pic>
        <p:nvPicPr>
          <p:cNvPr id="62466" name="Content Placeholder 3">
            <a:extLst>
              <a:ext uri="{FF2B5EF4-FFF2-40B4-BE49-F238E27FC236}">
                <a16:creationId xmlns:a16="http://schemas.microsoft.com/office/drawing/2014/main" id="{D3341B41-7DD8-4DC3-BD1A-010A1A372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6500" y="1311275"/>
            <a:ext cx="7310098" cy="4436382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96B7209D-1875-45AD-B783-C40EB738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 (1)</a:t>
            </a:r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BD5D55A5-3CD4-45C3-AEDE-1B3CAE796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727950" cy="576263"/>
          </a:xfrm>
        </p:spPr>
        <p:txBody>
          <a:bodyPr/>
          <a:lstStyle/>
          <a:p>
            <a:r>
              <a:rPr lang="en-US" altLang="en-US" sz="2000" dirty="0"/>
              <a:t>Multiple threads (tasks) are </a:t>
            </a:r>
            <a:r>
              <a:rPr lang="en-US" altLang="en-US" sz="2000" b="1" dirty="0"/>
              <a:t>forked</a:t>
            </a:r>
            <a:r>
              <a:rPr lang="en-US" altLang="en-US" sz="2000" dirty="0"/>
              <a:t>, and then </a:t>
            </a:r>
            <a:r>
              <a:rPr lang="en-US" altLang="en-US" sz="2000" b="1" dirty="0"/>
              <a:t>joined</a:t>
            </a:r>
            <a:r>
              <a:rPr lang="en-US" altLang="en-US" sz="2000" dirty="0"/>
              <a:t>.</a:t>
            </a:r>
          </a:p>
        </p:txBody>
      </p:sp>
      <p:pic>
        <p:nvPicPr>
          <p:cNvPr id="63491" name="Picture 1">
            <a:extLst>
              <a:ext uri="{FF2B5EF4-FFF2-40B4-BE49-F238E27FC236}">
                <a16:creationId xmlns:a16="http://schemas.microsoft.com/office/drawing/2014/main" id="{D71E8547-BE08-417E-B714-75D03F5D5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33" y="2589439"/>
            <a:ext cx="8045405" cy="1679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E70855C1-DCE3-42CB-A4C8-7B958406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 (2)</a:t>
            </a:r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D8025F3E-39A7-4B92-9FF0-6B73CEC41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727950" cy="576263"/>
          </a:xfrm>
        </p:spPr>
        <p:txBody>
          <a:bodyPr/>
          <a:lstStyle/>
          <a:p>
            <a:r>
              <a:rPr lang="en-US" altLang="en-US" sz="2000" dirty="0"/>
              <a:t>General algorithm for fork-join strategy:</a:t>
            </a:r>
          </a:p>
        </p:txBody>
      </p:sp>
      <p:pic>
        <p:nvPicPr>
          <p:cNvPr id="64515" name="Picture 3">
            <a:extLst>
              <a:ext uri="{FF2B5EF4-FFF2-40B4-BE49-F238E27FC236}">
                <a16:creationId xmlns:a16="http://schemas.microsoft.com/office/drawing/2014/main" id="{18A3EBE2-4330-4DB9-A558-3710736C4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57399"/>
            <a:ext cx="6058786" cy="286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A60B8B1B-D780-4852-8E0D-49911E90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 (3)</a:t>
            </a:r>
          </a:p>
        </p:txBody>
      </p:sp>
      <p:pic>
        <p:nvPicPr>
          <p:cNvPr id="65538" name="Picture 1">
            <a:extLst>
              <a:ext uri="{FF2B5EF4-FFF2-40B4-BE49-F238E27FC236}">
                <a16:creationId xmlns:a16="http://schemas.microsoft.com/office/drawing/2014/main" id="{B3C03BAD-DAA6-436B-95DB-DD28333BD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1482725"/>
            <a:ext cx="4202113" cy="422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43D13F5A-2734-49DF-BFE4-5DB6E054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 in Java (1)</a:t>
            </a:r>
          </a:p>
        </p:txBody>
      </p:sp>
      <p:pic>
        <p:nvPicPr>
          <p:cNvPr id="66562" name="Picture 2">
            <a:extLst>
              <a:ext uri="{FF2B5EF4-FFF2-40B4-BE49-F238E27FC236}">
                <a16:creationId xmlns:a16="http://schemas.microsoft.com/office/drawing/2014/main" id="{6CF0E748-8FC9-47F3-864F-F2C39472A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09" y="1970314"/>
            <a:ext cx="6148240" cy="180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E7EBC813-24D9-4251-A424-D543DF4A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 in Java (2)</a:t>
            </a:r>
          </a:p>
        </p:txBody>
      </p:sp>
      <p:pic>
        <p:nvPicPr>
          <p:cNvPr id="67586" name="Picture 2">
            <a:extLst>
              <a:ext uri="{FF2B5EF4-FFF2-40B4-BE49-F238E27FC236}">
                <a16:creationId xmlns:a16="http://schemas.microsoft.com/office/drawing/2014/main" id="{208F6E35-E9F8-4881-9CC9-CD085B4B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542" y="906105"/>
            <a:ext cx="4806691" cy="5718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6D90200C-7483-4971-837A-517771B6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 in Java (3)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4C19F5FD-397F-47D2-8792-EE6E18E2B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950460"/>
            <a:ext cx="7712399" cy="2304369"/>
          </a:xfrm>
        </p:spPr>
        <p:txBody>
          <a:bodyPr/>
          <a:lstStyle/>
          <a:p>
            <a:r>
              <a:rPr lang="en-US" altLang="en-US" sz="2000" dirty="0"/>
              <a:t>The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ForkJoinTask</a:t>
            </a:r>
            <a:r>
              <a:rPr lang="en-US" altLang="en-US" sz="2000" dirty="0"/>
              <a:t> is an abstract base class</a:t>
            </a:r>
          </a:p>
          <a:p>
            <a:r>
              <a:rPr lang="en-US" altLang="en-US" sz="2000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sz="2000" dirty="0"/>
              <a:t> and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sz="2000" dirty="0"/>
              <a:t> classes extend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ForkJoinTask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sz="2000" dirty="0"/>
              <a:t> returns a result (via the return value from the </a:t>
            </a:r>
            <a:r>
              <a:rPr lang="en-US" altLang="en-US" sz="2000" b="1" dirty="0">
                <a:latin typeface="Courier New" panose="02070309020205020404" pitchFamily="49" charset="0"/>
              </a:rPr>
              <a:t>compute() </a:t>
            </a:r>
            <a:r>
              <a:rPr lang="en-US" altLang="en-US" sz="2000" dirty="0"/>
              <a:t>method) </a:t>
            </a:r>
          </a:p>
          <a:p>
            <a:r>
              <a:rPr lang="en-US" altLang="en-US" sz="2000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sz="2000" dirty="0"/>
              <a:t> does not return a result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endParaRPr lang="en-US" altLang="en-US" sz="2000" b="1" dirty="0">
              <a:latin typeface="Courier New" panose="02070309020205020404" pitchFamily="49" charset="0"/>
            </a:endParaRPr>
          </a:p>
        </p:txBody>
      </p:sp>
      <p:pic>
        <p:nvPicPr>
          <p:cNvPr id="68611" name="Picture 1">
            <a:extLst>
              <a:ext uri="{FF2B5EF4-FFF2-40B4-BE49-F238E27FC236}">
                <a16:creationId xmlns:a16="http://schemas.microsoft.com/office/drawing/2014/main" id="{16F28A26-C981-42C8-8117-EA6AF2BD5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37" y="3514236"/>
            <a:ext cx="49593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544669B9-2DEA-421A-8382-2BC0EEE0B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34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OpenMP (1)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14946A5B-F4DA-4E2D-9FE7-9A6C90AEC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473200"/>
            <a:ext cx="3560763" cy="3997325"/>
          </a:xfrm>
        </p:spPr>
        <p:txBody>
          <a:bodyPr/>
          <a:lstStyle/>
          <a:p>
            <a:r>
              <a:rPr lang="en-US" altLang="en-US" dirty="0"/>
              <a:t>Set of compiler directives and  APIs for C, C++, FORTRAN </a:t>
            </a:r>
          </a:p>
          <a:p>
            <a:r>
              <a:rPr lang="en-US" altLang="en-US" dirty="0"/>
              <a:t>Provides support for parallel programming in shared-memory environments</a:t>
            </a:r>
          </a:p>
          <a:p>
            <a:r>
              <a:rPr lang="en-US" altLang="en-US" dirty="0"/>
              <a:t>Identifies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parallel regions </a:t>
            </a:r>
            <a:r>
              <a:rPr lang="en-US" altLang="en-US" dirty="0"/>
              <a:t>– blocks of code that can run in parallel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parallel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Create as many threads as there are cores</a:t>
            </a:r>
          </a:p>
        </p:txBody>
      </p:sp>
      <p:pic>
        <p:nvPicPr>
          <p:cNvPr id="69635" name="Picture 2">
            <a:extLst>
              <a:ext uri="{FF2B5EF4-FFF2-40B4-BE49-F238E27FC236}">
                <a16:creationId xmlns:a16="http://schemas.microsoft.com/office/drawing/2014/main" id="{55ABC929-CE13-4509-98E6-61C837534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1473200"/>
            <a:ext cx="40894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4A81212D-9FC8-4D36-B7BD-612B85421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935" y="1026660"/>
            <a:ext cx="6889750" cy="576262"/>
          </a:xfrm>
        </p:spPr>
        <p:txBody>
          <a:bodyPr/>
          <a:lstStyle/>
          <a:p>
            <a:r>
              <a:rPr lang="en-US" altLang="en-US" sz="2000" dirty="0"/>
              <a:t>Run the for loop in parallel</a:t>
            </a:r>
          </a:p>
        </p:txBody>
      </p:sp>
      <p:pic>
        <p:nvPicPr>
          <p:cNvPr id="71683" name="Picture 3">
            <a:extLst>
              <a:ext uri="{FF2B5EF4-FFF2-40B4-BE49-F238E27FC236}">
                <a16:creationId xmlns:a16="http://schemas.microsoft.com/office/drawing/2014/main" id="{E15DDD23-9A4F-4651-BEEF-EB8F9B7034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79" b="15979"/>
          <a:stretch>
            <a:fillRect/>
          </a:stretch>
        </p:blipFill>
        <p:spPr bwMode="auto">
          <a:xfrm>
            <a:off x="2536371" y="2101076"/>
            <a:ext cx="3592286" cy="1176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C1A105F-36E0-0291-1367-2334C7F5E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34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OpenMP (2)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63EDC882-8B59-4594-B276-CFAD243CC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27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 (1)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E0F26652-E0BE-449C-A693-21DA9E1C2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3" y="1187450"/>
            <a:ext cx="7753740" cy="4478338"/>
          </a:xfrm>
        </p:spPr>
        <p:txBody>
          <a:bodyPr/>
          <a:lstStyle/>
          <a:p>
            <a:r>
              <a:rPr lang="en-US" altLang="en-US" sz="2000" dirty="0"/>
              <a:t>Apple technology for macOS and iOS operating systems</a:t>
            </a:r>
          </a:p>
          <a:p>
            <a:r>
              <a:rPr lang="en-US" altLang="en-US" sz="2000" dirty="0"/>
              <a:t>Extensions to C, C++ and Objective-C languages, API, and run-time library</a:t>
            </a:r>
          </a:p>
          <a:p>
            <a:r>
              <a:rPr lang="en-US" altLang="en-US" sz="2000" dirty="0"/>
              <a:t>Allows identification of parallel sections</a:t>
            </a:r>
          </a:p>
          <a:p>
            <a:r>
              <a:rPr lang="en-US" altLang="en-US" sz="2000" dirty="0"/>
              <a:t>Manages most of the details of threading</a:t>
            </a:r>
          </a:p>
          <a:p>
            <a:r>
              <a:rPr lang="en-US" altLang="en-US" sz="2000" dirty="0"/>
              <a:t>Block is in “^{ }” :</a:t>
            </a:r>
            <a:br>
              <a:rPr lang="en-US" altLang="en-US" sz="2000" dirty="0"/>
            </a:br>
            <a:br>
              <a:rPr lang="en-US" altLang="en-US" sz="2000" dirty="0"/>
            </a:br>
            <a:r>
              <a:rPr lang="en-US" altLang="en-US" sz="2000" dirty="0"/>
              <a:t> </a:t>
            </a:r>
            <a:r>
              <a:rPr lang="ro-RO" altLang="en-US" sz="2000" b="1" dirty="0">
                <a:latin typeface="Courier New" panose="02070309020205020404" pitchFamily="49" charset="0"/>
              </a:rPr>
              <a:t>ˆ{ printf("I am a block"); } </a:t>
            </a:r>
            <a:br>
              <a:rPr lang="ro-RO" altLang="en-US" sz="2000" b="1" dirty="0">
                <a:latin typeface="Courier New" panose="02070309020205020404" pitchFamily="49" charset="0"/>
              </a:rPr>
            </a:br>
            <a:endParaRPr lang="en-US" altLang="en-US" sz="2000" dirty="0"/>
          </a:p>
          <a:p>
            <a:r>
              <a:rPr lang="en-US" altLang="en-US" sz="2000" dirty="0"/>
              <a:t>Blocks placed in dispatch queue</a:t>
            </a:r>
          </a:p>
          <a:p>
            <a:pPr lvl="1"/>
            <a:r>
              <a:rPr lang="en-US" altLang="en-US" sz="2000" dirty="0"/>
              <a:t>Assigned to available thread in thread pool when removed from queue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7B806D4C-6940-4E14-B304-1F7CFEF60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 (2)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2AF9024C-9C3C-4274-AB7B-7B0D8B7AC5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2" y="1064305"/>
            <a:ext cx="7865708" cy="4729389"/>
          </a:xfrm>
        </p:spPr>
        <p:txBody>
          <a:bodyPr/>
          <a:lstStyle/>
          <a:p>
            <a:r>
              <a:rPr lang="en-US" altLang="en-US" sz="2000" dirty="0"/>
              <a:t>Two types of dispatch queues:</a:t>
            </a:r>
          </a:p>
          <a:p>
            <a:pPr lvl="1"/>
            <a:r>
              <a:rPr lang="en-US" altLang="en-US" sz="2000" b="1" dirty="0"/>
              <a:t>serial</a:t>
            </a:r>
            <a:r>
              <a:rPr lang="en-US" altLang="en-US" sz="2000" dirty="0"/>
              <a:t> – blocks removed in FIFO order, queue is per process,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main queue</a:t>
            </a:r>
          </a:p>
          <a:p>
            <a:pPr lvl="2"/>
            <a:r>
              <a:rPr lang="en-US" altLang="en-US" sz="2000" dirty="0"/>
              <a:t>Programmers can create additional serial queues within program</a:t>
            </a:r>
          </a:p>
          <a:p>
            <a:pPr lvl="1"/>
            <a:r>
              <a:rPr lang="en-US" altLang="en-US" sz="2000" b="1" dirty="0"/>
              <a:t>concurrent</a:t>
            </a:r>
            <a:r>
              <a:rPr lang="en-US" altLang="en-US" sz="2000" dirty="0"/>
              <a:t> – removed in FIFO order but several may be removed at a time</a:t>
            </a:r>
          </a:p>
          <a:p>
            <a:pPr lvl="2"/>
            <a:r>
              <a:rPr lang="en-US" altLang="en-US" sz="2000" dirty="0"/>
              <a:t>Four system wide queues divided by quality of service: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Courier New" panose="02070309020205020404" pitchFamily="49" charset="0"/>
              </a:rPr>
              <a:t>QOS_CLASS_USER_INTERACTIVE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Courier New" panose="02070309020205020404" pitchFamily="49" charset="0"/>
              </a:rPr>
              <a:t>QOS_CLASS_USER_INITIATED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Courier New" panose="02070309020205020404" pitchFamily="49" charset="0"/>
              </a:rPr>
              <a:t>QOS_CLASS_USER_UTILITY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Courier New" panose="02070309020205020404" pitchFamily="49" charset="0"/>
              </a:rPr>
              <a:t>QOS_CLASS_USER_BACKGROUND</a:t>
            </a:r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2E8FE8F8-6247-440E-8AD2-9125A529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860"/>
            <a:ext cx="8229600" cy="576262"/>
          </a:xfrm>
        </p:spPr>
        <p:txBody>
          <a:bodyPr/>
          <a:lstStyle/>
          <a:p>
            <a:r>
              <a:rPr lang="en-US" altLang="en-US" dirty="0"/>
              <a:t>Grand Central Dispatch (3)</a:t>
            </a:r>
          </a:p>
        </p:txBody>
      </p:sp>
      <p:sp>
        <p:nvSpPr>
          <p:cNvPr id="76802" name="Content Placeholder 2">
            <a:extLst>
              <a:ext uri="{FF2B5EF4-FFF2-40B4-BE49-F238E27FC236}">
                <a16:creationId xmlns:a16="http://schemas.microsoft.com/office/drawing/2014/main" id="{961FCAB4-6A2F-4741-AEC6-56E10DDEC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508" y="1026741"/>
            <a:ext cx="8337550" cy="1564141"/>
          </a:xfrm>
        </p:spPr>
        <p:txBody>
          <a:bodyPr/>
          <a:lstStyle/>
          <a:p>
            <a:r>
              <a:rPr lang="en-US" altLang="en-US" sz="2000" dirty="0"/>
              <a:t>For the Swift language a task is defined as a closure – similar to a block, minus the caret</a:t>
            </a:r>
          </a:p>
          <a:p>
            <a:r>
              <a:rPr lang="en-US" altLang="en-US" sz="2000" dirty="0"/>
              <a:t>Closures are submitted to the queue using the </a:t>
            </a:r>
            <a:r>
              <a:rPr lang="en-US" altLang="en-US" sz="2000" dirty="0" err="1">
                <a:latin typeface="Courier New" panose="02070309020205020404" pitchFamily="49" charset="0"/>
              </a:rPr>
              <a:t>dispatch_async</a:t>
            </a:r>
            <a:r>
              <a:rPr lang="en-US" altLang="en-US" sz="2000" dirty="0">
                <a:latin typeface="Courier New" panose="02070309020205020404" pitchFamily="49" charset="0"/>
              </a:rPr>
              <a:t>() </a:t>
            </a:r>
            <a:r>
              <a:rPr lang="en-US" altLang="en-US" sz="2000" dirty="0"/>
              <a:t>function:</a:t>
            </a:r>
            <a:br>
              <a:rPr lang="en-US" altLang="en-US" sz="2000" dirty="0"/>
            </a:br>
            <a:br>
              <a:rPr lang="en-US" altLang="en-US" sz="2000" dirty="0"/>
            </a:br>
            <a:r>
              <a:rPr lang="en-US" altLang="en-US" sz="2000" dirty="0"/>
              <a:t> </a:t>
            </a:r>
          </a:p>
        </p:txBody>
      </p:sp>
      <p:pic>
        <p:nvPicPr>
          <p:cNvPr id="76803" name="Picture 3">
            <a:extLst>
              <a:ext uri="{FF2B5EF4-FFF2-40B4-BE49-F238E27FC236}">
                <a16:creationId xmlns:a16="http://schemas.microsoft.com/office/drawing/2014/main" id="{BEE0DB06-C5D5-4AB5-BD45-46DF14ED43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r="2713"/>
          <a:stretch>
            <a:fillRect/>
          </a:stretch>
        </p:blipFill>
        <p:spPr bwMode="auto">
          <a:xfrm>
            <a:off x="1164771" y="2835502"/>
            <a:ext cx="7522030" cy="167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3E06E839-D948-468F-B190-B5CDABBD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233853"/>
            <a:ext cx="7727950" cy="576262"/>
          </a:xfrm>
        </p:spPr>
        <p:txBody>
          <a:bodyPr/>
          <a:lstStyle/>
          <a:p>
            <a:r>
              <a:rPr lang="en-US" altLang="en-US" dirty="0"/>
              <a:t>Intel Threading Building Blocks (TBB)</a:t>
            </a:r>
          </a:p>
        </p:txBody>
      </p:sp>
      <p:sp>
        <p:nvSpPr>
          <p:cNvPr id="77826" name="Content Placeholder 2">
            <a:extLst>
              <a:ext uri="{FF2B5EF4-FFF2-40B4-BE49-F238E27FC236}">
                <a16:creationId xmlns:a16="http://schemas.microsoft.com/office/drawing/2014/main" id="{4B964262-47E7-4DB6-A63C-554FF6EAF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Template library for designing parallel C++ programs</a:t>
            </a:r>
          </a:p>
          <a:p>
            <a:r>
              <a:rPr lang="en-US" altLang="en-US" sz="2000" dirty="0"/>
              <a:t>A serial version of a simple for loop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The same for loop written using TBB with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parallel_for</a:t>
            </a:r>
            <a:r>
              <a:rPr lang="en-US" altLang="en-US" sz="2000" dirty="0"/>
              <a:t> statement:</a:t>
            </a:r>
          </a:p>
        </p:txBody>
      </p:sp>
      <p:pic>
        <p:nvPicPr>
          <p:cNvPr id="77827" name="Picture 3">
            <a:extLst>
              <a:ext uri="{FF2B5EF4-FFF2-40B4-BE49-F238E27FC236}">
                <a16:creationId xmlns:a16="http://schemas.microsoft.com/office/drawing/2014/main" id="{0AECC45F-AE48-41B9-BBCF-8CA2461C9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473" y="2208213"/>
            <a:ext cx="3978955" cy="950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4">
            <a:extLst>
              <a:ext uri="{FF2B5EF4-FFF2-40B4-BE49-F238E27FC236}">
                <a16:creationId xmlns:a16="http://schemas.microsoft.com/office/drawing/2014/main" id="{113B8E9B-4CDB-4160-8253-D3DEBB20D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775" y="4512579"/>
            <a:ext cx="7140775" cy="669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8F5BE787-1C90-443B-BF35-EC074EF99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Threading Issues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6F51DC46-1491-4D2A-B267-43A725F22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9714" y="1143000"/>
            <a:ext cx="7272693" cy="3113314"/>
          </a:xfrm>
        </p:spPr>
        <p:txBody>
          <a:bodyPr/>
          <a:lstStyle/>
          <a:p>
            <a:r>
              <a:rPr lang="en-US" altLang="en-US" sz="2000" dirty="0"/>
              <a:t>Semantics of </a:t>
            </a:r>
            <a:r>
              <a:rPr lang="en-US" altLang="en-US" sz="2000" b="1" dirty="0"/>
              <a:t>fork()</a:t>
            </a:r>
            <a:r>
              <a:rPr lang="en-US" altLang="en-US" sz="2000" dirty="0"/>
              <a:t> and </a:t>
            </a:r>
            <a:r>
              <a:rPr lang="en-US" altLang="en-US" sz="2000" b="1" dirty="0"/>
              <a:t>exec()</a:t>
            </a:r>
            <a:r>
              <a:rPr lang="en-US" altLang="en-US" sz="2000" dirty="0"/>
              <a:t> system calls</a:t>
            </a:r>
          </a:p>
          <a:p>
            <a:r>
              <a:rPr lang="en-US" altLang="en-US" sz="2000" dirty="0"/>
              <a:t>Signal handling</a:t>
            </a:r>
          </a:p>
          <a:p>
            <a:pPr lvl="1"/>
            <a:r>
              <a:rPr lang="en-US" altLang="en-US" sz="2000" dirty="0"/>
              <a:t>Synchronous and asynchronous</a:t>
            </a:r>
          </a:p>
          <a:p>
            <a:r>
              <a:rPr lang="en-US" altLang="en-US" sz="2000" dirty="0"/>
              <a:t>Thread cancellation of target thread</a:t>
            </a:r>
          </a:p>
          <a:p>
            <a:pPr lvl="1"/>
            <a:r>
              <a:rPr lang="en-US" altLang="en-US" sz="2000" dirty="0"/>
              <a:t>Asynchronous or deferred</a:t>
            </a:r>
          </a:p>
          <a:p>
            <a:r>
              <a:rPr lang="en-US" altLang="en-US" sz="2000" dirty="0"/>
              <a:t>Thread-local storage</a:t>
            </a:r>
          </a:p>
          <a:p>
            <a:r>
              <a:rPr lang="en-US" altLang="en-US" sz="2000" dirty="0"/>
              <a:t>Scheduler Activations</a:t>
            </a:r>
          </a:p>
          <a:p>
            <a:endParaRPr lang="en-US" altLang="en-US" sz="2000" dirty="0"/>
          </a:p>
          <a:p>
            <a:pPr lvl="1"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0A79867A-2E93-4EF0-B105-A26BB113E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04206"/>
            <a:ext cx="75692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Semantics of fork() and exec()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A843C793-C155-4716-B3E2-61F8E7272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56415" cy="1792741"/>
          </a:xfrm>
        </p:spPr>
        <p:txBody>
          <a:bodyPr/>
          <a:lstStyle/>
          <a:p>
            <a:r>
              <a:rPr lang="en-US" altLang="en-US" sz="2000" dirty="0"/>
              <a:t>Does </a:t>
            </a:r>
            <a:r>
              <a:rPr lang="en-US" altLang="en-US" sz="2000" b="1" dirty="0"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duplicate only the calling thread or all threads?</a:t>
            </a:r>
          </a:p>
          <a:p>
            <a:pPr lvl="1"/>
            <a:r>
              <a:rPr lang="en-US" altLang="en-US" sz="2000" dirty="0"/>
              <a:t>Some </a:t>
            </a:r>
            <a:r>
              <a:rPr lang="en-US" altLang="en-US" sz="2000" dirty="0" err="1"/>
              <a:t>UNIXes</a:t>
            </a:r>
            <a:r>
              <a:rPr lang="en-US" altLang="en-US" sz="2000" dirty="0"/>
              <a:t> have two versions of fork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exec() </a:t>
            </a:r>
            <a:r>
              <a:rPr lang="en-US" altLang="en-US" sz="2000" dirty="0"/>
              <a:t>usually works as normal – replace the running process including all threads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E38D4671-065E-48FB-994B-D2E5E93EB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 (1)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4752EA8-B31F-42FC-AC88-93660F763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7756" y="1164839"/>
            <a:ext cx="7719753" cy="5156200"/>
          </a:xfrm>
        </p:spPr>
        <p:txBody>
          <a:bodyPr/>
          <a:lstStyle/>
          <a:p>
            <a:pPr>
              <a:defRPr/>
            </a:pPr>
            <a:r>
              <a:rPr lang="en-US" sz="2000" b="1" dirty="0">
                <a:solidFill>
                  <a:srgbClr val="006699"/>
                </a:solidFill>
                <a:latin typeface="+mj-lt"/>
              </a:rPr>
              <a:t>Signals</a:t>
            </a:r>
            <a:r>
              <a:rPr lang="en-US" sz="20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>
                <a:ea typeface="ＭＳ Ｐゴシック" charset="0"/>
                <a:cs typeface="ＭＳ Ｐゴシック" charset="0"/>
              </a:rPr>
              <a:t>are used in UNIX systems to notify a process that a particular event has occurred.</a:t>
            </a:r>
          </a:p>
          <a:p>
            <a:pPr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A </a:t>
            </a:r>
            <a:r>
              <a:rPr lang="en-US" sz="2000" b="1" dirty="0">
                <a:solidFill>
                  <a:srgbClr val="006699"/>
                </a:solidFill>
                <a:latin typeface="+mj-lt"/>
              </a:rPr>
              <a:t>signal handler </a:t>
            </a:r>
            <a:r>
              <a:rPr lang="en-US" sz="2000" dirty="0">
                <a:ea typeface="ＭＳ Ｐゴシック" charset="0"/>
                <a:cs typeface="ＭＳ Ｐゴシック" charset="0"/>
              </a:rPr>
              <a:t>is used to process signals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sz="2000" dirty="0">
                <a:ea typeface="ＭＳ Ｐゴシック" charset="0"/>
              </a:rPr>
              <a:t>Signal is generated by particular event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sz="2000" dirty="0">
                <a:ea typeface="ＭＳ Ｐゴシック" charset="0"/>
              </a:rPr>
              <a:t>Signal is delivered to a process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sz="2000" dirty="0">
                <a:ea typeface="ＭＳ Ｐゴシック" charset="0"/>
              </a:rPr>
              <a:t>Signal is handled by one of two signal handlers:</a:t>
            </a:r>
          </a:p>
          <a:p>
            <a:pPr marL="1142366" lvl="2" indent="-342265">
              <a:buFont typeface="Webdings" charset="0"/>
              <a:buAutoNum type="arabicPeriod"/>
              <a:defRPr/>
            </a:pPr>
            <a:r>
              <a:rPr lang="en-US" sz="2000" dirty="0">
                <a:ea typeface="ＭＳ Ｐゴシック" charset="0"/>
              </a:rPr>
              <a:t>default</a:t>
            </a:r>
          </a:p>
          <a:p>
            <a:pPr marL="1142366" lvl="2" indent="-342265">
              <a:buFont typeface="Webdings" charset="0"/>
              <a:buAutoNum type="arabicPeriod"/>
              <a:defRPr/>
            </a:pPr>
            <a:r>
              <a:rPr lang="en-US" sz="2000" dirty="0">
                <a:ea typeface="ＭＳ Ｐゴシック" charset="0"/>
              </a:rPr>
              <a:t>user-defined</a:t>
            </a:r>
          </a:p>
          <a:p>
            <a:pPr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Every signal has </a:t>
            </a:r>
            <a:r>
              <a:rPr lang="en-US" sz="2000" b="1" dirty="0">
                <a:solidFill>
                  <a:srgbClr val="006699"/>
                </a:solidFill>
                <a:latin typeface="+mj-lt"/>
              </a:rPr>
              <a:t>default handler</a:t>
            </a:r>
            <a:r>
              <a:rPr lang="en-US" sz="20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>
                <a:ea typeface="ＭＳ Ｐゴシック" charset="0"/>
                <a:cs typeface="ＭＳ Ｐゴシック" charset="0"/>
              </a:rPr>
              <a:t>that kernel runs when handling signal</a:t>
            </a:r>
          </a:p>
          <a:p>
            <a:pPr marL="780098" lvl="1" indent="-380048">
              <a:defRPr/>
            </a:pPr>
            <a:r>
              <a:rPr lang="en-US" sz="2000" b="1" dirty="0">
                <a:solidFill>
                  <a:srgbClr val="006699"/>
                </a:solidFill>
                <a:latin typeface="+mj-lt"/>
              </a:rPr>
              <a:t>User-defined signal handler </a:t>
            </a:r>
            <a:r>
              <a:rPr lang="en-US" sz="2000" dirty="0">
                <a:ea typeface="ＭＳ Ｐゴシック" charset="0"/>
                <a:cs typeface="ＭＳ Ｐゴシック" charset="0"/>
              </a:rPr>
              <a:t>can override default</a:t>
            </a:r>
          </a:p>
          <a:p>
            <a:pPr marL="780098" lvl="1" indent="-380048"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For single-threaded, signal delivered to process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6878F364-9781-4DC9-A9A3-9DD34E5E6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 (2)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09391F2-8D47-4F0C-960D-BFD5F96C0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7" y="1146175"/>
            <a:ext cx="7691761" cy="2413454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Where should a signal be delivered for multi-threaded? </a:t>
            </a:r>
          </a:p>
          <a:p>
            <a:pPr lvl="1">
              <a:defRPr/>
            </a:pPr>
            <a:r>
              <a:rPr lang="en-US" sz="2000" dirty="0">
                <a:ea typeface="ＭＳ Ｐゴシック" charset="0"/>
              </a:rPr>
              <a:t>Deliver the signal to the thread to which the signal applies</a:t>
            </a:r>
          </a:p>
          <a:p>
            <a:pPr lvl="1">
              <a:defRPr/>
            </a:pPr>
            <a:r>
              <a:rPr lang="en-US" sz="2000" dirty="0">
                <a:ea typeface="ＭＳ Ｐゴシック" charset="0"/>
              </a:rPr>
              <a:t>Deliver the signal to every thread in the process</a:t>
            </a:r>
          </a:p>
          <a:p>
            <a:pPr lvl="1">
              <a:defRPr/>
            </a:pPr>
            <a:r>
              <a:rPr lang="en-US" sz="2000" dirty="0">
                <a:ea typeface="ＭＳ Ｐゴシック" charset="0"/>
              </a:rPr>
              <a:t>Deliver the signal to certain threads in the process</a:t>
            </a:r>
          </a:p>
          <a:p>
            <a:pPr lvl="1">
              <a:defRPr/>
            </a:pPr>
            <a:r>
              <a:rPr lang="en-US" sz="2000" dirty="0">
                <a:ea typeface="ＭＳ Ｐゴシック" charset="0"/>
              </a:rPr>
              <a:t>Assign a specific thread to receive all signals for the process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5A4A892A-809A-4516-AB08-9E20E9A57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 (1)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E0ACA4C6-47F5-415C-B47D-5700AEF12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979" y="928459"/>
            <a:ext cx="7672031" cy="2957741"/>
          </a:xfrm>
        </p:spPr>
        <p:txBody>
          <a:bodyPr/>
          <a:lstStyle/>
          <a:p>
            <a:r>
              <a:rPr lang="en-US" altLang="en-US" sz="2000" dirty="0"/>
              <a:t>Terminating a thread before it has finished</a:t>
            </a:r>
          </a:p>
          <a:p>
            <a:r>
              <a:rPr lang="en-US" altLang="en-US" sz="2000" dirty="0"/>
              <a:t>Thread to be canceled is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target thread</a:t>
            </a:r>
          </a:p>
          <a:p>
            <a:r>
              <a:rPr lang="en-US" altLang="en-US" sz="2000" dirty="0"/>
              <a:t>Two general approaches:</a:t>
            </a:r>
          </a:p>
          <a:p>
            <a:pPr lvl="1"/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</a:p>
          <a:p>
            <a:pPr lvl="1"/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</a:t>
            </a:r>
          </a:p>
          <a:p>
            <a:r>
              <a:rPr lang="en-US" altLang="en-US" sz="2000" dirty="0" err="1"/>
              <a:t>Pthread</a:t>
            </a:r>
            <a:r>
              <a:rPr lang="en-US" altLang="en-US" sz="2000" dirty="0"/>
              <a:t> code to create and cancel a thread:</a:t>
            </a:r>
          </a:p>
        </p:txBody>
      </p:sp>
      <p:pic>
        <p:nvPicPr>
          <p:cNvPr id="87043" name="Picture 1">
            <a:extLst>
              <a:ext uri="{FF2B5EF4-FFF2-40B4-BE49-F238E27FC236}">
                <a16:creationId xmlns:a16="http://schemas.microsoft.com/office/drawing/2014/main" id="{C3014C15-8D5D-4EBD-B07F-81007A227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367" y="3801930"/>
            <a:ext cx="4324083" cy="265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46D4A08B-A3B9-409D-9FF5-9A70E4A50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28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 (2)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D8769D7-C343-444C-A0E2-10A79AC9E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057275"/>
            <a:ext cx="7735078" cy="49625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Invoking thread cancellation requests cancellation, but actual cancellation depends on thread state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If thread has cancellation disabled, cancellation remains pending until thread enables it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Default type is deferred</a:t>
            </a:r>
          </a:p>
          <a:p>
            <a:pPr lvl="1">
              <a:defRPr/>
            </a:pPr>
            <a:r>
              <a:rPr lang="en-US" altLang="en-US" dirty="0"/>
              <a:t>Cancellation only occurs when thread reaches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cancellation point</a:t>
            </a:r>
          </a:p>
          <a:p>
            <a:pPr lvl="2">
              <a:defRPr/>
            </a:pPr>
            <a:r>
              <a:rPr lang="en-US" altLang="en-US" dirty="0"/>
              <a:t>i.e.,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pthread_testcancel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>
              <a:defRPr/>
            </a:pPr>
            <a:r>
              <a:rPr lang="en-US" altLang="en-US" dirty="0"/>
              <a:t>Then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cleanup handler </a:t>
            </a:r>
            <a:r>
              <a:rPr lang="en-US" altLang="en-US" dirty="0"/>
              <a:t>is invoked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On Linux systems, thread cancellation is handled through signals</a:t>
            </a:r>
          </a:p>
        </p:txBody>
      </p:sp>
      <p:pic>
        <p:nvPicPr>
          <p:cNvPr id="89091" name="Picture 1">
            <a:extLst>
              <a:ext uri="{FF2B5EF4-FFF2-40B4-BE49-F238E27FC236}">
                <a16:creationId xmlns:a16="http://schemas.microsoft.com/office/drawing/2014/main" id="{45A1D62A-4B0A-490B-8A95-06E0D48B9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963738"/>
            <a:ext cx="510063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0D1FBD27-2B69-44A9-A404-9835E778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Thread Cancellation in Java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75BEED4D-A616-43F0-AE72-2D49BC1B7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727950" cy="3131683"/>
          </a:xfrm>
        </p:spPr>
        <p:txBody>
          <a:bodyPr/>
          <a:lstStyle/>
          <a:p>
            <a:r>
              <a:rPr lang="en-US" altLang="en-US" sz="2000" dirty="0"/>
              <a:t>Deferred cancellation uses the </a:t>
            </a:r>
            <a:r>
              <a:rPr lang="en-US" altLang="en-US" sz="2000" b="1" dirty="0">
                <a:latin typeface="Courier New" panose="02070309020205020404" pitchFamily="49" charset="0"/>
              </a:rPr>
              <a:t>interrupt()</a:t>
            </a:r>
            <a:r>
              <a:rPr lang="en-US" altLang="en-US" sz="2000" dirty="0"/>
              <a:t> method, which sets the interrupted status of a thread. 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A thread can then check to see if it has been interrupted: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A5B25D66-7EE8-4C02-9916-79984531C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968990"/>
            <a:ext cx="5715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0" name="Picture 4">
            <a:extLst>
              <a:ext uri="{FF2B5EF4-FFF2-40B4-BE49-F238E27FC236}">
                <a16:creationId xmlns:a16="http://schemas.microsoft.com/office/drawing/2014/main" id="{B3E1EED7-AF5C-4949-B412-6DA9E9362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4365171"/>
            <a:ext cx="5664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2580DFDB-6ABD-4948-952F-076F0CA2C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Thread-Local Storage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1C7EAF96-DD82-4FEA-A725-EF91F94C0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768383" cy="3610655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Thread-local storage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TLS</a:t>
            </a:r>
            <a:r>
              <a:rPr lang="en-US" altLang="en-US" sz="2000" dirty="0"/>
              <a:t>) allows each thread to have its own copy of data</a:t>
            </a:r>
          </a:p>
          <a:p>
            <a:r>
              <a:rPr lang="en-US" altLang="en-US" sz="2000" dirty="0"/>
              <a:t>Useful when you do not have control over the thread creation process (i.e., when using a thread pool)</a:t>
            </a:r>
          </a:p>
          <a:p>
            <a:r>
              <a:rPr lang="en-US" altLang="en-US" sz="2000" dirty="0"/>
              <a:t>Different from local variables</a:t>
            </a:r>
          </a:p>
          <a:p>
            <a:pPr lvl="1"/>
            <a:r>
              <a:rPr lang="en-US" altLang="en-US" sz="2000" dirty="0"/>
              <a:t>Local variables visible only during single function invocation</a:t>
            </a:r>
          </a:p>
          <a:p>
            <a:pPr lvl="1"/>
            <a:r>
              <a:rPr lang="en-US" altLang="en-US" sz="2000" dirty="0"/>
              <a:t>TLS visible across function invocations</a:t>
            </a:r>
          </a:p>
          <a:p>
            <a:r>
              <a:rPr lang="en-US" altLang="en-US" sz="2000" dirty="0"/>
              <a:t>Similar to </a:t>
            </a:r>
            <a:r>
              <a:rPr lang="en-US" altLang="en-US" sz="2000" b="1" dirty="0">
                <a:latin typeface="Courier New" panose="02070309020205020404" pitchFamily="49" charset="0"/>
              </a:rPr>
              <a:t>static</a:t>
            </a:r>
            <a:r>
              <a:rPr lang="en-US" altLang="en-US" sz="2000" dirty="0"/>
              <a:t> data</a:t>
            </a:r>
          </a:p>
          <a:p>
            <a:pPr lvl="1"/>
            <a:r>
              <a:rPr lang="en-US" altLang="en-US" sz="2000" dirty="0"/>
              <a:t>TLS is unique to each thread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65E82D8D-F606-4BB6-910E-3E1D7A764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0463" y="228830"/>
            <a:ext cx="75263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Scheduler Activations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A8495397-A30B-4D32-9963-DA7E64699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017588"/>
            <a:ext cx="5316538" cy="5241698"/>
          </a:xfrm>
        </p:spPr>
        <p:txBody>
          <a:bodyPr/>
          <a:lstStyle/>
          <a:p>
            <a:r>
              <a:rPr lang="en-US" altLang="en-US" dirty="0"/>
              <a:t>Both M:M and Two-level models require communication to maintain the appropriate number of kernel threads allocated to the application</a:t>
            </a:r>
          </a:p>
          <a:p>
            <a:r>
              <a:rPr lang="en-US" altLang="en-US" dirty="0"/>
              <a:t>Typically use an intermediate data structure between user and kernel threads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lightweight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LWP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Appears to be a virtual processor on which process can schedule user thread to run</a:t>
            </a:r>
          </a:p>
          <a:p>
            <a:pPr lvl="1"/>
            <a:r>
              <a:rPr lang="en-US" altLang="en-US" dirty="0"/>
              <a:t>Each LWP attached to kernel thread</a:t>
            </a:r>
          </a:p>
          <a:p>
            <a:pPr lvl="1"/>
            <a:r>
              <a:rPr lang="en-US" altLang="en-US" dirty="0"/>
              <a:t>How many LWPs to create?</a:t>
            </a:r>
          </a:p>
          <a:p>
            <a:r>
              <a:rPr lang="en-US" altLang="en-US" dirty="0"/>
              <a:t>Scheduler activations provide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a communication mechanism from the kernel to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handler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the thread library</a:t>
            </a:r>
          </a:p>
          <a:p>
            <a:r>
              <a:rPr lang="en-US" altLang="en-US" dirty="0"/>
              <a:t>This communication allows an application to maintain the correct number kernel threads</a:t>
            </a:r>
          </a:p>
        </p:txBody>
      </p:sp>
      <p:pic>
        <p:nvPicPr>
          <p:cNvPr id="94211" name="Picture 1">
            <a:extLst>
              <a:ext uri="{FF2B5EF4-FFF2-40B4-BE49-F238E27FC236}">
                <a16:creationId xmlns:a16="http://schemas.microsoft.com/office/drawing/2014/main" id="{7DC26CCE-1C29-4F40-8E4C-6E7777036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2416175"/>
            <a:ext cx="2352675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1BE107B7-66B8-4C35-8B17-BBEE9D169F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5525" y="228830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62E93B1B-E3ED-4356-9357-11040365D0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71600" y="1233488"/>
            <a:ext cx="6904038" cy="4492625"/>
          </a:xfrm>
        </p:spPr>
        <p:txBody>
          <a:bodyPr/>
          <a:lstStyle/>
          <a:p>
            <a:r>
              <a:rPr lang="en-US" altLang="en-US" sz="2000" dirty="0"/>
              <a:t>Windows Threads</a:t>
            </a:r>
          </a:p>
          <a:p>
            <a:r>
              <a:rPr lang="en-US" altLang="en-US" sz="2000" dirty="0"/>
              <a:t>Linux Threads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119AA1B0-0B6B-4557-94CD-C696EC502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64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(1)</a:t>
            </a: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id="{9A0C3CF5-1789-4524-A426-288D68408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130300"/>
            <a:ext cx="7763068" cy="4388757"/>
          </a:xfrm>
        </p:spPr>
        <p:txBody>
          <a:bodyPr/>
          <a:lstStyle/>
          <a:p>
            <a:r>
              <a:rPr lang="en-US" altLang="en-US" sz="2000" dirty="0"/>
              <a:t>Windows API – primary API for Windows applications</a:t>
            </a:r>
          </a:p>
          <a:p>
            <a:r>
              <a:rPr lang="en-US" altLang="en-US" sz="2000" dirty="0"/>
              <a:t>Implements the one-to-one mapping, kernel-level</a:t>
            </a:r>
          </a:p>
          <a:p>
            <a:r>
              <a:rPr lang="en-US" altLang="en-US" sz="2000" dirty="0"/>
              <a:t>Each thread contains</a:t>
            </a:r>
          </a:p>
          <a:p>
            <a:pPr lvl="1"/>
            <a:r>
              <a:rPr lang="en-US" altLang="en-US" sz="2000" dirty="0"/>
              <a:t>A thread id</a:t>
            </a:r>
          </a:p>
          <a:p>
            <a:pPr lvl="1"/>
            <a:r>
              <a:rPr lang="en-US" altLang="en-US" sz="2000" dirty="0"/>
              <a:t>Register set representing state of processor</a:t>
            </a:r>
          </a:p>
          <a:p>
            <a:pPr lvl="1"/>
            <a:r>
              <a:rPr lang="en-US" altLang="en-US" sz="2000" dirty="0"/>
              <a:t>Separate user and kernel stacks for when thread runs in user mode or kernel mode</a:t>
            </a:r>
          </a:p>
          <a:p>
            <a:pPr lvl="1"/>
            <a:r>
              <a:rPr lang="en-US" altLang="en-US" sz="2000" dirty="0"/>
              <a:t>Private data storage area used by run-time libraries and dynamic link libraries (DLLs)</a:t>
            </a:r>
          </a:p>
          <a:p>
            <a:r>
              <a:rPr lang="en-US" altLang="en-US" sz="2000" dirty="0"/>
              <a:t>The register set, stacks, and private storage area are known as the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context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of the thread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706217A8-F3F8-485D-B043-6CC2F9CD5B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64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(2)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80C93C6D-5B8E-43FC-AA4D-622881817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206500"/>
            <a:ext cx="7701092" cy="3387271"/>
          </a:xfrm>
        </p:spPr>
        <p:txBody>
          <a:bodyPr/>
          <a:lstStyle/>
          <a:p>
            <a:r>
              <a:rPr lang="en-US" altLang="en-US" sz="2000" dirty="0"/>
              <a:t>The primary data structures of a thread include:</a:t>
            </a:r>
          </a:p>
          <a:p>
            <a:pPr lvl="1"/>
            <a:r>
              <a:rPr lang="en-US" altLang="en-US" sz="2000" dirty="0"/>
              <a:t>ETHREAD (executive thread block) – includes pointer to process to which thread belongs and to KTHREAD, in kernel space</a:t>
            </a:r>
          </a:p>
          <a:p>
            <a:pPr lvl="1"/>
            <a:r>
              <a:rPr lang="en-US" altLang="en-US" sz="2000" dirty="0"/>
              <a:t>KTHREAD (kernel thread block) – scheduling and synchronization info, kernel-mode stack, pointer to TEB, in kernel space</a:t>
            </a:r>
          </a:p>
          <a:p>
            <a:pPr lvl="1"/>
            <a:r>
              <a:rPr lang="en-US" altLang="en-US" sz="2000" dirty="0"/>
              <a:t>TEB (thread environment block) – thread id, user-mode stack, thread-local storage, in user space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>
            <a:extLst>
              <a:ext uri="{FF2B5EF4-FFF2-40B4-BE49-F238E27FC236}">
                <a16:creationId xmlns:a16="http://schemas.microsoft.com/office/drawing/2014/main" id="{58ED7928-B775-4E93-B427-ECD5DC52C8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51874" y="228830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Data Structures</a:t>
            </a:r>
          </a:p>
        </p:txBody>
      </p:sp>
      <p:pic>
        <p:nvPicPr>
          <p:cNvPr id="102402" name="Picture 1">
            <a:extLst>
              <a:ext uri="{FF2B5EF4-FFF2-40B4-BE49-F238E27FC236}">
                <a16:creationId xmlns:a16="http://schemas.microsoft.com/office/drawing/2014/main" id="{484A094D-1D6D-4AEC-B6E2-DD851672B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378" y="1161143"/>
            <a:ext cx="5345793" cy="516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A83B2EB4-BA9F-4468-9748-66079CAC4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4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Linux Threads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9CC8EC9-347D-4989-9EE5-6AE0B546C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970643"/>
            <a:ext cx="7594308" cy="4916714"/>
          </a:xfrm>
        </p:spPr>
        <p:txBody>
          <a:bodyPr/>
          <a:lstStyle/>
          <a:p>
            <a:pPr>
              <a:defRPr/>
            </a:pPr>
            <a:r>
              <a:rPr lang="en-US" altLang="en-US" sz="2000" dirty="0">
                <a:cs typeface="ＭＳ Ｐゴシック" charset="-128"/>
              </a:rPr>
              <a:t>Linux refers to them as </a:t>
            </a:r>
            <a:r>
              <a:rPr lang="en-US" altLang="en-US" sz="2000" b="1" i="1" dirty="0">
                <a:cs typeface="ＭＳ Ｐゴシック" charset="-128"/>
              </a:rPr>
              <a:t>tasks</a:t>
            </a:r>
            <a:r>
              <a:rPr lang="en-US" altLang="en-US" sz="2000" dirty="0">
                <a:cs typeface="ＭＳ Ｐゴシック" charset="-128"/>
              </a:rPr>
              <a:t> rather than </a:t>
            </a:r>
            <a:r>
              <a:rPr lang="en-US" altLang="en-US" sz="2000" b="1" i="1" dirty="0">
                <a:cs typeface="ＭＳ Ｐゴシック" charset="-128"/>
              </a:rPr>
              <a:t>threads</a:t>
            </a:r>
            <a:endParaRPr lang="en-US" altLang="en-US" sz="2000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sz="2000" dirty="0">
                <a:cs typeface="ＭＳ Ｐゴシック" charset="-128"/>
              </a:rPr>
              <a:t>Thread creation is done through 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clone()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dirty="0">
                <a:cs typeface="ＭＳ Ｐゴシック" charset="-128"/>
              </a:rPr>
              <a:t>system call</a:t>
            </a:r>
          </a:p>
          <a:p>
            <a:pPr>
              <a:defRPr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clone() </a:t>
            </a:r>
            <a:r>
              <a:rPr lang="en-US" altLang="en-US" sz="2000" dirty="0">
                <a:cs typeface="ＭＳ Ｐゴシック" charset="-128"/>
              </a:rPr>
              <a:t>allows a child task to share the address space of the parent task (process)</a:t>
            </a:r>
          </a:p>
          <a:p>
            <a:pPr lvl="1">
              <a:defRPr/>
            </a:pPr>
            <a:r>
              <a:rPr lang="en-US" altLang="en-US" sz="2000" dirty="0"/>
              <a:t>Flags control behavior</a:t>
            </a:r>
          </a:p>
          <a:p>
            <a:pPr lvl="1">
              <a:defRPr/>
            </a:pPr>
            <a:endParaRPr lang="en-US" altLang="en-US" sz="2000" dirty="0"/>
          </a:p>
          <a:p>
            <a:pPr lvl="1">
              <a:defRPr/>
            </a:pPr>
            <a:endParaRPr lang="en-US" altLang="en-US" sz="2000" dirty="0"/>
          </a:p>
          <a:p>
            <a:pPr lvl="1">
              <a:defRPr/>
            </a:pPr>
            <a:endParaRPr lang="en-US" altLang="en-US" sz="2000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sz="2000" dirty="0"/>
          </a:p>
          <a:p>
            <a:pPr>
              <a:buFont typeface="Monotype Sorts" pitchFamily="-84" charset="2"/>
              <a:buNone/>
              <a:defRPr/>
            </a:pPr>
            <a:endParaRPr lang="en-US" alt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dirty="0">
                <a:cs typeface="Courier New" pitchFamily="49" charset="0"/>
              </a:rPr>
              <a:t>points to process data structures (shared or unique)</a:t>
            </a:r>
            <a:endParaRPr lang="en-US" alt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altLang="en-US" sz="2000" dirty="0">
              <a:cs typeface="ＭＳ Ｐゴシック" charset="-128"/>
            </a:endParaRPr>
          </a:p>
        </p:txBody>
      </p:sp>
      <p:pic>
        <p:nvPicPr>
          <p:cNvPr id="104451" name="Picture 1">
            <a:extLst>
              <a:ext uri="{FF2B5EF4-FFF2-40B4-BE49-F238E27FC236}">
                <a16:creationId xmlns:a16="http://schemas.microsoft.com/office/drawing/2014/main" id="{4A30D8FF-ECBB-4EF4-9DE7-A53BC09DF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457" y="3091543"/>
            <a:ext cx="4478322" cy="163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1A4E1028-A5C4-45A4-B6C0-DFAAAFA6FD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53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15519</TotalTime>
  <Words>1322</Words>
  <Application>Microsoft Office PowerPoint</Application>
  <PresentationFormat>全屏显示(4:3)</PresentationFormat>
  <Paragraphs>186</Paragraphs>
  <Slides>32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Monotype Sorts</vt:lpstr>
      <vt:lpstr>ＭＳ Ｐゴシック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4  Threads &amp; Concurrency （2） </vt:lpstr>
      <vt:lpstr>Implicit Threading</vt:lpstr>
      <vt:lpstr>Thread Pools</vt:lpstr>
      <vt:lpstr>Java Thread Pools (1)</vt:lpstr>
      <vt:lpstr>Java Thread Pools (2)</vt:lpstr>
      <vt:lpstr>Fork-Join Parallelism (1)</vt:lpstr>
      <vt:lpstr>Fork-Join Parallelism (2)</vt:lpstr>
      <vt:lpstr>Fork-Join Parallelism (3)</vt:lpstr>
      <vt:lpstr>Fork-Join Parallelism in Java (1)</vt:lpstr>
      <vt:lpstr>Fork-Join Parallelism in Java (2)</vt:lpstr>
      <vt:lpstr>Fork-Join Parallelism in Java (3)</vt:lpstr>
      <vt:lpstr>OpenMP (1)</vt:lpstr>
      <vt:lpstr>OpenMP (2)</vt:lpstr>
      <vt:lpstr>Grand Central Dispatch (1)</vt:lpstr>
      <vt:lpstr>Grand Central Dispatch (2)</vt:lpstr>
      <vt:lpstr>Grand Central Dispatch (3)</vt:lpstr>
      <vt:lpstr>Intel Threading Building Blocks (TBB)</vt:lpstr>
      <vt:lpstr>Threading Issues</vt:lpstr>
      <vt:lpstr>Semantics of fork() and exec()</vt:lpstr>
      <vt:lpstr>Signal Handling (1)</vt:lpstr>
      <vt:lpstr>Signal Handling (2)</vt:lpstr>
      <vt:lpstr>Thread Cancellation (1)</vt:lpstr>
      <vt:lpstr>Thread Cancellation (2)</vt:lpstr>
      <vt:lpstr>Thread Cancellation in Java</vt:lpstr>
      <vt:lpstr>Thread-Local Storage</vt:lpstr>
      <vt:lpstr>Scheduler Activations</vt:lpstr>
      <vt:lpstr>Operating System Examples</vt:lpstr>
      <vt:lpstr>Windows Threads (1)</vt:lpstr>
      <vt:lpstr>Windows Threads (2)</vt:lpstr>
      <vt:lpstr>Windows Threads Data Structures</vt:lpstr>
      <vt:lpstr>Linux Threads</vt:lpstr>
      <vt:lpstr>End of Chapter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239</cp:revision>
  <cp:lastPrinted>2013-09-10T17:57:57Z</cp:lastPrinted>
  <dcterms:created xsi:type="dcterms:W3CDTF">2011-01-13T23:43:38Z</dcterms:created>
  <dcterms:modified xsi:type="dcterms:W3CDTF">2025-10-16T01:15:39Z</dcterms:modified>
</cp:coreProperties>
</file>